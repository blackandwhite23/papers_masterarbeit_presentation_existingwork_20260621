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comments/modernComment_110_11A93BDB.xml" ContentType="application/vnd.ms-powerpoint.comments+xml"/>
  <Override PartName="/ppt/changesInfos/changesInfo1.xml" ContentType="application/vnd.ms-powerpoint.changesinfo+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7"/>
  </p:notesMasterIdLst>
  <p:sldIdLst>
    <p:sldId id="256" r:id="rId2"/>
    <p:sldId id="274" r:id="rId3"/>
    <p:sldId id="266" r:id="rId4"/>
    <p:sldId id="280" r:id="rId5"/>
    <p:sldId id="277" r:id="rId6"/>
    <p:sldId id="281" r:id="rId7"/>
    <p:sldId id="351" r:id="rId8"/>
    <p:sldId id="352" r:id="rId9"/>
    <p:sldId id="282" r:id="rId10"/>
    <p:sldId id="283" r:id="rId11"/>
    <p:sldId id="284" r:id="rId12"/>
    <p:sldId id="285" r:id="rId13"/>
    <p:sldId id="286" r:id="rId14"/>
    <p:sldId id="287" r:id="rId15"/>
    <p:sldId id="288" r:id="rId16"/>
    <p:sldId id="289" r:id="rId17"/>
    <p:sldId id="290" r:id="rId18"/>
    <p:sldId id="291" r:id="rId19"/>
    <p:sldId id="292" r:id="rId20"/>
    <p:sldId id="345" r:id="rId21"/>
    <p:sldId id="346" r:id="rId22"/>
    <p:sldId id="293" r:id="rId23"/>
    <p:sldId id="294" r:id="rId24"/>
    <p:sldId id="295" r:id="rId25"/>
    <p:sldId id="296" r:id="rId26"/>
    <p:sldId id="297" r:id="rId27"/>
    <p:sldId id="298" r:id="rId28"/>
    <p:sldId id="347" r:id="rId29"/>
    <p:sldId id="348" r:id="rId30"/>
    <p:sldId id="299" r:id="rId31"/>
    <p:sldId id="300" r:id="rId32"/>
    <p:sldId id="301" r:id="rId33"/>
    <p:sldId id="302" r:id="rId34"/>
    <p:sldId id="303" r:id="rId35"/>
    <p:sldId id="304" r:id="rId36"/>
    <p:sldId id="305" r:id="rId37"/>
    <p:sldId id="306" r:id="rId38"/>
    <p:sldId id="307" r:id="rId39"/>
    <p:sldId id="308" r:id="rId40"/>
    <p:sldId id="309" r:id="rId41"/>
    <p:sldId id="349" r:id="rId42"/>
    <p:sldId id="350" r:id="rId43"/>
    <p:sldId id="310" r:id="rId44"/>
    <p:sldId id="311" r:id="rId45"/>
    <p:sldId id="312" r:id="rId46"/>
    <p:sldId id="313" r:id="rId47"/>
    <p:sldId id="314" r:id="rId48"/>
    <p:sldId id="315" r:id="rId49"/>
    <p:sldId id="344" r:id="rId50"/>
    <p:sldId id="343" r:id="rId51"/>
    <p:sldId id="316" r:id="rId52"/>
    <p:sldId id="317" r:id="rId53"/>
    <p:sldId id="318" r:id="rId54"/>
    <p:sldId id="319" r:id="rId55"/>
    <p:sldId id="320" r:id="rId56"/>
    <p:sldId id="321" r:id="rId57"/>
    <p:sldId id="322" r:id="rId58"/>
    <p:sldId id="342" r:id="rId59"/>
    <p:sldId id="341" r:id="rId60"/>
    <p:sldId id="330" r:id="rId61"/>
    <p:sldId id="332" r:id="rId62"/>
    <p:sldId id="333" r:id="rId63"/>
    <p:sldId id="334" r:id="rId64"/>
    <p:sldId id="335" r:id="rId65"/>
    <p:sldId id="336" r:id="rId66"/>
    <p:sldId id="337" r:id="rId67"/>
    <p:sldId id="338" r:id="rId68"/>
    <p:sldId id="339" r:id="rId69"/>
    <p:sldId id="340" r:id="rId70"/>
    <p:sldId id="331" r:id="rId71"/>
    <p:sldId id="353" r:id="rId72"/>
    <p:sldId id="354" r:id="rId73"/>
    <p:sldId id="355" r:id="rId74"/>
    <p:sldId id="356" r:id="rId75"/>
    <p:sldId id="357" r:id="rId76"/>
    <p:sldId id="358" r:id="rId77"/>
    <p:sldId id="359" r:id="rId78"/>
    <p:sldId id="362" r:id="rId79"/>
    <p:sldId id="361" r:id="rId80"/>
    <p:sldId id="363" r:id="rId81"/>
    <p:sldId id="364" r:id="rId82"/>
    <p:sldId id="365" r:id="rId83"/>
    <p:sldId id="360" r:id="rId84"/>
    <p:sldId id="370" r:id="rId85"/>
    <p:sldId id="369" r:id="rId86"/>
    <p:sldId id="372" r:id="rId87"/>
    <p:sldId id="371" r:id="rId88"/>
    <p:sldId id="368" r:id="rId89"/>
    <p:sldId id="374" r:id="rId90"/>
    <p:sldId id="373" r:id="rId91"/>
    <p:sldId id="375" r:id="rId92"/>
    <p:sldId id="367" r:id="rId93"/>
    <p:sldId id="376" r:id="rId94"/>
    <p:sldId id="377" r:id="rId95"/>
    <p:sldId id="378" r:id="rId96"/>
    <p:sldId id="366" r:id="rId97"/>
    <p:sldId id="257" r:id="rId98"/>
    <p:sldId id="258" r:id="rId99"/>
    <p:sldId id="267" r:id="rId100"/>
    <p:sldId id="265" r:id="rId101"/>
    <p:sldId id="272" r:id="rId102"/>
    <p:sldId id="262" r:id="rId103"/>
    <p:sldId id="268" r:id="rId104"/>
    <p:sldId id="269" r:id="rId105"/>
    <p:sldId id="259" r:id="rId106"/>
    <p:sldId id="260" r:id="rId107"/>
    <p:sldId id="278" r:id="rId108"/>
    <p:sldId id="263" r:id="rId109"/>
    <p:sldId id="264" r:id="rId110"/>
    <p:sldId id="270" r:id="rId111"/>
    <p:sldId id="271" r:id="rId112"/>
    <p:sldId id="273" r:id="rId113"/>
    <p:sldId id="276" r:id="rId114"/>
    <p:sldId id="275" r:id="rId115"/>
    <p:sldId id="279" r:id="rId116"/>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F65DC02-4BEF-FCCC-54A1-7A1D65B0F7BB}" name="Dosch Stefan" initials="SD" userId="S::stefan.dosch@azo.com::890109e9-1898-418b-81c4-580600bb3f43"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0A58A40-3B36-405B-BAE3-967BEDD738F8}" v="308" dt="2026-06-29T05:39:55.15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0850" autoAdjust="0"/>
  </p:normalViewPr>
  <p:slideViewPr>
    <p:cSldViewPr snapToGrid="0">
      <p:cViewPr varScale="1">
        <p:scale>
          <a:sx n="144" d="100"/>
          <a:sy n="144" d="100"/>
        </p:scale>
        <p:origin x="942" y="12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notesMaster" Target="notesMasters/notesMaster1.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microsoft.com/office/2015/10/relationships/revisionInfo" Target="revisionInfo.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13" Type="http://schemas.openxmlformats.org/officeDocument/2006/relationships/slide" Target="slides/slide112.xml"/><Relationship Id="rId11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slide" Target="slides/slide102.xml"/><Relationship Id="rId108" Type="http://schemas.openxmlformats.org/officeDocument/2006/relationships/slide" Target="slides/slide107.xml"/><Relationship Id="rId116" Type="http://schemas.openxmlformats.org/officeDocument/2006/relationships/slide" Target="slides/slide115.xml"/><Relationship Id="rId124" Type="http://schemas.microsoft.com/office/2018/10/relationships/authors" Target="author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slide" Target="slides/slide110.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slide" Target="slides/slide113.xml"/><Relationship Id="rId119"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osch Stefan" userId="890109e9-1898-418b-81c4-580600bb3f43" providerId="ADAL" clId="{AE02C4C1-19BA-4C06-B808-4E6378A2910A}"/>
    <pc:docChg chg="undo custSel addSld delSld modSld sldOrd">
      <pc:chgData name="Dosch Stefan" userId="890109e9-1898-418b-81c4-580600bb3f43" providerId="ADAL" clId="{AE02C4C1-19BA-4C06-B808-4E6378A2910A}" dt="2026-06-29T05:39:46.012" v="12869" actId="22"/>
      <pc:docMkLst>
        <pc:docMk/>
      </pc:docMkLst>
      <pc:sldChg chg="modSp mod">
        <pc:chgData name="Dosch Stefan" userId="890109e9-1898-418b-81c4-580600bb3f43" providerId="ADAL" clId="{AE02C4C1-19BA-4C06-B808-4E6378A2910A}" dt="2026-06-03T12:13:39.826" v="9964" actId="20577"/>
        <pc:sldMkLst>
          <pc:docMk/>
          <pc:sldMk cId="217688171" sldId="256"/>
        </pc:sldMkLst>
        <pc:spChg chg="mod">
          <ac:chgData name="Dosch Stefan" userId="890109e9-1898-418b-81c4-580600bb3f43" providerId="ADAL" clId="{AE02C4C1-19BA-4C06-B808-4E6378A2910A}" dt="2026-06-03T12:13:39.826" v="9964" actId="20577"/>
          <ac:spMkLst>
            <pc:docMk/>
            <pc:sldMk cId="217688171" sldId="256"/>
            <ac:spMk id="3" creationId="{1F6F7023-F6F4-0FC3-22CD-11545DFE3401}"/>
          </ac:spMkLst>
        </pc:spChg>
      </pc:sldChg>
      <pc:sldChg chg="addSp delSp modSp new mod">
        <pc:chgData name="Dosch Stefan" userId="890109e9-1898-418b-81c4-580600bb3f43" providerId="ADAL" clId="{AE02C4C1-19BA-4C06-B808-4E6378A2910A}" dt="2026-06-03T12:47:48.563" v="11204" actId="20577"/>
        <pc:sldMkLst>
          <pc:docMk/>
          <pc:sldMk cId="3115233808" sldId="259"/>
        </pc:sldMkLst>
        <pc:graphicFrameChg chg="add mod ord modGraphic">
          <ac:chgData name="Dosch Stefan" userId="890109e9-1898-418b-81c4-580600bb3f43" providerId="ADAL" clId="{AE02C4C1-19BA-4C06-B808-4E6378A2910A}" dt="2026-06-03T12:47:48.563" v="11204" actId="20577"/>
          <ac:graphicFrameMkLst>
            <pc:docMk/>
            <pc:sldMk cId="3115233808" sldId="259"/>
            <ac:graphicFrameMk id="4" creationId="{D2236DFA-6846-AD2D-B773-B4027A2EA5A3}"/>
          </ac:graphicFrameMkLst>
        </pc:graphicFrameChg>
      </pc:sldChg>
      <pc:sldChg chg="modSp new mod ord modCm">
        <pc:chgData name="Dosch Stefan" userId="890109e9-1898-418b-81c4-580600bb3f43" providerId="ADAL" clId="{AE02C4C1-19BA-4C06-B808-4E6378A2910A}" dt="2026-06-28T07:17:11.504" v="11290"/>
        <pc:sldMkLst>
          <pc:docMk/>
          <pc:sldMk cId="2051593158" sldId="266"/>
        </pc:sldMkLst>
        <pc:spChg chg="mod">
          <ac:chgData name="Dosch Stefan" userId="890109e9-1898-418b-81c4-580600bb3f43" providerId="ADAL" clId="{AE02C4C1-19BA-4C06-B808-4E6378A2910A}" dt="2026-06-03T11:14:15.153" v="7836" actId="20577"/>
          <ac:spMkLst>
            <pc:docMk/>
            <pc:sldMk cId="2051593158" sldId="266"/>
            <ac:spMk id="2" creationId="{5C00A2C9-817E-1DE9-A472-0DD391935A91}"/>
          </ac:spMkLst>
        </pc:spChg>
        <pc:spChg chg="mod">
          <ac:chgData name="Dosch Stefan" userId="890109e9-1898-418b-81c4-580600bb3f43" providerId="ADAL" clId="{AE02C4C1-19BA-4C06-B808-4E6378A2910A}" dt="2026-06-03T12:45:40.971" v="11106" actId="20577"/>
          <ac:spMkLst>
            <pc:docMk/>
            <pc:sldMk cId="2051593158" sldId="266"/>
            <ac:spMk id="3" creationId="{DEAD5543-F1DC-8B1F-6E9C-8EB212F5EA64}"/>
          </ac:spMkLst>
        </pc:spChg>
        <pc:extLst>
          <p:ext xmlns:p="http://schemas.openxmlformats.org/presentationml/2006/main" uri="{D6D511B9-2390-475A-947B-AFAB55BFBCF1}">
            <pc226:cmChg xmlns:pc226="http://schemas.microsoft.com/office/powerpoint/2022/06/main/command" chg="mod">
              <pc226:chgData name="Dosch Stefan" userId="890109e9-1898-418b-81c4-580600bb3f43" providerId="ADAL" clId="{AE02C4C1-19BA-4C06-B808-4E6378A2910A}" dt="2026-06-03T12:17:24.024" v="10054" actId="20577"/>
              <pc2:cmMkLst xmlns:pc2="http://schemas.microsoft.com/office/powerpoint/2019/9/main/command">
                <pc:docMk/>
                <pc:sldMk cId="2051593158" sldId="266"/>
                <pc2:cmMk id="{6BC39107-A8C9-4C79-AB2E-00F5B4436627}"/>
              </pc2:cmMkLst>
            </pc226:cmChg>
          </p:ext>
        </pc:extLst>
      </pc:sldChg>
      <pc:sldChg chg="modSp add mod">
        <pc:chgData name="Dosch Stefan" userId="890109e9-1898-418b-81c4-580600bb3f43" providerId="ADAL" clId="{AE02C4C1-19BA-4C06-B808-4E6378A2910A}" dt="2026-06-03T11:39:15.520" v="9090" actId="14734"/>
        <pc:sldMkLst>
          <pc:docMk/>
          <pc:sldMk cId="3277469948" sldId="270"/>
        </pc:sldMkLst>
        <pc:graphicFrameChg chg="mod modGraphic">
          <ac:chgData name="Dosch Stefan" userId="890109e9-1898-418b-81c4-580600bb3f43" providerId="ADAL" clId="{AE02C4C1-19BA-4C06-B808-4E6378A2910A}" dt="2026-06-03T11:39:15.520" v="9090" actId="14734"/>
          <ac:graphicFrameMkLst>
            <pc:docMk/>
            <pc:sldMk cId="3277469948" sldId="270"/>
            <ac:graphicFrameMk id="4" creationId="{79FD71DE-BE23-3B0B-A991-68E5C2A31387}"/>
          </ac:graphicFrameMkLst>
        </pc:graphicFrameChg>
      </pc:sldChg>
      <pc:sldChg chg="modSp add mod">
        <pc:chgData name="Dosch Stefan" userId="890109e9-1898-418b-81c4-580600bb3f43" providerId="ADAL" clId="{AE02C4C1-19BA-4C06-B808-4E6378A2910A}" dt="2026-06-03T11:36:59.506" v="8946" actId="20577"/>
        <pc:sldMkLst>
          <pc:docMk/>
          <pc:sldMk cId="2720759907" sldId="271"/>
        </pc:sldMkLst>
        <pc:graphicFrameChg chg="mod modGraphic">
          <ac:chgData name="Dosch Stefan" userId="890109e9-1898-418b-81c4-580600bb3f43" providerId="ADAL" clId="{AE02C4C1-19BA-4C06-B808-4E6378A2910A}" dt="2026-06-03T11:36:59.506" v="8946" actId="20577"/>
          <ac:graphicFrameMkLst>
            <pc:docMk/>
            <pc:sldMk cId="2720759907" sldId="271"/>
            <ac:graphicFrameMk id="4" creationId="{08141F1F-0314-A62F-AF46-CF38C67CACA1}"/>
          </ac:graphicFrameMkLst>
        </pc:graphicFrameChg>
      </pc:sldChg>
      <pc:sldChg chg="addSp modSp new mod">
        <pc:chgData name="Dosch Stefan" userId="890109e9-1898-418b-81c4-580600bb3f43" providerId="ADAL" clId="{AE02C4C1-19BA-4C06-B808-4E6378A2910A}" dt="2026-06-03T12:42:53.068" v="11011" actId="20577"/>
        <pc:sldMkLst>
          <pc:docMk/>
          <pc:sldMk cId="296303579" sldId="272"/>
        </pc:sldMkLst>
        <pc:spChg chg="mod">
          <ac:chgData name="Dosch Stefan" userId="890109e9-1898-418b-81c4-580600bb3f43" providerId="ADAL" clId="{AE02C4C1-19BA-4C06-B808-4E6378A2910A}" dt="2026-06-03T12:42:53.068" v="11011" actId="20577"/>
          <ac:spMkLst>
            <pc:docMk/>
            <pc:sldMk cId="296303579" sldId="272"/>
            <ac:spMk id="3" creationId="{6CA47C14-C7A2-CB45-FD41-6C1E1CD74D03}"/>
          </ac:spMkLst>
        </pc:spChg>
      </pc:sldChg>
      <pc:sldChg chg="modSp add mod ord">
        <pc:chgData name="Dosch Stefan" userId="890109e9-1898-418b-81c4-580600bb3f43" providerId="ADAL" clId="{AE02C4C1-19BA-4C06-B808-4E6378A2910A}" dt="2026-06-28T07:14:31.060" v="11278"/>
        <pc:sldMkLst>
          <pc:docMk/>
          <pc:sldMk cId="1131997148" sldId="274"/>
        </pc:sldMkLst>
        <pc:spChg chg="mod">
          <ac:chgData name="Dosch Stefan" userId="890109e9-1898-418b-81c4-580600bb3f43" providerId="ADAL" clId="{AE02C4C1-19BA-4C06-B808-4E6378A2910A}" dt="2026-06-03T11:15:01.654" v="7843" actId="20577"/>
          <ac:spMkLst>
            <pc:docMk/>
            <pc:sldMk cId="1131997148" sldId="274"/>
            <ac:spMk id="2" creationId="{E506701B-A8B4-A0CC-C08C-5580A98B9676}"/>
          </ac:spMkLst>
        </pc:spChg>
        <pc:spChg chg="mod">
          <ac:chgData name="Dosch Stefan" userId="890109e9-1898-418b-81c4-580600bb3f43" providerId="ADAL" clId="{AE02C4C1-19BA-4C06-B808-4E6378A2910A}" dt="2026-06-03T11:21:45.235" v="8698" actId="20577"/>
          <ac:spMkLst>
            <pc:docMk/>
            <pc:sldMk cId="1131997148" sldId="274"/>
            <ac:spMk id="3" creationId="{DE6545CD-E051-04A4-579B-C76BCD9FB96C}"/>
          </ac:spMkLst>
        </pc:spChg>
      </pc:sldChg>
      <pc:sldChg chg="modSp add mod">
        <pc:chgData name="Dosch Stefan" userId="890109e9-1898-418b-81c4-580600bb3f43" providerId="ADAL" clId="{AE02C4C1-19BA-4C06-B808-4E6378A2910A}" dt="2026-06-03T11:45:42.120" v="9636" actId="20577"/>
        <pc:sldMkLst>
          <pc:docMk/>
          <pc:sldMk cId="2872295227" sldId="275"/>
        </pc:sldMkLst>
        <pc:spChg chg="mod">
          <ac:chgData name="Dosch Stefan" userId="890109e9-1898-418b-81c4-580600bb3f43" providerId="ADAL" clId="{AE02C4C1-19BA-4C06-B808-4E6378A2910A}" dt="2026-06-03T11:40:38.504" v="9107" actId="20577"/>
          <ac:spMkLst>
            <pc:docMk/>
            <pc:sldMk cId="2872295227" sldId="275"/>
            <ac:spMk id="2" creationId="{97BF0DDE-A74E-433E-FF09-6553DBC5AB77}"/>
          </ac:spMkLst>
        </pc:spChg>
        <pc:spChg chg="mod">
          <ac:chgData name="Dosch Stefan" userId="890109e9-1898-418b-81c4-580600bb3f43" providerId="ADAL" clId="{AE02C4C1-19BA-4C06-B808-4E6378A2910A}" dt="2026-06-03T11:45:42.120" v="9636" actId="20577"/>
          <ac:spMkLst>
            <pc:docMk/>
            <pc:sldMk cId="2872295227" sldId="275"/>
            <ac:spMk id="3" creationId="{877D3F64-6B11-A0DA-FCBF-AD6813655A9C}"/>
          </ac:spMkLst>
        </pc:spChg>
      </pc:sldChg>
      <pc:sldChg chg="modSp add mod">
        <pc:chgData name="Dosch Stefan" userId="890109e9-1898-418b-81c4-580600bb3f43" providerId="ADAL" clId="{AE02C4C1-19BA-4C06-B808-4E6378A2910A}" dt="2026-06-03T11:46:19.940" v="9743" actId="20577"/>
        <pc:sldMkLst>
          <pc:docMk/>
          <pc:sldMk cId="3096104646" sldId="276"/>
        </pc:sldMkLst>
        <pc:spChg chg="mod">
          <ac:chgData name="Dosch Stefan" userId="890109e9-1898-418b-81c4-580600bb3f43" providerId="ADAL" clId="{AE02C4C1-19BA-4C06-B808-4E6378A2910A}" dt="2026-06-03T11:43:12.460" v="9350" actId="20577"/>
          <ac:spMkLst>
            <pc:docMk/>
            <pc:sldMk cId="3096104646" sldId="276"/>
            <ac:spMk id="2" creationId="{BBE6F503-3E2D-98A3-307B-EE9EE19066D7}"/>
          </ac:spMkLst>
        </pc:spChg>
        <pc:spChg chg="mod">
          <ac:chgData name="Dosch Stefan" userId="890109e9-1898-418b-81c4-580600bb3f43" providerId="ADAL" clId="{AE02C4C1-19BA-4C06-B808-4E6378A2910A}" dt="2026-06-03T11:46:19.940" v="9743" actId="20577"/>
          <ac:spMkLst>
            <pc:docMk/>
            <pc:sldMk cId="3096104646" sldId="276"/>
            <ac:spMk id="3" creationId="{C30AB891-28A9-1D39-6B38-A318C18B91A4}"/>
          </ac:spMkLst>
        </pc:spChg>
      </pc:sldChg>
      <pc:sldChg chg="modSp add mod ord">
        <pc:chgData name="Dosch Stefan" userId="890109e9-1898-418b-81c4-580600bb3f43" providerId="ADAL" clId="{AE02C4C1-19BA-4C06-B808-4E6378A2910A}" dt="2026-06-28T07:23:41.011" v="11584" actId="27636"/>
        <pc:sldMkLst>
          <pc:docMk/>
          <pc:sldMk cId="260373353" sldId="277"/>
        </pc:sldMkLst>
        <pc:spChg chg="mod">
          <ac:chgData name="Dosch Stefan" userId="890109e9-1898-418b-81c4-580600bb3f43" providerId="ADAL" clId="{AE02C4C1-19BA-4C06-B808-4E6378A2910A}" dt="2026-06-28T07:19:08.075" v="11309" actId="6549"/>
          <ac:spMkLst>
            <pc:docMk/>
            <pc:sldMk cId="260373353" sldId="277"/>
            <ac:spMk id="2" creationId="{DBA483A6-B04F-69DC-62F5-DCED025BFE3E}"/>
          </ac:spMkLst>
        </pc:spChg>
        <pc:spChg chg="mod">
          <ac:chgData name="Dosch Stefan" userId="890109e9-1898-418b-81c4-580600bb3f43" providerId="ADAL" clId="{AE02C4C1-19BA-4C06-B808-4E6378A2910A}" dt="2026-06-28T07:23:41.011" v="11584" actId="27636"/>
          <ac:spMkLst>
            <pc:docMk/>
            <pc:sldMk cId="260373353" sldId="277"/>
            <ac:spMk id="3" creationId="{EFA2A57E-8871-3F35-38E5-A7AFE84CB38C}"/>
          </ac:spMkLst>
        </pc:spChg>
      </pc:sldChg>
      <pc:sldChg chg="modSp new mod">
        <pc:chgData name="Dosch Stefan" userId="890109e9-1898-418b-81c4-580600bb3f43" providerId="ADAL" clId="{AE02C4C1-19BA-4C06-B808-4E6378A2910A}" dt="2026-06-03T12:51:50.822" v="11234" actId="20577"/>
        <pc:sldMkLst>
          <pc:docMk/>
          <pc:sldMk cId="387471517" sldId="278"/>
        </pc:sldMkLst>
        <pc:spChg chg="mod">
          <ac:chgData name="Dosch Stefan" userId="890109e9-1898-418b-81c4-580600bb3f43" providerId="ADAL" clId="{AE02C4C1-19BA-4C06-B808-4E6378A2910A}" dt="2026-06-03T12:51:50.822" v="11234" actId="20577"/>
          <ac:spMkLst>
            <pc:docMk/>
            <pc:sldMk cId="387471517" sldId="278"/>
            <ac:spMk id="2" creationId="{BBF18E39-1F40-568A-47D8-2E0A379C2867}"/>
          </ac:spMkLst>
        </pc:spChg>
      </pc:sldChg>
      <pc:sldChg chg="modSp new mod">
        <pc:chgData name="Dosch Stefan" userId="890109e9-1898-418b-81c4-580600bb3f43" providerId="ADAL" clId="{AE02C4C1-19BA-4C06-B808-4E6378A2910A}" dt="2026-06-03T13:00:59.632" v="11276" actId="20577"/>
        <pc:sldMkLst>
          <pc:docMk/>
          <pc:sldMk cId="794820273" sldId="279"/>
        </pc:sldMkLst>
        <pc:spChg chg="mod">
          <ac:chgData name="Dosch Stefan" userId="890109e9-1898-418b-81c4-580600bb3f43" providerId="ADAL" clId="{AE02C4C1-19BA-4C06-B808-4E6378A2910A}" dt="2026-06-03T13:00:59.632" v="11276" actId="20577"/>
          <ac:spMkLst>
            <pc:docMk/>
            <pc:sldMk cId="794820273" sldId="279"/>
            <ac:spMk id="2" creationId="{C569D8DB-8B1A-9EBB-243B-25A4597F5B00}"/>
          </ac:spMkLst>
        </pc:spChg>
      </pc:sldChg>
      <pc:sldChg chg="modSp new mod ord">
        <pc:chgData name="Dosch Stefan" userId="890109e9-1898-418b-81c4-580600bb3f43" providerId="ADAL" clId="{AE02C4C1-19BA-4C06-B808-4E6378A2910A}" dt="2026-06-28T07:17:01.052" v="11288"/>
        <pc:sldMkLst>
          <pc:docMk/>
          <pc:sldMk cId="1731976669" sldId="280"/>
        </pc:sldMkLst>
        <pc:spChg chg="mod">
          <ac:chgData name="Dosch Stefan" userId="890109e9-1898-418b-81c4-580600bb3f43" providerId="ADAL" clId="{AE02C4C1-19BA-4C06-B808-4E6378A2910A}" dt="2026-06-28T07:16:42.094" v="11285" actId="27636"/>
          <ac:spMkLst>
            <pc:docMk/>
            <pc:sldMk cId="1731976669" sldId="280"/>
            <ac:spMk id="2" creationId="{15A7A6F4-FA93-382E-EF53-C4958D59F35B}"/>
          </ac:spMkLst>
        </pc:spChg>
        <pc:spChg chg="mod">
          <ac:chgData name="Dosch Stefan" userId="890109e9-1898-418b-81c4-580600bb3f43" providerId="ADAL" clId="{AE02C4C1-19BA-4C06-B808-4E6378A2910A}" dt="2026-06-28T07:17:01.052" v="11288"/>
          <ac:spMkLst>
            <pc:docMk/>
            <pc:sldMk cId="1731976669" sldId="280"/>
            <ac:spMk id="3" creationId="{E2F5284D-7089-23BB-7A27-D7F14A7684C8}"/>
          </ac:spMkLst>
        </pc:spChg>
      </pc:sldChg>
      <pc:sldChg chg="modSp new mod">
        <pc:chgData name="Dosch Stefan" userId="890109e9-1898-418b-81c4-580600bb3f43" providerId="ADAL" clId="{AE02C4C1-19BA-4C06-B808-4E6378A2910A}" dt="2026-06-28T07:24:40.383" v="11703" actId="20577"/>
        <pc:sldMkLst>
          <pc:docMk/>
          <pc:sldMk cId="3934398036" sldId="281"/>
        </pc:sldMkLst>
        <pc:spChg chg="mod">
          <ac:chgData name="Dosch Stefan" userId="890109e9-1898-418b-81c4-580600bb3f43" providerId="ADAL" clId="{AE02C4C1-19BA-4C06-B808-4E6378A2910A}" dt="2026-06-28T07:20:22.980" v="11376" actId="20577"/>
          <ac:spMkLst>
            <pc:docMk/>
            <pc:sldMk cId="3934398036" sldId="281"/>
            <ac:spMk id="2" creationId="{49E6983E-C87B-3B95-4971-667E6CDA2519}"/>
          </ac:spMkLst>
        </pc:spChg>
        <pc:spChg chg="mod">
          <ac:chgData name="Dosch Stefan" userId="890109e9-1898-418b-81c4-580600bb3f43" providerId="ADAL" clId="{AE02C4C1-19BA-4C06-B808-4E6378A2910A}" dt="2026-06-28T07:24:40.383" v="11703" actId="20577"/>
          <ac:spMkLst>
            <pc:docMk/>
            <pc:sldMk cId="3934398036" sldId="281"/>
            <ac:spMk id="3" creationId="{21702D38-1717-614A-F7BD-BCCF912A4872}"/>
          </ac:spMkLst>
        </pc:spChg>
      </pc:sldChg>
      <pc:sldChg chg="modSp new mod modNotesTx">
        <pc:chgData name="Dosch Stefan" userId="890109e9-1898-418b-81c4-580600bb3f43" providerId="ADAL" clId="{AE02C4C1-19BA-4C06-B808-4E6378A2910A}" dt="2026-06-28T08:54:16.028" v="12130" actId="20577"/>
        <pc:sldMkLst>
          <pc:docMk/>
          <pc:sldMk cId="3380918214" sldId="282"/>
        </pc:sldMkLst>
        <pc:spChg chg="mod">
          <ac:chgData name="Dosch Stefan" userId="890109e9-1898-418b-81c4-580600bb3f43" providerId="ADAL" clId="{AE02C4C1-19BA-4C06-B808-4E6378A2910A}" dt="2026-06-28T07:25:28.641" v="11705"/>
          <ac:spMkLst>
            <pc:docMk/>
            <pc:sldMk cId="3380918214" sldId="282"/>
            <ac:spMk id="2" creationId="{3092C997-D564-3595-1EAE-CAE9F012F392}"/>
          </ac:spMkLst>
        </pc:spChg>
        <pc:spChg chg="mod">
          <ac:chgData name="Dosch Stefan" userId="890109e9-1898-418b-81c4-580600bb3f43" providerId="ADAL" clId="{AE02C4C1-19BA-4C06-B808-4E6378A2910A}" dt="2026-06-28T08:53:45.499" v="12122" actId="207"/>
          <ac:spMkLst>
            <pc:docMk/>
            <pc:sldMk cId="3380918214" sldId="282"/>
            <ac:spMk id="3" creationId="{9C1AC407-6DD5-D070-4D0B-5D493E277AC1}"/>
          </ac:spMkLst>
        </pc:spChg>
      </pc:sldChg>
      <pc:sldChg chg="addSp delSp modSp new mod modNotesTx">
        <pc:chgData name="Dosch Stefan" userId="890109e9-1898-418b-81c4-580600bb3f43" providerId="ADAL" clId="{AE02C4C1-19BA-4C06-B808-4E6378A2910A}" dt="2026-06-28T08:55:23.501" v="12138" actId="20577"/>
        <pc:sldMkLst>
          <pc:docMk/>
          <pc:sldMk cId="435532675" sldId="283"/>
        </pc:sldMkLst>
        <pc:spChg chg="mod">
          <ac:chgData name="Dosch Stefan" userId="890109e9-1898-418b-81c4-580600bb3f43" providerId="ADAL" clId="{AE02C4C1-19BA-4C06-B808-4E6378A2910A}" dt="2026-06-28T07:26:34.923" v="11710"/>
          <ac:spMkLst>
            <pc:docMk/>
            <pc:sldMk cId="435532675" sldId="283"/>
            <ac:spMk id="2" creationId="{F8B4DB0A-0DE8-33DC-D191-5867B9F79C1A}"/>
          </ac:spMkLst>
        </pc:spChg>
        <pc:spChg chg="del">
          <ac:chgData name="Dosch Stefan" userId="890109e9-1898-418b-81c4-580600bb3f43" providerId="ADAL" clId="{AE02C4C1-19BA-4C06-B808-4E6378A2910A}" dt="2026-06-28T07:26:43.873" v="11711"/>
          <ac:spMkLst>
            <pc:docMk/>
            <pc:sldMk cId="435532675" sldId="283"/>
            <ac:spMk id="3" creationId="{7A53DDF1-43DB-B62C-5D23-615F2B2A5FE4}"/>
          </ac:spMkLst>
        </pc:spChg>
        <pc:graphicFrameChg chg="add mod modGraphic">
          <ac:chgData name="Dosch Stefan" userId="890109e9-1898-418b-81c4-580600bb3f43" providerId="ADAL" clId="{AE02C4C1-19BA-4C06-B808-4E6378A2910A}" dt="2026-06-28T07:27:08.696" v="11716" actId="255"/>
          <ac:graphicFrameMkLst>
            <pc:docMk/>
            <pc:sldMk cId="435532675" sldId="283"/>
            <ac:graphicFrameMk id="4" creationId="{6A5FDCC6-BE7F-125E-5671-5A81EB12F4F2}"/>
          </ac:graphicFrameMkLst>
        </pc:graphicFrameChg>
      </pc:sldChg>
      <pc:sldChg chg="addSp delSp modSp new mod modNotesTx">
        <pc:chgData name="Dosch Stefan" userId="890109e9-1898-418b-81c4-580600bb3f43" providerId="ADAL" clId="{AE02C4C1-19BA-4C06-B808-4E6378A2910A}" dt="2026-06-28T08:57:01.194" v="12149" actId="20577"/>
        <pc:sldMkLst>
          <pc:docMk/>
          <pc:sldMk cId="1963114226" sldId="284"/>
        </pc:sldMkLst>
        <pc:spChg chg="mod">
          <ac:chgData name="Dosch Stefan" userId="890109e9-1898-418b-81c4-580600bb3f43" providerId="ADAL" clId="{AE02C4C1-19BA-4C06-B808-4E6378A2910A}" dt="2026-06-28T07:28:44.622" v="11718"/>
          <ac:spMkLst>
            <pc:docMk/>
            <pc:sldMk cId="1963114226" sldId="284"/>
            <ac:spMk id="2" creationId="{98E5280F-247D-E534-38FA-D52962DA0023}"/>
          </ac:spMkLst>
        </pc:spChg>
        <pc:spChg chg="del">
          <ac:chgData name="Dosch Stefan" userId="890109e9-1898-418b-81c4-580600bb3f43" providerId="ADAL" clId="{AE02C4C1-19BA-4C06-B808-4E6378A2910A}" dt="2026-06-28T07:28:51.143" v="11719"/>
          <ac:spMkLst>
            <pc:docMk/>
            <pc:sldMk cId="1963114226" sldId="284"/>
            <ac:spMk id="3" creationId="{B96454D1-0A1E-B637-8A9E-B3F6F67EC11C}"/>
          </ac:spMkLst>
        </pc:spChg>
        <pc:spChg chg="add mod">
          <ac:chgData name="Dosch Stefan" userId="890109e9-1898-418b-81c4-580600bb3f43" providerId="ADAL" clId="{AE02C4C1-19BA-4C06-B808-4E6378A2910A}" dt="2026-06-28T07:29:45.099" v="11729" actId="14100"/>
          <ac:spMkLst>
            <pc:docMk/>
            <pc:sldMk cId="1963114226" sldId="284"/>
            <ac:spMk id="6" creationId="{0AB5BB54-81A8-6124-87D2-6037A19A0541}"/>
          </ac:spMkLst>
        </pc:spChg>
        <pc:graphicFrameChg chg="add mod modGraphic">
          <ac:chgData name="Dosch Stefan" userId="890109e9-1898-418b-81c4-580600bb3f43" providerId="ADAL" clId="{AE02C4C1-19BA-4C06-B808-4E6378A2910A}" dt="2026-06-28T07:29:33.447" v="11726" actId="14100"/>
          <ac:graphicFrameMkLst>
            <pc:docMk/>
            <pc:sldMk cId="1963114226" sldId="284"/>
            <ac:graphicFrameMk id="4" creationId="{566B108D-2AB2-5682-33E0-70545B42139F}"/>
          </ac:graphicFrameMkLst>
        </pc:graphicFrameChg>
      </pc:sldChg>
      <pc:sldChg chg="modSp new mod modNotesTx">
        <pc:chgData name="Dosch Stefan" userId="890109e9-1898-418b-81c4-580600bb3f43" providerId="ADAL" clId="{AE02C4C1-19BA-4C06-B808-4E6378A2910A}" dt="2026-06-28T08:58:39.871" v="12173" actId="20577"/>
        <pc:sldMkLst>
          <pc:docMk/>
          <pc:sldMk cId="1237245289" sldId="285"/>
        </pc:sldMkLst>
        <pc:spChg chg="mod">
          <ac:chgData name="Dosch Stefan" userId="890109e9-1898-418b-81c4-580600bb3f43" providerId="ADAL" clId="{AE02C4C1-19BA-4C06-B808-4E6378A2910A}" dt="2026-06-28T07:30:18.671" v="11731"/>
          <ac:spMkLst>
            <pc:docMk/>
            <pc:sldMk cId="1237245289" sldId="285"/>
            <ac:spMk id="2" creationId="{6D3E5FBA-DE72-61F5-AF15-AE627C4D84FE}"/>
          </ac:spMkLst>
        </pc:spChg>
        <pc:spChg chg="mod">
          <ac:chgData name="Dosch Stefan" userId="890109e9-1898-418b-81c4-580600bb3f43" providerId="ADAL" clId="{AE02C4C1-19BA-4C06-B808-4E6378A2910A}" dt="2026-06-28T07:30:44.281" v="11739" actId="27636"/>
          <ac:spMkLst>
            <pc:docMk/>
            <pc:sldMk cId="1237245289" sldId="285"/>
            <ac:spMk id="3" creationId="{3CC3D8D6-CDB8-03C2-4C30-6C9236217E4D}"/>
          </ac:spMkLst>
        </pc:spChg>
      </pc:sldChg>
      <pc:sldChg chg="modSp new mod modNotesTx">
        <pc:chgData name="Dosch Stefan" userId="890109e9-1898-418b-81c4-580600bb3f43" providerId="ADAL" clId="{AE02C4C1-19BA-4C06-B808-4E6378A2910A}" dt="2026-06-28T09:00:35.281" v="12193" actId="20577"/>
        <pc:sldMkLst>
          <pc:docMk/>
          <pc:sldMk cId="2609171712" sldId="286"/>
        </pc:sldMkLst>
        <pc:spChg chg="mod">
          <ac:chgData name="Dosch Stefan" userId="890109e9-1898-418b-81c4-580600bb3f43" providerId="ADAL" clId="{AE02C4C1-19BA-4C06-B808-4E6378A2910A}" dt="2026-06-28T07:31:28.711" v="11743" actId="14100"/>
          <ac:spMkLst>
            <pc:docMk/>
            <pc:sldMk cId="2609171712" sldId="286"/>
            <ac:spMk id="2" creationId="{2F34AD97-EAA2-E3DB-DA1D-2D9401687245}"/>
          </ac:spMkLst>
        </pc:spChg>
        <pc:spChg chg="mod">
          <ac:chgData name="Dosch Stefan" userId="890109e9-1898-418b-81c4-580600bb3f43" providerId="ADAL" clId="{AE02C4C1-19BA-4C06-B808-4E6378A2910A}" dt="2026-06-28T07:31:43.842" v="11748" actId="27636"/>
          <ac:spMkLst>
            <pc:docMk/>
            <pc:sldMk cId="2609171712" sldId="286"/>
            <ac:spMk id="3" creationId="{6A6654ED-3D44-5A1F-45E8-FB65B38099FA}"/>
          </ac:spMkLst>
        </pc:spChg>
      </pc:sldChg>
      <pc:sldChg chg="modSp new mod">
        <pc:chgData name="Dosch Stefan" userId="890109e9-1898-418b-81c4-580600bb3f43" providerId="ADAL" clId="{AE02C4C1-19BA-4C06-B808-4E6378A2910A}" dt="2026-06-28T07:32:23.094" v="11754"/>
        <pc:sldMkLst>
          <pc:docMk/>
          <pc:sldMk cId="29040602" sldId="287"/>
        </pc:sldMkLst>
        <pc:spChg chg="mod">
          <ac:chgData name="Dosch Stefan" userId="890109e9-1898-418b-81c4-580600bb3f43" providerId="ADAL" clId="{AE02C4C1-19BA-4C06-B808-4E6378A2910A}" dt="2026-06-28T07:32:10.456" v="11750"/>
          <ac:spMkLst>
            <pc:docMk/>
            <pc:sldMk cId="29040602" sldId="287"/>
            <ac:spMk id="2" creationId="{99E17FDB-A4FB-841A-EC0E-0F75C3899F5A}"/>
          </ac:spMkLst>
        </pc:spChg>
        <pc:spChg chg="mod">
          <ac:chgData name="Dosch Stefan" userId="890109e9-1898-418b-81c4-580600bb3f43" providerId="ADAL" clId="{AE02C4C1-19BA-4C06-B808-4E6378A2910A}" dt="2026-06-28T07:32:23.094" v="11754"/>
          <ac:spMkLst>
            <pc:docMk/>
            <pc:sldMk cId="29040602" sldId="287"/>
            <ac:spMk id="3" creationId="{BE071A83-3F6C-23AE-C1A5-950A627CF4C0}"/>
          </ac:spMkLst>
        </pc:spChg>
      </pc:sldChg>
      <pc:sldChg chg="addSp delSp modSp new mod modNotesTx">
        <pc:chgData name="Dosch Stefan" userId="890109e9-1898-418b-81c4-580600bb3f43" providerId="ADAL" clId="{AE02C4C1-19BA-4C06-B808-4E6378A2910A}" dt="2026-06-28T09:02:13.568" v="12198" actId="20577"/>
        <pc:sldMkLst>
          <pc:docMk/>
          <pc:sldMk cId="3437888744" sldId="288"/>
        </pc:sldMkLst>
        <pc:spChg chg="mod">
          <ac:chgData name="Dosch Stefan" userId="890109e9-1898-418b-81c4-580600bb3f43" providerId="ADAL" clId="{AE02C4C1-19BA-4C06-B808-4E6378A2910A}" dt="2026-06-28T07:32:44.178" v="11756"/>
          <ac:spMkLst>
            <pc:docMk/>
            <pc:sldMk cId="3437888744" sldId="288"/>
            <ac:spMk id="2" creationId="{56350FCB-0019-B1B9-975E-142BCAA5F22B}"/>
          </ac:spMkLst>
        </pc:spChg>
        <pc:spChg chg="del">
          <ac:chgData name="Dosch Stefan" userId="890109e9-1898-418b-81c4-580600bb3f43" providerId="ADAL" clId="{AE02C4C1-19BA-4C06-B808-4E6378A2910A}" dt="2026-06-28T07:32:50.212" v="11757"/>
          <ac:spMkLst>
            <pc:docMk/>
            <pc:sldMk cId="3437888744" sldId="288"/>
            <ac:spMk id="3" creationId="{A86C75E9-9BAD-5AFE-31BE-B1799FBE17D5}"/>
          </ac:spMkLst>
        </pc:spChg>
        <pc:graphicFrameChg chg="add mod modGraphic">
          <ac:chgData name="Dosch Stefan" userId="890109e9-1898-418b-81c4-580600bb3f43" providerId="ADAL" clId="{AE02C4C1-19BA-4C06-B808-4E6378A2910A}" dt="2026-06-28T07:33:05.200" v="11760" actId="255"/>
          <ac:graphicFrameMkLst>
            <pc:docMk/>
            <pc:sldMk cId="3437888744" sldId="288"/>
            <ac:graphicFrameMk id="4" creationId="{E0A47CB1-F28A-12C5-52C9-7A3B4FC3091F}"/>
          </ac:graphicFrameMkLst>
        </pc:graphicFrameChg>
      </pc:sldChg>
      <pc:sldChg chg="addSp delSp modSp new mod modNotesTx">
        <pc:chgData name="Dosch Stefan" userId="890109e9-1898-418b-81c4-580600bb3f43" providerId="ADAL" clId="{AE02C4C1-19BA-4C06-B808-4E6378A2910A}" dt="2026-06-28T09:03:34.158" v="12203" actId="20577"/>
        <pc:sldMkLst>
          <pc:docMk/>
          <pc:sldMk cId="132898196" sldId="289"/>
        </pc:sldMkLst>
        <pc:spChg chg="mod">
          <ac:chgData name="Dosch Stefan" userId="890109e9-1898-418b-81c4-580600bb3f43" providerId="ADAL" clId="{AE02C4C1-19BA-4C06-B808-4E6378A2910A}" dt="2026-06-28T07:33:23.750" v="11762"/>
          <ac:spMkLst>
            <pc:docMk/>
            <pc:sldMk cId="132898196" sldId="289"/>
            <ac:spMk id="2" creationId="{81F16302-3C11-A543-3625-803DFDDFC416}"/>
          </ac:spMkLst>
        </pc:spChg>
        <pc:spChg chg="del">
          <ac:chgData name="Dosch Stefan" userId="890109e9-1898-418b-81c4-580600bb3f43" providerId="ADAL" clId="{AE02C4C1-19BA-4C06-B808-4E6378A2910A}" dt="2026-06-28T07:33:29.319" v="11763"/>
          <ac:spMkLst>
            <pc:docMk/>
            <pc:sldMk cId="132898196" sldId="289"/>
            <ac:spMk id="3" creationId="{00B46314-5B3B-6051-664E-767906E5243D}"/>
          </ac:spMkLst>
        </pc:spChg>
        <pc:spChg chg="add mod">
          <ac:chgData name="Dosch Stefan" userId="890109e9-1898-418b-81c4-580600bb3f43" providerId="ADAL" clId="{AE02C4C1-19BA-4C06-B808-4E6378A2910A}" dt="2026-06-28T07:34:07.218" v="11772" actId="1076"/>
          <ac:spMkLst>
            <pc:docMk/>
            <pc:sldMk cId="132898196" sldId="289"/>
            <ac:spMk id="6" creationId="{870BA440-E17B-5598-B36D-02C49F99E864}"/>
          </ac:spMkLst>
        </pc:spChg>
        <pc:graphicFrameChg chg="add mod modGraphic">
          <ac:chgData name="Dosch Stefan" userId="890109e9-1898-418b-81c4-580600bb3f43" providerId="ADAL" clId="{AE02C4C1-19BA-4C06-B808-4E6378A2910A}" dt="2026-06-28T07:33:51.300" v="11768" actId="14734"/>
          <ac:graphicFrameMkLst>
            <pc:docMk/>
            <pc:sldMk cId="132898196" sldId="289"/>
            <ac:graphicFrameMk id="4" creationId="{20302269-6506-4C5C-679A-0BD881A5090B}"/>
          </ac:graphicFrameMkLst>
        </pc:graphicFrameChg>
      </pc:sldChg>
      <pc:sldChg chg="addSp delSp modSp new mod modNotesTx">
        <pc:chgData name="Dosch Stefan" userId="890109e9-1898-418b-81c4-580600bb3f43" providerId="ADAL" clId="{AE02C4C1-19BA-4C06-B808-4E6378A2910A}" dt="2026-06-28T09:04:09.526" v="12208" actId="20577"/>
        <pc:sldMkLst>
          <pc:docMk/>
          <pc:sldMk cId="1184813038" sldId="290"/>
        </pc:sldMkLst>
        <pc:spChg chg="mod">
          <ac:chgData name="Dosch Stefan" userId="890109e9-1898-418b-81c4-580600bb3f43" providerId="ADAL" clId="{AE02C4C1-19BA-4C06-B808-4E6378A2910A}" dt="2026-06-28T07:34:31.273" v="11774"/>
          <ac:spMkLst>
            <pc:docMk/>
            <pc:sldMk cId="1184813038" sldId="290"/>
            <ac:spMk id="2" creationId="{2FB27247-546F-F35E-C540-FBB988C36C06}"/>
          </ac:spMkLst>
        </pc:spChg>
        <pc:spChg chg="del">
          <ac:chgData name="Dosch Stefan" userId="890109e9-1898-418b-81c4-580600bb3f43" providerId="ADAL" clId="{AE02C4C1-19BA-4C06-B808-4E6378A2910A}" dt="2026-06-28T07:34:36.783" v="11775"/>
          <ac:spMkLst>
            <pc:docMk/>
            <pc:sldMk cId="1184813038" sldId="290"/>
            <ac:spMk id="3" creationId="{38E5E8ED-7D65-5447-D973-CA5AA750CF01}"/>
          </ac:spMkLst>
        </pc:spChg>
        <pc:graphicFrameChg chg="add mod modGraphic">
          <ac:chgData name="Dosch Stefan" userId="890109e9-1898-418b-81c4-580600bb3f43" providerId="ADAL" clId="{AE02C4C1-19BA-4C06-B808-4E6378A2910A}" dt="2026-06-28T07:34:50.288" v="11779" actId="255"/>
          <ac:graphicFrameMkLst>
            <pc:docMk/>
            <pc:sldMk cId="1184813038" sldId="290"/>
            <ac:graphicFrameMk id="4" creationId="{5B9DBDBF-3205-2BBB-9036-95F35D1D9B27}"/>
          </ac:graphicFrameMkLst>
        </pc:graphicFrameChg>
      </pc:sldChg>
      <pc:sldChg chg="addSp delSp modSp new mod">
        <pc:chgData name="Dosch Stefan" userId="890109e9-1898-418b-81c4-580600bb3f43" providerId="ADAL" clId="{AE02C4C1-19BA-4C06-B808-4E6378A2910A}" dt="2026-06-28T08:10:06.278" v="11813" actId="122"/>
        <pc:sldMkLst>
          <pc:docMk/>
          <pc:sldMk cId="1010769613" sldId="291"/>
        </pc:sldMkLst>
        <pc:spChg chg="mod">
          <ac:chgData name="Dosch Stefan" userId="890109e9-1898-418b-81c4-580600bb3f43" providerId="ADAL" clId="{AE02C4C1-19BA-4C06-B808-4E6378A2910A}" dt="2026-06-28T07:35:11.726" v="11781"/>
          <ac:spMkLst>
            <pc:docMk/>
            <pc:sldMk cId="1010769613" sldId="291"/>
            <ac:spMk id="2" creationId="{EC3CF917-DA22-1D66-923F-1D604D5CC600}"/>
          </ac:spMkLst>
        </pc:spChg>
        <pc:spChg chg="del">
          <ac:chgData name="Dosch Stefan" userId="890109e9-1898-418b-81c4-580600bb3f43" providerId="ADAL" clId="{AE02C4C1-19BA-4C06-B808-4E6378A2910A}" dt="2026-06-28T07:35:17.352" v="11782"/>
          <ac:spMkLst>
            <pc:docMk/>
            <pc:sldMk cId="1010769613" sldId="291"/>
            <ac:spMk id="3" creationId="{A8B38713-E9B2-563A-8122-8DEF427F7321}"/>
          </ac:spMkLst>
        </pc:spChg>
        <pc:spChg chg="add mod">
          <ac:chgData name="Dosch Stefan" userId="890109e9-1898-418b-81c4-580600bb3f43" providerId="ADAL" clId="{AE02C4C1-19BA-4C06-B808-4E6378A2910A}" dt="2026-06-28T07:35:42.233" v="11788" actId="14100"/>
          <ac:spMkLst>
            <pc:docMk/>
            <pc:sldMk cId="1010769613" sldId="291"/>
            <ac:spMk id="6" creationId="{60DD3669-D3E6-BE6C-A0B0-EAE0BF5637FF}"/>
          </ac:spMkLst>
        </pc:spChg>
        <pc:graphicFrameChg chg="add mod modGraphic">
          <ac:chgData name="Dosch Stefan" userId="890109e9-1898-418b-81c4-580600bb3f43" providerId="ADAL" clId="{AE02C4C1-19BA-4C06-B808-4E6378A2910A}" dt="2026-06-28T08:10:06.278" v="11813" actId="122"/>
          <ac:graphicFrameMkLst>
            <pc:docMk/>
            <pc:sldMk cId="1010769613" sldId="291"/>
            <ac:graphicFrameMk id="4" creationId="{4F39E525-422E-52E0-3FCD-E2EFA7BB80C9}"/>
          </ac:graphicFrameMkLst>
        </pc:graphicFrameChg>
      </pc:sldChg>
      <pc:sldChg chg="addSp delSp modSp new mod">
        <pc:chgData name="Dosch Stefan" userId="890109e9-1898-418b-81c4-580600bb3f43" providerId="ADAL" clId="{AE02C4C1-19BA-4C06-B808-4E6378A2910A}" dt="2026-06-28T07:37:52.387" v="11809" actId="1076"/>
        <pc:sldMkLst>
          <pc:docMk/>
          <pc:sldMk cId="3300988353" sldId="292"/>
        </pc:sldMkLst>
        <pc:spChg chg="mod">
          <ac:chgData name="Dosch Stefan" userId="890109e9-1898-418b-81c4-580600bb3f43" providerId="ADAL" clId="{AE02C4C1-19BA-4C06-B808-4E6378A2910A}" dt="2026-06-28T07:37:13.182" v="11800" actId="20577"/>
          <ac:spMkLst>
            <pc:docMk/>
            <pc:sldMk cId="3300988353" sldId="292"/>
            <ac:spMk id="2" creationId="{3891D251-CD36-BCF1-87DC-91F9FC6640D3}"/>
          </ac:spMkLst>
        </pc:spChg>
        <pc:spChg chg="del">
          <ac:chgData name="Dosch Stefan" userId="890109e9-1898-418b-81c4-580600bb3f43" providerId="ADAL" clId="{AE02C4C1-19BA-4C06-B808-4E6378A2910A}" dt="2026-06-28T07:36:58.420" v="11790"/>
          <ac:spMkLst>
            <pc:docMk/>
            <pc:sldMk cId="3300988353" sldId="292"/>
            <ac:spMk id="3" creationId="{5682FB73-993B-E520-41D7-D7102BBF18BE}"/>
          </ac:spMkLst>
        </pc:spChg>
        <pc:graphicFrameChg chg="add mod modGraphic">
          <ac:chgData name="Dosch Stefan" userId="890109e9-1898-418b-81c4-580600bb3f43" providerId="ADAL" clId="{AE02C4C1-19BA-4C06-B808-4E6378A2910A}" dt="2026-06-28T07:37:52.387" v="11809" actId="1076"/>
          <ac:graphicFrameMkLst>
            <pc:docMk/>
            <pc:sldMk cId="3300988353" sldId="292"/>
            <ac:graphicFrameMk id="4" creationId="{E1AEA76D-1D3B-B315-9D2F-7239374499C1}"/>
          </ac:graphicFrameMkLst>
        </pc:graphicFrameChg>
      </pc:sldChg>
      <pc:sldChg chg="addSp delSp modSp new mod modNotesTx">
        <pc:chgData name="Dosch Stefan" userId="890109e9-1898-418b-81c4-580600bb3f43" providerId="ADAL" clId="{AE02C4C1-19BA-4C06-B808-4E6378A2910A}" dt="2026-06-28T08:15:47.511" v="11912" actId="12"/>
        <pc:sldMkLst>
          <pc:docMk/>
          <pc:sldMk cId="2663462969" sldId="293"/>
        </pc:sldMkLst>
        <pc:spChg chg="mod">
          <ac:chgData name="Dosch Stefan" userId="890109e9-1898-418b-81c4-580600bb3f43" providerId="ADAL" clId="{AE02C4C1-19BA-4C06-B808-4E6378A2910A}" dt="2026-06-28T08:11:14.745" v="11816"/>
          <ac:spMkLst>
            <pc:docMk/>
            <pc:sldMk cId="2663462969" sldId="293"/>
            <ac:spMk id="2" creationId="{A62AF250-B0DA-6EC5-FF40-1B27A22C208C}"/>
          </ac:spMkLst>
        </pc:spChg>
        <pc:spChg chg="del">
          <ac:chgData name="Dosch Stefan" userId="890109e9-1898-418b-81c4-580600bb3f43" providerId="ADAL" clId="{AE02C4C1-19BA-4C06-B808-4E6378A2910A}" dt="2026-06-28T08:11:21.021" v="11817"/>
          <ac:spMkLst>
            <pc:docMk/>
            <pc:sldMk cId="2663462969" sldId="293"/>
            <ac:spMk id="3" creationId="{6BD11492-5C86-AE17-5BA6-0582D6825F9A}"/>
          </ac:spMkLst>
        </pc:spChg>
        <pc:graphicFrameChg chg="add mod modGraphic">
          <ac:chgData name="Dosch Stefan" userId="890109e9-1898-418b-81c4-580600bb3f43" providerId="ADAL" clId="{AE02C4C1-19BA-4C06-B808-4E6378A2910A}" dt="2026-06-28T08:11:34.165" v="11820" actId="255"/>
          <ac:graphicFrameMkLst>
            <pc:docMk/>
            <pc:sldMk cId="2663462969" sldId="293"/>
            <ac:graphicFrameMk id="4" creationId="{B0EB2E7E-3551-22C7-445E-856F6B77AE08}"/>
          </ac:graphicFrameMkLst>
        </pc:graphicFrameChg>
      </pc:sldChg>
      <pc:sldChg chg="modSp new mod modNotesTx">
        <pc:chgData name="Dosch Stefan" userId="890109e9-1898-418b-81c4-580600bb3f43" providerId="ADAL" clId="{AE02C4C1-19BA-4C06-B808-4E6378A2910A}" dt="2026-06-28T08:15:44.709" v="11911" actId="12"/>
        <pc:sldMkLst>
          <pc:docMk/>
          <pc:sldMk cId="2777806933" sldId="294"/>
        </pc:sldMkLst>
        <pc:spChg chg="mod">
          <ac:chgData name="Dosch Stefan" userId="890109e9-1898-418b-81c4-580600bb3f43" providerId="ADAL" clId="{AE02C4C1-19BA-4C06-B808-4E6378A2910A}" dt="2026-06-28T08:12:01.491" v="11822"/>
          <ac:spMkLst>
            <pc:docMk/>
            <pc:sldMk cId="2777806933" sldId="294"/>
            <ac:spMk id="2" creationId="{D4EFA822-CA4C-3F2B-CA2A-AF4729F080B2}"/>
          </ac:spMkLst>
        </pc:spChg>
        <pc:spChg chg="mod">
          <ac:chgData name="Dosch Stefan" userId="890109e9-1898-418b-81c4-580600bb3f43" providerId="ADAL" clId="{AE02C4C1-19BA-4C06-B808-4E6378A2910A}" dt="2026-06-28T08:13:51.953" v="11893" actId="255"/>
          <ac:spMkLst>
            <pc:docMk/>
            <pc:sldMk cId="2777806933" sldId="294"/>
            <ac:spMk id="3" creationId="{B2646F58-91A2-8AF3-7763-5E25E0B5C40A}"/>
          </ac:spMkLst>
        </pc:spChg>
      </pc:sldChg>
      <pc:sldChg chg="addSp delSp modSp new mod modNotesTx">
        <pc:chgData name="Dosch Stefan" userId="890109e9-1898-418b-81c4-580600bb3f43" providerId="ADAL" clId="{AE02C4C1-19BA-4C06-B808-4E6378A2910A}" dt="2026-06-28T08:15:40.288" v="11910" actId="12"/>
        <pc:sldMkLst>
          <pc:docMk/>
          <pc:sldMk cId="782452594" sldId="295"/>
        </pc:sldMkLst>
        <pc:spChg chg="mod">
          <ac:chgData name="Dosch Stefan" userId="890109e9-1898-418b-81c4-580600bb3f43" providerId="ADAL" clId="{AE02C4C1-19BA-4C06-B808-4E6378A2910A}" dt="2026-06-28T08:14:23.442" v="11895"/>
          <ac:spMkLst>
            <pc:docMk/>
            <pc:sldMk cId="782452594" sldId="295"/>
            <ac:spMk id="2" creationId="{DB1B3722-459F-B822-4D04-BEDDE26D3F1D}"/>
          </ac:spMkLst>
        </pc:spChg>
        <pc:spChg chg="del">
          <ac:chgData name="Dosch Stefan" userId="890109e9-1898-418b-81c4-580600bb3f43" providerId="ADAL" clId="{AE02C4C1-19BA-4C06-B808-4E6378A2910A}" dt="2026-06-28T08:14:28.857" v="11896"/>
          <ac:spMkLst>
            <pc:docMk/>
            <pc:sldMk cId="782452594" sldId="295"/>
            <ac:spMk id="3" creationId="{3068B5DC-DF83-22DA-8604-C22EE56B8A27}"/>
          </ac:spMkLst>
        </pc:spChg>
        <pc:graphicFrameChg chg="add mod modGraphic">
          <ac:chgData name="Dosch Stefan" userId="890109e9-1898-418b-81c4-580600bb3f43" providerId="ADAL" clId="{AE02C4C1-19BA-4C06-B808-4E6378A2910A}" dt="2026-06-28T08:15:26.669" v="11909" actId="14100"/>
          <ac:graphicFrameMkLst>
            <pc:docMk/>
            <pc:sldMk cId="782452594" sldId="295"/>
            <ac:graphicFrameMk id="4" creationId="{BB8B7E8C-6969-3057-2495-99932E56BCBE}"/>
          </ac:graphicFrameMkLst>
        </pc:graphicFrameChg>
      </pc:sldChg>
      <pc:sldChg chg="addSp delSp modSp new mod modNotesTx">
        <pc:chgData name="Dosch Stefan" userId="890109e9-1898-418b-81c4-580600bb3f43" providerId="ADAL" clId="{AE02C4C1-19BA-4C06-B808-4E6378A2910A}" dt="2026-06-28T08:17:13.446" v="11923" actId="12"/>
        <pc:sldMkLst>
          <pc:docMk/>
          <pc:sldMk cId="874103116" sldId="296"/>
        </pc:sldMkLst>
        <pc:spChg chg="mod">
          <ac:chgData name="Dosch Stefan" userId="890109e9-1898-418b-81c4-580600bb3f43" providerId="ADAL" clId="{AE02C4C1-19BA-4C06-B808-4E6378A2910A}" dt="2026-06-28T08:16:10.405" v="11914"/>
          <ac:spMkLst>
            <pc:docMk/>
            <pc:sldMk cId="874103116" sldId="296"/>
            <ac:spMk id="2" creationId="{8A488E39-6ADD-D396-87F2-634B80526207}"/>
          </ac:spMkLst>
        </pc:spChg>
        <pc:spChg chg="del">
          <ac:chgData name="Dosch Stefan" userId="890109e9-1898-418b-81c4-580600bb3f43" providerId="ADAL" clId="{AE02C4C1-19BA-4C06-B808-4E6378A2910A}" dt="2026-06-28T08:16:16.035" v="11915"/>
          <ac:spMkLst>
            <pc:docMk/>
            <pc:sldMk cId="874103116" sldId="296"/>
            <ac:spMk id="3" creationId="{AEDECBD9-E18A-A32B-01A2-4ECC0699E8C5}"/>
          </ac:spMkLst>
        </pc:spChg>
        <pc:spChg chg="add mod">
          <ac:chgData name="Dosch Stefan" userId="890109e9-1898-418b-81c4-580600bb3f43" providerId="ADAL" clId="{AE02C4C1-19BA-4C06-B808-4E6378A2910A}" dt="2026-06-28T08:16:51.762" v="11922" actId="1076"/>
          <ac:spMkLst>
            <pc:docMk/>
            <pc:sldMk cId="874103116" sldId="296"/>
            <ac:spMk id="5" creationId="{B250FC59-6A00-41EF-B055-04EFF1ED2BEE}"/>
          </ac:spMkLst>
        </pc:spChg>
        <pc:graphicFrameChg chg="add mod modGraphic">
          <ac:chgData name="Dosch Stefan" userId="890109e9-1898-418b-81c4-580600bb3f43" providerId="ADAL" clId="{AE02C4C1-19BA-4C06-B808-4E6378A2910A}" dt="2026-06-28T08:16:35.248" v="11919"/>
          <ac:graphicFrameMkLst>
            <pc:docMk/>
            <pc:sldMk cId="874103116" sldId="296"/>
            <ac:graphicFrameMk id="4" creationId="{FF9E59AF-60EA-1984-60A9-12CEBFBB5FCF}"/>
          </ac:graphicFrameMkLst>
        </pc:graphicFrameChg>
      </pc:sldChg>
      <pc:sldChg chg="modSp new mod modNotesTx">
        <pc:chgData name="Dosch Stefan" userId="890109e9-1898-418b-81c4-580600bb3f43" providerId="ADAL" clId="{AE02C4C1-19BA-4C06-B808-4E6378A2910A}" dt="2026-06-28T08:18:17.137" v="11931" actId="12"/>
        <pc:sldMkLst>
          <pc:docMk/>
          <pc:sldMk cId="1560086363" sldId="297"/>
        </pc:sldMkLst>
        <pc:spChg chg="mod">
          <ac:chgData name="Dosch Stefan" userId="890109e9-1898-418b-81c4-580600bb3f43" providerId="ADAL" clId="{AE02C4C1-19BA-4C06-B808-4E6378A2910A}" dt="2026-06-28T08:17:29.058" v="11925"/>
          <ac:spMkLst>
            <pc:docMk/>
            <pc:sldMk cId="1560086363" sldId="297"/>
            <ac:spMk id="2" creationId="{EA753D52-0524-CD4E-7C82-17D23D035290}"/>
          </ac:spMkLst>
        </pc:spChg>
        <pc:spChg chg="mod">
          <ac:chgData name="Dosch Stefan" userId="890109e9-1898-418b-81c4-580600bb3f43" providerId="ADAL" clId="{AE02C4C1-19BA-4C06-B808-4E6378A2910A}" dt="2026-06-28T08:18:03.934" v="11930" actId="27636"/>
          <ac:spMkLst>
            <pc:docMk/>
            <pc:sldMk cId="1560086363" sldId="297"/>
            <ac:spMk id="3" creationId="{6EB87386-A6E2-840F-2EAF-A827A2F24C46}"/>
          </ac:spMkLst>
        </pc:spChg>
      </pc:sldChg>
      <pc:sldChg chg="addSp delSp modSp new mod ord modNotesTx">
        <pc:chgData name="Dosch Stefan" userId="890109e9-1898-418b-81c4-580600bb3f43" providerId="ADAL" clId="{AE02C4C1-19BA-4C06-B808-4E6378A2910A}" dt="2026-06-28T08:30:59.519" v="11942"/>
        <pc:sldMkLst>
          <pc:docMk/>
          <pc:sldMk cId="1722766454" sldId="298"/>
        </pc:sldMkLst>
        <pc:spChg chg="mod">
          <ac:chgData name="Dosch Stefan" userId="890109e9-1898-418b-81c4-580600bb3f43" providerId="ADAL" clId="{AE02C4C1-19BA-4C06-B808-4E6378A2910A}" dt="2026-06-28T08:18:26.521" v="11933"/>
          <ac:spMkLst>
            <pc:docMk/>
            <pc:sldMk cId="1722766454" sldId="298"/>
            <ac:spMk id="2" creationId="{14384615-D68D-9E82-6F33-5A729CE6F78A}"/>
          </ac:spMkLst>
        </pc:spChg>
        <pc:spChg chg="del">
          <ac:chgData name="Dosch Stefan" userId="890109e9-1898-418b-81c4-580600bb3f43" providerId="ADAL" clId="{AE02C4C1-19BA-4C06-B808-4E6378A2910A}" dt="2026-06-28T08:18:34.457" v="11935"/>
          <ac:spMkLst>
            <pc:docMk/>
            <pc:sldMk cId="1722766454" sldId="298"/>
            <ac:spMk id="3" creationId="{0D0E6CA6-3E85-CBA2-8452-D5CFDDEF7AE2}"/>
          </ac:spMkLst>
        </pc:spChg>
        <pc:spChg chg="add mod">
          <ac:chgData name="Dosch Stefan" userId="890109e9-1898-418b-81c4-580600bb3f43" providerId="ADAL" clId="{AE02C4C1-19BA-4C06-B808-4E6378A2910A}" dt="2026-06-28T08:18:46.070" v="11938" actId="1076"/>
          <ac:spMkLst>
            <pc:docMk/>
            <pc:sldMk cId="1722766454" sldId="298"/>
            <ac:spMk id="6" creationId="{72D3A668-F3F4-43CE-DA69-30CFF10FA296}"/>
          </ac:spMkLst>
        </pc:spChg>
        <pc:graphicFrameChg chg="add mod">
          <ac:chgData name="Dosch Stefan" userId="890109e9-1898-418b-81c4-580600bb3f43" providerId="ADAL" clId="{AE02C4C1-19BA-4C06-B808-4E6378A2910A}" dt="2026-06-28T08:18:41.549" v="11937" actId="1076"/>
          <ac:graphicFrameMkLst>
            <pc:docMk/>
            <pc:sldMk cId="1722766454" sldId="298"/>
            <ac:graphicFrameMk id="4" creationId="{3BC1B3F8-55C4-FA82-76BD-9FE3B93BD77D}"/>
          </ac:graphicFrameMkLst>
        </pc:graphicFrameChg>
      </pc:sldChg>
      <pc:sldChg chg="addSp modSp new mod ord modNotesTx">
        <pc:chgData name="Dosch Stefan" userId="890109e9-1898-418b-81c4-580600bb3f43" providerId="ADAL" clId="{AE02C4C1-19BA-4C06-B808-4E6378A2910A}" dt="2026-06-29T05:19:56.031" v="12530"/>
        <pc:sldMkLst>
          <pc:docMk/>
          <pc:sldMk cId="1624508989" sldId="299"/>
        </pc:sldMkLst>
        <pc:spChg chg="mod">
          <ac:chgData name="Dosch Stefan" userId="890109e9-1898-418b-81c4-580600bb3f43" providerId="ADAL" clId="{AE02C4C1-19BA-4C06-B808-4E6378A2910A}" dt="2026-06-28T08:34:38.367" v="11947"/>
          <ac:spMkLst>
            <pc:docMk/>
            <pc:sldMk cId="1624508989" sldId="299"/>
            <ac:spMk id="2" creationId="{BCF93958-9ECD-A824-F42D-3330B2A6BB77}"/>
          </ac:spMkLst>
        </pc:spChg>
        <pc:spChg chg="mod">
          <ac:chgData name="Dosch Stefan" userId="890109e9-1898-418b-81c4-580600bb3f43" providerId="ADAL" clId="{AE02C4C1-19BA-4C06-B808-4E6378A2910A}" dt="2026-06-28T08:48:19.054" v="12069" actId="14100"/>
          <ac:spMkLst>
            <pc:docMk/>
            <pc:sldMk cId="1624508989" sldId="299"/>
            <ac:spMk id="3" creationId="{46F39061-89C2-DB12-29A0-67602A3E6AA1}"/>
          </ac:spMkLst>
        </pc:spChg>
        <pc:picChg chg="add mod">
          <ac:chgData name="Dosch Stefan" userId="890109e9-1898-418b-81c4-580600bb3f43" providerId="ADAL" clId="{AE02C4C1-19BA-4C06-B808-4E6378A2910A}" dt="2026-06-28T08:48:24.045" v="12072" actId="1076"/>
          <ac:picMkLst>
            <pc:docMk/>
            <pc:sldMk cId="1624508989" sldId="299"/>
            <ac:picMk id="5" creationId="{103C0FE1-FB07-4129-7CFD-E9302256CCDA}"/>
          </ac:picMkLst>
        </pc:picChg>
      </pc:sldChg>
      <pc:sldChg chg="addSp delSp modSp new mod">
        <pc:chgData name="Dosch Stefan" userId="890109e9-1898-418b-81c4-580600bb3f43" providerId="ADAL" clId="{AE02C4C1-19BA-4C06-B808-4E6378A2910A}" dt="2026-06-28T08:47:36.095" v="12057" actId="1076"/>
        <pc:sldMkLst>
          <pc:docMk/>
          <pc:sldMk cId="14088800" sldId="300"/>
        </pc:sldMkLst>
        <pc:spChg chg="mod">
          <ac:chgData name="Dosch Stefan" userId="890109e9-1898-418b-81c4-580600bb3f43" providerId="ADAL" clId="{AE02C4C1-19BA-4C06-B808-4E6378A2910A}" dt="2026-06-28T08:35:01.663" v="11951" actId="27636"/>
          <ac:spMkLst>
            <pc:docMk/>
            <pc:sldMk cId="14088800" sldId="300"/>
            <ac:spMk id="2" creationId="{E5118568-E741-2405-539D-3D754A37949B}"/>
          </ac:spMkLst>
        </pc:spChg>
        <pc:spChg chg="del mod">
          <ac:chgData name="Dosch Stefan" userId="890109e9-1898-418b-81c4-580600bb3f43" providerId="ADAL" clId="{AE02C4C1-19BA-4C06-B808-4E6378A2910A}" dt="2026-06-28T08:47:30.588" v="12054" actId="478"/>
          <ac:spMkLst>
            <pc:docMk/>
            <pc:sldMk cId="14088800" sldId="300"/>
            <ac:spMk id="3" creationId="{01922EEE-B017-D23E-21B3-93D8F2B3D9A8}"/>
          </ac:spMkLst>
        </pc:spChg>
        <pc:spChg chg="add mod">
          <ac:chgData name="Dosch Stefan" userId="890109e9-1898-418b-81c4-580600bb3f43" providerId="ADAL" clId="{AE02C4C1-19BA-4C06-B808-4E6378A2910A}" dt="2026-06-28T08:47:30.588" v="12054" actId="478"/>
          <ac:spMkLst>
            <pc:docMk/>
            <pc:sldMk cId="14088800" sldId="300"/>
            <ac:spMk id="5" creationId="{ECD59E9A-F891-EEFD-DD21-B1DF34125AAC}"/>
          </ac:spMkLst>
        </pc:spChg>
        <pc:picChg chg="add mod">
          <ac:chgData name="Dosch Stefan" userId="890109e9-1898-418b-81c4-580600bb3f43" providerId="ADAL" clId="{AE02C4C1-19BA-4C06-B808-4E6378A2910A}" dt="2026-06-28T08:47:36.095" v="12057" actId="1076"/>
          <ac:picMkLst>
            <pc:docMk/>
            <pc:sldMk cId="14088800" sldId="300"/>
            <ac:picMk id="7" creationId="{DECC8BBB-7750-D2D8-8689-43FA79469567}"/>
          </ac:picMkLst>
        </pc:picChg>
      </pc:sldChg>
      <pc:sldChg chg="addSp delSp modSp new mod">
        <pc:chgData name="Dosch Stefan" userId="890109e9-1898-418b-81c4-580600bb3f43" providerId="ADAL" clId="{AE02C4C1-19BA-4C06-B808-4E6378A2910A}" dt="2026-06-28T08:36:13.974" v="11962" actId="255"/>
        <pc:sldMkLst>
          <pc:docMk/>
          <pc:sldMk cId="1146474362" sldId="301"/>
        </pc:sldMkLst>
        <pc:spChg chg="mod">
          <ac:chgData name="Dosch Stefan" userId="890109e9-1898-418b-81c4-580600bb3f43" providerId="ADAL" clId="{AE02C4C1-19BA-4C06-B808-4E6378A2910A}" dt="2026-06-28T08:35:56.292" v="11958" actId="20577"/>
          <ac:spMkLst>
            <pc:docMk/>
            <pc:sldMk cId="1146474362" sldId="301"/>
            <ac:spMk id="2" creationId="{D98D898F-8827-69E6-C86D-577845C66430}"/>
          </ac:spMkLst>
        </pc:spChg>
        <pc:spChg chg="del">
          <ac:chgData name="Dosch Stefan" userId="890109e9-1898-418b-81c4-580600bb3f43" providerId="ADAL" clId="{AE02C4C1-19BA-4C06-B808-4E6378A2910A}" dt="2026-06-28T08:36:03.368" v="11959"/>
          <ac:spMkLst>
            <pc:docMk/>
            <pc:sldMk cId="1146474362" sldId="301"/>
            <ac:spMk id="3" creationId="{298670AB-DD78-D911-DDF4-780ED3341F75}"/>
          </ac:spMkLst>
        </pc:spChg>
        <pc:graphicFrameChg chg="add mod modGraphic">
          <ac:chgData name="Dosch Stefan" userId="890109e9-1898-418b-81c4-580600bb3f43" providerId="ADAL" clId="{AE02C4C1-19BA-4C06-B808-4E6378A2910A}" dt="2026-06-28T08:36:13.974" v="11962" actId="255"/>
          <ac:graphicFrameMkLst>
            <pc:docMk/>
            <pc:sldMk cId="1146474362" sldId="301"/>
            <ac:graphicFrameMk id="4" creationId="{4AA22FAB-8D1E-7BEC-AECD-C5FAAC16345E}"/>
          </ac:graphicFrameMkLst>
        </pc:graphicFrameChg>
      </pc:sldChg>
      <pc:sldChg chg="addSp delSp modSp new mod">
        <pc:chgData name="Dosch Stefan" userId="890109e9-1898-418b-81c4-580600bb3f43" providerId="ADAL" clId="{AE02C4C1-19BA-4C06-B808-4E6378A2910A}" dt="2026-06-28T08:38:48.443" v="11981" actId="1076"/>
        <pc:sldMkLst>
          <pc:docMk/>
          <pc:sldMk cId="3145331043" sldId="302"/>
        </pc:sldMkLst>
        <pc:spChg chg="mod">
          <ac:chgData name="Dosch Stefan" userId="890109e9-1898-418b-81c4-580600bb3f43" providerId="ADAL" clId="{AE02C4C1-19BA-4C06-B808-4E6378A2910A}" dt="2026-06-28T08:36:40.687" v="11964"/>
          <ac:spMkLst>
            <pc:docMk/>
            <pc:sldMk cId="3145331043" sldId="302"/>
            <ac:spMk id="2" creationId="{089B35F1-F532-067D-9690-DD375D74074E}"/>
          </ac:spMkLst>
        </pc:spChg>
        <pc:spChg chg="del mod">
          <ac:chgData name="Dosch Stefan" userId="890109e9-1898-418b-81c4-580600bb3f43" providerId="ADAL" clId="{AE02C4C1-19BA-4C06-B808-4E6378A2910A}" dt="2026-06-28T08:38:30.395" v="11977" actId="478"/>
          <ac:spMkLst>
            <pc:docMk/>
            <pc:sldMk cId="3145331043" sldId="302"/>
            <ac:spMk id="3" creationId="{506E24C2-012F-0ED1-A015-E8E4D0AB1CB3}"/>
          </ac:spMkLst>
        </pc:spChg>
        <pc:spChg chg="add mod">
          <ac:chgData name="Dosch Stefan" userId="890109e9-1898-418b-81c4-580600bb3f43" providerId="ADAL" clId="{AE02C4C1-19BA-4C06-B808-4E6378A2910A}" dt="2026-06-28T08:38:30.395" v="11977" actId="478"/>
          <ac:spMkLst>
            <pc:docMk/>
            <pc:sldMk cId="3145331043" sldId="302"/>
            <ac:spMk id="5" creationId="{9AD291B7-3ED4-E0A9-4D41-EB8E77379687}"/>
          </ac:spMkLst>
        </pc:spChg>
        <pc:picChg chg="add mod">
          <ac:chgData name="Dosch Stefan" userId="890109e9-1898-418b-81c4-580600bb3f43" providerId="ADAL" clId="{AE02C4C1-19BA-4C06-B808-4E6378A2910A}" dt="2026-06-28T08:38:48.443" v="11981" actId="1076"/>
          <ac:picMkLst>
            <pc:docMk/>
            <pc:sldMk cId="3145331043" sldId="302"/>
            <ac:picMk id="7" creationId="{B41765A2-8FDD-F045-7A2F-528B353D895D}"/>
          </ac:picMkLst>
        </pc:picChg>
      </pc:sldChg>
      <pc:sldChg chg="addSp delSp modSp new mod">
        <pc:chgData name="Dosch Stefan" userId="890109e9-1898-418b-81c4-580600bb3f43" providerId="ADAL" clId="{AE02C4C1-19BA-4C06-B808-4E6378A2910A}" dt="2026-06-28T08:38:22.603" v="11976" actId="1076"/>
        <pc:sldMkLst>
          <pc:docMk/>
          <pc:sldMk cId="519443895" sldId="303"/>
        </pc:sldMkLst>
        <pc:spChg chg="mod">
          <ac:chgData name="Dosch Stefan" userId="890109e9-1898-418b-81c4-580600bb3f43" providerId="ADAL" clId="{AE02C4C1-19BA-4C06-B808-4E6378A2910A}" dt="2026-06-28T08:37:40.206" v="11969"/>
          <ac:spMkLst>
            <pc:docMk/>
            <pc:sldMk cId="519443895" sldId="303"/>
            <ac:spMk id="2" creationId="{2B23B5CA-85A8-2D7B-875D-CB83F0F1830A}"/>
          </ac:spMkLst>
        </pc:spChg>
        <pc:spChg chg="del mod">
          <ac:chgData name="Dosch Stefan" userId="890109e9-1898-418b-81c4-580600bb3f43" providerId="ADAL" clId="{AE02C4C1-19BA-4C06-B808-4E6378A2910A}" dt="2026-06-28T08:38:15.008" v="11974" actId="478"/>
          <ac:spMkLst>
            <pc:docMk/>
            <pc:sldMk cId="519443895" sldId="303"/>
            <ac:spMk id="3" creationId="{B6B8673B-8CF0-2320-7A09-CFB507E060E5}"/>
          </ac:spMkLst>
        </pc:spChg>
        <pc:spChg chg="add mod">
          <ac:chgData name="Dosch Stefan" userId="890109e9-1898-418b-81c4-580600bb3f43" providerId="ADAL" clId="{AE02C4C1-19BA-4C06-B808-4E6378A2910A}" dt="2026-06-28T08:38:15.008" v="11974" actId="478"/>
          <ac:spMkLst>
            <pc:docMk/>
            <pc:sldMk cId="519443895" sldId="303"/>
            <ac:spMk id="5" creationId="{1667C6AB-0774-80D5-C4D7-DEF1EC67B114}"/>
          </ac:spMkLst>
        </pc:spChg>
        <pc:picChg chg="add mod">
          <ac:chgData name="Dosch Stefan" userId="890109e9-1898-418b-81c4-580600bb3f43" providerId="ADAL" clId="{AE02C4C1-19BA-4C06-B808-4E6378A2910A}" dt="2026-06-28T08:38:22.603" v="11976" actId="1076"/>
          <ac:picMkLst>
            <pc:docMk/>
            <pc:sldMk cId="519443895" sldId="303"/>
            <ac:picMk id="7" creationId="{16A9FDDF-D505-7B96-1C4B-14DFE01A229A}"/>
          </ac:picMkLst>
        </pc:picChg>
      </pc:sldChg>
      <pc:sldChg chg="addSp modSp new mod">
        <pc:chgData name="Dosch Stefan" userId="890109e9-1898-418b-81c4-580600bb3f43" providerId="ADAL" clId="{AE02C4C1-19BA-4C06-B808-4E6378A2910A}" dt="2026-06-28T08:46:45.583" v="12053" actId="1076"/>
        <pc:sldMkLst>
          <pc:docMk/>
          <pc:sldMk cId="2568350549" sldId="304"/>
        </pc:sldMkLst>
        <pc:spChg chg="mod">
          <ac:chgData name="Dosch Stefan" userId="890109e9-1898-418b-81c4-580600bb3f43" providerId="ADAL" clId="{AE02C4C1-19BA-4C06-B808-4E6378A2910A}" dt="2026-06-28T08:39:21.661" v="11983"/>
          <ac:spMkLst>
            <pc:docMk/>
            <pc:sldMk cId="2568350549" sldId="304"/>
            <ac:spMk id="2" creationId="{1F90A872-26DA-7300-030F-9360457D8036}"/>
          </ac:spMkLst>
        </pc:spChg>
        <pc:spChg chg="mod">
          <ac:chgData name="Dosch Stefan" userId="890109e9-1898-418b-81c4-580600bb3f43" providerId="ADAL" clId="{AE02C4C1-19BA-4C06-B808-4E6378A2910A}" dt="2026-06-28T08:46:40.075" v="12050" actId="14100"/>
          <ac:spMkLst>
            <pc:docMk/>
            <pc:sldMk cId="2568350549" sldId="304"/>
            <ac:spMk id="3" creationId="{476A3ED8-C008-E28F-1103-9625FFB1CFA9}"/>
          </ac:spMkLst>
        </pc:spChg>
        <pc:picChg chg="add mod">
          <ac:chgData name="Dosch Stefan" userId="890109e9-1898-418b-81c4-580600bb3f43" providerId="ADAL" clId="{AE02C4C1-19BA-4C06-B808-4E6378A2910A}" dt="2026-06-28T08:46:45.583" v="12053" actId="1076"/>
          <ac:picMkLst>
            <pc:docMk/>
            <pc:sldMk cId="2568350549" sldId="304"/>
            <ac:picMk id="5" creationId="{A95B8345-B9DB-86F2-C14C-B71C240E6975}"/>
          </ac:picMkLst>
        </pc:picChg>
      </pc:sldChg>
      <pc:sldChg chg="addSp modSp new mod">
        <pc:chgData name="Dosch Stefan" userId="890109e9-1898-418b-81c4-580600bb3f43" providerId="ADAL" clId="{AE02C4C1-19BA-4C06-B808-4E6378A2910A}" dt="2026-06-28T08:41:07.764" v="12008" actId="1076"/>
        <pc:sldMkLst>
          <pc:docMk/>
          <pc:sldMk cId="1554888638" sldId="305"/>
        </pc:sldMkLst>
        <pc:spChg chg="mod">
          <ac:chgData name="Dosch Stefan" userId="890109e9-1898-418b-81c4-580600bb3f43" providerId="ADAL" clId="{AE02C4C1-19BA-4C06-B808-4E6378A2910A}" dt="2026-06-28T08:40:02.088" v="11987"/>
          <ac:spMkLst>
            <pc:docMk/>
            <pc:sldMk cId="1554888638" sldId="305"/>
            <ac:spMk id="2" creationId="{E5D7154A-FB9B-D859-677B-142A6009F266}"/>
          </ac:spMkLst>
        </pc:spChg>
        <pc:spChg chg="mod">
          <ac:chgData name="Dosch Stefan" userId="890109e9-1898-418b-81c4-580600bb3f43" providerId="ADAL" clId="{AE02C4C1-19BA-4C06-B808-4E6378A2910A}" dt="2026-06-28T08:41:02.999" v="12006" actId="27636"/>
          <ac:spMkLst>
            <pc:docMk/>
            <pc:sldMk cId="1554888638" sldId="305"/>
            <ac:spMk id="3" creationId="{C3931047-EE28-E12B-2852-C8F4C3AE624E}"/>
          </ac:spMkLst>
        </pc:spChg>
        <pc:picChg chg="add mod">
          <ac:chgData name="Dosch Stefan" userId="890109e9-1898-418b-81c4-580600bb3f43" providerId="ADAL" clId="{AE02C4C1-19BA-4C06-B808-4E6378A2910A}" dt="2026-06-28T08:41:07.764" v="12008" actId="1076"/>
          <ac:picMkLst>
            <pc:docMk/>
            <pc:sldMk cId="1554888638" sldId="305"/>
            <ac:picMk id="5" creationId="{9BBF4FC7-789D-F6C5-234F-9EE2F62C0E9B}"/>
          </ac:picMkLst>
        </pc:picChg>
      </pc:sldChg>
      <pc:sldChg chg="addSp modSp new mod">
        <pc:chgData name="Dosch Stefan" userId="890109e9-1898-418b-81c4-580600bb3f43" providerId="ADAL" clId="{AE02C4C1-19BA-4C06-B808-4E6378A2910A}" dt="2026-06-28T08:42:08.924" v="12017" actId="1076"/>
        <pc:sldMkLst>
          <pc:docMk/>
          <pc:sldMk cId="3222671974" sldId="306"/>
        </pc:sldMkLst>
        <pc:spChg chg="mod">
          <ac:chgData name="Dosch Stefan" userId="890109e9-1898-418b-81c4-580600bb3f43" providerId="ADAL" clId="{AE02C4C1-19BA-4C06-B808-4E6378A2910A}" dt="2026-06-28T08:41:34.749" v="12010"/>
          <ac:spMkLst>
            <pc:docMk/>
            <pc:sldMk cId="3222671974" sldId="306"/>
            <ac:spMk id="2" creationId="{5A3C63A4-9B56-EC6D-1E86-2BF7B342D824}"/>
          </ac:spMkLst>
        </pc:spChg>
        <pc:spChg chg="mod">
          <ac:chgData name="Dosch Stefan" userId="890109e9-1898-418b-81c4-580600bb3f43" providerId="ADAL" clId="{AE02C4C1-19BA-4C06-B808-4E6378A2910A}" dt="2026-06-28T08:42:01.674" v="12014" actId="14100"/>
          <ac:spMkLst>
            <pc:docMk/>
            <pc:sldMk cId="3222671974" sldId="306"/>
            <ac:spMk id="3" creationId="{D110B870-1C37-A606-3C6D-83B03A3A1F8C}"/>
          </ac:spMkLst>
        </pc:spChg>
        <pc:picChg chg="add mod">
          <ac:chgData name="Dosch Stefan" userId="890109e9-1898-418b-81c4-580600bb3f43" providerId="ADAL" clId="{AE02C4C1-19BA-4C06-B808-4E6378A2910A}" dt="2026-06-28T08:42:08.924" v="12017" actId="1076"/>
          <ac:picMkLst>
            <pc:docMk/>
            <pc:sldMk cId="3222671974" sldId="306"/>
            <ac:picMk id="5" creationId="{854CE798-C20F-6940-F01B-DCB77540295E}"/>
          </ac:picMkLst>
        </pc:picChg>
      </pc:sldChg>
      <pc:sldChg chg="addSp delSp modSp new mod">
        <pc:chgData name="Dosch Stefan" userId="890109e9-1898-418b-81c4-580600bb3f43" providerId="ADAL" clId="{AE02C4C1-19BA-4C06-B808-4E6378A2910A}" dt="2026-06-28T08:43:35.191" v="12031" actId="1076"/>
        <pc:sldMkLst>
          <pc:docMk/>
          <pc:sldMk cId="3985315130" sldId="307"/>
        </pc:sldMkLst>
        <pc:spChg chg="mod">
          <ac:chgData name="Dosch Stefan" userId="890109e9-1898-418b-81c4-580600bb3f43" providerId="ADAL" clId="{AE02C4C1-19BA-4C06-B808-4E6378A2910A}" dt="2026-06-28T08:43:27.709" v="12028"/>
          <ac:spMkLst>
            <pc:docMk/>
            <pc:sldMk cId="3985315130" sldId="307"/>
            <ac:spMk id="2" creationId="{9313FCB3-F642-5B57-FC62-BDF1487F86B0}"/>
          </ac:spMkLst>
        </pc:spChg>
        <pc:spChg chg="add del mod">
          <ac:chgData name="Dosch Stefan" userId="890109e9-1898-418b-81c4-580600bb3f43" providerId="ADAL" clId="{AE02C4C1-19BA-4C06-B808-4E6378A2910A}" dt="2026-06-28T08:43:18.283" v="12027" actId="27636"/>
          <ac:spMkLst>
            <pc:docMk/>
            <pc:sldMk cId="3985315130" sldId="307"/>
            <ac:spMk id="3" creationId="{2F17C570-8428-59C7-3680-9C7FF26E3368}"/>
          </ac:spMkLst>
        </pc:spChg>
        <pc:picChg chg="add del mod ord">
          <ac:chgData name="Dosch Stefan" userId="890109e9-1898-418b-81c4-580600bb3f43" providerId="ADAL" clId="{AE02C4C1-19BA-4C06-B808-4E6378A2910A}" dt="2026-06-28T08:43:02.989" v="12022" actId="22"/>
          <ac:picMkLst>
            <pc:docMk/>
            <pc:sldMk cId="3985315130" sldId="307"/>
            <ac:picMk id="5" creationId="{6BF4F30D-7DE8-9196-2F62-850A7E2FB836}"/>
          </ac:picMkLst>
        </pc:picChg>
        <pc:picChg chg="add mod">
          <ac:chgData name="Dosch Stefan" userId="890109e9-1898-418b-81c4-580600bb3f43" providerId="ADAL" clId="{AE02C4C1-19BA-4C06-B808-4E6378A2910A}" dt="2026-06-28T08:43:35.191" v="12031" actId="1076"/>
          <ac:picMkLst>
            <pc:docMk/>
            <pc:sldMk cId="3985315130" sldId="307"/>
            <ac:picMk id="7" creationId="{CEFCE7CA-9A02-21E1-9A6E-7517BD49372A}"/>
          </ac:picMkLst>
        </pc:picChg>
      </pc:sldChg>
      <pc:sldChg chg="addSp delSp modSp new mod">
        <pc:chgData name="Dosch Stefan" userId="890109e9-1898-418b-81c4-580600bb3f43" providerId="ADAL" clId="{AE02C4C1-19BA-4C06-B808-4E6378A2910A}" dt="2026-06-28T08:44:39.371" v="12039" actId="14100"/>
        <pc:sldMkLst>
          <pc:docMk/>
          <pc:sldMk cId="3853606493" sldId="308"/>
        </pc:sldMkLst>
        <pc:spChg chg="mod">
          <ac:chgData name="Dosch Stefan" userId="890109e9-1898-418b-81c4-580600bb3f43" providerId="ADAL" clId="{AE02C4C1-19BA-4C06-B808-4E6378A2910A}" dt="2026-06-28T08:44:03.070" v="12033"/>
          <ac:spMkLst>
            <pc:docMk/>
            <pc:sldMk cId="3853606493" sldId="308"/>
            <ac:spMk id="2" creationId="{3D12E5B0-C83E-2FDF-6089-77BB2323C238}"/>
          </ac:spMkLst>
        </pc:spChg>
        <pc:spChg chg="del">
          <ac:chgData name="Dosch Stefan" userId="890109e9-1898-418b-81c4-580600bb3f43" providerId="ADAL" clId="{AE02C4C1-19BA-4C06-B808-4E6378A2910A}" dt="2026-06-28T08:44:12.627" v="12034"/>
          <ac:spMkLst>
            <pc:docMk/>
            <pc:sldMk cId="3853606493" sldId="308"/>
            <ac:spMk id="3" creationId="{52282640-BBDA-0658-CE6B-3B1A7EA08DDF}"/>
          </ac:spMkLst>
        </pc:spChg>
        <pc:spChg chg="add mod">
          <ac:chgData name="Dosch Stefan" userId="890109e9-1898-418b-81c4-580600bb3f43" providerId="ADAL" clId="{AE02C4C1-19BA-4C06-B808-4E6378A2910A}" dt="2026-06-28T08:44:39.371" v="12039" actId="14100"/>
          <ac:spMkLst>
            <pc:docMk/>
            <pc:sldMk cId="3853606493" sldId="308"/>
            <ac:spMk id="5" creationId="{11F404AB-491B-0F7E-D56B-AB9F4C18ED29}"/>
          </ac:spMkLst>
        </pc:spChg>
        <pc:graphicFrameChg chg="add mod modGraphic">
          <ac:chgData name="Dosch Stefan" userId="890109e9-1898-418b-81c4-580600bb3f43" providerId="ADAL" clId="{AE02C4C1-19BA-4C06-B808-4E6378A2910A}" dt="2026-06-28T08:44:23.367" v="12036" actId="255"/>
          <ac:graphicFrameMkLst>
            <pc:docMk/>
            <pc:sldMk cId="3853606493" sldId="308"/>
            <ac:graphicFrameMk id="4" creationId="{7B773326-15A6-BD76-4CED-A5E1F0BA9861}"/>
          </ac:graphicFrameMkLst>
        </pc:graphicFrameChg>
      </pc:sldChg>
      <pc:sldChg chg="addSp delSp modSp new">
        <pc:chgData name="Dosch Stefan" userId="890109e9-1898-418b-81c4-580600bb3f43" providerId="ADAL" clId="{AE02C4C1-19BA-4C06-B808-4E6378A2910A}" dt="2026-06-28T08:45:09.625" v="12042"/>
        <pc:sldMkLst>
          <pc:docMk/>
          <pc:sldMk cId="3743006257" sldId="309"/>
        </pc:sldMkLst>
        <pc:spChg chg="mod">
          <ac:chgData name="Dosch Stefan" userId="890109e9-1898-418b-81c4-580600bb3f43" providerId="ADAL" clId="{AE02C4C1-19BA-4C06-B808-4E6378A2910A}" dt="2026-06-28T08:45:01.145" v="12041"/>
          <ac:spMkLst>
            <pc:docMk/>
            <pc:sldMk cId="3743006257" sldId="309"/>
            <ac:spMk id="2" creationId="{17D3D985-0A7B-739C-CC1E-1CEE70F4D0AF}"/>
          </ac:spMkLst>
        </pc:spChg>
        <pc:spChg chg="del">
          <ac:chgData name="Dosch Stefan" userId="890109e9-1898-418b-81c4-580600bb3f43" providerId="ADAL" clId="{AE02C4C1-19BA-4C06-B808-4E6378A2910A}" dt="2026-06-28T08:45:09.625" v="12042"/>
          <ac:spMkLst>
            <pc:docMk/>
            <pc:sldMk cId="3743006257" sldId="309"/>
            <ac:spMk id="3" creationId="{FF64B6BD-4C5C-1D87-31A0-0A53025BFF2A}"/>
          </ac:spMkLst>
        </pc:spChg>
        <pc:graphicFrameChg chg="add mod">
          <ac:chgData name="Dosch Stefan" userId="890109e9-1898-418b-81c4-580600bb3f43" providerId="ADAL" clId="{AE02C4C1-19BA-4C06-B808-4E6378A2910A}" dt="2026-06-28T08:45:09.625" v="12042"/>
          <ac:graphicFrameMkLst>
            <pc:docMk/>
            <pc:sldMk cId="3743006257" sldId="309"/>
            <ac:graphicFrameMk id="4" creationId="{B2F671AE-DC9E-B784-A845-E4CDB1323335}"/>
          </ac:graphicFrameMkLst>
        </pc:graphicFrameChg>
      </pc:sldChg>
      <pc:sldChg chg="addSp delSp modSp new mod ord">
        <pc:chgData name="Dosch Stefan" userId="890109e9-1898-418b-81c4-580600bb3f43" providerId="ADAL" clId="{AE02C4C1-19BA-4C06-B808-4E6378A2910A}" dt="2026-06-29T05:20:32.058" v="12548"/>
        <pc:sldMkLst>
          <pc:docMk/>
          <pc:sldMk cId="3790587880" sldId="310"/>
        </pc:sldMkLst>
        <pc:spChg chg="mod">
          <ac:chgData name="Dosch Stefan" userId="890109e9-1898-418b-81c4-580600bb3f43" providerId="ADAL" clId="{AE02C4C1-19BA-4C06-B808-4E6378A2910A}" dt="2026-06-28T13:09:26.366" v="12210"/>
          <ac:spMkLst>
            <pc:docMk/>
            <pc:sldMk cId="3790587880" sldId="310"/>
            <ac:spMk id="2" creationId="{656B8065-E5E0-9304-E9EB-71F9DB276410}"/>
          </ac:spMkLst>
        </pc:spChg>
        <pc:spChg chg="del">
          <ac:chgData name="Dosch Stefan" userId="890109e9-1898-418b-81c4-580600bb3f43" providerId="ADAL" clId="{AE02C4C1-19BA-4C06-B808-4E6378A2910A}" dt="2026-06-28T13:09:42.220" v="12211" actId="22"/>
          <ac:spMkLst>
            <pc:docMk/>
            <pc:sldMk cId="3790587880" sldId="310"/>
            <ac:spMk id="3" creationId="{6515F20D-E39B-90DE-73E2-F8E61C48EFDE}"/>
          </ac:spMkLst>
        </pc:spChg>
        <pc:picChg chg="add mod ord">
          <ac:chgData name="Dosch Stefan" userId="890109e9-1898-418b-81c4-580600bb3f43" providerId="ADAL" clId="{AE02C4C1-19BA-4C06-B808-4E6378A2910A}" dt="2026-06-28T13:09:49.342" v="12213" actId="14100"/>
          <ac:picMkLst>
            <pc:docMk/>
            <pc:sldMk cId="3790587880" sldId="310"/>
            <ac:picMk id="5" creationId="{311DF9BB-521B-CD19-96AE-31FAF29AF6EE}"/>
          </ac:picMkLst>
        </pc:picChg>
      </pc:sldChg>
      <pc:sldChg chg="addSp modSp new mod">
        <pc:chgData name="Dosch Stefan" userId="890109e9-1898-418b-81c4-580600bb3f43" providerId="ADAL" clId="{AE02C4C1-19BA-4C06-B808-4E6378A2910A}" dt="2026-06-28T13:10:55.688" v="12221" actId="14100"/>
        <pc:sldMkLst>
          <pc:docMk/>
          <pc:sldMk cId="2714449138" sldId="311"/>
        </pc:sldMkLst>
        <pc:spChg chg="mod">
          <ac:chgData name="Dosch Stefan" userId="890109e9-1898-418b-81c4-580600bb3f43" providerId="ADAL" clId="{AE02C4C1-19BA-4C06-B808-4E6378A2910A}" dt="2026-06-28T13:10:51.985" v="12219"/>
          <ac:spMkLst>
            <pc:docMk/>
            <pc:sldMk cId="2714449138" sldId="311"/>
            <ac:spMk id="2" creationId="{952E263E-A828-0021-BD8B-17B762B9F39F}"/>
          </ac:spMkLst>
        </pc:spChg>
        <pc:spChg chg="mod">
          <ac:chgData name="Dosch Stefan" userId="890109e9-1898-418b-81c4-580600bb3f43" providerId="ADAL" clId="{AE02C4C1-19BA-4C06-B808-4E6378A2910A}" dt="2026-06-28T13:10:45.927" v="12218"/>
          <ac:spMkLst>
            <pc:docMk/>
            <pc:sldMk cId="2714449138" sldId="311"/>
            <ac:spMk id="3" creationId="{C3AC8707-0356-63E8-A09F-257ECAAA973A}"/>
          </ac:spMkLst>
        </pc:spChg>
        <pc:picChg chg="add mod">
          <ac:chgData name="Dosch Stefan" userId="890109e9-1898-418b-81c4-580600bb3f43" providerId="ADAL" clId="{AE02C4C1-19BA-4C06-B808-4E6378A2910A}" dt="2026-06-28T13:10:55.688" v="12221" actId="14100"/>
          <ac:picMkLst>
            <pc:docMk/>
            <pc:sldMk cId="2714449138" sldId="311"/>
            <ac:picMk id="5" creationId="{282B88B0-9DDE-CF74-769E-418C5C925C4D}"/>
          </ac:picMkLst>
        </pc:picChg>
      </pc:sldChg>
      <pc:sldChg chg="addSp delSp modSp new mod">
        <pc:chgData name="Dosch Stefan" userId="890109e9-1898-418b-81c4-580600bb3f43" providerId="ADAL" clId="{AE02C4C1-19BA-4C06-B808-4E6378A2910A}" dt="2026-06-28T13:11:55.329" v="12227" actId="14100"/>
        <pc:sldMkLst>
          <pc:docMk/>
          <pc:sldMk cId="629967830" sldId="312"/>
        </pc:sldMkLst>
        <pc:spChg chg="mod">
          <ac:chgData name="Dosch Stefan" userId="890109e9-1898-418b-81c4-580600bb3f43" providerId="ADAL" clId="{AE02C4C1-19BA-4C06-B808-4E6378A2910A}" dt="2026-06-28T13:11:22.443" v="12223"/>
          <ac:spMkLst>
            <pc:docMk/>
            <pc:sldMk cId="629967830" sldId="312"/>
            <ac:spMk id="2" creationId="{ED7848EB-23D9-EBCC-3250-D53902F3F75D}"/>
          </ac:spMkLst>
        </pc:spChg>
        <pc:spChg chg="del">
          <ac:chgData name="Dosch Stefan" userId="890109e9-1898-418b-81c4-580600bb3f43" providerId="ADAL" clId="{AE02C4C1-19BA-4C06-B808-4E6378A2910A}" dt="2026-06-28T13:11:32.361" v="12224"/>
          <ac:spMkLst>
            <pc:docMk/>
            <pc:sldMk cId="629967830" sldId="312"/>
            <ac:spMk id="3" creationId="{251BF7F5-059E-CBB7-B7C5-025579455EDB}"/>
          </ac:spMkLst>
        </pc:spChg>
        <pc:spChg chg="add mod">
          <ac:chgData name="Dosch Stefan" userId="890109e9-1898-418b-81c4-580600bb3f43" providerId="ADAL" clId="{AE02C4C1-19BA-4C06-B808-4E6378A2910A}" dt="2026-06-28T13:11:55.329" v="12227" actId="14100"/>
          <ac:spMkLst>
            <pc:docMk/>
            <pc:sldMk cId="629967830" sldId="312"/>
            <ac:spMk id="5" creationId="{175AE796-3C7A-6A24-D3E5-F85E9D40835A}"/>
          </ac:spMkLst>
        </pc:spChg>
        <pc:graphicFrameChg chg="add mod">
          <ac:chgData name="Dosch Stefan" userId="890109e9-1898-418b-81c4-580600bb3f43" providerId="ADAL" clId="{AE02C4C1-19BA-4C06-B808-4E6378A2910A}" dt="2026-06-28T13:11:32.361" v="12224"/>
          <ac:graphicFrameMkLst>
            <pc:docMk/>
            <pc:sldMk cId="629967830" sldId="312"/>
            <ac:graphicFrameMk id="4" creationId="{8F33BE8B-41E3-F091-D791-A65DA6D6D8AD}"/>
          </ac:graphicFrameMkLst>
        </pc:graphicFrameChg>
      </pc:sldChg>
      <pc:sldChg chg="addSp delSp modSp new">
        <pc:chgData name="Dosch Stefan" userId="890109e9-1898-418b-81c4-580600bb3f43" providerId="ADAL" clId="{AE02C4C1-19BA-4C06-B808-4E6378A2910A}" dt="2026-06-28T13:12:43.505" v="12232"/>
        <pc:sldMkLst>
          <pc:docMk/>
          <pc:sldMk cId="1214312958" sldId="313"/>
        </pc:sldMkLst>
        <pc:spChg chg="mod">
          <ac:chgData name="Dosch Stefan" userId="890109e9-1898-418b-81c4-580600bb3f43" providerId="ADAL" clId="{AE02C4C1-19BA-4C06-B808-4E6378A2910A}" dt="2026-06-28T13:12:14.430" v="12229"/>
          <ac:spMkLst>
            <pc:docMk/>
            <pc:sldMk cId="1214312958" sldId="313"/>
            <ac:spMk id="2" creationId="{CFE9A998-ADBE-9178-B5DE-B63CEF5BA5AC}"/>
          </ac:spMkLst>
        </pc:spChg>
        <pc:spChg chg="del">
          <ac:chgData name="Dosch Stefan" userId="890109e9-1898-418b-81c4-580600bb3f43" providerId="ADAL" clId="{AE02C4C1-19BA-4C06-B808-4E6378A2910A}" dt="2026-06-28T13:12:22.908" v="12230"/>
          <ac:spMkLst>
            <pc:docMk/>
            <pc:sldMk cId="1214312958" sldId="313"/>
            <ac:spMk id="3" creationId="{678CB391-593B-CEDF-6F20-05BE8EB1747D}"/>
          </ac:spMkLst>
        </pc:spChg>
        <pc:spChg chg="add mod">
          <ac:chgData name="Dosch Stefan" userId="890109e9-1898-418b-81c4-580600bb3f43" providerId="ADAL" clId="{AE02C4C1-19BA-4C06-B808-4E6378A2910A}" dt="2026-06-28T13:12:43.505" v="12232"/>
          <ac:spMkLst>
            <pc:docMk/>
            <pc:sldMk cId="1214312958" sldId="313"/>
            <ac:spMk id="5" creationId="{A137B382-9CC9-5E9F-6E67-4A52B05EBE1E}"/>
          </ac:spMkLst>
        </pc:spChg>
        <pc:graphicFrameChg chg="add mod">
          <ac:chgData name="Dosch Stefan" userId="890109e9-1898-418b-81c4-580600bb3f43" providerId="ADAL" clId="{AE02C4C1-19BA-4C06-B808-4E6378A2910A}" dt="2026-06-28T13:12:22.908" v="12230"/>
          <ac:graphicFrameMkLst>
            <pc:docMk/>
            <pc:sldMk cId="1214312958" sldId="313"/>
            <ac:graphicFrameMk id="4" creationId="{17057776-6392-02ED-AFFB-E2052F8E4EEA}"/>
          </ac:graphicFrameMkLst>
        </pc:graphicFrameChg>
      </pc:sldChg>
      <pc:sldChg chg="addSp modSp new mod">
        <pc:chgData name="Dosch Stefan" userId="890109e9-1898-418b-81c4-580600bb3f43" providerId="ADAL" clId="{AE02C4C1-19BA-4C06-B808-4E6378A2910A}" dt="2026-06-28T13:14:40.466" v="12239" actId="1076"/>
        <pc:sldMkLst>
          <pc:docMk/>
          <pc:sldMk cId="496122412" sldId="314"/>
        </pc:sldMkLst>
        <pc:spChg chg="mod">
          <ac:chgData name="Dosch Stefan" userId="890109e9-1898-418b-81c4-580600bb3f43" providerId="ADAL" clId="{AE02C4C1-19BA-4C06-B808-4E6378A2910A}" dt="2026-06-28T13:14:18.996" v="12234"/>
          <ac:spMkLst>
            <pc:docMk/>
            <pc:sldMk cId="496122412" sldId="314"/>
            <ac:spMk id="2" creationId="{5631FA7D-D3C4-B1DD-4FD0-3548845E36F5}"/>
          </ac:spMkLst>
        </pc:spChg>
        <pc:spChg chg="mod">
          <ac:chgData name="Dosch Stefan" userId="890109e9-1898-418b-81c4-580600bb3f43" providerId="ADAL" clId="{AE02C4C1-19BA-4C06-B808-4E6378A2910A}" dt="2026-06-28T13:14:24.314" v="12236" actId="27636"/>
          <ac:spMkLst>
            <pc:docMk/>
            <pc:sldMk cId="496122412" sldId="314"/>
            <ac:spMk id="3" creationId="{F3243CCF-336D-E8A4-23B7-0B5102B7268B}"/>
          </ac:spMkLst>
        </pc:spChg>
        <pc:spChg chg="add mod">
          <ac:chgData name="Dosch Stefan" userId="890109e9-1898-418b-81c4-580600bb3f43" providerId="ADAL" clId="{AE02C4C1-19BA-4C06-B808-4E6378A2910A}" dt="2026-06-28T13:14:40.466" v="12239" actId="1076"/>
          <ac:spMkLst>
            <pc:docMk/>
            <pc:sldMk cId="496122412" sldId="314"/>
            <ac:spMk id="4" creationId="{F2F11730-5555-7487-ED88-C1AAAC4CD345}"/>
          </ac:spMkLst>
        </pc:spChg>
      </pc:sldChg>
      <pc:sldChg chg="addSp delSp modSp new mod">
        <pc:chgData name="Dosch Stefan" userId="890109e9-1898-418b-81c4-580600bb3f43" providerId="ADAL" clId="{AE02C4C1-19BA-4C06-B808-4E6378A2910A}" dt="2026-06-28T13:15:25.876" v="12244" actId="255"/>
        <pc:sldMkLst>
          <pc:docMk/>
          <pc:sldMk cId="715384946" sldId="315"/>
        </pc:sldMkLst>
        <pc:spChg chg="mod">
          <ac:chgData name="Dosch Stefan" userId="890109e9-1898-418b-81c4-580600bb3f43" providerId="ADAL" clId="{AE02C4C1-19BA-4C06-B808-4E6378A2910A}" dt="2026-06-28T13:14:55.572" v="12241"/>
          <ac:spMkLst>
            <pc:docMk/>
            <pc:sldMk cId="715384946" sldId="315"/>
            <ac:spMk id="2" creationId="{9A0F728C-C2B7-E4FA-BDE1-4A1F877A7E0C}"/>
          </ac:spMkLst>
        </pc:spChg>
        <pc:spChg chg="del">
          <ac:chgData name="Dosch Stefan" userId="890109e9-1898-418b-81c4-580600bb3f43" providerId="ADAL" clId="{AE02C4C1-19BA-4C06-B808-4E6378A2910A}" dt="2026-06-28T13:15:19.214" v="12242"/>
          <ac:spMkLst>
            <pc:docMk/>
            <pc:sldMk cId="715384946" sldId="315"/>
            <ac:spMk id="3" creationId="{86E540F0-C289-DF93-8BC3-005E370D36CD}"/>
          </ac:spMkLst>
        </pc:spChg>
        <pc:graphicFrameChg chg="add mod modGraphic">
          <ac:chgData name="Dosch Stefan" userId="890109e9-1898-418b-81c4-580600bb3f43" providerId="ADAL" clId="{AE02C4C1-19BA-4C06-B808-4E6378A2910A}" dt="2026-06-28T13:15:25.876" v="12244" actId="255"/>
          <ac:graphicFrameMkLst>
            <pc:docMk/>
            <pc:sldMk cId="715384946" sldId="315"/>
            <ac:graphicFrameMk id="4" creationId="{701335E6-5B45-E508-2F94-ACDC5AD8A3F9}"/>
          </ac:graphicFrameMkLst>
        </pc:graphicFrameChg>
      </pc:sldChg>
      <pc:sldChg chg="addSp delSp modSp new mod">
        <pc:chgData name="Dosch Stefan" userId="890109e9-1898-418b-81c4-580600bb3f43" providerId="ADAL" clId="{AE02C4C1-19BA-4C06-B808-4E6378A2910A}" dt="2026-06-28T14:14:35.527" v="12250" actId="14100"/>
        <pc:sldMkLst>
          <pc:docMk/>
          <pc:sldMk cId="2932344777" sldId="316"/>
        </pc:sldMkLst>
        <pc:spChg chg="mod">
          <ac:chgData name="Dosch Stefan" userId="890109e9-1898-418b-81c4-580600bb3f43" providerId="ADAL" clId="{AE02C4C1-19BA-4C06-B808-4E6378A2910A}" dt="2026-06-28T14:14:30.186" v="12247"/>
          <ac:spMkLst>
            <pc:docMk/>
            <pc:sldMk cId="2932344777" sldId="316"/>
            <ac:spMk id="2" creationId="{397997F1-B0F6-2146-B253-2C31A6CA81EE}"/>
          </ac:spMkLst>
        </pc:spChg>
        <pc:spChg chg="del">
          <ac:chgData name="Dosch Stefan" userId="890109e9-1898-418b-81c4-580600bb3f43" providerId="ADAL" clId="{AE02C4C1-19BA-4C06-B808-4E6378A2910A}" dt="2026-06-28T14:14:12.652" v="12246" actId="22"/>
          <ac:spMkLst>
            <pc:docMk/>
            <pc:sldMk cId="2932344777" sldId="316"/>
            <ac:spMk id="3" creationId="{9ACEAA75-8749-9B4D-F886-50381CA4C1C2}"/>
          </ac:spMkLst>
        </pc:spChg>
        <pc:picChg chg="add mod ord">
          <ac:chgData name="Dosch Stefan" userId="890109e9-1898-418b-81c4-580600bb3f43" providerId="ADAL" clId="{AE02C4C1-19BA-4C06-B808-4E6378A2910A}" dt="2026-06-28T14:14:35.527" v="12250" actId="14100"/>
          <ac:picMkLst>
            <pc:docMk/>
            <pc:sldMk cId="2932344777" sldId="316"/>
            <ac:picMk id="5" creationId="{77D499B1-CC08-D801-27CA-484973CAD430}"/>
          </ac:picMkLst>
        </pc:picChg>
      </pc:sldChg>
      <pc:sldChg chg="addSp delSp modSp new mod">
        <pc:chgData name="Dosch Stefan" userId="890109e9-1898-418b-81c4-580600bb3f43" providerId="ADAL" clId="{AE02C4C1-19BA-4C06-B808-4E6378A2910A}" dt="2026-06-28T14:15:34.187" v="12260" actId="1076"/>
        <pc:sldMkLst>
          <pc:docMk/>
          <pc:sldMk cId="2394938890" sldId="317"/>
        </pc:sldMkLst>
        <pc:spChg chg="mod">
          <ac:chgData name="Dosch Stefan" userId="890109e9-1898-418b-81c4-580600bb3f43" providerId="ADAL" clId="{AE02C4C1-19BA-4C06-B808-4E6378A2910A}" dt="2026-06-28T14:14:48.039" v="12252"/>
          <ac:spMkLst>
            <pc:docMk/>
            <pc:sldMk cId="2394938890" sldId="317"/>
            <ac:spMk id="2" creationId="{FE47756D-057F-ADD2-C89E-C92161E5F0AA}"/>
          </ac:spMkLst>
        </pc:spChg>
        <pc:spChg chg="del">
          <ac:chgData name="Dosch Stefan" userId="890109e9-1898-418b-81c4-580600bb3f43" providerId="ADAL" clId="{AE02C4C1-19BA-4C06-B808-4E6378A2910A}" dt="2026-06-28T14:14:54.617" v="12253"/>
          <ac:spMkLst>
            <pc:docMk/>
            <pc:sldMk cId="2394938890" sldId="317"/>
            <ac:spMk id="3" creationId="{E5BFEB86-8CB3-C8EC-E8E9-851FB978D51B}"/>
          </ac:spMkLst>
        </pc:spChg>
        <pc:spChg chg="add mod">
          <ac:chgData name="Dosch Stefan" userId="890109e9-1898-418b-81c4-580600bb3f43" providerId="ADAL" clId="{AE02C4C1-19BA-4C06-B808-4E6378A2910A}" dt="2026-06-28T14:15:34.187" v="12260" actId="1076"/>
          <ac:spMkLst>
            <pc:docMk/>
            <pc:sldMk cId="2394938890" sldId="317"/>
            <ac:spMk id="5" creationId="{EBDC893A-63F0-AF13-7465-3EB8E43C0C0F}"/>
          </ac:spMkLst>
        </pc:spChg>
        <pc:graphicFrameChg chg="add mod modGraphic">
          <ac:chgData name="Dosch Stefan" userId="890109e9-1898-418b-81c4-580600bb3f43" providerId="ADAL" clId="{AE02C4C1-19BA-4C06-B808-4E6378A2910A}" dt="2026-06-28T14:15:06.429" v="12255" actId="255"/>
          <ac:graphicFrameMkLst>
            <pc:docMk/>
            <pc:sldMk cId="2394938890" sldId="317"/>
            <ac:graphicFrameMk id="4" creationId="{12C88D12-95A5-82C2-3872-99B671B4288F}"/>
          </ac:graphicFrameMkLst>
        </pc:graphicFrameChg>
      </pc:sldChg>
      <pc:sldChg chg="addSp modSp new mod">
        <pc:chgData name="Dosch Stefan" userId="890109e9-1898-418b-81c4-580600bb3f43" providerId="ADAL" clId="{AE02C4C1-19BA-4C06-B808-4E6378A2910A}" dt="2026-06-28T14:16:35.978" v="12269" actId="1076"/>
        <pc:sldMkLst>
          <pc:docMk/>
          <pc:sldMk cId="465319239" sldId="318"/>
        </pc:sldMkLst>
        <pc:spChg chg="mod">
          <ac:chgData name="Dosch Stefan" userId="890109e9-1898-418b-81c4-580600bb3f43" providerId="ADAL" clId="{AE02C4C1-19BA-4C06-B808-4E6378A2910A}" dt="2026-06-28T14:15:55.676" v="12262"/>
          <ac:spMkLst>
            <pc:docMk/>
            <pc:sldMk cId="465319239" sldId="318"/>
            <ac:spMk id="2" creationId="{AC2C37FB-636B-D083-3128-76ACB9C876C3}"/>
          </ac:spMkLst>
        </pc:spChg>
        <pc:spChg chg="mod">
          <ac:chgData name="Dosch Stefan" userId="890109e9-1898-418b-81c4-580600bb3f43" providerId="ADAL" clId="{AE02C4C1-19BA-4C06-B808-4E6378A2910A}" dt="2026-06-28T14:16:03.713" v="12264" actId="14100"/>
          <ac:spMkLst>
            <pc:docMk/>
            <pc:sldMk cId="465319239" sldId="318"/>
            <ac:spMk id="3" creationId="{954CB789-1465-8EA9-5716-D806DC9E6086}"/>
          </ac:spMkLst>
        </pc:spChg>
        <pc:spChg chg="add mod">
          <ac:chgData name="Dosch Stefan" userId="890109e9-1898-418b-81c4-580600bb3f43" providerId="ADAL" clId="{AE02C4C1-19BA-4C06-B808-4E6378A2910A}" dt="2026-06-28T14:16:35.978" v="12269" actId="1076"/>
          <ac:spMkLst>
            <pc:docMk/>
            <pc:sldMk cId="465319239" sldId="318"/>
            <ac:spMk id="6" creationId="{6C156835-77B4-FEBF-8738-70AB610E4A63}"/>
          </ac:spMkLst>
        </pc:spChg>
        <pc:picChg chg="add mod">
          <ac:chgData name="Dosch Stefan" userId="890109e9-1898-418b-81c4-580600bb3f43" providerId="ADAL" clId="{AE02C4C1-19BA-4C06-B808-4E6378A2910A}" dt="2026-06-28T14:16:16.144" v="12266" actId="1076"/>
          <ac:picMkLst>
            <pc:docMk/>
            <pc:sldMk cId="465319239" sldId="318"/>
            <ac:picMk id="5" creationId="{3CDBE7A2-64C4-2D81-053A-21535BDFDD17}"/>
          </ac:picMkLst>
        </pc:picChg>
      </pc:sldChg>
      <pc:sldChg chg="addSp delSp modSp new mod">
        <pc:chgData name="Dosch Stefan" userId="890109e9-1898-418b-81c4-580600bb3f43" providerId="ADAL" clId="{AE02C4C1-19BA-4C06-B808-4E6378A2910A}" dt="2026-06-28T14:18:07.532" v="12289"/>
        <pc:sldMkLst>
          <pc:docMk/>
          <pc:sldMk cId="2358737893" sldId="319"/>
        </pc:sldMkLst>
        <pc:spChg chg="mod">
          <ac:chgData name="Dosch Stefan" userId="890109e9-1898-418b-81c4-580600bb3f43" providerId="ADAL" clId="{AE02C4C1-19BA-4C06-B808-4E6378A2910A}" dt="2026-06-28T14:16:58.940" v="12271"/>
          <ac:spMkLst>
            <pc:docMk/>
            <pc:sldMk cId="2358737893" sldId="319"/>
            <ac:spMk id="2" creationId="{535146FF-EB6D-CB5E-6547-B816D83A1152}"/>
          </ac:spMkLst>
        </pc:spChg>
        <pc:spChg chg="del">
          <ac:chgData name="Dosch Stefan" userId="890109e9-1898-418b-81c4-580600bb3f43" providerId="ADAL" clId="{AE02C4C1-19BA-4C06-B808-4E6378A2910A}" dt="2026-06-28T14:17:04.143" v="12272"/>
          <ac:spMkLst>
            <pc:docMk/>
            <pc:sldMk cId="2358737893" sldId="319"/>
            <ac:spMk id="3" creationId="{AB098FB1-5039-0E13-BA1D-EB0191DC8C02}"/>
          </ac:spMkLst>
        </pc:spChg>
        <pc:spChg chg="add mod">
          <ac:chgData name="Dosch Stefan" userId="890109e9-1898-418b-81c4-580600bb3f43" providerId="ADAL" clId="{AE02C4C1-19BA-4C06-B808-4E6378A2910A}" dt="2026-06-28T14:17:51.529" v="12286" actId="1076"/>
          <ac:spMkLst>
            <pc:docMk/>
            <pc:sldMk cId="2358737893" sldId="319"/>
            <ac:spMk id="5" creationId="{DD7B3B54-AC3A-0519-04BE-7A891D80F313}"/>
          </ac:spMkLst>
        </pc:spChg>
        <pc:spChg chg="add mod">
          <ac:chgData name="Dosch Stefan" userId="890109e9-1898-418b-81c4-580600bb3f43" providerId="ADAL" clId="{AE02C4C1-19BA-4C06-B808-4E6378A2910A}" dt="2026-06-28T14:18:07.532" v="12289"/>
          <ac:spMkLst>
            <pc:docMk/>
            <pc:sldMk cId="2358737893" sldId="319"/>
            <ac:spMk id="6" creationId="{66A62D02-EA29-C17B-8CF3-675E2D560122}"/>
          </ac:spMkLst>
        </pc:spChg>
        <pc:graphicFrameChg chg="add mod modGraphic">
          <ac:chgData name="Dosch Stefan" userId="890109e9-1898-418b-81c4-580600bb3f43" providerId="ADAL" clId="{AE02C4C1-19BA-4C06-B808-4E6378A2910A}" dt="2026-06-28T14:17:54.306" v="12287" actId="1076"/>
          <ac:graphicFrameMkLst>
            <pc:docMk/>
            <pc:sldMk cId="2358737893" sldId="319"/>
            <ac:graphicFrameMk id="4" creationId="{3CA057F8-7D5A-29C4-8B51-435C1EF6ACFA}"/>
          </ac:graphicFrameMkLst>
        </pc:graphicFrameChg>
      </pc:sldChg>
      <pc:sldChg chg="addSp delSp modSp new mod">
        <pc:chgData name="Dosch Stefan" userId="890109e9-1898-418b-81c4-580600bb3f43" providerId="ADAL" clId="{AE02C4C1-19BA-4C06-B808-4E6378A2910A}" dt="2026-06-28T14:19:07.062" v="12296" actId="14100"/>
        <pc:sldMkLst>
          <pc:docMk/>
          <pc:sldMk cId="2725491912" sldId="320"/>
        </pc:sldMkLst>
        <pc:spChg chg="mod">
          <ac:chgData name="Dosch Stefan" userId="890109e9-1898-418b-81c4-580600bb3f43" providerId="ADAL" clId="{AE02C4C1-19BA-4C06-B808-4E6378A2910A}" dt="2026-06-28T14:18:32.723" v="12291"/>
          <ac:spMkLst>
            <pc:docMk/>
            <pc:sldMk cId="2725491912" sldId="320"/>
            <ac:spMk id="2" creationId="{852D3B07-AFCD-85AD-0680-328F3A8C332E}"/>
          </ac:spMkLst>
        </pc:spChg>
        <pc:spChg chg="del">
          <ac:chgData name="Dosch Stefan" userId="890109e9-1898-418b-81c4-580600bb3f43" providerId="ADAL" clId="{AE02C4C1-19BA-4C06-B808-4E6378A2910A}" dt="2026-06-28T14:18:38.377" v="12292"/>
          <ac:spMkLst>
            <pc:docMk/>
            <pc:sldMk cId="2725491912" sldId="320"/>
            <ac:spMk id="3" creationId="{30937720-D276-8659-9895-59F83A775795}"/>
          </ac:spMkLst>
        </pc:spChg>
        <pc:spChg chg="add mod">
          <ac:chgData name="Dosch Stefan" userId="890109e9-1898-418b-81c4-580600bb3f43" providerId="ADAL" clId="{AE02C4C1-19BA-4C06-B808-4E6378A2910A}" dt="2026-06-28T14:19:07.062" v="12296" actId="14100"/>
          <ac:spMkLst>
            <pc:docMk/>
            <pc:sldMk cId="2725491912" sldId="320"/>
            <ac:spMk id="5" creationId="{A71531FE-760C-DF64-70BF-136320D6F6D8}"/>
          </ac:spMkLst>
        </pc:spChg>
        <pc:graphicFrameChg chg="add mod modGraphic">
          <ac:chgData name="Dosch Stefan" userId="890109e9-1898-418b-81c4-580600bb3f43" providerId="ADAL" clId="{AE02C4C1-19BA-4C06-B808-4E6378A2910A}" dt="2026-06-28T14:18:42.812" v="12293" actId="14100"/>
          <ac:graphicFrameMkLst>
            <pc:docMk/>
            <pc:sldMk cId="2725491912" sldId="320"/>
            <ac:graphicFrameMk id="4" creationId="{202ACF95-0708-AA0F-39DB-C8055642EC67}"/>
          </ac:graphicFrameMkLst>
        </pc:graphicFrameChg>
      </pc:sldChg>
      <pc:sldChg chg="addSp delSp modSp new mod">
        <pc:chgData name="Dosch Stefan" userId="890109e9-1898-418b-81c4-580600bb3f43" providerId="ADAL" clId="{AE02C4C1-19BA-4C06-B808-4E6378A2910A}" dt="2026-06-28T14:19:52.348" v="12303"/>
        <pc:sldMkLst>
          <pc:docMk/>
          <pc:sldMk cId="1907065473" sldId="321"/>
        </pc:sldMkLst>
        <pc:spChg chg="mod">
          <ac:chgData name="Dosch Stefan" userId="890109e9-1898-418b-81c4-580600bb3f43" providerId="ADAL" clId="{AE02C4C1-19BA-4C06-B808-4E6378A2910A}" dt="2026-06-28T14:19:26.740" v="12298"/>
          <ac:spMkLst>
            <pc:docMk/>
            <pc:sldMk cId="1907065473" sldId="321"/>
            <ac:spMk id="2" creationId="{10B749A8-6DC3-AD0F-B174-0697DACA3909}"/>
          </ac:spMkLst>
        </pc:spChg>
        <pc:spChg chg="del">
          <ac:chgData name="Dosch Stefan" userId="890109e9-1898-418b-81c4-580600bb3f43" providerId="ADAL" clId="{AE02C4C1-19BA-4C06-B808-4E6378A2910A}" dt="2026-06-28T14:19:31.841" v="12299"/>
          <ac:spMkLst>
            <pc:docMk/>
            <pc:sldMk cId="1907065473" sldId="321"/>
            <ac:spMk id="3" creationId="{6F467227-8A62-910B-0097-A6CDAEE780AB}"/>
          </ac:spMkLst>
        </pc:spChg>
        <pc:spChg chg="add mod">
          <ac:chgData name="Dosch Stefan" userId="890109e9-1898-418b-81c4-580600bb3f43" providerId="ADAL" clId="{AE02C4C1-19BA-4C06-B808-4E6378A2910A}" dt="2026-06-28T14:19:52.348" v="12303"/>
          <ac:spMkLst>
            <pc:docMk/>
            <pc:sldMk cId="1907065473" sldId="321"/>
            <ac:spMk id="5" creationId="{66A673E5-969B-7C2C-D0B1-606A037F8C0D}"/>
          </ac:spMkLst>
        </pc:spChg>
        <pc:graphicFrameChg chg="add mod modGraphic">
          <ac:chgData name="Dosch Stefan" userId="890109e9-1898-418b-81c4-580600bb3f43" providerId="ADAL" clId="{AE02C4C1-19BA-4C06-B808-4E6378A2910A}" dt="2026-06-28T14:19:39.106" v="12301" actId="255"/>
          <ac:graphicFrameMkLst>
            <pc:docMk/>
            <pc:sldMk cId="1907065473" sldId="321"/>
            <ac:graphicFrameMk id="4" creationId="{3C05C82C-05E7-1340-5432-2D03A038B449}"/>
          </ac:graphicFrameMkLst>
        </pc:graphicFrameChg>
      </pc:sldChg>
      <pc:sldChg chg="addSp delSp modSp new mod">
        <pc:chgData name="Dosch Stefan" userId="890109e9-1898-418b-81c4-580600bb3f43" providerId="ADAL" clId="{AE02C4C1-19BA-4C06-B808-4E6378A2910A}" dt="2026-06-28T14:20:39.172" v="12309" actId="255"/>
        <pc:sldMkLst>
          <pc:docMk/>
          <pc:sldMk cId="2108028277" sldId="322"/>
        </pc:sldMkLst>
        <pc:spChg chg="mod">
          <ac:chgData name="Dosch Stefan" userId="890109e9-1898-418b-81c4-580600bb3f43" providerId="ADAL" clId="{AE02C4C1-19BA-4C06-B808-4E6378A2910A}" dt="2026-06-28T14:20:25.196" v="12305"/>
          <ac:spMkLst>
            <pc:docMk/>
            <pc:sldMk cId="2108028277" sldId="322"/>
            <ac:spMk id="2" creationId="{46578CEF-4E00-B378-4FF8-5801A3DE87B5}"/>
          </ac:spMkLst>
        </pc:spChg>
        <pc:spChg chg="del">
          <ac:chgData name="Dosch Stefan" userId="890109e9-1898-418b-81c4-580600bb3f43" providerId="ADAL" clId="{AE02C4C1-19BA-4C06-B808-4E6378A2910A}" dt="2026-06-28T14:20:30.615" v="12306"/>
          <ac:spMkLst>
            <pc:docMk/>
            <pc:sldMk cId="2108028277" sldId="322"/>
            <ac:spMk id="3" creationId="{3801D483-7C1E-6B06-40A3-584856842A90}"/>
          </ac:spMkLst>
        </pc:spChg>
        <pc:graphicFrameChg chg="add mod modGraphic">
          <ac:chgData name="Dosch Stefan" userId="890109e9-1898-418b-81c4-580600bb3f43" providerId="ADAL" clId="{AE02C4C1-19BA-4C06-B808-4E6378A2910A}" dt="2026-06-28T14:20:39.172" v="12309" actId="255"/>
          <ac:graphicFrameMkLst>
            <pc:docMk/>
            <pc:sldMk cId="2108028277" sldId="322"/>
            <ac:graphicFrameMk id="4" creationId="{78921806-4AC3-4EB9-35CF-8E5926793D88}"/>
          </ac:graphicFrameMkLst>
        </pc:graphicFrameChg>
      </pc:sldChg>
      <pc:sldChg chg="addSp delSp modSp new del mod">
        <pc:chgData name="Dosch Stefan" userId="890109e9-1898-418b-81c4-580600bb3f43" providerId="ADAL" clId="{AE02C4C1-19BA-4C06-B808-4E6378A2910A}" dt="2026-06-29T04:50:32.303" v="12382" actId="47"/>
        <pc:sldMkLst>
          <pc:docMk/>
          <pc:sldMk cId="892449947" sldId="323"/>
        </pc:sldMkLst>
        <pc:spChg chg="mod">
          <ac:chgData name="Dosch Stefan" userId="890109e9-1898-418b-81c4-580600bb3f43" providerId="ADAL" clId="{AE02C4C1-19BA-4C06-B808-4E6378A2910A}" dt="2026-06-28T14:24:52.015" v="12312"/>
          <ac:spMkLst>
            <pc:docMk/>
            <pc:sldMk cId="892449947" sldId="323"/>
            <ac:spMk id="2" creationId="{DE5A7351-E0B5-FBE5-37A3-9D06E2EFA172}"/>
          </ac:spMkLst>
        </pc:spChg>
        <pc:spChg chg="del">
          <ac:chgData name="Dosch Stefan" userId="890109e9-1898-418b-81c4-580600bb3f43" providerId="ADAL" clId="{AE02C4C1-19BA-4C06-B808-4E6378A2910A}" dt="2026-06-28T14:24:46.153" v="12311" actId="22"/>
          <ac:spMkLst>
            <pc:docMk/>
            <pc:sldMk cId="892449947" sldId="323"/>
            <ac:spMk id="3" creationId="{AD6853EB-D24B-4142-C4CE-1878459C2F80}"/>
          </ac:spMkLst>
        </pc:spChg>
        <pc:picChg chg="add mod ord">
          <ac:chgData name="Dosch Stefan" userId="890109e9-1898-418b-81c4-580600bb3f43" providerId="ADAL" clId="{AE02C4C1-19BA-4C06-B808-4E6378A2910A}" dt="2026-06-28T14:25:03.997" v="12316" actId="1076"/>
          <ac:picMkLst>
            <pc:docMk/>
            <pc:sldMk cId="892449947" sldId="323"/>
            <ac:picMk id="5" creationId="{60EEFD03-4A3D-13E1-4B07-FAEBBA8DD261}"/>
          </ac:picMkLst>
        </pc:picChg>
      </pc:sldChg>
      <pc:sldChg chg="addSp delSp modSp new del mod">
        <pc:chgData name="Dosch Stefan" userId="890109e9-1898-418b-81c4-580600bb3f43" providerId="ADAL" clId="{AE02C4C1-19BA-4C06-B808-4E6378A2910A}" dt="2026-06-29T04:50:32.303" v="12382" actId="47"/>
        <pc:sldMkLst>
          <pc:docMk/>
          <pc:sldMk cId="3604513235" sldId="324"/>
        </pc:sldMkLst>
        <pc:spChg chg="mod">
          <ac:chgData name="Dosch Stefan" userId="890109e9-1898-418b-81c4-580600bb3f43" providerId="ADAL" clId="{AE02C4C1-19BA-4C06-B808-4E6378A2910A}" dt="2026-06-28T14:25:37.682" v="12318"/>
          <ac:spMkLst>
            <pc:docMk/>
            <pc:sldMk cId="3604513235" sldId="324"/>
            <ac:spMk id="2" creationId="{4089101F-DAF0-1D10-CE81-C4BFAA0EBA92}"/>
          </ac:spMkLst>
        </pc:spChg>
        <pc:spChg chg="del">
          <ac:chgData name="Dosch Stefan" userId="890109e9-1898-418b-81c4-580600bb3f43" providerId="ADAL" clId="{AE02C4C1-19BA-4C06-B808-4E6378A2910A}" dt="2026-06-28T14:25:48.413" v="12319"/>
          <ac:spMkLst>
            <pc:docMk/>
            <pc:sldMk cId="3604513235" sldId="324"/>
            <ac:spMk id="3" creationId="{ECF6FF1D-ED70-0ABF-0C03-FC3ACE334889}"/>
          </ac:spMkLst>
        </pc:spChg>
        <pc:spChg chg="add mod">
          <ac:chgData name="Dosch Stefan" userId="890109e9-1898-418b-81c4-580600bb3f43" providerId="ADAL" clId="{AE02C4C1-19BA-4C06-B808-4E6378A2910A}" dt="2026-06-28T14:26:45.178" v="12332" actId="1076"/>
          <ac:spMkLst>
            <pc:docMk/>
            <pc:sldMk cId="3604513235" sldId="324"/>
            <ac:spMk id="7" creationId="{93018E63-1949-C1FE-CBCF-E56D2AFF1ED6}"/>
          </ac:spMkLst>
        </pc:spChg>
        <pc:graphicFrameChg chg="add mod modGraphic">
          <ac:chgData name="Dosch Stefan" userId="890109e9-1898-418b-81c4-580600bb3f43" providerId="ADAL" clId="{AE02C4C1-19BA-4C06-B808-4E6378A2910A}" dt="2026-06-28T14:25:52.804" v="12321" actId="1076"/>
          <ac:graphicFrameMkLst>
            <pc:docMk/>
            <pc:sldMk cId="3604513235" sldId="324"/>
            <ac:graphicFrameMk id="4" creationId="{B1B6E6CB-B8E5-A67D-DACF-989F59396CD3}"/>
          </ac:graphicFrameMkLst>
        </pc:graphicFrameChg>
        <pc:picChg chg="add mod">
          <ac:chgData name="Dosch Stefan" userId="890109e9-1898-418b-81c4-580600bb3f43" providerId="ADAL" clId="{AE02C4C1-19BA-4C06-B808-4E6378A2910A}" dt="2026-06-28T14:26:46.646" v="12333" actId="1076"/>
          <ac:picMkLst>
            <pc:docMk/>
            <pc:sldMk cId="3604513235" sldId="324"/>
            <ac:picMk id="6" creationId="{1C53FA35-9145-A61F-DA72-E33CBB9138A7}"/>
          </ac:picMkLst>
        </pc:picChg>
      </pc:sldChg>
      <pc:sldChg chg="addSp delSp modSp new del mod">
        <pc:chgData name="Dosch Stefan" userId="890109e9-1898-418b-81c4-580600bb3f43" providerId="ADAL" clId="{AE02C4C1-19BA-4C06-B808-4E6378A2910A}" dt="2026-06-29T04:50:32.303" v="12382" actId="47"/>
        <pc:sldMkLst>
          <pc:docMk/>
          <pc:sldMk cId="1387023399" sldId="325"/>
        </pc:sldMkLst>
        <pc:spChg chg="mod">
          <ac:chgData name="Dosch Stefan" userId="890109e9-1898-418b-81c4-580600bb3f43" providerId="ADAL" clId="{AE02C4C1-19BA-4C06-B808-4E6378A2910A}" dt="2026-06-28T14:27:11.063" v="12335"/>
          <ac:spMkLst>
            <pc:docMk/>
            <pc:sldMk cId="1387023399" sldId="325"/>
            <ac:spMk id="2" creationId="{DF1DC16A-5F9E-A9F8-3B6B-B51BE656EB6A}"/>
          </ac:spMkLst>
        </pc:spChg>
        <pc:spChg chg="del">
          <ac:chgData name="Dosch Stefan" userId="890109e9-1898-418b-81c4-580600bb3f43" providerId="ADAL" clId="{AE02C4C1-19BA-4C06-B808-4E6378A2910A}" dt="2026-06-28T14:27:21.041" v="12336"/>
          <ac:spMkLst>
            <pc:docMk/>
            <pc:sldMk cId="1387023399" sldId="325"/>
            <ac:spMk id="3" creationId="{EBFEF796-2859-415B-AD89-606DA260063E}"/>
          </ac:spMkLst>
        </pc:spChg>
        <pc:spChg chg="add mod">
          <ac:chgData name="Dosch Stefan" userId="890109e9-1898-418b-81c4-580600bb3f43" providerId="ADAL" clId="{AE02C4C1-19BA-4C06-B808-4E6378A2910A}" dt="2026-06-28T14:28:12.664" v="12343" actId="12"/>
          <ac:spMkLst>
            <pc:docMk/>
            <pc:sldMk cId="1387023399" sldId="325"/>
            <ac:spMk id="7" creationId="{DE940492-6842-AD1C-062A-827FA7A48A23}"/>
          </ac:spMkLst>
        </pc:spChg>
        <pc:graphicFrameChg chg="add mod">
          <ac:chgData name="Dosch Stefan" userId="890109e9-1898-418b-81c4-580600bb3f43" providerId="ADAL" clId="{AE02C4C1-19BA-4C06-B808-4E6378A2910A}" dt="2026-06-28T14:27:24.620" v="12337" actId="1076"/>
          <ac:graphicFrameMkLst>
            <pc:docMk/>
            <pc:sldMk cId="1387023399" sldId="325"/>
            <ac:graphicFrameMk id="4" creationId="{BA19C03A-FE09-E777-32D0-83480557C01D}"/>
          </ac:graphicFrameMkLst>
        </pc:graphicFrameChg>
        <pc:picChg chg="add mod">
          <ac:chgData name="Dosch Stefan" userId="890109e9-1898-418b-81c4-580600bb3f43" providerId="ADAL" clId="{AE02C4C1-19BA-4C06-B808-4E6378A2910A}" dt="2026-06-28T14:28:17.563" v="12345" actId="1076"/>
          <ac:picMkLst>
            <pc:docMk/>
            <pc:sldMk cId="1387023399" sldId="325"/>
            <ac:picMk id="6" creationId="{D6C1AD93-DAAE-5BDD-ABFB-173235BEFBAF}"/>
          </ac:picMkLst>
        </pc:picChg>
      </pc:sldChg>
      <pc:sldChg chg="addSp delSp modSp new del mod">
        <pc:chgData name="Dosch Stefan" userId="890109e9-1898-418b-81c4-580600bb3f43" providerId="ADAL" clId="{AE02C4C1-19BA-4C06-B808-4E6378A2910A}" dt="2026-06-29T04:50:32.303" v="12382" actId="47"/>
        <pc:sldMkLst>
          <pc:docMk/>
          <pc:sldMk cId="305262385" sldId="326"/>
        </pc:sldMkLst>
        <pc:spChg chg="mod">
          <ac:chgData name="Dosch Stefan" userId="890109e9-1898-418b-81c4-580600bb3f43" providerId="ADAL" clId="{AE02C4C1-19BA-4C06-B808-4E6378A2910A}" dt="2026-06-28T14:28:46.880" v="12347"/>
          <ac:spMkLst>
            <pc:docMk/>
            <pc:sldMk cId="305262385" sldId="326"/>
            <ac:spMk id="2" creationId="{79035537-E474-E6BC-3AAA-9D5964AF2406}"/>
          </ac:spMkLst>
        </pc:spChg>
        <pc:spChg chg="del">
          <ac:chgData name="Dosch Stefan" userId="890109e9-1898-418b-81c4-580600bb3f43" providerId="ADAL" clId="{AE02C4C1-19BA-4C06-B808-4E6378A2910A}" dt="2026-06-28T14:29:30.707" v="12348" actId="22"/>
          <ac:spMkLst>
            <pc:docMk/>
            <pc:sldMk cId="305262385" sldId="326"/>
            <ac:spMk id="3" creationId="{3BE18557-28E8-2E99-8EA8-04D74E2A0E86}"/>
          </ac:spMkLst>
        </pc:spChg>
        <pc:spChg chg="add mod">
          <ac:chgData name="Dosch Stefan" userId="890109e9-1898-418b-81c4-580600bb3f43" providerId="ADAL" clId="{AE02C4C1-19BA-4C06-B808-4E6378A2910A}" dt="2026-06-28T14:29:49.516" v="12353" actId="14100"/>
          <ac:spMkLst>
            <pc:docMk/>
            <pc:sldMk cId="305262385" sldId="326"/>
            <ac:spMk id="6" creationId="{ACB6879F-D4ED-ADD2-1288-819E8FAF1EEF}"/>
          </ac:spMkLst>
        </pc:spChg>
        <pc:picChg chg="add mod ord">
          <ac:chgData name="Dosch Stefan" userId="890109e9-1898-418b-81c4-580600bb3f43" providerId="ADAL" clId="{AE02C4C1-19BA-4C06-B808-4E6378A2910A}" dt="2026-06-28T14:29:32.209" v="12349" actId="1076"/>
          <ac:picMkLst>
            <pc:docMk/>
            <pc:sldMk cId="305262385" sldId="326"/>
            <ac:picMk id="5" creationId="{F9C10F1E-911A-52C5-2C48-C9E5C8589305}"/>
          </ac:picMkLst>
        </pc:picChg>
      </pc:sldChg>
      <pc:sldChg chg="addSp delSp modSp new del mod">
        <pc:chgData name="Dosch Stefan" userId="890109e9-1898-418b-81c4-580600bb3f43" providerId="ADAL" clId="{AE02C4C1-19BA-4C06-B808-4E6378A2910A}" dt="2026-06-29T04:50:32.303" v="12382" actId="47"/>
        <pc:sldMkLst>
          <pc:docMk/>
          <pc:sldMk cId="2048269878" sldId="327"/>
        </pc:sldMkLst>
        <pc:spChg chg="mod">
          <ac:chgData name="Dosch Stefan" userId="890109e9-1898-418b-81c4-580600bb3f43" providerId="ADAL" clId="{AE02C4C1-19BA-4C06-B808-4E6378A2910A}" dt="2026-06-28T14:30:10.510" v="12355"/>
          <ac:spMkLst>
            <pc:docMk/>
            <pc:sldMk cId="2048269878" sldId="327"/>
            <ac:spMk id="2" creationId="{2BDDE86B-8E94-5879-BCB4-297ACB137D2C}"/>
          </ac:spMkLst>
        </pc:spChg>
        <pc:spChg chg="del">
          <ac:chgData name="Dosch Stefan" userId="890109e9-1898-418b-81c4-580600bb3f43" providerId="ADAL" clId="{AE02C4C1-19BA-4C06-B808-4E6378A2910A}" dt="2026-06-28T14:30:25.598" v="12356"/>
          <ac:spMkLst>
            <pc:docMk/>
            <pc:sldMk cId="2048269878" sldId="327"/>
            <ac:spMk id="3" creationId="{9E1A9D0F-FBC0-D04B-88E4-BFFE2471937E}"/>
          </ac:spMkLst>
        </pc:spChg>
        <pc:spChg chg="add mod">
          <ac:chgData name="Dosch Stefan" userId="890109e9-1898-418b-81c4-580600bb3f43" providerId="ADAL" clId="{AE02C4C1-19BA-4C06-B808-4E6378A2910A}" dt="2026-06-28T14:31:22.237" v="12366" actId="1076"/>
          <ac:spMkLst>
            <pc:docMk/>
            <pc:sldMk cId="2048269878" sldId="327"/>
            <ac:spMk id="9" creationId="{89F257A3-C4ED-E71C-B067-D5E1675531DE}"/>
          </ac:spMkLst>
        </pc:spChg>
        <pc:graphicFrameChg chg="add mod">
          <ac:chgData name="Dosch Stefan" userId="890109e9-1898-418b-81c4-580600bb3f43" providerId="ADAL" clId="{AE02C4C1-19BA-4C06-B808-4E6378A2910A}" dt="2026-06-28T14:30:28.035" v="12357" actId="1076"/>
          <ac:graphicFrameMkLst>
            <pc:docMk/>
            <pc:sldMk cId="2048269878" sldId="327"/>
            <ac:graphicFrameMk id="4" creationId="{7CE764F7-3E25-8E3F-BB98-B9CBD91D4DDB}"/>
          </ac:graphicFrameMkLst>
        </pc:graphicFrameChg>
        <pc:picChg chg="add mod">
          <ac:chgData name="Dosch Stefan" userId="890109e9-1898-418b-81c4-580600bb3f43" providerId="ADAL" clId="{AE02C4C1-19BA-4C06-B808-4E6378A2910A}" dt="2026-06-28T14:30:45.003" v="12359" actId="1076"/>
          <ac:picMkLst>
            <pc:docMk/>
            <pc:sldMk cId="2048269878" sldId="327"/>
            <ac:picMk id="6" creationId="{EB6C25A2-C054-DD58-56AF-FBCEE6FF17FE}"/>
          </ac:picMkLst>
        </pc:picChg>
        <pc:picChg chg="add del">
          <ac:chgData name="Dosch Stefan" userId="890109e9-1898-418b-81c4-580600bb3f43" providerId="ADAL" clId="{AE02C4C1-19BA-4C06-B808-4E6378A2910A}" dt="2026-06-28T14:31:05.990" v="12361" actId="478"/>
          <ac:picMkLst>
            <pc:docMk/>
            <pc:sldMk cId="2048269878" sldId="327"/>
            <ac:picMk id="8" creationId="{5DF65594-D287-DD2D-9D3A-58E6969905D3}"/>
          </ac:picMkLst>
        </pc:picChg>
      </pc:sldChg>
      <pc:sldChg chg="addSp delSp modSp new del mod">
        <pc:chgData name="Dosch Stefan" userId="890109e9-1898-418b-81c4-580600bb3f43" providerId="ADAL" clId="{AE02C4C1-19BA-4C06-B808-4E6378A2910A}" dt="2026-06-29T04:50:32.303" v="12382" actId="47"/>
        <pc:sldMkLst>
          <pc:docMk/>
          <pc:sldMk cId="3354783504" sldId="328"/>
        </pc:sldMkLst>
        <pc:spChg chg="mod">
          <ac:chgData name="Dosch Stefan" userId="890109e9-1898-418b-81c4-580600bb3f43" providerId="ADAL" clId="{AE02C4C1-19BA-4C06-B808-4E6378A2910A}" dt="2026-06-28T14:32:03.204" v="12368"/>
          <ac:spMkLst>
            <pc:docMk/>
            <pc:sldMk cId="3354783504" sldId="328"/>
            <ac:spMk id="2" creationId="{41B0EA53-60F2-4761-A2FE-7BEAB940F0ED}"/>
          </ac:spMkLst>
        </pc:spChg>
        <pc:spChg chg="del">
          <ac:chgData name="Dosch Stefan" userId="890109e9-1898-418b-81c4-580600bb3f43" providerId="ADAL" clId="{AE02C4C1-19BA-4C06-B808-4E6378A2910A}" dt="2026-06-28T14:32:09.336" v="12369"/>
          <ac:spMkLst>
            <pc:docMk/>
            <pc:sldMk cId="3354783504" sldId="328"/>
            <ac:spMk id="3" creationId="{2F554417-557D-8A49-CFC4-499E811E3042}"/>
          </ac:spMkLst>
        </pc:spChg>
        <pc:spChg chg="add mod">
          <ac:chgData name="Dosch Stefan" userId="890109e9-1898-418b-81c4-580600bb3f43" providerId="ADAL" clId="{AE02C4C1-19BA-4C06-B808-4E6378A2910A}" dt="2026-06-28T14:32:28.767" v="12373" actId="14100"/>
          <ac:spMkLst>
            <pc:docMk/>
            <pc:sldMk cId="3354783504" sldId="328"/>
            <ac:spMk id="5" creationId="{0FC64994-D96F-5A1E-4668-1FBAC230360A}"/>
          </ac:spMkLst>
        </pc:spChg>
        <pc:graphicFrameChg chg="add mod">
          <ac:chgData name="Dosch Stefan" userId="890109e9-1898-418b-81c4-580600bb3f43" providerId="ADAL" clId="{AE02C4C1-19BA-4C06-B808-4E6378A2910A}" dt="2026-06-28T14:32:12.598" v="12370" actId="1076"/>
          <ac:graphicFrameMkLst>
            <pc:docMk/>
            <pc:sldMk cId="3354783504" sldId="328"/>
            <ac:graphicFrameMk id="4" creationId="{295D7AF8-ADEE-D284-BFF8-052700B2A722}"/>
          </ac:graphicFrameMkLst>
        </pc:graphicFrameChg>
      </pc:sldChg>
      <pc:sldChg chg="addSp modSp new del mod">
        <pc:chgData name="Dosch Stefan" userId="890109e9-1898-418b-81c4-580600bb3f43" providerId="ADAL" clId="{AE02C4C1-19BA-4C06-B808-4E6378A2910A}" dt="2026-06-29T04:50:35.880" v="12383" actId="2696"/>
        <pc:sldMkLst>
          <pc:docMk/>
          <pc:sldMk cId="223421321" sldId="329"/>
        </pc:sldMkLst>
        <pc:spChg chg="mod">
          <ac:chgData name="Dosch Stefan" userId="890109e9-1898-418b-81c4-580600bb3f43" providerId="ADAL" clId="{AE02C4C1-19BA-4C06-B808-4E6378A2910A}" dt="2026-06-28T14:32:48.562" v="12375"/>
          <ac:spMkLst>
            <pc:docMk/>
            <pc:sldMk cId="223421321" sldId="329"/>
            <ac:spMk id="2" creationId="{C178C5C9-F366-E0BE-9C0D-E375475409B7}"/>
          </ac:spMkLst>
        </pc:spChg>
        <pc:spChg chg="mod">
          <ac:chgData name="Dosch Stefan" userId="890109e9-1898-418b-81c4-580600bb3f43" providerId="ADAL" clId="{AE02C4C1-19BA-4C06-B808-4E6378A2910A}" dt="2026-06-28T14:33:09.807" v="12380" actId="27636"/>
          <ac:spMkLst>
            <pc:docMk/>
            <pc:sldMk cId="223421321" sldId="329"/>
            <ac:spMk id="3" creationId="{D6C52138-BB55-B927-A999-27EE29414084}"/>
          </ac:spMkLst>
        </pc:spChg>
        <pc:picChg chg="add mod">
          <ac:chgData name="Dosch Stefan" userId="890109e9-1898-418b-81c4-580600bb3f43" providerId="ADAL" clId="{AE02C4C1-19BA-4C06-B808-4E6378A2910A}" dt="2026-06-28T14:33:02.137" v="12377" actId="1076"/>
          <ac:picMkLst>
            <pc:docMk/>
            <pc:sldMk cId="223421321" sldId="329"/>
            <ac:picMk id="5" creationId="{E329EC92-E9A3-B49D-EA56-87D40F95D8DE}"/>
          </ac:picMkLst>
        </pc:picChg>
      </pc:sldChg>
      <pc:sldChg chg="addSp delSp modSp new mod">
        <pc:chgData name="Dosch Stefan" userId="890109e9-1898-418b-81c4-580600bb3f43" providerId="ADAL" clId="{AE02C4C1-19BA-4C06-B808-4E6378A2910A}" dt="2026-06-29T04:51:35.377" v="12386" actId="22"/>
        <pc:sldMkLst>
          <pc:docMk/>
          <pc:sldMk cId="721231140" sldId="330"/>
        </pc:sldMkLst>
        <pc:spChg chg="mod">
          <ac:chgData name="Dosch Stefan" userId="890109e9-1898-418b-81c4-580600bb3f43" providerId="ADAL" clId="{AE02C4C1-19BA-4C06-B808-4E6378A2910A}" dt="2026-06-29T04:51:19.237" v="12385"/>
          <ac:spMkLst>
            <pc:docMk/>
            <pc:sldMk cId="721231140" sldId="330"/>
            <ac:spMk id="2" creationId="{9E2E883A-34EE-4527-945C-168EC124DD55}"/>
          </ac:spMkLst>
        </pc:spChg>
        <pc:spChg chg="del">
          <ac:chgData name="Dosch Stefan" userId="890109e9-1898-418b-81c4-580600bb3f43" providerId="ADAL" clId="{AE02C4C1-19BA-4C06-B808-4E6378A2910A}" dt="2026-06-29T04:51:35.377" v="12386" actId="22"/>
          <ac:spMkLst>
            <pc:docMk/>
            <pc:sldMk cId="721231140" sldId="330"/>
            <ac:spMk id="3" creationId="{26BE2E23-BCE2-BA3E-F906-537EDDCD3E79}"/>
          </ac:spMkLst>
        </pc:spChg>
        <pc:picChg chg="add mod ord">
          <ac:chgData name="Dosch Stefan" userId="890109e9-1898-418b-81c4-580600bb3f43" providerId="ADAL" clId="{AE02C4C1-19BA-4C06-B808-4E6378A2910A}" dt="2026-06-29T04:51:35.377" v="12386" actId="22"/>
          <ac:picMkLst>
            <pc:docMk/>
            <pc:sldMk cId="721231140" sldId="330"/>
            <ac:picMk id="5" creationId="{C952D633-D91B-9E3C-15E5-5B3C872D7856}"/>
          </ac:picMkLst>
        </pc:picChg>
      </pc:sldChg>
      <pc:sldChg chg="new">
        <pc:chgData name="Dosch Stefan" userId="890109e9-1898-418b-81c4-580600bb3f43" providerId="ADAL" clId="{AE02C4C1-19BA-4C06-B808-4E6378A2910A}" dt="2026-06-29T04:50:38.326" v="12384" actId="680"/>
        <pc:sldMkLst>
          <pc:docMk/>
          <pc:sldMk cId="3445020030" sldId="331"/>
        </pc:sldMkLst>
      </pc:sldChg>
      <pc:sldChg chg="addSp delSp modSp new mod">
        <pc:chgData name="Dosch Stefan" userId="890109e9-1898-418b-81c4-580600bb3f43" providerId="ADAL" clId="{AE02C4C1-19BA-4C06-B808-4E6378A2910A}" dt="2026-06-29T04:52:48.628" v="12398" actId="1076"/>
        <pc:sldMkLst>
          <pc:docMk/>
          <pc:sldMk cId="2066972115" sldId="332"/>
        </pc:sldMkLst>
        <pc:spChg chg="mod">
          <ac:chgData name="Dosch Stefan" userId="890109e9-1898-418b-81c4-580600bb3f43" providerId="ADAL" clId="{AE02C4C1-19BA-4C06-B808-4E6378A2910A}" dt="2026-06-29T04:51:59.423" v="12388"/>
          <ac:spMkLst>
            <pc:docMk/>
            <pc:sldMk cId="2066972115" sldId="332"/>
            <ac:spMk id="2" creationId="{44F6E2A9-7658-DEF2-9717-85139DF2F19F}"/>
          </ac:spMkLst>
        </pc:spChg>
        <pc:spChg chg="del">
          <ac:chgData name="Dosch Stefan" userId="890109e9-1898-418b-81c4-580600bb3f43" providerId="ADAL" clId="{AE02C4C1-19BA-4C06-B808-4E6378A2910A}" dt="2026-06-29T04:52:03.933" v="12389"/>
          <ac:spMkLst>
            <pc:docMk/>
            <pc:sldMk cId="2066972115" sldId="332"/>
            <ac:spMk id="3" creationId="{9E97F98B-4A96-68AF-14CB-1C84D9C82F05}"/>
          </ac:spMkLst>
        </pc:spChg>
        <pc:spChg chg="add mod">
          <ac:chgData name="Dosch Stefan" userId="890109e9-1898-418b-81c4-580600bb3f43" providerId="ADAL" clId="{AE02C4C1-19BA-4C06-B808-4E6378A2910A}" dt="2026-06-29T04:52:47.557" v="12397" actId="1076"/>
          <ac:spMkLst>
            <pc:docMk/>
            <pc:sldMk cId="2066972115" sldId="332"/>
            <ac:spMk id="7" creationId="{FECCFDD4-0B88-0706-B51E-1AF9F96FBDCB}"/>
          </ac:spMkLst>
        </pc:spChg>
        <pc:graphicFrameChg chg="add mod">
          <ac:chgData name="Dosch Stefan" userId="890109e9-1898-418b-81c4-580600bb3f43" providerId="ADAL" clId="{AE02C4C1-19BA-4C06-B808-4E6378A2910A}" dt="2026-06-29T04:52:45.848" v="12396" actId="1076"/>
          <ac:graphicFrameMkLst>
            <pc:docMk/>
            <pc:sldMk cId="2066972115" sldId="332"/>
            <ac:graphicFrameMk id="4" creationId="{51C74DFC-1982-FD78-32A8-4DBAFFC59705}"/>
          </ac:graphicFrameMkLst>
        </pc:graphicFrameChg>
        <pc:picChg chg="add mod">
          <ac:chgData name="Dosch Stefan" userId="890109e9-1898-418b-81c4-580600bb3f43" providerId="ADAL" clId="{AE02C4C1-19BA-4C06-B808-4E6378A2910A}" dt="2026-06-29T04:52:48.628" v="12398" actId="1076"/>
          <ac:picMkLst>
            <pc:docMk/>
            <pc:sldMk cId="2066972115" sldId="332"/>
            <ac:picMk id="6" creationId="{ADF9ED47-18CB-4B9A-A80D-8EC3726B24D3}"/>
          </ac:picMkLst>
        </pc:picChg>
      </pc:sldChg>
      <pc:sldChg chg="addSp delSp modSp new mod">
        <pc:chgData name="Dosch Stefan" userId="890109e9-1898-418b-81c4-580600bb3f43" providerId="ADAL" clId="{AE02C4C1-19BA-4C06-B808-4E6378A2910A}" dt="2026-06-29T04:53:49.597" v="12414" actId="1076"/>
        <pc:sldMkLst>
          <pc:docMk/>
          <pc:sldMk cId="277876709" sldId="333"/>
        </pc:sldMkLst>
        <pc:spChg chg="mod">
          <ac:chgData name="Dosch Stefan" userId="890109e9-1898-418b-81c4-580600bb3f43" providerId="ADAL" clId="{AE02C4C1-19BA-4C06-B808-4E6378A2910A}" dt="2026-06-29T04:53:02.153" v="12400"/>
          <ac:spMkLst>
            <pc:docMk/>
            <pc:sldMk cId="277876709" sldId="333"/>
            <ac:spMk id="2" creationId="{E5F9AE74-5A79-8E46-3494-0E46CDAA9D60}"/>
          </ac:spMkLst>
        </pc:spChg>
        <pc:spChg chg="add del mod">
          <ac:chgData name="Dosch Stefan" userId="890109e9-1898-418b-81c4-580600bb3f43" providerId="ADAL" clId="{AE02C4C1-19BA-4C06-B808-4E6378A2910A}" dt="2026-06-29T04:53:21.172" v="12406"/>
          <ac:spMkLst>
            <pc:docMk/>
            <pc:sldMk cId="277876709" sldId="333"/>
            <ac:spMk id="3" creationId="{8EE733E6-7C28-F54F-BA18-B7083189691C}"/>
          </ac:spMkLst>
        </pc:spChg>
        <pc:spChg chg="add mod">
          <ac:chgData name="Dosch Stefan" userId="890109e9-1898-418b-81c4-580600bb3f43" providerId="ADAL" clId="{AE02C4C1-19BA-4C06-B808-4E6378A2910A}" dt="2026-06-29T04:53:49.597" v="12414" actId="1076"/>
          <ac:spMkLst>
            <pc:docMk/>
            <pc:sldMk cId="277876709" sldId="333"/>
            <ac:spMk id="6" creationId="{C8FA33B8-B09C-C4D0-E5DD-231D111D986A}"/>
          </ac:spMkLst>
        </pc:spChg>
        <pc:graphicFrameChg chg="add mod">
          <ac:chgData name="Dosch Stefan" userId="890109e9-1898-418b-81c4-580600bb3f43" providerId="ADAL" clId="{AE02C4C1-19BA-4C06-B808-4E6378A2910A}" dt="2026-06-29T04:53:18.962" v="12405"/>
          <ac:graphicFrameMkLst>
            <pc:docMk/>
            <pc:sldMk cId="277876709" sldId="333"/>
            <ac:graphicFrameMk id="4" creationId="{4E454F89-ECE0-E016-3147-0A6703A9E67A}"/>
          </ac:graphicFrameMkLst>
        </pc:graphicFrameChg>
        <pc:graphicFrameChg chg="add mod">
          <ac:chgData name="Dosch Stefan" userId="890109e9-1898-418b-81c4-580600bb3f43" providerId="ADAL" clId="{AE02C4C1-19BA-4C06-B808-4E6378A2910A}" dt="2026-06-29T04:53:26.973" v="12407" actId="1076"/>
          <ac:graphicFrameMkLst>
            <pc:docMk/>
            <pc:sldMk cId="277876709" sldId="333"/>
            <ac:graphicFrameMk id="5" creationId="{BAFD16EC-3E75-2647-5CC4-F07D25EC9E88}"/>
          </ac:graphicFrameMkLst>
        </pc:graphicFrameChg>
      </pc:sldChg>
      <pc:sldChg chg="addSp modSp new mod">
        <pc:chgData name="Dosch Stefan" userId="890109e9-1898-418b-81c4-580600bb3f43" providerId="ADAL" clId="{AE02C4C1-19BA-4C06-B808-4E6378A2910A}" dt="2026-06-29T04:54:39.182" v="12424" actId="1076"/>
        <pc:sldMkLst>
          <pc:docMk/>
          <pc:sldMk cId="4142693264" sldId="334"/>
        </pc:sldMkLst>
        <pc:spChg chg="mod">
          <ac:chgData name="Dosch Stefan" userId="890109e9-1898-418b-81c4-580600bb3f43" providerId="ADAL" clId="{AE02C4C1-19BA-4C06-B808-4E6378A2910A}" dt="2026-06-29T04:54:10.311" v="12416"/>
          <ac:spMkLst>
            <pc:docMk/>
            <pc:sldMk cId="4142693264" sldId="334"/>
            <ac:spMk id="2" creationId="{39F900FB-A2E5-E6E3-0C9F-1019D7597FB1}"/>
          </ac:spMkLst>
        </pc:spChg>
        <pc:spChg chg="mod">
          <ac:chgData name="Dosch Stefan" userId="890109e9-1898-418b-81c4-580600bb3f43" providerId="ADAL" clId="{AE02C4C1-19BA-4C06-B808-4E6378A2910A}" dt="2026-06-29T04:54:17.381" v="12419" actId="27636"/>
          <ac:spMkLst>
            <pc:docMk/>
            <pc:sldMk cId="4142693264" sldId="334"/>
            <ac:spMk id="3" creationId="{97C028C7-6D03-FF77-7C97-627FED5ED753}"/>
          </ac:spMkLst>
        </pc:spChg>
        <pc:graphicFrameChg chg="add mod modGraphic">
          <ac:chgData name="Dosch Stefan" userId="890109e9-1898-418b-81c4-580600bb3f43" providerId="ADAL" clId="{AE02C4C1-19BA-4C06-B808-4E6378A2910A}" dt="2026-06-29T04:54:29.087" v="12422" actId="1076"/>
          <ac:graphicFrameMkLst>
            <pc:docMk/>
            <pc:sldMk cId="4142693264" sldId="334"/>
            <ac:graphicFrameMk id="4" creationId="{0F8F43A1-7D99-B510-189F-4AAC1874C2BE}"/>
          </ac:graphicFrameMkLst>
        </pc:graphicFrameChg>
        <pc:picChg chg="add mod">
          <ac:chgData name="Dosch Stefan" userId="890109e9-1898-418b-81c4-580600bb3f43" providerId="ADAL" clId="{AE02C4C1-19BA-4C06-B808-4E6378A2910A}" dt="2026-06-29T04:54:39.182" v="12424" actId="1076"/>
          <ac:picMkLst>
            <pc:docMk/>
            <pc:sldMk cId="4142693264" sldId="334"/>
            <ac:picMk id="6" creationId="{4351243A-E268-174E-E379-2999DEAD68DC}"/>
          </ac:picMkLst>
        </pc:picChg>
      </pc:sldChg>
      <pc:sldChg chg="addSp modSp new mod">
        <pc:chgData name="Dosch Stefan" userId="890109e9-1898-418b-81c4-580600bb3f43" providerId="ADAL" clId="{AE02C4C1-19BA-4C06-B808-4E6378A2910A}" dt="2026-06-29T04:55:22.040" v="12436" actId="1076"/>
        <pc:sldMkLst>
          <pc:docMk/>
          <pc:sldMk cId="2214289434" sldId="335"/>
        </pc:sldMkLst>
        <pc:spChg chg="mod">
          <ac:chgData name="Dosch Stefan" userId="890109e9-1898-418b-81c4-580600bb3f43" providerId="ADAL" clId="{AE02C4C1-19BA-4C06-B808-4E6378A2910A}" dt="2026-06-29T04:54:52.683" v="12426"/>
          <ac:spMkLst>
            <pc:docMk/>
            <pc:sldMk cId="2214289434" sldId="335"/>
            <ac:spMk id="2" creationId="{A2CB92BF-7914-B537-E683-00D8B3F3DBBC}"/>
          </ac:spMkLst>
        </pc:spChg>
        <pc:spChg chg="mod">
          <ac:chgData name="Dosch Stefan" userId="890109e9-1898-418b-81c4-580600bb3f43" providerId="ADAL" clId="{AE02C4C1-19BA-4C06-B808-4E6378A2910A}" dt="2026-06-29T04:55:00.919" v="12430" actId="27636"/>
          <ac:spMkLst>
            <pc:docMk/>
            <pc:sldMk cId="2214289434" sldId="335"/>
            <ac:spMk id="3" creationId="{332AE67A-E4A2-462E-4268-80E064EB0528}"/>
          </ac:spMkLst>
        </pc:spChg>
        <pc:graphicFrameChg chg="add mod modGraphic">
          <ac:chgData name="Dosch Stefan" userId="890109e9-1898-418b-81c4-580600bb3f43" providerId="ADAL" clId="{AE02C4C1-19BA-4C06-B808-4E6378A2910A}" dt="2026-06-29T04:55:11.964" v="12434" actId="1076"/>
          <ac:graphicFrameMkLst>
            <pc:docMk/>
            <pc:sldMk cId="2214289434" sldId="335"/>
            <ac:graphicFrameMk id="4" creationId="{34A2D4BE-1BFB-44F1-19FF-D8E6C364A682}"/>
          </ac:graphicFrameMkLst>
        </pc:graphicFrameChg>
        <pc:picChg chg="add mod">
          <ac:chgData name="Dosch Stefan" userId="890109e9-1898-418b-81c4-580600bb3f43" providerId="ADAL" clId="{AE02C4C1-19BA-4C06-B808-4E6378A2910A}" dt="2026-06-29T04:55:22.040" v="12436" actId="1076"/>
          <ac:picMkLst>
            <pc:docMk/>
            <pc:sldMk cId="2214289434" sldId="335"/>
            <ac:picMk id="6" creationId="{F8551738-6510-C16E-D5B8-7DC153F859D0}"/>
          </ac:picMkLst>
        </pc:picChg>
      </pc:sldChg>
      <pc:sldChg chg="addSp modSp new mod">
        <pc:chgData name="Dosch Stefan" userId="890109e9-1898-418b-81c4-580600bb3f43" providerId="ADAL" clId="{AE02C4C1-19BA-4C06-B808-4E6378A2910A}" dt="2026-06-29T04:56:08.222" v="12446" actId="1076"/>
        <pc:sldMkLst>
          <pc:docMk/>
          <pc:sldMk cId="384738863" sldId="336"/>
        </pc:sldMkLst>
        <pc:spChg chg="mod">
          <ac:chgData name="Dosch Stefan" userId="890109e9-1898-418b-81c4-580600bb3f43" providerId="ADAL" clId="{AE02C4C1-19BA-4C06-B808-4E6378A2910A}" dt="2026-06-29T04:55:41.310" v="12438"/>
          <ac:spMkLst>
            <pc:docMk/>
            <pc:sldMk cId="384738863" sldId="336"/>
            <ac:spMk id="2" creationId="{21C5ABEB-C88C-EFB3-5A45-34B9700802AC}"/>
          </ac:spMkLst>
        </pc:spChg>
        <pc:spChg chg="mod">
          <ac:chgData name="Dosch Stefan" userId="890109e9-1898-418b-81c4-580600bb3f43" providerId="ADAL" clId="{AE02C4C1-19BA-4C06-B808-4E6378A2910A}" dt="2026-06-29T04:55:48.930" v="12441" actId="27636"/>
          <ac:spMkLst>
            <pc:docMk/>
            <pc:sldMk cId="384738863" sldId="336"/>
            <ac:spMk id="3" creationId="{81CC8D10-C308-CB3F-2CF5-4C8C44CF7E62}"/>
          </ac:spMkLst>
        </pc:spChg>
        <pc:graphicFrameChg chg="add mod modGraphic">
          <ac:chgData name="Dosch Stefan" userId="890109e9-1898-418b-81c4-580600bb3f43" providerId="ADAL" clId="{AE02C4C1-19BA-4C06-B808-4E6378A2910A}" dt="2026-06-29T04:55:57.973" v="12444" actId="1076"/>
          <ac:graphicFrameMkLst>
            <pc:docMk/>
            <pc:sldMk cId="384738863" sldId="336"/>
            <ac:graphicFrameMk id="4" creationId="{8BD9BDCB-B56B-3CA8-B51F-9B23ABF1570D}"/>
          </ac:graphicFrameMkLst>
        </pc:graphicFrameChg>
        <pc:picChg chg="add mod">
          <ac:chgData name="Dosch Stefan" userId="890109e9-1898-418b-81c4-580600bb3f43" providerId="ADAL" clId="{AE02C4C1-19BA-4C06-B808-4E6378A2910A}" dt="2026-06-29T04:56:08.222" v="12446" actId="1076"/>
          <ac:picMkLst>
            <pc:docMk/>
            <pc:sldMk cId="384738863" sldId="336"/>
            <ac:picMk id="6" creationId="{53DA416D-75D5-6EF7-FFA6-C4D8732B62CB}"/>
          </ac:picMkLst>
        </pc:picChg>
      </pc:sldChg>
      <pc:sldChg chg="addSp modSp new mod">
        <pc:chgData name="Dosch Stefan" userId="890109e9-1898-418b-81c4-580600bb3f43" providerId="ADAL" clId="{AE02C4C1-19BA-4C06-B808-4E6378A2910A}" dt="2026-06-29T04:56:47.216" v="12453" actId="1076"/>
        <pc:sldMkLst>
          <pc:docMk/>
          <pc:sldMk cId="4001196215" sldId="337"/>
        </pc:sldMkLst>
        <pc:spChg chg="mod">
          <ac:chgData name="Dosch Stefan" userId="890109e9-1898-418b-81c4-580600bb3f43" providerId="ADAL" clId="{AE02C4C1-19BA-4C06-B808-4E6378A2910A}" dt="2026-06-29T04:56:26.573" v="12448"/>
          <ac:spMkLst>
            <pc:docMk/>
            <pc:sldMk cId="4001196215" sldId="337"/>
            <ac:spMk id="2" creationId="{7371A357-373D-6DE1-8BB7-55870E567DD0}"/>
          </ac:spMkLst>
        </pc:spChg>
        <pc:spChg chg="mod">
          <ac:chgData name="Dosch Stefan" userId="890109e9-1898-418b-81c4-580600bb3f43" providerId="ADAL" clId="{AE02C4C1-19BA-4C06-B808-4E6378A2910A}" dt="2026-06-29T04:56:35.111" v="12451" actId="27636"/>
          <ac:spMkLst>
            <pc:docMk/>
            <pc:sldMk cId="4001196215" sldId="337"/>
            <ac:spMk id="3" creationId="{576A5772-5A2C-FAA2-9954-E598AF00659F}"/>
          </ac:spMkLst>
        </pc:spChg>
        <pc:picChg chg="add mod">
          <ac:chgData name="Dosch Stefan" userId="890109e9-1898-418b-81c4-580600bb3f43" providerId="ADAL" clId="{AE02C4C1-19BA-4C06-B808-4E6378A2910A}" dt="2026-06-29T04:56:47.216" v="12453" actId="1076"/>
          <ac:picMkLst>
            <pc:docMk/>
            <pc:sldMk cId="4001196215" sldId="337"/>
            <ac:picMk id="5" creationId="{929DAE42-C0A7-BE5C-47A5-A9D2E4B51546}"/>
          </ac:picMkLst>
        </pc:picChg>
      </pc:sldChg>
      <pc:sldChg chg="addSp delSp modSp new mod">
        <pc:chgData name="Dosch Stefan" userId="890109e9-1898-418b-81c4-580600bb3f43" providerId="ADAL" clId="{AE02C4C1-19BA-4C06-B808-4E6378A2910A}" dt="2026-06-29T04:57:27.527" v="12459" actId="1076"/>
        <pc:sldMkLst>
          <pc:docMk/>
          <pc:sldMk cId="79821609" sldId="338"/>
        </pc:sldMkLst>
        <pc:spChg chg="mod">
          <ac:chgData name="Dosch Stefan" userId="890109e9-1898-418b-81c4-580600bb3f43" providerId="ADAL" clId="{AE02C4C1-19BA-4C06-B808-4E6378A2910A}" dt="2026-06-29T04:57:05.254" v="12455"/>
          <ac:spMkLst>
            <pc:docMk/>
            <pc:sldMk cId="79821609" sldId="338"/>
            <ac:spMk id="2" creationId="{2B6C2436-800B-C150-815A-B4F5CC6B5D76}"/>
          </ac:spMkLst>
        </pc:spChg>
        <pc:spChg chg="del">
          <ac:chgData name="Dosch Stefan" userId="890109e9-1898-418b-81c4-580600bb3f43" providerId="ADAL" clId="{AE02C4C1-19BA-4C06-B808-4E6378A2910A}" dt="2026-06-29T04:57:13.482" v="12456"/>
          <ac:spMkLst>
            <pc:docMk/>
            <pc:sldMk cId="79821609" sldId="338"/>
            <ac:spMk id="3" creationId="{81D2F8C6-1501-B33D-1121-53045B76A29B}"/>
          </ac:spMkLst>
        </pc:spChg>
        <pc:graphicFrameChg chg="add mod">
          <ac:chgData name="Dosch Stefan" userId="890109e9-1898-418b-81c4-580600bb3f43" providerId="ADAL" clId="{AE02C4C1-19BA-4C06-B808-4E6378A2910A}" dt="2026-06-29T04:57:16.085" v="12457" actId="1076"/>
          <ac:graphicFrameMkLst>
            <pc:docMk/>
            <pc:sldMk cId="79821609" sldId="338"/>
            <ac:graphicFrameMk id="4" creationId="{4747B2EE-17A9-864F-23AD-040B71F10671}"/>
          </ac:graphicFrameMkLst>
        </pc:graphicFrameChg>
        <pc:picChg chg="add mod">
          <ac:chgData name="Dosch Stefan" userId="890109e9-1898-418b-81c4-580600bb3f43" providerId="ADAL" clId="{AE02C4C1-19BA-4C06-B808-4E6378A2910A}" dt="2026-06-29T04:57:27.527" v="12459" actId="1076"/>
          <ac:picMkLst>
            <pc:docMk/>
            <pc:sldMk cId="79821609" sldId="338"/>
            <ac:picMk id="6" creationId="{040C2781-C944-471A-7B26-60EAAF3DD3F9}"/>
          </ac:picMkLst>
        </pc:picChg>
      </pc:sldChg>
      <pc:sldChg chg="addSp delSp modSp new mod">
        <pc:chgData name="Dosch Stefan" userId="890109e9-1898-418b-81c4-580600bb3f43" providerId="ADAL" clId="{AE02C4C1-19BA-4C06-B808-4E6378A2910A}" dt="2026-06-29T04:58:04.369" v="12465" actId="14100"/>
        <pc:sldMkLst>
          <pc:docMk/>
          <pc:sldMk cId="1313196427" sldId="339"/>
        </pc:sldMkLst>
        <pc:spChg chg="mod">
          <ac:chgData name="Dosch Stefan" userId="890109e9-1898-418b-81c4-580600bb3f43" providerId="ADAL" clId="{AE02C4C1-19BA-4C06-B808-4E6378A2910A}" dt="2026-06-29T04:57:43.560" v="12461"/>
          <ac:spMkLst>
            <pc:docMk/>
            <pc:sldMk cId="1313196427" sldId="339"/>
            <ac:spMk id="2" creationId="{338630FF-B0CB-17FF-89D3-D08E40E9A994}"/>
          </ac:spMkLst>
        </pc:spChg>
        <pc:spChg chg="del">
          <ac:chgData name="Dosch Stefan" userId="890109e9-1898-418b-81c4-580600bb3f43" providerId="ADAL" clId="{AE02C4C1-19BA-4C06-B808-4E6378A2910A}" dt="2026-06-29T04:57:49.347" v="12462"/>
          <ac:spMkLst>
            <pc:docMk/>
            <pc:sldMk cId="1313196427" sldId="339"/>
            <ac:spMk id="3" creationId="{93795DFD-4FEA-D7E6-292B-73756DBD2EA5}"/>
          </ac:spMkLst>
        </pc:spChg>
        <pc:spChg chg="add mod">
          <ac:chgData name="Dosch Stefan" userId="890109e9-1898-418b-81c4-580600bb3f43" providerId="ADAL" clId="{AE02C4C1-19BA-4C06-B808-4E6378A2910A}" dt="2026-06-29T04:58:04.369" v="12465" actId="14100"/>
          <ac:spMkLst>
            <pc:docMk/>
            <pc:sldMk cId="1313196427" sldId="339"/>
            <ac:spMk id="5" creationId="{2FE0F7E3-ACE2-AFC0-71DA-BCF552FF3638}"/>
          </ac:spMkLst>
        </pc:spChg>
        <pc:graphicFrameChg chg="add mod">
          <ac:chgData name="Dosch Stefan" userId="890109e9-1898-418b-81c4-580600bb3f43" providerId="ADAL" clId="{AE02C4C1-19BA-4C06-B808-4E6378A2910A}" dt="2026-06-29T04:57:49.347" v="12462"/>
          <ac:graphicFrameMkLst>
            <pc:docMk/>
            <pc:sldMk cId="1313196427" sldId="339"/>
            <ac:graphicFrameMk id="4" creationId="{BEE56FC2-B1F5-548E-D9B9-20ABC4E821C9}"/>
          </ac:graphicFrameMkLst>
        </pc:graphicFrameChg>
      </pc:sldChg>
      <pc:sldChg chg="addSp modSp new mod">
        <pc:chgData name="Dosch Stefan" userId="890109e9-1898-418b-81c4-580600bb3f43" providerId="ADAL" clId="{AE02C4C1-19BA-4C06-B808-4E6378A2910A}" dt="2026-06-29T04:58:44.316" v="12472" actId="1076"/>
        <pc:sldMkLst>
          <pc:docMk/>
          <pc:sldMk cId="1864106422" sldId="340"/>
        </pc:sldMkLst>
        <pc:spChg chg="mod">
          <ac:chgData name="Dosch Stefan" userId="890109e9-1898-418b-81c4-580600bb3f43" providerId="ADAL" clId="{AE02C4C1-19BA-4C06-B808-4E6378A2910A}" dt="2026-06-29T04:58:20.973" v="12467"/>
          <ac:spMkLst>
            <pc:docMk/>
            <pc:sldMk cId="1864106422" sldId="340"/>
            <ac:spMk id="2" creationId="{B7049662-7F20-98CC-5A12-F9017D809836}"/>
          </ac:spMkLst>
        </pc:spChg>
        <pc:spChg chg="mod">
          <ac:chgData name="Dosch Stefan" userId="890109e9-1898-418b-81c4-580600bb3f43" providerId="ADAL" clId="{AE02C4C1-19BA-4C06-B808-4E6378A2910A}" dt="2026-06-29T04:58:29.245" v="12470" actId="27636"/>
          <ac:spMkLst>
            <pc:docMk/>
            <pc:sldMk cId="1864106422" sldId="340"/>
            <ac:spMk id="3" creationId="{B870E567-1BE6-7E26-5BDC-FCA987C87FA7}"/>
          </ac:spMkLst>
        </pc:spChg>
        <pc:picChg chg="add mod">
          <ac:chgData name="Dosch Stefan" userId="890109e9-1898-418b-81c4-580600bb3f43" providerId="ADAL" clId="{AE02C4C1-19BA-4C06-B808-4E6378A2910A}" dt="2026-06-29T04:58:44.316" v="12472" actId="1076"/>
          <ac:picMkLst>
            <pc:docMk/>
            <pc:sldMk cId="1864106422" sldId="340"/>
            <ac:picMk id="5" creationId="{C314EF11-EBA7-6441-3D7B-3EE598A97219}"/>
          </ac:picMkLst>
        </pc:picChg>
      </pc:sldChg>
      <pc:sldChg chg="modSp new mod">
        <pc:chgData name="Dosch Stefan" userId="890109e9-1898-418b-81c4-580600bb3f43" providerId="ADAL" clId="{AE02C4C1-19BA-4C06-B808-4E6378A2910A}" dt="2026-06-29T05:22:46.544" v="12669" actId="20577"/>
        <pc:sldMkLst>
          <pc:docMk/>
          <pc:sldMk cId="1459749245" sldId="341"/>
        </pc:sldMkLst>
        <pc:spChg chg="mod">
          <ac:chgData name="Dosch Stefan" userId="890109e9-1898-418b-81c4-580600bb3f43" providerId="ADAL" clId="{AE02C4C1-19BA-4C06-B808-4E6378A2910A}" dt="2026-06-29T05:22:46.544" v="12669" actId="20577"/>
          <ac:spMkLst>
            <pc:docMk/>
            <pc:sldMk cId="1459749245" sldId="341"/>
            <ac:spMk id="2" creationId="{C1D6404A-712C-5537-9D5E-FDFF4A806C58}"/>
          </ac:spMkLst>
        </pc:spChg>
      </pc:sldChg>
      <pc:sldChg chg="new">
        <pc:chgData name="Dosch Stefan" userId="890109e9-1898-418b-81c4-580600bb3f43" providerId="ADAL" clId="{AE02C4C1-19BA-4C06-B808-4E6378A2910A}" dt="2026-06-29T05:18:33.849" v="12474" actId="680"/>
        <pc:sldMkLst>
          <pc:docMk/>
          <pc:sldMk cId="2323858349" sldId="342"/>
        </pc:sldMkLst>
      </pc:sldChg>
      <pc:sldChg chg="modSp new mod">
        <pc:chgData name="Dosch Stefan" userId="890109e9-1898-418b-81c4-580600bb3f43" providerId="ADAL" clId="{AE02C4C1-19BA-4C06-B808-4E6378A2910A}" dt="2026-06-29T05:19:03.755" v="12500" actId="20577"/>
        <pc:sldMkLst>
          <pc:docMk/>
          <pc:sldMk cId="3354567279" sldId="343"/>
        </pc:sldMkLst>
        <pc:spChg chg="mod">
          <ac:chgData name="Dosch Stefan" userId="890109e9-1898-418b-81c4-580600bb3f43" providerId="ADAL" clId="{AE02C4C1-19BA-4C06-B808-4E6378A2910A}" dt="2026-06-29T05:19:03.755" v="12500" actId="20577"/>
          <ac:spMkLst>
            <pc:docMk/>
            <pc:sldMk cId="3354567279" sldId="343"/>
            <ac:spMk id="2" creationId="{4EB0326C-039D-15D1-B5A3-77C2B8E289ED}"/>
          </ac:spMkLst>
        </pc:spChg>
      </pc:sldChg>
      <pc:sldChg chg="new">
        <pc:chgData name="Dosch Stefan" userId="890109e9-1898-418b-81c4-580600bb3f43" providerId="ADAL" clId="{AE02C4C1-19BA-4C06-B808-4E6378A2910A}" dt="2026-06-29T05:18:58.545" v="12481" actId="680"/>
        <pc:sldMkLst>
          <pc:docMk/>
          <pc:sldMk cId="1193610359" sldId="344"/>
        </pc:sldMkLst>
      </pc:sldChg>
      <pc:sldChg chg="new">
        <pc:chgData name="Dosch Stefan" userId="890109e9-1898-418b-81c4-580600bb3f43" providerId="ADAL" clId="{AE02C4C1-19BA-4C06-B808-4E6378A2910A}" dt="2026-06-29T05:19:35.041" v="12501" actId="680"/>
        <pc:sldMkLst>
          <pc:docMk/>
          <pc:sldMk cId="891409042" sldId="345"/>
        </pc:sldMkLst>
      </pc:sldChg>
      <pc:sldChg chg="modSp new mod">
        <pc:chgData name="Dosch Stefan" userId="890109e9-1898-418b-81c4-580600bb3f43" providerId="ADAL" clId="{AE02C4C1-19BA-4C06-B808-4E6378A2910A}" dt="2026-06-29T05:19:42.802" v="12525" actId="20577"/>
        <pc:sldMkLst>
          <pc:docMk/>
          <pc:sldMk cId="831285075" sldId="346"/>
        </pc:sldMkLst>
        <pc:spChg chg="mod">
          <ac:chgData name="Dosch Stefan" userId="890109e9-1898-418b-81c4-580600bb3f43" providerId="ADAL" clId="{AE02C4C1-19BA-4C06-B808-4E6378A2910A}" dt="2026-06-29T05:19:42.802" v="12525" actId="20577"/>
          <ac:spMkLst>
            <pc:docMk/>
            <pc:sldMk cId="831285075" sldId="346"/>
            <ac:spMk id="2" creationId="{63CB9867-71B8-FEB4-4C38-53EE88661C3E}"/>
          </ac:spMkLst>
        </pc:spChg>
      </pc:sldChg>
      <pc:sldChg chg="new">
        <pc:chgData name="Dosch Stefan" userId="890109e9-1898-418b-81c4-580600bb3f43" providerId="ADAL" clId="{AE02C4C1-19BA-4C06-B808-4E6378A2910A}" dt="2026-06-29T05:19:51.690" v="12526" actId="680"/>
        <pc:sldMkLst>
          <pc:docMk/>
          <pc:sldMk cId="559288995" sldId="347"/>
        </pc:sldMkLst>
      </pc:sldChg>
      <pc:sldChg chg="modSp new mod">
        <pc:chgData name="Dosch Stefan" userId="890109e9-1898-418b-81c4-580600bb3f43" providerId="ADAL" clId="{AE02C4C1-19BA-4C06-B808-4E6378A2910A}" dt="2026-06-29T05:20:01.484" v="12545" actId="20577"/>
        <pc:sldMkLst>
          <pc:docMk/>
          <pc:sldMk cId="2030588711" sldId="348"/>
        </pc:sldMkLst>
        <pc:spChg chg="mod">
          <ac:chgData name="Dosch Stefan" userId="890109e9-1898-418b-81c4-580600bb3f43" providerId="ADAL" clId="{AE02C4C1-19BA-4C06-B808-4E6378A2910A}" dt="2026-06-29T05:20:01.484" v="12545" actId="20577"/>
          <ac:spMkLst>
            <pc:docMk/>
            <pc:sldMk cId="2030588711" sldId="348"/>
            <ac:spMk id="2" creationId="{2C8C4AA8-B240-5D78-2189-25E34068C6FC}"/>
          </ac:spMkLst>
        </pc:spChg>
      </pc:sldChg>
      <pc:sldChg chg="new">
        <pc:chgData name="Dosch Stefan" userId="890109e9-1898-418b-81c4-580600bb3f43" providerId="ADAL" clId="{AE02C4C1-19BA-4C06-B808-4E6378A2910A}" dt="2026-06-29T05:20:30.439" v="12546" actId="680"/>
        <pc:sldMkLst>
          <pc:docMk/>
          <pc:sldMk cId="1076235944" sldId="349"/>
        </pc:sldMkLst>
      </pc:sldChg>
      <pc:sldChg chg="modSp new mod">
        <pc:chgData name="Dosch Stefan" userId="890109e9-1898-418b-81c4-580600bb3f43" providerId="ADAL" clId="{AE02C4C1-19BA-4C06-B808-4E6378A2910A}" dt="2026-06-29T05:20:38.259" v="12562" actId="20577"/>
        <pc:sldMkLst>
          <pc:docMk/>
          <pc:sldMk cId="2025585511" sldId="350"/>
        </pc:sldMkLst>
        <pc:spChg chg="mod">
          <ac:chgData name="Dosch Stefan" userId="890109e9-1898-418b-81c4-580600bb3f43" providerId="ADAL" clId="{AE02C4C1-19BA-4C06-B808-4E6378A2910A}" dt="2026-06-29T05:20:38.259" v="12562" actId="20577"/>
          <ac:spMkLst>
            <pc:docMk/>
            <pc:sldMk cId="2025585511" sldId="350"/>
            <ac:spMk id="2" creationId="{15414873-2440-6B7D-C06C-702D8EDF0044}"/>
          </ac:spMkLst>
        </pc:spChg>
      </pc:sldChg>
      <pc:sldChg chg="new">
        <pc:chgData name="Dosch Stefan" userId="890109e9-1898-418b-81c4-580600bb3f43" providerId="ADAL" clId="{AE02C4C1-19BA-4C06-B808-4E6378A2910A}" dt="2026-06-29T05:21:15.167" v="12563" actId="680"/>
        <pc:sldMkLst>
          <pc:docMk/>
          <pc:sldMk cId="3542543759" sldId="351"/>
        </pc:sldMkLst>
      </pc:sldChg>
      <pc:sldChg chg="modSp new mod">
        <pc:chgData name="Dosch Stefan" userId="890109e9-1898-418b-81c4-580600bb3f43" providerId="ADAL" clId="{AE02C4C1-19BA-4C06-B808-4E6378A2910A}" dt="2026-06-29T05:21:27.082" v="12602" actId="20577"/>
        <pc:sldMkLst>
          <pc:docMk/>
          <pc:sldMk cId="1830433741" sldId="352"/>
        </pc:sldMkLst>
        <pc:spChg chg="mod">
          <ac:chgData name="Dosch Stefan" userId="890109e9-1898-418b-81c4-580600bb3f43" providerId="ADAL" clId="{AE02C4C1-19BA-4C06-B808-4E6378A2910A}" dt="2026-06-29T05:21:27.082" v="12602" actId="20577"/>
          <ac:spMkLst>
            <pc:docMk/>
            <pc:sldMk cId="1830433741" sldId="352"/>
            <ac:spMk id="2" creationId="{1BB895EE-BFDB-408F-6A1C-25C33946AAD4}"/>
          </ac:spMkLst>
        </pc:spChg>
      </pc:sldChg>
      <pc:sldChg chg="modSp new mod">
        <pc:chgData name="Dosch Stefan" userId="890109e9-1898-418b-81c4-580600bb3f43" providerId="ADAL" clId="{AE02C4C1-19BA-4C06-B808-4E6378A2910A}" dt="2026-06-29T05:23:00.640" v="12705" actId="20577"/>
        <pc:sldMkLst>
          <pc:docMk/>
          <pc:sldMk cId="1465834157" sldId="353"/>
        </pc:sldMkLst>
        <pc:spChg chg="mod">
          <ac:chgData name="Dosch Stefan" userId="890109e9-1898-418b-81c4-580600bb3f43" providerId="ADAL" clId="{AE02C4C1-19BA-4C06-B808-4E6378A2910A}" dt="2026-06-29T05:23:00.640" v="12705" actId="20577"/>
          <ac:spMkLst>
            <pc:docMk/>
            <pc:sldMk cId="1465834157" sldId="353"/>
            <ac:spMk id="2" creationId="{AE772C71-51BF-2BB7-F4B2-5F8499C1BEF7}"/>
          </ac:spMkLst>
        </pc:spChg>
      </pc:sldChg>
      <pc:sldChg chg="addSp modSp new mod">
        <pc:chgData name="Dosch Stefan" userId="890109e9-1898-418b-81c4-580600bb3f43" providerId="ADAL" clId="{AE02C4C1-19BA-4C06-B808-4E6378A2910A}" dt="2026-06-29T05:23:30.603" v="12709"/>
        <pc:sldMkLst>
          <pc:docMk/>
          <pc:sldMk cId="3624303347" sldId="354"/>
        </pc:sldMkLst>
        <pc:spChg chg="mod">
          <ac:chgData name="Dosch Stefan" userId="890109e9-1898-418b-81c4-580600bb3f43" providerId="ADAL" clId="{AE02C4C1-19BA-4C06-B808-4E6378A2910A}" dt="2026-06-29T05:23:10.916" v="12706"/>
          <ac:spMkLst>
            <pc:docMk/>
            <pc:sldMk cId="3624303347" sldId="354"/>
            <ac:spMk id="2" creationId="{25C3E6E1-A6AD-307E-A413-E3920694AE9E}"/>
          </ac:spMkLst>
        </pc:spChg>
        <pc:spChg chg="mod">
          <ac:chgData name="Dosch Stefan" userId="890109e9-1898-418b-81c4-580600bb3f43" providerId="ADAL" clId="{AE02C4C1-19BA-4C06-B808-4E6378A2910A}" dt="2026-06-29T05:23:24.882" v="12708" actId="14100"/>
          <ac:spMkLst>
            <pc:docMk/>
            <pc:sldMk cId="3624303347" sldId="354"/>
            <ac:spMk id="3" creationId="{594FD6DD-908E-CB52-2873-0E768B0CAC93}"/>
          </ac:spMkLst>
        </pc:spChg>
        <pc:graphicFrameChg chg="add mod">
          <ac:chgData name="Dosch Stefan" userId="890109e9-1898-418b-81c4-580600bb3f43" providerId="ADAL" clId="{AE02C4C1-19BA-4C06-B808-4E6378A2910A}" dt="2026-06-29T05:23:30.603" v="12709"/>
          <ac:graphicFrameMkLst>
            <pc:docMk/>
            <pc:sldMk cId="3624303347" sldId="354"/>
            <ac:graphicFrameMk id="4" creationId="{A34AA385-36E9-D3F1-C2EA-DBAADB7426E2}"/>
          </ac:graphicFrameMkLst>
        </pc:graphicFrameChg>
      </pc:sldChg>
      <pc:sldChg chg="addSp delSp modSp add mod modNotesTx">
        <pc:chgData name="Dosch Stefan" userId="890109e9-1898-418b-81c4-580600bb3f43" providerId="ADAL" clId="{AE02C4C1-19BA-4C06-B808-4E6378A2910A}" dt="2026-06-29T05:24:24.447" v="12718"/>
        <pc:sldMkLst>
          <pc:docMk/>
          <pc:sldMk cId="1191002613" sldId="355"/>
        </pc:sldMkLst>
        <pc:spChg chg="mod">
          <ac:chgData name="Dosch Stefan" userId="890109e9-1898-418b-81c4-580600bb3f43" providerId="ADAL" clId="{AE02C4C1-19BA-4C06-B808-4E6378A2910A}" dt="2026-06-29T05:23:46.888" v="12711"/>
          <ac:spMkLst>
            <pc:docMk/>
            <pc:sldMk cId="1191002613" sldId="355"/>
            <ac:spMk id="3" creationId="{4C7961D3-935C-4084-B832-A68F4E4DC2CF}"/>
          </ac:spMkLst>
        </pc:spChg>
        <pc:spChg chg="add del mod">
          <ac:chgData name="Dosch Stefan" userId="890109e9-1898-418b-81c4-580600bb3f43" providerId="ADAL" clId="{AE02C4C1-19BA-4C06-B808-4E6378A2910A}" dt="2026-06-29T05:24:24.447" v="12718"/>
          <ac:spMkLst>
            <pc:docMk/>
            <pc:sldMk cId="1191002613" sldId="355"/>
            <ac:spMk id="6" creationId="{D4B66C35-A508-3AC3-B7A4-D6EB68BDFCB3}"/>
          </ac:spMkLst>
        </pc:spChg>
        <pc:graphicFrameChg chg="del">
          <ac:chgData name="Dosch Stefan" userId="890109e9-1898-418b-81c4-580600bb3f43" providerId="ADAL" clId="{AE02C4C1-19BA-4C06-B808-4E6378A2910A}" dt="2026-06-29T05:23:54.626" v="12712" actId="478"/>
          <ac:graphicFrameMkLst>
            <pc:docMk/>
            <pc:sldMk cId="1191002613" sldId="355"/>
            <ac:graphicFrameMk id="4" creationId="{B6326A0D-EC17-7B53-1C71-EF29D3E418A8}"/>
          </ac:graphicFrameMkLst>
        </pc:graphicFrameChg>
        <pc:graphicFrameChg chg="add mod">
          <ac:chgData name="Dosch Stefan" userId="890109e9-1898-418b-81c4-580600bb3f43" providerId="ADAL" clId="{AE02C4C1-19BA-4C06-B808-4E6378A2910A}" dt="2026-06-29T05:24:06.196" v="12714" actId="1076"/>
          <ac:graphicFrameMkLst>
            <pc:docMk/>
            <pc:sldMk cId="1191002613" sldId="355"/>
            <ac:graphicFrameMk id="5" creationId="{9EA6B433-160E-EA08-00A8-A902AF3B81D6}"/>
          </ac:graphicFrameMkLst>
        </pc:graphicFrameChg>
      </pc:sldChg>
      <pc:sldChg chg="addSp delSp modSp new mod modNotesTx">
        <pc:chgData name="Dosch Stefan" userId="890109e9-1898-418b-81c4-580600bb3f43" providerId="ADAL" clId="{AE02C4C1-19BA-4C06-B808-4E6378A2910A}" dt="2026-06-29T05:25:11.205" v="12724" actId="12"/>
        <pc:sldMkLst>
          <pc:docMk/>
          <pc:sldMk cId="185786416" sldId="356"/>
        </pc:sldMkLst>
        <pc:spChg chg="mod">
          <ac:chgData name="Dosch Stefan" userId="890109e9-1898-418b-81c4-580600bb3f43" providerId="ADAL" clId="{AE02C4C1-19BA-4C06-B808-4E6378A2910A}" dt="2026-06-29T05:24:34.999" v="12720"/>
          <ac:spMkLst>
            <pc:docMk/>
            <pc:sldMk cId="185786416" sldId="356"/>
            <ac:spMk id="2" creationId="{FCD3B68C-06CD-B58D-398C-7A2209496921}"/>
          </ac:spMkLst>
        </pc:spChg>
        <pc:spChg chg="del">
          <ac:chgData name="Dosch Stefan" userId="890109e9-1898-418b-81c4-580600bb3f43" providerId="ADAL" clId="{AE02C4C1-19BA-4C06-B808-4E6378A2910A}" dt="2026-06-29T05:24:43.923" v="12721"/>
          <ac:spMkLst>
            <pc:docMk/>
            <pc:sldMk cId="185786416" sldId="356"/>
            <ac:spMk id="3" creationId="{75F7EB4A-9BE8-4660-ED23-0B2554243C10}"/>
          </ac:spMkLst>
        </pc:spChg>
        <pc:graphicFrameChg chg="add mod">
          <ac:chgData name="Dosch Stefan" userId="890109e9-1898-418b-81c4-580600bb3f43" providerId="ADAL" clId="{AE02C4C1-19BA-4C06-B808-4E6378A2910A}" dt="2026-06-29T05:24:43.923" v="12721"/>
          <ac:graphicFrameMkLst>
            <pc:docMk/>
            <pc:sldMk cId="185786416" sldId="356"/>
            <ac:graphicFrameMk id="4" creationId="{32622AB0-2B6A-BA8E-8192-1AA3A09C13C5}"/>
          </ac:graphicFrameMkLst>
        </pc:graphicFrameChg>
        <pc:picChg chg="add mod">
          <ac:chgData name="Dosch Stefan" userId="890109e9-1898-418b-81c4-580600bb3f43" providerId="ADAL" clId="{AE02C4C1-19BA-4C06-B808-4E6378A2910A}" dt="2026-06-29T05:24:57.492" v="12723" actId="1076"/>
          <ac:picMkLst>
            <pc:docMk/>
            <pc:sldMk cId="185786416" sldId="356"/>
            <ac:picMk id="6" creationId="{7EA5A36A-4A5E-B703-E108-DF103DD076F7}"/>
          </ac:picMkLst>
        </pc:picChg>
      </pc:sldChg>
      <pc:sldChg chg="addSp delSp modSp new mod modNotesTx">
        <pc:chgData name="Dosch Stefan" userId="890109e9-1898-418b-81c4-580600bb3f43" providerId="ADAL" clId="{AE02C4C1-19BA-4C06-B808-4E6378A2910A}" dt="2026-06-29T05:25:43.446" v="12728" actId="12"/>
        <pc:sldMkLst>
          <pc:docMk/>
          <pc:sldMk cId="1653266631" sldId="357"/>
        </pc:sldMkLst>
        <pc:spChg chg="mod">
          <ac:chgData name="Dosch Stefan" userId="890109e9-1898-418b-81c4-580600bb3f43" providerId="ADAL" clId="{AE02C4C1-19BA-4C06-B808-4E6378A2910A}" dt="2026-06-29T05:25:20.053" v="12726"/>
          <ac:spMkLst>
            <pc:docMk/>
            <pc:sldMk cId="1653266631" sldId="357"/>
            <ac:spMk id="2" creationId="{B8FADE44-0F87-A07D-A8C0-9798137118B0}"/>
          </ac:spMkLst>
        </pc:spChg>
        <pc:spChg chg="del">
          <ac:chgData name="Dosch Stefan" userId="890109e9-1898-418b-81c4-580600bb3f43" providerId="ADAL" clId="{AE02C4C1-19BA-4C06-B808-4E6378A2910A}" dt="2026-06-29T05:25:32.846" v="12727" actId="22"/>
          <ac:spMkLst>
            <pc:docMk/>
            <pc:sldMk cId="1653266631" sldId="357"/>
            <ac:spMk id="3" creationId="{A564CB39-B9F4-BAA3-9914-CC5F94DC622B}"/>
          </ac:spMkLst>
        </pc:spChg>
        <pc:picChg chg="add mod ord">
          <ac:chgData name="Dosch Stefan" userId="890109e9-1898-418b-81c4-580600bb3f43" providerId="ADAL" clId="{AE02C4C1-19BA-4C06-B808-4E6378A2910A}" dt="2026-06-29T05:25:32.846" v="12727" actId="22"/>
          <ac:picMkLst>
            <pc:docMk/>
            <pc:sldMk cId="1653266631" sldId="357"/>
            <ac:picMk id="5" creationId="{B370BE7E-95D4-998C-6D1B-023ADD468E1E}"/>
          </ac:picMkLst>
        </pc:picChg>
      </pc:sldChg>
      <pc:sldChg chg="addSp delSp modSp new modNotesTx">
        <pc:chgData name="Dosch Stefan" userId="890109e9-1898-418b-81c4-580600bb3f43" providerId="ADAL" clId="{AE02C4C1-19BA-4C06-B808-4E6378A2910A}" dt="2026-06-29T05:26:52.440" v="12734" actId="12"/>
        <pc:sldMkLst>
          <pc:docMk/>
          <pc:sldMk cId="1938686333" sldId="358"/>
        </pc:sldMkLst>
        <pc:spChg chg="mod">
          <ac:chgData name="Dosch Stefan" userId="890109e9-1898-418b-81c4-580600bb3f43" providerId="ADAL" clId="{AE02C4C1-19BA-4C06-B808-4E6378A2910A}" dt="2026-06-29T05:26:26.350" v="12730"/>
          <ac:spMkLst>
            <pc:docMk/>
            <pc:sldMk cId="1938686333" sldId="358"/>
            <ac:spMk id="2" creationId="{0BC915ED-3726-F303-9969-79179E7A3D8E}"/>
          </ac:spMkLst>
        </pc:spChg>
        <pc:spChg chg="del">
          <ac:chgData name="Dosch Stefan" userId="890109e9-1898-418b-81c4-580600bb3f43" providerId="ADAL" clId="{AE02C4C1-19BA-4C06-B808-4E6378A2910A}" dt="2026-06-29T05:26:32.131" v="12731"/>
          <ac:spMkLst>
            <pc:docMk/>
            <pc:sldMk cId="1938686333" sldId="358"/>
            <ac:spMk id="3" creationId="{D1EE3E9E-14F3-CE59-F40A-7B09B9577E38}"/>
          </ac:spMkLst>
        </pc:spChg>
        <pc:spChg chg="add mod">
          <ac:chgData name="Dosch Stefan" userId="890109e9-1898-418b-81c4-580600bb3f43" providerId="ADAL" clId="{AE02C4C1-19BA-4C06-B808-4E6378A2910A}" dt="2026-06-29T05:26:43.207" v="12733"/>
          <ac:spMkLst>
            <pc:docMk/>
            <pc:sldMk cId="1938686333" sldId="358"/>
            <ac:spMk id="5" creationId="{FB355992-2882-4DEC-0E4C-22A4BFBFBFCC}"/>
          </ac:spMkLst>
        </pc:spChg>
        <pc:graphicFrameChg chg="add mod">
          <ac:chgData name="Dosch Stefan" userId="890109e9-1898-418b-81c4-580600bb3f43" providerId="ADAL" clId="{AE02C4C1-19BA-4C06-B808-4E6378A2910A}" dt="2026-06-29T05:26:32.131" v="12731"/>
          <ac:graphicFrameMkLst>
            <pc:docMk/>
            <pc:sldMk cId="1938686333" sldId="358"/>
            <ac:graphicFrameMk id="4" creationId="{8F984AD1-B294-9579-3E4A-952A2BAC5862}"/>
          </ac:graphicFrameMkLst>
        </pc:graphicFrameChg>
      </pc:sldChg>
      <pc:sldChg chg="addSp delSp modSp new mod modNotesTx">
        <pc:chgData name="Dosch Stefan" userId="890109e9-1898-418b-81c4-580600bb3f43" providerId="ADAL" clId="{AE02C4C1-19BA-4C06-B808-4E6378A2910A}" dt="2026-06-29T05:27:52.850" v="12748" actId="12"/>
        <pc:sldMkLst>
          <pc:docMk/>
          <pc:sldMk cId="170017456" sldId="359"/>
        </pc:sldMkLst>
        <pc:spChg chg="mod">
          <ac:chgData name="Dosch Stefan" userId="890109e9-1898-418b-81c4-580600bb3f43" providerId="ADAL" clId="{AE02C4C1-19BA-4C06-B808-4E6378A2910A}" dt="2026-06-29T05:27:08.849" v="12738"/>
          <ac:spMkLst>
            <pc:docMk/>
            <pc:sldMk cId="170017456" sldId="359"/>
            <ac:spMk id="2" creationId="{3476BEA3-86E0-F6B2-1450-8D41CAB1A595}"/>
          </ac:spMkLst>
        </pc:spChg>
        <pc:spChg chg="del">
          <ac:chgData name="Dosch Stefan" userId="890109e9-1898-418b-81c4-580600bb3f43" providerId="ADAL" clId="{AE02C4C1-19BA-4C06-B808-4E6378A2910A}" dt="2026-06-29T05:27:12.980" v="12739"/>
          <ac:spMkLst>
            <pc:docMk/>
            <pc:sldMk cId="170017456" sldId="359"/>
            <ac:spMk id="3" creationId="{BB9D25CA-33C3-8BD4-BD7D-541B1E9E9913}"/>
          </ac:spMkLst>
        </pc:spChg>
        <pc:spChg chg="add mod">
          <ac:chgData name="Dosch Stefan" userId="890109e9-1898-418b-81c4-580600bb3f43" providerId="ADAL" clId="{AE02C4C1-19BA-4C06-B808-4E6378A2910A}" dt="2026-06-29T05:27:44.866" v="12747" actId="12"/>
          <ac:spMkLst>
            <pc:docMk/>
            <pc:sldMk cId="170017456" sldId="359"/>
            <ac:spMk id="5" creationId="{4D3C89F4-D71D-8976-FEE5-A6BA685F6B71}"/>
          </ac:spMkLst>
        </pc:spChg>
        <pc:graphicFrameChg chg="add mod">
          <ac:chgData name="Dosch Stefan" userId="890109e9-1898-418b-81c4-580600bb3f43" providerId="ADAL" clId="{AE02C4C1-19BA-4C06-B808-4E6378A2910A}" dt="2026-06-29T05:27:15.834" v="12740" actId="1076"/>
          <ac:graphicFrameMkLst>
            <pc:docMk/>
            <pc:sldMk cId="170017456" sldId="359"/>
            <ac:graphicFrameMk id="4" creationId="{287C4159-A6C1-511E-72CB-9FA1A5CC379E}"/>
          </ac:graphicFrameMkLst>
        </pc:graphicFrameChg>
      </pc:sldChg>
      <pc:sldChg chg="addSp delSp modSp new mod">
        <pc:chgData name="Dosch Stefan" userId="890109e9-1898-418b-81c4-580600bb3f43" providerId="ADAL" clId="{AE02C4C1-19BA-4C06-B808-4E6378A2910A}" dt="2026-06-29T05:34:09.663" v="12838" actId="1076"/>
        <pc:sldMkLst>
          <pc:docMk/>
          <pc:sldMk cId="777585531" sldId="360"/>
        </pc:sldMkLst>
        <pc:spChg chg="mod">
          <ac:chgData name="Dosch Stefan" userId="890109e9-1898-418b-81c4-580600bb3f43" providerId="ADAL" clId="{AE02C4C1-19BA-4C06-B808-4E6378A2910A}" dt="2026-06-29T05:33:45.373" v="12833"/>
          <ac:spMkLst>
            <pc:docMk/>
            <pc:sldMk cId="777585531" sldId="360"/>
            <ac:spMk id="2" creationId="{4FA7C7BE-288E-4A06-B90A-2319569BC2F4}"/>
          </ac:spMkLst>
        </pc:spChg>
        <pc:spChg chg="del">
          <ac:chgData name="Dosch Stefan" userId="890109e9-1898-418b-81c4-580600bb3f43" providerId="ADAL" clId="{AE02C4C1-19BA-4C06-B808-4E6378A2910A}" dt="2026-06-29T05:33:55.615" v="12834" actId="22"/>
          <ac:spMkLst>
            <pc:docMk/>
            <pc:sldMk cId="777585531" sldId="360"/>
            <ac:spMk id="3" creationId="{DA515D6A-F913-DFBE-1B2B-214D48ADADB2}"/>
          </ac:spMkLst>
        </pc:spChg>
        <pc:picChg chg="add mod ord">
          <ac:chgData name="Dosch Stefan" userId="890109e9-1898-418b-81c4-580600bb3f43" providerId="ADAL" clId="{AE02C4C1-19BA-4C06-B808-4E6378A2910A}" dt="2026-06-29T05:34:08.154" v="12837" actId="1076"/>
          <ac:picMkLst>
            <pc:docMk/>
            <pc:sldMk cId="777585531" sldId="360"/>
            <ac:picMk id="5" creationId="{40FAF2CA-9EF4-FE3B-2F20-E8DD192D6B9A}"/>
          </ac:picMkLst>
        </pc:picChg>
        <pc:picChg chg="add mod">
          <ac:chgData name="Dosch Stefan" userId="890109e9-1898-418b-81c4-580600bb3f43" providerId="ADAL" clId="{AE02C4C1-19BA-4C06-B808-4E6378A2910A}" dt="2026-06-29T05:34:09.663" v="12838" actId="1076"/>
          <ac:picMkLst>
            <pc:docMk/>
            <pc:sldMk cId="777585531" sldId="360"/>
            <ac:picMk id="7" creationId="{A12BA5F8-48BE-1A60-265C-31C26D0B042B}"/>
          </ac:picMkLst>
        </pc:picChg>
      </pc:sldChg>
      <pc:sldChg chg="addSp delSp modSp new mod modNotesTx">
        <pc:chgData name="Dosch Stefan" userId="890109e9-1898-418b-81c4-580600bb3f43" providerId="ADAL" clId="{AE02C4C1-19BA-4C06-B808-4E6378A2910A}" dt="2026-06-29T05:31:48.081" v="12804" actId="12"/>
        <pc:sldMkLst>
          <pc:docMk/>
          <pc:sldMk cId="3852152891" sldId="361"/>
        </pc:sldMkLst>
        <pc:spChg chg="mod">
          <ac:chgData name="Dosch Stefan" userId="890109e9-1898-418b-81c4-580600bb3f43" providerId="ADAL" clId="{AE02C4C1-19BA-4C06-B808-4E6378A2910A}" dt="2026-06-29T05:29:24.311" v="12770"/>
          <ac:spMkLst>
            <pc:docMk/>
            <pc:sldMk cId="3852152891" sldId="361"/>
            <ac:spMk id="2" creationId="{D09ED9F8-DF78-C1F3-67A3-241E28CF8D3F}"/>
          </ac:spMkLst>
        </pc:spChg>
        <pc:spChg chg="mod">
          <ac:chgData name="Dosch Stefan" userId="890109e9-1898-418b-81c4-580600bb3f43" providerId="ADAL" clId="{AE02C4C1-19BA-4C06-B808-4E6378A2910A}" dt="2026-06-29T05:29:32.685" v="12772" actId="14100"/>
          <ac:spMkLst>
            <pc:docMk/>
            <pc:sldMk cId="3852152891" sldId="361"/>
            <ac:spMk id="3" creationId="{6186614D-751B-1065-D3F5-244150153E14}"/>
          </ac:spMkLst>
        </pc:spChg>
        <pc:spChg chg="add del mod">
          <ac:chgData name="Dosch Stefan" userId="890109e9-1898-418b-81c4-580600bb3f43" providerId="ADAL" clId="{AE02C4C1-19BA-4C06-B808-4E6378A2910A}" dt="2026-06-29T05:30:19.056" v="12782"/>
          <ac:spMkLst>
            <pc:docMk/>
            <pc:sldMk cId="3852152891" sldId="361"/>
            <ac:spMk id="6" creationId="{99D1871F-7F30-4104-A925-39BDBE7F2A4A}"/>
          </ac:spMkLst>
        </pc:spChg>
        <pc:spChg chg="add del mod">
          <ac:chgData name="Dosch Stefan" userId="890109e9-1898-418b-81c4-580600bb3f43" providerId="ADAL" clId="{AE02C4C1-19BA-4C06-B808-4E6378A2910A}" dt="2026-06-29T05:30:19.057" v="12784"/>
          <ac:spMkLst>
            <pc:docMk/>
            <pc:sldMk cId="3852152891" sldId="361"/>
            <ac:spMk id="7" creationId="{A0788126-86C4-0108-45BC-979275C093CB}"/>
          </ac:spMkLst>
        </pc:spChg>
        <pc:spChg chg="add del mod">
          <ac:chgData name="Dosch Stefan" userId="890109e9-1898-418b-81c4-580600bb3f43" providerId="ADAL" clId="{AE02C4C1-19BA-4C06-B808-4E6378A2910A}" dt="2026-06-29T05:30:19.055" v="12780" actId="478"/>
          <ac:spMkLst>
            <pc:docMk/>
            <pc:sldMk cId="3852152891" sldId="361"/>
            <ac:spMk id="11" creationId="{2B066E21-FEC6-3D20-87FE-A57B4C7A8962}"/>
          </ac:spMkLst>
        </pc:spChg>
        <pc:spChg chg="add mod">
          <ac:chgData name="Dosch Stefan" userId="890109e9-1898-418b-81c4-580600bb3f43" providerId="ADAL" clId="{AE02C4C1-19BA-4C06-B808-4E6378A2910A}" dt="2026-06-29T05:30:55.773" v="12793" actId="1076"/>
          <ac:spMkLst>
            <pc:docMk/>
            <pc:sldMk cId="3852152891" sldId="361"/>
            <ac:spMk id="12" creationId="{EDA7A940-C208-785D-509E-DDEE28E255D3}"/>
          </ac:spMkLst>
        </pc:spChg>
        <pc:spChg chg="add mod">
          <ac:chgData name="Dosch Stefan" userId="890109e9-1898-418b-81c4-580600bb3f43" providerId="ADAL" clId="{AE02C4C1-19BA-4C06-B808-4E6378A2910A}" dt="2026-06-29T05:31:20.412" v="12799" actId="1076"/>
          <ac:spMkLst>
            <pc:docMk/>
            <pc:sldMk cId="3852152891" sldId="361"/>
            <ac:spMk id="14" creationId="{CBFDD70C-8A78-990B-7BDE-8D10EC8899F5}"/>
          </ac:spMkLst>
        </pc:spChg>
        <pc:spChg chg="add mod">
          <ac:chgData name="Dosch Stefan" userId="890109e9-1898-418b-81c4-580600bb3f43" providerId="ADAL" clId="{AE02C4C1-19BA-4C06-B808-4E6378A2910A}" dt="2026-06-29T05:31:35.355" v="12803" actId="12"/>
          <ac:spMkLst>
            <pc:docMk/>
            <pc:sldMk cId="3852152891" sldId="361"/>
            <ac:spMk id="15" creationId="{52892A2F-7181-8E7E-546D-9B28F51BDDE8}"/>
          </ac:spMkLst>
        </pc:spChg>
        <pc:graphicFrameChg chg="add mod modGraphic">
          <ac:chgData name="Dosch Stefan" userId="890109e9-1898-418b-81c4-580600bb3f43" providerId="ADAL" clId="{AE02C4C1-19BA-4C06-B808-4E6378A2910A}" dt="2026-06-29T05:30:38.202" v="12790" actId="1076"/>
          <ac:graphicFrameMkLst>
            <pc:docMk/>
            <pc:sldMk cId="3852152891" sldId="361"/>
            <ac:graphicFrameMk id="8" creationId="{EA158DFF-C5AE-3F67-1F74-B3D67AB42CF5}"/>
          </ac:graphicFrameMkLst>
        </pc:graphicFrameChg>
        <pc:graphicFrameChg chg="add del mod">
          <ac:chgData name="Dosch Stefan" userId="890109e9-1898-418b-81c4-580600bb3f43" providerId="ADAL" clId="{AE02C4C1-19BA-4C06-B808-4E6378A2910A}" dt="2026-06-29T05:30:20.895" v="12785" actId="478"/>
          <ac:graphicFrameMkLst>
            <pc:docMk/>
            <pc:sldMk cId="3852152891" sldId="361"/>
            <ac:graphicFrameMk id="9" creationId="{52354AF4-A27E-5057-B9DD-D20BC2A08564}"/>
          </ac:graphicFrameMkLst>
        </pc:graphicFrameChg>
        <pc:graphicFrameChg chg="add mod modGraphic">
          <ac:chgData name="Dosch Stefan" userId="890109e9-1898-418b-81c4-580600bb3f43" providerId="ADAL" clId="{AE02C4C1-19BA-4C06-B808-4E6378A2910A}" dt="2026-06-29T05:31:07.162" v="12796" actId="1076"/>
          <ac:graphicFrameMkLst>
            <pc:docMk/>
            <pc:sldMk cId="3852152891" sldId="361"/>
            <ac:graphicFrameMk id="13" creationId="{06723483-8FDC-FB26-5647-C2573F210F3A}"/>
          </ac:graphicFrameMkLst>
        </pc:graphicFrameChg>
        <pc:picChg chg="add mod">
          <ac:chgData name="Dosch Stefan" userId="890109e9-1898-418b-81c4-580600bb3f43" providerId="ADAL" clId="{AE02C4C1-19BA-4C06-B808-4E6378A2910A}" dt="2026-06-29T05:30:31.093" v="12788" actId="1076"/>
          <ac:picMkLst>
            <pc:docMk/>
            <pc:sldMk cId="3852152891" sldId="361"/>
            <ac:picMk id="5" creationId="{D2AA8C10-E1EB-F80C-FD34-45128B3BC4D6}"/>
          </ac:picMkLst>
        </pc:picChg>
      </pc:sldChg>
      <pc:sldChg chg="addSp delSp modSp new mod ord modNotesTx">
        <pc:chgData name="Dosch Stefan" userId="890109e9-1898-418b-81c4-580600bb3f43" providerId="ADAL" clId="{AE02C4C1-19BA-4C06-B808-4E6378A2910A}" dt="2026-06-29T05:29:09.319" v="12768"/>
        <pc:sldMkLst>
          <pc:docMk/>
          <pc:sldMk cId="4164078010" sldId="362"/>
        </pc:sldMkLst>
        <pc:spChg chg="mod">
          <ac:chgData name="Dosch Stefan" userId="890109e9-1898-418b-81c4-580600bb3f43" providerId="ADAL" clId="{AE02C4C1-19BA-4C06-B808-4E6378A2910A}" dt="2026-06-29T05:28:01.548" v="12750"/>
          <ac:spMkLst>
            <pc:docMk/>
            <pc:sldMk cId="4164078010" sldId="362"/>
            <ac:spMk id="2" creationId="{95894E1F-4CB2-7C4C-4833-4970E9B673FC}"/>
          </ac:spMkLst>
        </pc:spChg>
        <pc:spChg chg="del">
          <ac:chgData name="Dosch Stefan" userId="890109e9-1898-418b-81c4-580600bb3f43" providerId="ADAL" clId="{AE02C4C1-19BA-4C06-B808-4E6378A2910A}" dt="2026-06-29T05:28:09.032" v="12752"/>
          <ac:spMkLst>
            <pc:docMk/>
            <pc:sldMk cId="4164078010" sldId="362"/>
            <ac:spMk id="3" creationId="{78A4941B-7E70-8487-0540-A79FEF3DB71A}"/>
          </ac:spMkLst>
        </pc:spChg>
        <pc:spChg chg="add mod">
          <ac:chgData name="Dosch Stefan" userId="890109e9-1898-418b-81c4-580600bb3f43" providerId="ADAL" clId="{AE02C4C1-19BA-4C06-B808-4E6378A2910A}" dt="2026-06-29T05:28:44.056" v="12761" actId="1076"/>
          <ac:spMkLst>
            <pc:docMk/>
            <pc:sldMk cId="4164078010" sldId="362"/>
            <ac:spMk id="6" creationId="{A34066EA-9432-6885-2186-560C4CB3BDDB}"/>
          </ac:spMkLst>
        </pc:spChg>
        <pc:graphicFrameChg chg="add mod modGraphic">
          <ac:chgData name="Dosch Stefan" userId="890109e9-1898-418b-81c4-580600bb3f43" providerId="ADAL" clId="{AE02C4C1-19BA-4C06-B808-4E6378A2910A}" dt="2026-06-29T05:28:40.576" v="12760" actId="14734"/>
          <ac:graphicFrameMkLst>
            <pc:docMk/>
            <pc:sldMk cId="4164078010" sldId="362"/>
            <ac:graphicFrameMk id="4" creationId="{6D702FC5-AAD8-41A8-6466-465FBAF69650}"/>
          </ac:graphicFrameMkLst>
        </pc:graphicFrameChg>
        <pc:picChg chg="add mod">
          <ac:chgData name="Dosch Stefan" userId="890109e9-1898-418b-81c4-580600bb3f43" providerId="ADAL" clId="{AE02C4C1-19BA-4C06-B808-4E6378A2910A}" dt="2026-06-29T05:28:55.069" v="12763" actId="1076"/>
          <ac:picMkLst>
            <pc:docMk/>
            <pc:sldMk cId="4164078010" sldId="362"/>
            <ac:picMk id="8" creationId="{8BE82830-5247-1A30-E674-0D4796DD1FAE}"/>
          </ac:picMkLst>
        </pc:picChg>
      </pc:sldChg>
      <pc:sldChg chg="addSp delSp modSp new mod modNotesTx">
        <pc:chgData name="Dosch Stefan" userId="890109e9-1898-418b-81c4-580600bb3f43" providerId="ADAL" clId="{AE02C4C1-19BA-4C06-B808-4E6378A2910A}" dt="2026-06-29T05:32:51.153" v="12817" actId="12"/>
        <pc:sldMkLst>
          <pc:docMk/>
          <pc:sldMk cId="2051610899" sldId="363"/>
        </pc:sldMkLst>
        <pc:spChg chg="mod">
          <ac:chgData name="Dosch Stefan" userId="890109e9-1898-418b-81c4-580600bb3f43" providerId="ADAL" clId="{AE02C4C1-19BA-4C06-B808-4E6378A2910A}" dt="2026-06-29T05:31:56.026" v="12806"/>
          <ac:spMkLst>
            <pc:docMk/>
            <pc:sldMk cId="2051610899" sldId="363"/>
            <ac:spMk id="2" creationId="{536C62C1-971E-D928-5A6D-552D7C0C2316}"/>
          </ac:spMkLst>
        </pc:spChg>
        <pc:spChg chg="del">
          <ac:chgData name="Dosch Stefan" userId="890109e9-1898-418b-81c4-580600bb3f43" providerId="ADAL" clId="{AE02C4C1-19BA-4C06-B808-4E6378A2910A}" dt="2026-06-29T05:32:04.861" v="12807"/>
          <ac:spMkLst>
            <pc:docMk/>
            <pc:sldMk cId="2051610899" sldId="363"/>
            <ac:spMk id="3" creationId="{649912FA-A1F1-0C59-91A7-5FDC5C544493}"/>
          </ac:spMkLst>
        </pc:spChg>
        <pc:spChg chg="add mod">
          <ac:chgData name="Dosch Stefan" userId="890109e9-1898-418b-81c4-580600bb3f43" providerId="ADAL" clId="{AE02C4C1-19BA-4C06-B808-4E6378A2910A}" dt="2026-06-29T05:32:34.916" v="12816" actId="1076"/>
          <ac:spMkLst>
            <pc:docMk/>
            <pc:sldMk cId="2051610899" sldId="363"/>
            <ac:spMk id="5" creationId="{8AB22878-9019-7692-5CA0-6A8AAAF3E5B1}"/>
          </ac:spMkLst>
        </pc:spChg>
        <pc:graphicFrameChg chg="add mod">
          <ac:chgData name="Dosch Stefan" userId="890109e9-1898-418b-81c4-580600bb3f43" providerId="ADAL" clId="{AE02C4C1-19BA-4C06-B808-4E6378A2910A}" dt="2026-06-29T05:32:14.635" v="12808" actId="1076"/>
          <ac:graphicFrameMkLst>
            <pc:docMk/>
            <pc:sldMk cId="2051610899" sldId="363"/>
            <ac:graphicFrameMk id="4" creationId="{3D696199-0E34-8C7F-C04A-9E7441B62946}"/>
          </ac:graphicFrameMkLst>
        </pc:graphicFrameChg>
      </pc:sldChg>
      <pc:sldChg chg="new">
        <pc:chgData name="Dosch Stefan" userId="890109e9-1898-418b-81c4-580600bb3f43" providerId="ADAL" clId="{AE02C4C1-19BA-4C06-B808-4E6378A2910A}" dt="2026-06-29T05:31:50.516" v="12805" actId="680"/>
        <pc:sldMkLst>
          <pc:docMk/>
          <pc:sldMk cId="2161251149" sldId="364"/>
        </pc:sldMkLst>
      </pc:sldChg>
      <pc:sldChg chg="modSp new mod">
        <pc:chgData name="Dosch Stefan" userId="890109e9-1898-418b-81c4-580600bb3f43" providerId="ADAL" clId="{AE02C4C1-19BA-4C06-B808-4E6378A2910A}" dt="2026-06-29T05:33:21.038" v="12828" actId="20577"/>
        <pc:sldMkLst>
          <pc:docMk/>
          <pc:sldMk cId="1510026484" sldId="365"/>
        </pc:sldMkLst>
        <pc:spChg chg="mod">
          <ac:chgData name="Dosch Stefan" userId="890109e9-1898-418b-81c4-580600bb3f43" providerId="ADAL" clId="{AE02C4C1-19BA-4C06-B808-4E6378A2910A}" dt="2026-06-29T05:33:21.038" v="12828" actId="20577"/>
          <ac:spMkLst>
            <pc:docMk/>
            <pc:sldMk cId="1510026484" sldId="365"/>
            <ac:spMk id="2" creationId="{E2821A8C-41FD-18DE-CE3D-5A745019F9DF}"/>
          </ac:spMkLst>
        </pc:spChg>
      </pc:sldChg>
      <pc:sldChg chg="new">
        <pc:chgData name="Dosch Stefan" userId="890109e9-1898-418b-81c4-580600bb3f43" providerId="ADAL" clId="{AE02C4C1-19BA-4C06-B808-4E6378A2910A}" dt="2026-06-29T05:33:24.018" v="12829" actId="680"/>
        <pc:sldMkLst>
          <pc:docMk/>
          <pc:sldMk cId="3378010259" sldId="366"/>
        </pc:sldMkLst>
      </pc:sldChg>
      <pc:sldChg chg="addSp delSp modSp new mod">
        <pc:chgData name="Dosch Stefan" userId="890109e9-1898-418b-81c4-580600bb3f43" providerId="ADAL" clId="{AE02C4C1-19BA-4C06-B808-4E6378A2910A}" dt="2026-06-29T05:38:50.579" v="12863" actId="22"/>
        <pc:sldMkLst>
          <pc:docMk/>
          <pc:sldMk cId="1330686330" sldId="367"/>
        </pc:sldMkLst>
        <pc:spChg chg="mod">
          <ac:chgData name="Dosch Stefan" userId="890109e9-1898-418b-81c4-580600bb3f43" providerId="ADAL" clId="{AE02C4C1-19BA-4C06-B808-4E6378A2910A}" dt="2026-06-29T05:38:41.141" v="12862"/>
          <ac:spMkLst>
            <pc:docMk/>
            <pc:sldMk cId="1330686330" sldId="367"/>
            <ac:spMk id="2" creationId="{87BEA495-D606-B3A7-2CA3-F770D9103F3C}"/>
          </ac:spMkLst>
        </pc:spChg>
        <pc:spChg chg="del">
          <ac:chgData name="Dosch Stefan" userId="890109e9-1898-418b-81c4-580600bb3f43" providerId="ADAL" clId="{AE02C4C1-19BA-4C06-B808-4E6378A2910A}" dt="2026-06-29T05:38:50.579" v="12863" actId="22"/>
          <ac:spMkLst>
            <pc:docMk/>
            <pc:sldMk cId="1330686330" sldId="367"/>
            <ac:spMk id="3" creationId="{2F495DB9-72C7-A35E-99A6-9CB248AD48E8}"/>
          </ac:spMkLst>
        </pc:spChg>
        <pc:picChg chg="add mod ord">
          <ac:chgData name="Dosch Stefan" userId="890109e9-1898-418b-81c4-580600bb3f43" providerId="ADAL" clId="{AE02C4C1-19BA-4C06-B808-4E6378A2910A}" dt="2026-06-29T05:38:50.579" v="12863" actId="22"/>
          <ac:picMkLst>
            <pc:docMk/>
            <pc:sldMk cId="1330686330" sldId="367"/>
            <ac:picMk id="5" creationId="{7BABE018-39D1-C465-B8D5-1DF8160FC1CD}"/>
          </ac:picMkLst>
        </pc:picChg>
      </pc:sldChg>
      <pc:sldChg chg="addSp delSp modSp new mod">
        <pc:chgData name="Dosch Stefan" userId="890109e9-1898-418b-81c4-580600bb3f43" providerId="ADAL" clId="{AE02C4C1-19BA-4C06-B808-4E6378A2910A}" dt="2026-06-29T05:36:58.823" v="12853" actId="22"/>
        <pc:sldMkLst>
          <pc:docMk/>
          <pc:sldMk cId="1523067101" sldId="368"/>
        </pc:sldMkLst>
        <pc:spChg chg="mod">
          <ac:chgData name="Dosch Stefan" userId="890109e9-1898-418b-81c4-580600bb3f43" providerId="ADAL" clId="{AE02C4C1-19BA-4C06-B808-4E6378A2910A}" dt="2026-06-29T05:36:47.356" v="12852"/>
          <ac:spMkLst>
            <pc:docMk/>
            <pc:sldMk cId="1523067101" sldId="368"/>
            <ac:spMk id="2" creationId="{C0D5ECC6-B73C-8683-84B8-803424275434}"/>
          </ac:spMkLst>
        </pc:spChg>
        <pc:spChg chg="del">
          <ac:chgData name="Dosch Stefan" userId="890109e9-1898-418b-81c4-580600bb3f43" providerId="ADAL" clId="{AE02C4C1-19BA-4C06-B808-4E6378A2910A}" dt="2026-06-29T05:36:58.823" v="12853" actId="22"/>
          <ac:spMkLst>
            <pc:docMk/>
            <pc:sldMk cId="1523067101" sldId="368"/>
            <ac:spMk id="3" creationId="{D5336248-F229-03AB-3FF5-8912D1031C27}"/>
          </ac:spMkLst>
        </pc:spChg>
        <pc:picChg chg="add mod ord">
          <ac:chgData name="Dosch Stefan" userId="890109e9-1898-418b-81c4-580600bb3f43" providerId="ADAL" clId="{AE02C4C1-19BA-4C06-B808-4E6378A2910A}" dt="2026-06-29T05:36:58.823" v="12853" actId="22"/>
          <ac:picMkLst>
            <pc:docMk/>
            <pc:sldMk cId="1523067101" sldId="368"/>
            <ac:picMk id="5" creationId="{80655781-25E5-0253-F917-FF683E7035C2}"/>
          </ac:picMkLst>
        </pc:picChg>
      </pc:sldChg>
      <pc:sldChg chg="addSp delSp modSp new mod">
        <pc:chgData name="Dosch Stefan" userId="890109e9-1898-418b-81c4-580600bb3f43" providerId="ADAL" clId="{AE02C4C1-19BA-4C06-B808-4E6378A2910A}" dt="2026-06-29T05:35:26.402" v="12845" actId="22"/>
        <pc:sldMkLst>
          <pc:docMk/>
          <pc:sldMk cId="1469081608" sldId="369"/>
        </pc:sldMkLst>
        <pc:spChg chg="mod">
          <ac:chgData name="Dosch Stefan" userId="890109e9-1898-418b-81c4-580600bb3f43" providerId="ADAL" clId="{AE02C4C1-19BA-4C06-B808-4E6378A2910A}" dt="2026-06-29T05:35:13.481" v="12844"/>
          <ac:spMkLst>
            <pc:docMk/>
            <pc:sldMk cId="1469081608" sldId="369"/>
            <ac:spMk id="2" creationId="{3824FD5C-3EDE-A046-E059-9DF1C9AD3DB9}"/>
          </ac:spMkLst>
        </pc:spChg>
        <pc:spChg chg="del">
          <ac:chgData name="Dosch Stefan" userId="890109e9-1898-418b-81c4-580600bb3f43" providerId="ADAL" clId="{AE02C4C1-19BA-4C06-B808-4E6378A2910A}" dt="2026-06-29T05:35:26.402" v="12845" actId="22"/>
          <ac:spMkLst>
            <pc:docMk/>
            <pc:sldMk cId="1469081608" sldId="369"/>
            <ac:spMk id="3" creationId="{4A267CF2-D292-C359-668B-D371B161DB0C}"/>
          </ac:spMkLst>
        </pc:spChg>
        <pc:picChg chg="add mod ord">
          <ac:chgData name="Dosch Stefan" userId="890109e9-1898-418b-81c4-580600bb3f43" providerId="ADAL" clId="{AE02C4C1-19BA-4C06-B808-4E6378A2910A}" dt="2026-06-29T05:35:26.402" v="12845" actId="22"/>
          <ac:picMkLst>
            <pc:docMk/>
            <pc:sldMk cId="1469081608" sldId="369"/>
            <ac:picMk id="5" creationId="{32052371-5906-7BA8-9635-951DBA443E53}"/>
          </ac:picMkLst>
        </pc:picChg>
      </pc:sldChg>
      <pc:sldChg chg="addSp delSp modSp new mod">
        <pc:chgData name="Dosch Stefan" userId="890109e9-1898-418b-81c4-580600bb3f43" providerId="ADAL" clId="{AE02C4C1-19BA-4C06-B808-4E6378A2910A}" dt="2026-06-29T05:34:52.326" v="12841" actId="22"/>
        <pc:sldMkLst>
          <pc:docMk/>
          <pc:sldMk cId="3117273142" sldId="370"/>
        </pc:sldMkLst>
        <pc:spChg chg="mod">
          <ac:chgData name="Dosch Stefan" userId="890109e9-1898-418b-81c4-580600bb3f43" providerId="ADAL" clId="{AE02C4C1-19BA-4C06-B808-4E6378A2910A}" dt="2026-06-29T05:34:44.019" v="12840"/>
          <ac:spMkLst>
            <pc:docMk/>
            <pc:sldMk cId="3117273142" sldId="370"/>
            <ac:spMk id="2" creationId="{3930721C-5E3E-81D2-B270-8E317BC5479F}"/>
          </ac:spMkLst>
        </pc:spChg>
        <pc:spChg chg="del">
          <ac:chgData name="Dosch Stefan" userId="890109e9-1898-418b-81c4-580600bb3f43" providerId="ADAL" clId="{AE02C4C1-19BA-4C06-B808-4E6378A2910A}" dt="2026-06-29T05:34:52.326" v="12841" actId="22"/>
          <ac:spMkLst>
            <pc:docMk/>
            <pc:sldMk cId="3117273142" sldId="370"/>
            <ac:spMk id="3" creationId="{B602EA07-8CC4-6063-21D7-948250BF858D}"/>
          </ac:spMkLst>
        </pc:spChg>
        <pc:picChg chg="add mod ord">
          <ac:chgData name="Dosch Stefan" userId="890109e9-1898-418b-81c4-580600bb3f43" providerId="ADAL" clId="{AE02C4C1-19BA-4C06-B808-4E6378A2910A}" dt="2026-06-29T05:34:52.326" v="12841" actId="22"/>
          <ac:picMkLst>
            <pc:docMk/>
            <pc:sldMk cId="3117273142" sldId="370"/>
            <ac:picMk id="5" creationId="{CE261626-A388-F3DD-1018-B5BA9FD5CF1D}"/>
          </ac:picMkLst>
        </pc:picChg>
      </pc:sldChg>
      <pc:sldChg chg="addSp delSp modSp new mod">
        <pc:chgData name="Dosch Stefan" userId="890109e9-1898-418b-81c4-580600bb3f43" providerId="ADAL" clId="{AE02C4C1-19BA-4C06-B808-4E6378A2910A}" dt="2026-06-29T05:36:26.657" v="12849" actId="22"/>
        <pc:sldMkLst>
          <pc:docMk/>
          <pc:sldMk cId="384566546" sldId="371"/>
        </pc:sldMkLst>
        <pc:spChg chg="mod">
          <ac:chgData name="Dosch Stefan" userId="890109e9-1898-418b-81c4-580600bb3f43" providerId="ADAL" clId="{AE02C4C1-19BA-4C06-B808-4E6378A2910A}" dt="2026-06-29T05:36:18.140" v="12848"/>
          <ac:spMkLst>
            <pc:docMk/>
            <pc:sldMk cId="384566546" sldId="371"/>
            <ac:spMk id="2" creationId="{340744D0-B507-1548-D3C4-4B55016ED338}"/>
          </ac:spMkLst>
        </pc:spChg>
        <pc:spChg chg="del">
          <ac:chgData name="Dosch Stefan" userId="890109e9-1898-418b-81c4-580600bb3f43" providerId="ADAL" clId="{AE02C4C1-19BA-4C06-B808-4E6378A2910A}" dt="2026-06-29T05:36:26.657" v="12849" actId="22"/>
          <ac:spMkLst>
            <pc:docMk/>
            <pc:sldMk cId="384566546" sldId="371"/>
            <ac:spMk id="3" creationId="{486AD383-D75B-3FC9-9440-2E86707292A9}"/>
          </ac:spMkLst>
        </pc:spChg>
        <pc:picChg chg="add mod ord">
          <ac:chgData name="Dosch Stefan" userId="890109e9-1898-418b-81c4-580600bb3f43" providerId="ADAL" clId="{AE02C4C1-19BA-4C06-B808-4E6378A2910A}" dt="2026-06-29T05:36:26.657" v="12849" actId="22"/>
          <ac:picMkLst>
            <pc:docMk/>
            <pc:sldMk cId="384566546" sldId="371"/>
            <ac:picMk id="5" creationId="{3A065561-6520-D5BC-BEBF-DBCE185694D8}"/>
          </ac:picMkLst>
        </pc:picChg>
      </pc:sldChg>
      <pc:sldChg chg="addSp delSp modSp new mod">
        <pc:chgData name="Dosch Stefan" userId="890109e9-1898-418b-81c4-580600bb3f43" providerId="ADAL" clId="{AE02C4C1-19BA-4C06-B808-4E6378A2910A}" dt="2026-06-29T05:35:54.976" v="12847" actId="22"/>
        <pc:sldMkLst>
          <pc:docMk/>
          <pc:sldMk cId="1450883187" sldId="372"/>
        </pc:sldMkLst>
        <pc:spChg chg="mod">
          <ac:chgData name="Dosch Stefan" userId="890109e9-1898-418b-81c4-580600bb3f43" providerId="ADAL" clId="{AE02C4C1-19BA-4C06-B808-4E6378A2910A}" dt="2026-06-29T05:35:43.213" v="12846"/>
          <ac:spMkLst>
            <pc:docMk/>
            <pc:sldMk cId="1450883187" sldId="372"/>
            <ac:spMk id="2" creationId="{97EC0744-43F9-52FE-782D-04ED18C80B4D}"/>
          </ac:spMkLst>
        </pc:spChg>
        <pc:spChg chg="del">
          <ac:chgData name="Dosch Stefan" userId="890109e9-1898-418b-81c4-580600bb3f43" providerId="ADAL" clId="{AE02C4C1-19BA-4C06-B808-4E6378A2910A}" dt="2026-06-29T05:35:54.976" v="12847" actId="22"/>
          <ac:spMkLst>
            <pc:docMk/>
            <pc:sldMk cId="1450883187" sldId="372"/>
            <ac:spMk id="3" creationId="{54554437-05DB-3DBF-BDDA-42FE2A6DD482}"/>
          </ac:spMkLst>
        </pc:spChg>
        <pc:picChg chg="add mod ord">
          <ac:chgData name="Dosch Stefan" userId="890109e9-1898-418b-81c4-580600bb3f43" providerId="ADAL" clId="{AE02C4C1-19BA-4C06-B808-4E6378A2910A}" dt="2026-06-29T05:35:54.976" v="12847" actId="22"/>
          <ac:picMkLst>
            <pc:docMk/>
            <pc:sldMk cId="1450883187" sldId="372"/>
            <ac:picMk id="5" creationId="{D8885F49-DD2C-F3F8-05AD-E6C79F707AA6}"/>
          </ac:picMkLst>
        </pc:picChg>
      </pc:sldChg>
      <pc:sldChg chg="addSp delSp modSp new mod">
        <pc:chgData name="Dosch Stefan" userId="890109e9-1898-418b-81c4-580600bb3f43" providerId="ADAL" clId="{AE02C4C1-19BA-4C06-B808-4E6378A2910A}" dt="2026-06-29T05:37:51.663" v="12858" actId="22"/>
        <pc:sldMkLst>
          <pc:docMk/>
          <pc:sldMk cId="2378592696" sldId="373"/>
        </pc:sldMkLst>
        <pc:spChg chg="mod">
          <ac:chgData name="Dosch Stefan" userId="890109e9-1898-418b-81c4-580600bb3f43" providerId="ADAL" clId="{AE02C4C1-19BA-4C06-B808-4E6378A2910A}" dt="2026-06-29T05:37:40.212" v="12857"/>
          <ac:spMkLst>
            <pc:docMk/>
            <pc:sldMk cId="2378592696" sldId="373"/>
            <ac:spMk id="2" creationId="{4DE58EA1-0E48-AC70-A480-D1FB6D678948}"/>
          </ac:spMkLst>
        </pc:spChg>
        <pc:spChg chg="del">
          <ac:chgData name="Dosch Stefan" userId="890109e9-1898-418b-81c4-580600bb3f43" providerId="ADAL" clId="{AE02C4C1-19BA-4C06-B808-4E6378A2910A}" dt="2026-06-29T05:37:51.663" v="12858" actId="22"/>
          <ac:spMkLst>
            <pc:docMk/>
            <pc:sldMk cId="2378592696" sldId="373"/>
            <ac:spMk id="3" creationId="{C1D8D64E-A543-24E2-CB56-8936A51FE342}"/>
          </ac:spMkLst>
        </pc:spChg>
        <pc:picChg chg="add mod ord">
          <ac:chgData name="Dosch Stefan" userId="890109e9-1898-418b-81c4-580600bb3f43" providerId="ADAL" clId="{AE02C4C1-19BA-4C06-B808-4E6378A2910A}" dt="2026-06-29T05:37:51.663" v="12858" actId="22"/>
          <ac:picMkLst>
            <pc:docMk/>
            <pc:sldMk cId="2378592696" sldId="373"/>
            <ac:picMk id="5" creationId="{FA49BA7C-EDF8-8D56-C0C9-73C29FC860DC}"/>
          </ac:picMkLst>
        </pc:picChg>
      </pc:sldChg>
      <pc:sldChg chg="addSp delSp modSp new mod">
        <pc:chgData name="Dosch Stefan" userId="890109e9-1898-418b-81c4-580600bb3f43" providerId="ADAL" clId="{AE02C4C1-19BA-4C06-B808-4E6378A2910A}" dt="2026-06-29T05:37:24.211" v="12855" actId="22"/>
        <pc:sldMkLst>
          <pc:docMk/>
          <pc:sldMk cId="177631215" sldId="374"/>
        </pc:sldMkLst>
        <pc:spChg chg="mod">
          <ac:chgData name="Dosch Stefan" userId="890109e9-1898-418b-81c4-580600bb3f43" providerId="ADAL" clId="{AE02C4C1-19BA-4C06-B808-4E6378A2910A}" dt="2026-06-29T05:37:14.339" v="12854"/>
          <ac:spMkLst>
            <pc:docMk/>
            <pc:sldMk cId="177631215" sldId="374"/>
            <ac:spMk id="2" creationId="{45541963-6240-D805-3980-4E69CC6CD97E}"/>
          </ac:spMkLst>
        </pc:spChg>
        <pc:spChg chg="del">
          <ac:chgData name="Dosch Stefan" userId="890109e9-1898-418b-81c4-580600bb3f43" providerId="ADAL" clId="{AE02C4C1-19BA-4C06-B808-4E6378A2910A}" dt="2026-06-29T05:37:24.211" v="12855" actId="22"/>
          <ac:spMkLst>
            <pc:docMk/>
            <pc:sldMk cId="177631215" sldId="374"/>
            <ac:spMk id="3" creationId="{52DEFD7F-4F36-1C78-5B75-868272B3207D}"/>
          </ac:spMkLst>
        </pc:spChg>
        <pc:picChg chg="add mod ord">
          <ac:chgData name="Dosch Stefan" userId="890109e9-1898-418b-81c4-580600bb3f43" providerId="ADAL" clId="{AE02C4C1-19BA-4C06-B808-4E6378A2910A}" dt="2026-06-29T05:37:24.211" v="12855" actId="22"/>
          <ac:picMkLst>
            <pc:docMk/>
            <pc:sldMk cId="177631215" sldId="374"/>
            <ac:picMk id="5" creationId="{B5C3898C-AE03-09DF-6E9A-E1D53673FA00}"/>
          </ac:picMkLst>
        </pc:picChg>
      </pc:sldChg>
      <pc:sldChg chg="addSp delSp modSp new mod">
        <pc:chgData name="Dosch Stefan" userId="890109e9-1898-418b-81c4-580600bb3f43" providerId="ADAL" clId="{AE02C4C1-19BA-4C06-B808-4E6378A2910A}" dt="2026-06-29T05:38:19.523" v="12860" actId="22"/>
        <pc:sldMkLst>
          <pc:docMk/>
          <pc:sldMk cId="4173321437" sldId="375"/>
        </pc:sldMkLst>
        <pc:spChg chg="mod">
          <ac:chgData name="Dosch Stefan" userId="890109e9-1898-418b-81c4-580600bb3f43" providerId="ADAL" clId="{AE02C4C1-19BA-4C06-B808-4E6378A2910A}" dt="2026-06-29T05:38:10.621" v="12859"/>
          <ac:spMkLst>
            <pc:docMk/>
            <pc:sldMk cId="4173321437" sldId="375"/>
            <ac:spMk id="2" creationId="{63278917-854D-16AA-6A9B-B472DB0BAB20}"/>
          </ac:spMkLst>
        </pc:spChg>
        <pc:spChg chg="del">
          <ac:chgData name="Dosch Stefan" userId="890109e9-1898-418b-81c4-580600bb3f43" providerId="ADAL" clId="{AE02C4C1-19BA-4C06-B808-4E6378A2910A}" dt="2026-06-29T05:38:19.523" v="12860" actId="22"/>
          <ac:spMkLst>
            <pc:docMk/>
            <pc:sldMk cId="4173321437" sldId="375"/>
            <ac:spMk id="3" creationId="{0A358863-080D-ABA0-C290-4C436F41CBEF}"/>
          </ac:spMkLst>
        </pc:spChg>
        <pc:picChg chg="add mod ord">
          <ac:chgData name="Dosch Stefan" userId="890109e9-1898-418b-81c4-580600bb3f43" providerId="ADAL" clId="{AE02C4C1-19BA-4C06-B808-4E6378A2910A}" dt="2026-06-29T05:38:19.523" v="12860" actId="22"/>
          <ac:picMkLst>
            <pc:docMk/>
            <pc:sldMk cId="4173321437" sldId="375"/>
            <ac:picMk id="5" creationId="{36C73EE2-0189-EA75-4093-6807AB564C68}"/>
          </ac:picMkLst>
        </pc:picChg>
      </pc:sldChg>
      <pc:sldChg chg="addSp delSp modSp new mod">
        <pc:chgData name="Dosch Stefan" userId="890109e9-1898-418b-81c4-580600bb3f43" providerId="ADAL" clId="{AE02C4C1-19BA-4C06-B808-4E6378A2910A}" dt="2026-06-29T05:39:20.167" v="12866" actId="22"/>
        <pc:sldMkLst>
          <pc:docMk/>
          <pc:sldMk cId="1954550917" sldId="376"/>
        </pc:sldMkLst>
        <pc:spChg chg="mod">
          <ac:chgData name="Dosch Stefan" userId="890109e9-1898-418b-81c4-580600bb3f43" providerId="ADAL" clId="{AE02C4C1-19BA-4C06-B808-4E6378A2910A}" dt="2026-06-29T05:39:10.621" v="12865"/>
          <ac:spMkLst>
            <pc:docMk/>
            <pc:sldMk cId="1954550917" sldId="376"/>
            <ac:spMk id="2" creationId="{0B72B1AE-7508-B47C-FD0F-A9297939F489}"/>
          </ac:spMkLst>
        </pc:spChg>
        <pc:spChg chg="del">
          <ac:chgData name="Dosch Stefan" userId="890109e9-1898-418b-81c4-580600bb3f43" providerId="ADAL" clId="{AE02C4C1-19BA-4C06-B808-4E6378A2910A}" dt="2026-06-29T05:39:20.167" v="12866" actId="22"/>
          <ac:spMkLst>
            <pc:docMk/>
            <pc:sldMk cId="1954550917" sldId="376"/>
            <ac:spMk id="3" creationId="{17043B37-E8A1-0F3F-4F9E-0B578E710D5D}"/>
          </ac:spMkLst>
        </pc:spChg>
        <pc:picChg chg="add mod ord">
          <ac:chgData name="Dosch Stefan" userId="890109e9-1898-418b-81c4-580600bb3f43" providerId="ADAL" clId="{AE02C4C1-19BA-4C06-B808-4E6378A2910A}" dt="2026-06-29T05:39:20.167" v="12866" actId="22"/>
          <ac:picMkLst>
            <pc:docMk/>
            <pc:sldMk cId="1954550917" sldId="376"/>
            <ac:picMk id="5" creationId="{9DBF379F-40C9-983D-3B8B-FDCFF690587D}"/>
          </ac:picMkLst>
        </pc:picChg>
      </pc:sldChg>
      <pc:sldChg chg="addSp delSp modSp new mod">
        <pc:chgData name="Dosch Stefan" userId="890109e9-1898-418b-81c4-580600bb3f43" providerId="ADAL" clId="{AE02C4C1-19BA-4C06-B808-4E6378A2910A}" dt="2026-06-29T05:39:46.012" v="12869" actId="22"/>
        <pc:sldMkLst>
          <pc:docMk/>
          <pc:sldMk cId="2895702656" sldId="377"/>
        </pc:sldMkLst>
        <pc:spChg chg="mod">
          <ac:chgData name="Dosch Stefan" userId="890109e9-1898-418b-81c4-580600bb3f43" providerId="ADAL" clId="{AE02C4C1-19BA-4C06-B808-4E6378A2910A}" dt="2026-06-29T05:39:38.234" v="12868"/>
          <ac:spMkLst>
            <pc:docMk/>
            <pc:sldMk cId="2895702656" sldId="377"/>
            <ac:spMk id="2" creationId="{C4F294D8-CB30-1AB0-0340-6AE4C56E0A98}"/>
          </ac:spMkLst>
        </pc:spChg>
        <pc:spChg chg="del">
          <ac:chgData name="Dosch Stefan" userId="890109e9-1898-418b-81c4-580600bb3f43" providerId="ADAL" clId="{AE02C4C1-19BA-4C06-B808-4E6378A2910A}" dt="2026-06-29T05:39:46.012" v="12869" actId="22"/>
          <ac:spMkLst>
            <pc:docMk/>
            <pc:sldMk cId="2895702656" sldId="377"/>
            <ac:spMk id="3" creationId="{CE35F2C2-0EEE-6C83-D2D4-AECFBB366B14}"/>
          </ac:spMkLst>
        </pc:spChg>
        <pc:picChg chg="add mod ord">
          <ac:chgData name="Dosch Stefan" userId="890109e9-1898-418b-81c4-580600bb3f43" providerId="ADAL" clId="{AE02C4C1-19BA-4C06-B808-4E6378A2910A}" dt="2026-06-29T05:39:46.012" v="12869" actId="22"/>
          <ac:picMkLst>
            <pc:docMk/>
            <pc:sldMk cId="2895702656" sldId="377"/>
            <ac:picMk id="5" creationId="{4EEF5AAE-CEDE-335B-9DD0-C78C38D7A08E}"/>
          </ac:picMkLst>
        </pc:picChg>
      </pc:sldChg>
      <pc:sldChg chg="new">
        <pc:chgData name="Dosch Stefan" userId="890109e9-1898-418b-81c4-580600bb3f43" providerId="ADAL" clId="{AE02C4C1-19BA-4C06-B808-4E6378A2910A}" dt="2026-06-29T05:39:32.888" v="12867" actId="680"/>
        <pc:sldMkLst>
          <pc:docMk/>
          <pc:sldMk cId="3117997230" sldId="378"/>
        </pc:sldMkLst>
      </pc:sldChg>
    </pc:docChg>
  </pc:docChgLst>
</pc:chgInfo>
</file>

<file path=ppt/comments/modernComment_110_11A93BDB.xml><?xml version="1.0" encoding="utf-8"?>
<p188:cmLst xmlns:a="http://schemas.openxmlformats.org/drawingml/2006/main" xmlns:r="http://schemas.openxmlformats.org/officeDocument/2006/relationships" xmlns:p188="http://schemas.microsoft.com/office/powerpoint/2018/8/main">
  <p188:cm id="{4BFD904D-EDDC-49AF-A304-0D81477B85B9}" authorId="{6F65DC02-4BEF-FCCC-54A1-7A1D65B0F7BB}" created="2026-06-03T12:43:01.963">
    <ac:txMkLst xmlns:ac="http://schemas.microsoft.com/office/drawing/2013/main/command">
      <pc:docMk xmlns:pc="http://schemas.microsoft.com/office/powerpoint/2013/main/command"/>
      <pc:sldMk xmlns:pc="http://schemas.microsoft.com/office/powerpoint/2013/main/command" cId="296303579" sldId="272"/>
      <ac:spMk id="3" creationId="{6CA47C14-C7A2-CB45-FD41-6C1E1CD74D03}"/>
      <ac:txMk cp="0" len="17">
        <ac:context len="252" hash="2070987201"/>
      </ac:txMk>
    </ac:txMkLst>
    <p188:pos x="3134360" y="287655"/>
    <p188:txBody>
      <a:bodyPr/>
      <a:lstStyle/>
      <a:p>
        <a:r>
          <a:rPr lang="de-DE"/>
          <a:t>Tool Praat?</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de-DE"/>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C4CF786-876D-4C18-AE72-D040C878D104}" type="datetimeFigureOut">
              <a:rPr lang="de-DE" smtClean="0"/>
              <a:t>29.06.2026</a:t>
            </a:fld>
            <a:endParaRPr lang="de-DE"/>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de-DE"/>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de-DE"/>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5C0B671-25EF-47C3-BD31-46E7FB9E6220}" type="slidenum">
              <a:rPr lang="de-DE" smtClean="0"/>
              <a:t>‹#›</a:t>
            </a:fld>
            <a:endParaRPr lang="de-DE"/>
          </a:p>
        </p:txBody>
      </p:sp>
    </p:spTree>
    <p:extLst>
      <p:ext uri="{BB962C8B-B14F-4D97-AF65-F5344CB8AC3E}">
        <p14:creationId xmlns:p14="http://schemas.microsoft.com/office/powerpoint/2010/main" val="26751843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sz="1200" b="0" i="0" kern="1200" dirty="0">
                <a:solidFill>
                  <a:schemeClr val="tx1"/>
                </a:solidFill>
                <a:effectLst/>
                <a:latin typeface="+mn-lt"/>
                <a:ea typeface="+mn-ea"/>
                <a:cs typeface="+mn-cs"/>
              </a:rPr>
              <a:t>Die zentrale Frage ist eine Messfrage, keine Baufrage: Wie genau übersetzen aktuelle multimodale Modelle gesprochenes Mandarin in eine Repräsentation, die Phoneme </a:t>
            </a:r>
            <a:r>
              <a:rPr lang="de-DE" sz="1200" b="0" i="1" kern="1200" dirty="0">
                <a:solidFill>
                  <a:schemeClr val="tx1"/>
                </a:solidFill>
                <a:effectLst/>
                <a:latin typeface="+mn-lt"/>
                <a:ea typeface="+mn-ea"/>
                <a:cs typeface="+mn-cs"/>
              </a:rPr>
              <a:t>und</a:t>
            </a:r>
            <a:r>
              <a:rPr lang="de-DE" sz="1200" b="0" i="0" kern="1200" dirty="0">
                <a:solidFill>
                  <a:schemeClr val="tx1"/>
                </a:solidFill>
                <a:effectLst/>
                <a:latin typeface="+mn-lt"/>
                <a:ea typeface="+mn-ea"/>
                <a:cs typeface="+mn-cs"/>
              </a:rPr>
              <a:t> Töne erfasst? Mandarin ist eine Tonsprache — dieselbe Silbe ‚</a:t>
            </a:r>
            <a:r>
              <a:rPr lang="de-DE" sz="1200" b="0" i="0" kern="1200" dirty="0" err="1">
                <a:solidFill>
                  <a:schemeClr val="tx1"/>
                </a:solidFill>
                <a:effectLst/>
                <a:latin typeface="+mn-lt"/>
                <a:ea typeface="+mn-ea"/>
                <a:cs typeface="+mn-cs"/>
              </a:rPr>
              <a:t>ma</a:t>
            </a:r>
            <a:r>
              <a:rPr lang="de-DE" sz="1200" b="0" i="0" kern="1200" dirty="0">
                <a:solidFill>
                  <a:schemeClr val="tx1"/>
                </a:solidFill>
                <a:effectLst/>
                <a:latin typeface="+mn-lt"/>
                <a:ea typeface="+mn-ea"/>
                <a:cs typeface="+mn-cs"/>
              </a:rPr>
              <a:t>' bedeutet je nach Ton ‚Mutter', ‚Hanf', ‚Pferd' oder ‚schimpfen'. Wenn ein Modell den Ton verfehlt, ist die Transkription inhaltlich falsch, selbst wenn das Segment stimmt. Ich untersuche das bewusst </a:t>
            </a:r>
            <a:r>
              <a:rPr lang="de-DE" sz="1200" b="0" i="1" kern="1200" dirty="0">
                <a:solidFill>
                  <a:schemeClr val="tx1"/>
                </a:solidFill>
                <a:effectLst/>
                <a:latin typeface="+mn-lt"/>
                <a:ea typeface="+mn-ea"/>
                <a:cs typeface="+mn-cs"/>
              </a:rPr>
              <a:t>out </a:t>
            </a:r>
            <a:r>
              <a:rPr lang="de-DE" sz="1200" b="0" i="1" kern="1200" dirty="0" err="1">
                <a:solidFill>
                  <a:schemeClr val="tx1"/>
                </a:solidFill>
                <a:effectLst/>
                <a:latin typeface="+mn-lt"/>
                <a:ea typeface="+mn-ea"/>
                <a:cs typeface="+mn-cs"/>
              </a:rPr>
              <a:t>of</a:t>
            </a:r>
            <a:r>
              <a:rPr lang="de-DE" sz="1200" b="0" i="1" kern="1200" dirty="0">
                <a:solidFill>
                  <a:schemeClr val="tx1"/>
                </a:solidFill>
                <a:effectLst/>
                <a:latin typeface="+mn-lt"/>
                <a:ea typeface="+mn-ea"/>
                <a:cs typeface="+mn-cs"/>
              </a:rPr>
              <a:t> </a:t>
            </a:r>
            <a:r>
              <a:rPr lang="de-DE" sz="1200" b="0" i="1" kern="1200" dirty="0" err="1">
                <a:solidFill>
                  <a:schemeClr val="tx1"/>
                </a:solidFill>
                <a:effectLst/>
                <a:latin typeface="+mn-lt"/>
                <a:ea typeface="+mn-ea"/>
                <a:cs typeface="+mn-cs"/>
              </a:rPr>
              <a:t>the</a:t>
            </a:r>
            <a:r>
              <a:rPr lang="de-DE" sz="1200" b="0" i="1" kern="1200" dirty="0">
                <a:solidFill>
                  <a:schemeClr val="tx1"/>
                </a:solidFill>
                <a:effectLst/>
                <a:latin typeface="+mn-lt"/>
                <a:ea typeface="+mn-ea"/>
                <a:cs typeface="+mn-cs"/>
              </a:rPr>
              <a:t> box</a:t>
            </a:r>
            <a:r>
              <a:rPr lang="de-DE" sz="1200" b="0" i="0" kern="1200" dirty="0">
                <a:solidFill>
                  <a:schemeClr val="tx1"/>
                </a:solidFill>
                <a:effectLst/>
                <a:latin typeface="+mn-lt"/>
                <a:ea typeface="+mn-ea"/>
                <a:cs typeface="+mn-cs"/>
              </a:rPr>
              <a:t> — also genau so, wie ein Anwender die Modelle einsetzen würde, ohne sie </a:t>
            </a:r>
            <a:r>
              <a:rPr lang="de-DE" sz="1200" b="0" i="0" kern="1200" dirty="0" err="1">
                <a:solidFill>
                  <a:schemeClr val="tx1"/>
                </a:solidFill>
                <a:effectLst/>
                <a:latin typeface="+mn-lt"/>
                <a:ea typeface="+mn-ea"/>
                <a:cs typeface="+mn-cs"/>
              </a:rPr>
              <a:t>umzutrainieren</a:t>
            </a:r>
            <a:r>
              <a:rPr lang="de-DE" sz="1200" b="0" i="0" kern="1200" dirty="0">
                <a:solidFill>
                  <a:schemeClr val="tx1"/>
                </a:solidFill>
                <a:effectLst/>
                <a:latin typeface="+mn-lt"/>
                <a:ea typeface="+mn-ea"/>
                <a:cs typeface="+mn-cs"/>
              </a:rPr>
              <a:t>. Der Vokabeltrainer ist nur das Motivationsszenario; das Forschungsobjekt ist die Transkription.</a:t>
            </a:r>
            <a:endParaRPr lang="de-DE" dirty="0"/>
          </a:p>
        </p:txBody>
      </p:sp>
      <p:sp>
        <p:nvSpPr>
          <p:cNvPr id="4" name="Slide Number Placeholder 3"/>
          <p:cNvSpPr>
            <a:spLocks noGrp="1"/>
          </p:cNvSpPr>
          <p:nvPr>
            <p:ph type="sldNum" sz="quarter" idx="5"/>
          </p:nvPr>
        </p:nvSpPr>
        <p:spPr/>
        <p:txBody>
          <a:bodyPr/>
          <a:lstStyle/>
          <a:p>
            <a:fld id="{35C0B671-25EF-47C3-BD31-46E7FB9E6220}" type="slidenum">
              <a:rPr lang="de-DE" smtClean="0"/>
              <a:t>4</a:t>
            </a:fld>
            <a:endParaRPr lang="de-DE"/>
          </a:p>
        </p:txBody>
      </p:sp>
    </p:spTree>
    <p:extLst>
      <p:ext uri="{BB962C8B-B14F-4D97-AF65-F5344CB8AC3E}">
        <p14:creationId xmlns:p14="http://schemas.microsoft.com/office/powerpoint/2010/main" val="270518682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sz="1200" b="0" i="0" kern="1200" dirty="0">
                <a:solidFill>
                  <a:schemeClr val="tx1"/>
                </a:solidFill>
                <a:effectLst/>
                <a:latin typeface="+mn-lt"/>
                <a:ea typeface="+mn-ea"/>
                <a:cs typeface="+mn-cs"/>
              </a:rPr>
              <a:t>Ich habe 42 Papers systematisch nach denselben vier Kriterien ausgewertet — genau die Fragen, die du genannt hattest: Was ist die Kernaussage? Was können wir konkret verwenden? Welche Lücke benennt das Paper selbst? Und welche Lücke ergibt sich daraus für unsere Arbeit? Jede Aussage in der Analyse ist mit einem wörtlichen Zitat und Fundstelle belegt, keine Behauptung ohne Beleg. Die folgenden Folien fassen die vier </a:t>
            </a:r>
            <a:r>
              <a:rPr lang="de-DE" sz="1200" b="0" i="0" kern="1200" dirty="0" err="1">
                <a:solidFill>
                  <a:schemeClr val="tx1"/>
                </a:solidFill>
                <a:effectLst/>
                <a:latin typeface="+mn-lt"/>
                <a:ea typeface="+mn-ea"/>
                <a:cs typeface="+mn-cs"/>
              </a:rPr>
              <a:t>Learnings</a:t>
            </a:r>
            <a:r>
              <a:rPr lang="de-DE" sz="1200" b="0" i="0" kern="1200" dirty="0">
                <a:solidFill>
                  <a:schemeClr val="tx1"/>
                </a:solidFill>
                <a:effectLst/>
                <a:latin typeface="+mn-lt"/>
                <a:ea typeface="+mn-ea"/>
                <a:cs typeface="+mn-cs"/>
              </a:rPr>
              <a:t> zusammen, die sich über die Cluster hinweg wiederholen.</a:t>
            </a:r>
            <a:endParaRPr lang="de-DE" dirty="0"/>
          </a:p>
        </p:txBody>
      </p:sp>
      <p:sp>
        <p:nvSpPr>
          <p:cNvPr id="4" name="Slide Number Placeholder 3"/>
          <p:cNvSpPr>
            <a:spLocks noGrp="1"/>
          </p:cNvSpPr>
          <p:nvPr>
            <p:ph type="sldNum" sz="quarter" idx="5"/>
          </p:nvPr>
        </p:nvSpPr>
        <p:spPr/>
        <p:txBody>
          <a:bodyPr/>
          <a:lstStyle/>
          <a:p>
            <a:fld id="{35C0B671-25EF-47C3-BD31-46E7FB9E6220}" type="slidenum">
              <a:rPr lang="de-DE" smtClean="0"/>
              <a:t>9</a:t>
            </a:fld>
            <a:endParaRPr lang="de-DE"/>
          </a:p>
        </p:txBody>
      </p:sp>
    </p:spTree>
    <p:extLst>
      <p:ext uri="{BB962C8B-B14F-4D97-AF65-F5344CB8AC3E}">
        <p14:creationId xmlns:p14="http://schemas.microsoft.com/office/powerpoint/2010/main" val="254964464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sz="1200" b="0" i="0" kern="1200" dirty="0">
                <a:solidFill>
                  <a:schemeClr val="tx1"/>
                </a:solidFill>
                <a:effectLst/>
                <a:latin typeface="+mn-lt"/>
                <a:ea typeface="+mn-ea"/>
                <a:cs typeface="+mn-cs"/>
              </a:rPr>
              <a:t>Damit klar ist, wie sich die Literatur ins Kapitel 2 einfügt: Die traditionellen Ton- und MDD-Modelle gehen nach §2.2. Pinyin-gestützte LLM-Arbeiten, das ist der Strang, an den ich technisch direkt anknüpfe, nach §2.4; das zentralste Paper, </a:t>
            </a:r>
            <a:r>
              <a:rPr lang="de-DE" sz="1200" b="0" i="0" kern="1200" dirty="0" err="1">
                <a:solidFill>
                  <a:schemeClr val="tx1"/>
                </a:solidFill>
                <a:effectLst/>
                <a:latin typeface="+mn-lt"/>
                <a:ea typeface="+mn-ea"/>
                <a:cs typeface="+mn-cs"/>
              </a:rPr>
              <a:t>Zhengjie</a:t>
            </a:r>
            <a:r>
              <a:rPr lang="de-DE" sz="1200" b="0" i="0" kern="1200" dirty="0">
                <a:solidFill>
                  <a:schemeClr val="tx1"/>
                </a:solidFill>
                <a:effectLst/>
                <a:latin typeface="+mn-lt"/>
                <a:ea typeface="+mn-ea"/>
                <a:cs typeface="+mn-cs"/>
              </a:rPr>
              <a:t> &amp; Cheng, sitzt hier. Die Evaluations- und Benchmark-Arbeiten inkl. MSPB nach §2.5. Tone Perfect als mein Korpus nach §2.6. Und die Synthese der Lücken, getragen von SITA und den Surveys, mündet in §2.7, aus dem dann direkt meine Forschungsfragen folgen.</a:t>
            </a:r>
            <a:endParaRPr lang="de-DE" dirty="0"/>
          </a:p>
        </p:txBody>
      </p:sp>
      <p:sp>
        <p:nvSpPr>
          <p:cNvPr id="4" name="Slide Number Placeholder 3"/>
          <p:cNvSpPr>
            <a:spLocks noGrp="1"/>
          </p:cNvSpPr>
          <p:nvPr>
            <p:ph type="sldNum" sz="quarter" idx="5"/>
          </p:nvPr>
        </p:nvSpPr>
        <p:spPr/>
        <p:txBody>
          <a:bodyPr/>
          <a:lstStyle/>
          <a:p>
            <a:fld id="{35C0B671-25EF-47C3-BD31-46E7FB9E6220}" type="slidenum">
              <a:rPr lang="de-DE" smtClean="0"/>
              <a:t>10</a:t>
            </a:fld>
            <a:endParaRPr lang="de-DE"/>
          </a:p>
        </p:txBody>
      </p:sp>
    </p:spTree>
    <p:extLst>
      <p:ext uri="{BB962C8B-B14F-4D97-AF65-F5344CB8AC3E}">
        <p14:creationId xmlns:p14="http://schemas.microsoft.com/office/powerpoint/2010/main" val="24701059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sz="1200" b="0" i="0" kern="1200" dirty="0">
              <a:solidFill>
                <a:schemeClr val="tx1"/>
              </a:solidFill>
              <a:effectLst/>
              <a:latin typeface="+mn-lt"/>
              <a:ea typeface="+mn-ea"/>
              <a:cs typeface="+mn-cs"/>
            </a:endParaRPr>
          </a:p>
          <a:p>
            <a:r>
              <a:rPr lang="de-DE" sz="1200" b="0" i="0" kern="1200" dirty="0">
                <a:solidFill>
                  <a:schemeClr val="tx1"/>
                </a:solidFill>
                <a:effectLst/>
                <a:latin typeface="+mn-lt"/>
                <a:ea typeface="+mn-ea"/>
                <a:cs typeface="+mn-cs"/>
              </a:rPr>
              <a:t>Die aktuellen Speech LLMs sind technisch beeindruckend: Kimi-Audio erreicht 0,60 % CER auf AISHELL-1, die stärkste bekannte Mandarin-ASR-Leistung. Aber alle sieben analysierten Systeme evaluieren ausschließlich Character- oder Word Error Rate. Tongenauigkeit wird in keinem gemessen. Bemerkenswert: Kimi-Audio benennt das Problem selbst und listet ‚tone' explizit als vernachlässigte Information, evaluiert es aber nicht. Wörtlich: ‚</a:t>
            </a:r>
            <a:r>
              <a:rPr lang="de-DE" sz="1200" b="0" i="0" kern="1200" dirty="0" err="1">
                <a:solidFill>
                  <a:schemeClr val="tx1"/>
                </a:solidFill>
                <a:effectLst/>
                <a:latin typeface="+mn-lt"/>
                <a:ea typeface="+mn-ea"/>
                <a:cs typeface="+mn-cs"/>
              </a:rPr>
              <a:t>text</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transcription</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focuses</a:t>
            </a:r>
            <a:r>
              <a:rPr lang="de-DE" sz="1200" b="0" i="0" kern="1200" dirty="0">
                <a:solidFill>
                  <a:schemeClr val="tx1"/>
                </a:solidFill>
                <a:effectLst/>
                <a:latin typeface="+mn-lt"/>
                <a:ea typeface="+mn-ea"/>
                <a:cs typeface="+mn-cs"/>
              </a:rPr>
              <a:t> on </a:t>
            </a:r>
            <a:r>
              <a:rPr lang="de-DE" sz="1200" b="0" i="0" kern="1200" dirty="0" err="1">
                <a:solidFill>
                  <a:schemeClr val="tx1"/>
                </a:solidFill>
                <a:effectLst/>
                <a:latin typeface="+mn-lt"/>
                <a:ea typeface="+mn-ea"/>
                <a:cs typeface="+mn-cs"/>
              </a:rPr>
              <a:t>the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content</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of</a:t>
            </a:r>
            <a:r>
              <a:rPr lang="de-DE" sz="1200" b="0" i="0" kern="1200" dirty="0">
                <a:solidFill>
                  <a:schemeClr val="tx1"/>
                </a:solidFill>
                <a:effectLst/>
                <a:latin typeface="+mn-lt"/>
                <a:ea typeface="+mn-ea"/>
                <a:cs typeface="+mn-cs"/>
              </a:rPr>
              <a:t> spoken </a:t>
            </a:r>
            <a:r>
              <a:rPr lang="de-DE" sz="1200" b="0" i="0" kern="1200" dirty="0" err="1">
                <a:solidFill>
                  <a:schemeClr val="tx1"/>
                </a:solidFill>
                <a:effectLst/>
                <a:latin typeface="+mn-lt"/>
                <a:ea typeface="+mn-ea"/>
                <a:cs typeface="+mn-cs"/>
              </a:rPr>
              <a:t>words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what</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is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said</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neglecting</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important</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information</a:t>
            </a:r>
            <a:r>
              <a:rPr lang="de-DE" sz="1200" b="0" i="0" kern="1200" dirty="0">
                <a:solidFill>
                  <a:schemeClr val="tx1"/>
                </a:solidFill>
                <a:effectLst/>
                <a:latin typeface="+mn-lt"/>
                <a:ea typeface="+mn-ea"/>
                <a:cs typeface="+mn-cs"/>
              </a:rPr>
              <a:t> in </a:t>
            </a:r>
            <a:r>
              <a:rPr lang="de-DE" sz="1200" b="0" i="0" kern="1200" dirty="0" err="1">
                <a:solidFill>
                  <a:schemeClr val="tx1"/>
                </a:solidFill>
                <a:effectLst/>
                <a:latin typeface="+mn-lt"/>
                <a:ea typeface="+mn-ea"/>
                <a:cs typeface="+mn-cs"/>
              </a:rPr>
              <a:t>audio</a:t>
            </a:r>
            <a:r>
              <a:rPr lang="de-DE" sz="1200" b="0" i="0" kern="1200" dirty="0">
                <a:solidFill>
                  <a:schemeClr val="tx1"/>
                </a:solidFill>
                <a:effectLst/>
                <a:latin typeface="+mn-lt"/>
                <a:ea typeface="+mn-ea"/>
                <a:cs typeface="+mn-cs"/>
              </a:rPr>
              <a:t>, such </a:t>
            </a:r>
            <a:r>
              <a:rPr lang="de-DE" sz="1200" b="0" i="0" kern="1200" dirty="0" err="1">
                <a:solidFill>
                  <a:schemeClr val="tx1"/>
                </a:solidFill>
                <a:effectLst/>
                <a:latin typeface="+mn-lt"/>
                <a:ea typeface="+mn-ea"/>
                <a:cs typeface="+mn-cs"/>
              </a:rPr>
              <a:t>as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paralanguage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information</a:t>
            </a:r>
            <a:r>
              <a:rPr lang="de-DE" sz="1200" b="0" i="0" kern="1200" dirty="0">
                <a:solidFill>
                  <a:schemeClr val="tx1"/>
                </a:solidFill>
                <a:effectLst/>
                <a:latin typeface="+mn-lt"/>
                <a:ea typeface="+mn-ea"/>
                <a:cs typeface="+mn-cs"/>
              </a:rPr>
              <a:t> (e.g., </a:t>
            </a:r>
            <a:r>
              <a:rPr lang="de-DE" sz="1200" b="0" i="0" kern="1200" dirty="0" err="1">
                <a:solidFill>
                  <a:schemeClr val="tx1"/>
                </a:solidFill>
                <a:effectLst/>
                <a:latin typeface="+mn-lt"/>
                <a:ea typeface="+mn-ea"/>
                <a:cs typeface="+mn-cs"/>
              </a:rPr>
              <a:t>emotion</a:t>
            </a:r>
            <a:r>
              <a:rPr lang="de-DE" sz="1200" b="0" i="0" kern="1200" dirty="0">
                <a:solidFill>
                  <a:schemeClr val="tx1"/>
                </a:solidFill>
                <a:effectLst/>
                <a:latin typeface="+mn-lt"/>
                <a:ea typeface="+mn-ea"/>
                <a:cs typeface="+mn-cs"/>
              </a:rPr>
              <a:t>, style, </a:t>
            </a:r>
            <a:r>
              <a:rPr lang="de-DE" sz="1200" b="0" i="0" kern="1200" dirty="0" err="1">
                <a:solidFill>
                  <a:schemeClr val="tx1"/>
                </a:solidFill>
                <a:effectLst/>
                <a:latin typeface="+mn-lt"/>
                <a:ea typeface="+mn-ea"/>
                <a:cs typeface="+mn-cs"/>
              </a:rPr>
              <a:t>timbre</a:t>
            </a:r>
            <a:r>
              <a:rPr lang="de-DE" sz="1200" b="0" i="0" kern="1200" dirty="0">
                <a:solidFill>
                  <a:schemeClr val="tx1"/>
                </a:solidFill>
                <a:effectLst/>
                <a:latin typeface="+mn-lt"/>
                <a:ea typeface="+mn-ea"/>
                <a:cs typeface="+mn-cs"/>
              </a:rPr>
              <a:t>, tone), </a:t>
            </a:r>
            <a:r>
              <a:rPr lang="de-DE" sz="1200" b="0" i="0" kern="1200" dirty="0" err="1">
                <a:solidFill>
                  <a:schemeClr val="tx1"/>
                </a:solidFill>
                <a:effectLst/>
                <a:latin typeface="+mn-lt"/>
                <a:ea typeface="+mn-ea"/>
                <a:cs typeface="+mn-cs"/>
              </a:rPr>
              <a:t>acoustic</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scene</a:t>
            </a:r>
            <a:r>
              <a:rPr lang="de-DE" sz="1200" b="0" i="0" kern="1200" dirty="0">
                <a:solidFill>
                  <a:schemeClr val="tx1"/>
                </a:solidFill>
                <a:effectLst/>
                <a:latin typeface="+mn-lt"/>
                <a:ea typeface="+mn-ea"/>
                <a:cs typeface="+mn-cs"/>
              </a:rPr>
              <a:t>, and non-</a:t>
            </a:r>
            <a:r>
              <a:rPr lang="de-DE" sz="1200" b="0" i="0" kern="1200" dirty="0" err="1">
                <a:solidFill>
                  <a:schemeClr val="tx1"/>
                </a:solidFill>
                <a:effectLst/>
                <a:latin typeface="+mn-lt"/>
                <a:ea typeface="+mn-ea"/>
                <a:cs typeface="+mn-cs"/>
              </a:rPr>
              <a:t>linguistic</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sounds</a:t>
            </a:r>
            <a:r>
              <a:rPr lang="de-DE" sz="1200" b="0" i="0" kern="1200" dirty="0">
                <a:solidFill>
                  <a:schemeClr val="tx1"/>
                </a:solidFill>
                <a:effectLst/>
                <a:latin typeface="+mn-lt"/>
                <a:ea typeface="+mn-ea"/>
                <a:cs typeface="+mn-cs"/>
              </a:rPr>
              <a:t>' (Kimi-Audio, </a:t>
            </a:r>
            <a:r>
              <a:rPr lang="de-DE" sz="1200" b="0" i="0" kern="1200" dirty="0" err="1">
                <a:solidFill>
                  <a:schemeClr val="tx1"/>
                </a:solidFill>
                <a:effectLst/>
                <a:latin typeface="+mn-lt"/>
                <a:ea typeface="+mn-ea"/>
                <a:cs typeface="+mn-cs"/>
              </a:rPr>
              <a:t>Section</a:t>
            </a:r>
            <a:r>
              <a:rPr lang="de-DE" sz="1200" b="0" i="0" kern="1200" dirty="0">
                <a:solidFill>
                  <a:schemeClr val="tx1"/>
                </a:solidFill>
                <a:effectLst/>
                <a:latin typeface="+mn-lt"/>
                <a:ea typeface="+mn-ea"/>
                <a:cs typeface="+mn-cs"/>
              </a:rPr>
              <a:t> 8 ‚Challenges and Future Trends', S. 21). Verifizierbar belegt ist außerdem das Methodenproblem der Community selbst: ‚Current </a:t>
            </a:r>
            <a:r>
              <a:rPr lang="de-DE" sz="1200" b="0" i="0" kern="1200" dirty="0" err="1">
                <a:solidFill>
                  <a:schemeClr val="tx1"/>
                </a:solidFill>
                <a:effectLst/>
                <a:latin typeface="+mn-lt"/>
                <a:ea typeface="+mn-ea"/>
                <a:cs typeface="+mn-cs"/>
              </a:rPr>
              <a:t>practices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suffer</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from</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inconsistent</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metric</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implementations</a:t>
            </a:r>
            <a:r>
              <a:rPr lang="de-DE" sz="1200" b="0" i="0" kern="1200" dirty="0">
                <a:solidFill>
                  <a:schemeClr val="tx1"/>
                </a:solidFill>
                <a:effectLst/>
                <a:latin typeface="+mn-lt"/>
                <a:ea typeface="+mn-ea"/>
                <a:cs typeface="+mn-cs"/>
              </a:rPr>
              <a:t>' (Kimi-Audio, </a:t>
            </a:r>
            <a:r>
              <a:rPr lang="de-DE" sz="1200" b="0" i="0" kern="1200" dirty="0" err="1">
                <a:solidFill>
                  <a:schemeClr val="tx1"/>
                </a:solidFill>
                <a:effectLst/>
                <a:latin typeface="+mn-lt"/>
                <a:ea typeface="+mn-ea"/>
                <a:cs typeface="+mn-cs"/>
              </a:rPr>
              <a:t>Section</a:t>
            </a:r>
            <a:r>
              <a:rPr lang="de-DE" sz="1200" b="0" i="0" kern="1200" dirty="0">
                <a:solidFill>
                  <a:schemeClr val="tx1"/>
                </a:solidFill>
                <a:effectLst/>
                <a:latin typeface="+mn-lt"/>
                <a:ea typeface="+mn-ea"/>
                <a:cs typeface="+mn-cs"/>
              </a:rPr>
              <a:t> 6.1, S. 15). Das heißt: Die Modelle könnten Töne erkennen, wir wissen es nicht, weil niemand misst.</a:t>
            </a:r>
            <a:endParaRPr lang="de-DE" dirty="0"/>
          </a:p>
        </p:txBody>
      </p:sp>
      <p:sp>
        <p:nvSpPr>
          <p:cNvPr id="4" name="Slide Number Placeholder 3"/>
          <p:cNvSpPr>
            <a:spLocks noGrp="1"/>
          </p:cNvSpPr>
          <p:nvPr>
            <p:ph type="sldNum" sz="quarter" idx="5"/>
          </p:nvPr>
        </p:nvSpPr>
        <p:spPr/>
        <p:txBody>
          <a:bodyPr/>
          <a:lstStyle/>
          <a:p>
            <a:fld id="{35C0B671-25EF-47C3-BD31-46E7FB9E6220}" type="slidenum">
              <a:rPr lang="de-DE" smtClean="0"/>
              <a:t>11</a:t>
            </a:fld>
            <a:endParaRPr lang="de-DE"/>
          </a:p>
        </p:txBody>
      </p:sp>
    </p:spTree>
    <p:extLst>
      <p:ext uri="{BB962C8B-B14F-4D97-AF65-F5344CB8AC3E}">
        <p14:creationId xmlns:p14="http://schemas.microsoft.com/office/powerpoint/2010/main" val="263934502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sz="1200" b="0" i="0" kern="1200" dirty="0">
                <a:solidFill>
                  <a:schemeClr val="tx1"/>
                </a:solidFill>
                <a:effectLst/>
                <a:latin typeface="+mn-lt"/>
                <a:ea typeface="+mn-ea"/>
                <a:cs typeface="+mn-cs"/>
              </a:rPr>
              <a:t>Das Paper, das meiner Arbeit am nächsten kommt, ist </a:t>
            </a:r>
            <a:r>
              <a:rPr lang="de-DE" sz="1200" b="0" i="0" kern="1200" dirty="0" err="1">
                <a:solidFill>
                  <a:schemeClr val="tx1"/>
                </a:solidFill>
                <a:effectLst/>
                <a:latin typeface="+mn-lt"/>
                <a:ea typeface="+mn-ea"/>
                <a:cs typeface="+mn-cs"/>
              </a:rPr>
              <a:t>Zhengjie</a:t>
            </a:r>
            <a:r>
              <a:rPr lang="de-DE" sz="1200" b="0" i="0" kern="1200" dirty="0">
                <a:solidFill>
                  <a:schemeClr val="tx1"/>
                </a:solidFill>
                <a:effectLst/>
                <a:latin typeface="+mn-lt"/>
                <a:ea typeface="+mn-ea"/>
                <a:cs typeface="+mn-cs"/>
              </a:rPr>
              <a:t> und Cheng 2025. Sie koppeln einen </a:t>
            </a:r>
            <a:r>
              <a:rPr lang="de-DE" sz="1200" b="0" i="0" kern="1200" dirty="0" err="1">
                <a:solidFill>
                  <a:schemeClr val="tx1"/>
                </a:solidFill>
                <a:effectLst/>
                <a:latin typeface="+mn-lt"/>
                <a:ea typeface="+mn-ea"/>
                <a:cs typeface="+mn-cs"/>
              </a:rPr>
              <a:t>HuBERT</a:t>
            </a:r>
            <a:r>
              <a:rPr lang="de-DE" sz="1200" b="0" i="0" kern="1200" dirty="0">
                <a:solidFill>
                  <a:schemeClr val="tx1"/>
                </a:solidFill>
                <a:effectLst/>
                <a:latin typeface="+mn-lt"/>
                <a:ea typeface="+mn-ea"/>
                <a:cs typeface="+mn-cs"/>
              </a:rPr>
              <a:t>-Encoder an Qwen2-7B und erzeugen aus Audio direkt Pinyin und Zeichen, mit nur 1,9 % Pinyin Error Rate: ‚The PYG-ASR1 </a:t>
            </a:r>
            <a:r>
              <a:rPr lang="de-DE" sz="1200" b="0" i="0" kern="1200" dirty="0" err="1">
                <a:solidFill>
                  <a:schemeClr val="tx1"/>
                </a:solidFill>
                <a:effectLst/>
                <a:latin typeface="+mn-lt"/>
                <a:ea typeface="+mn-ea"/>
                <a:cs typeface="+mn-cs"/>
              </a:rPr>
              <a:t>model</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achieved</a:t>
            </a:r>
            <a:r>
              <a:rPr lang="de-DE" sz="1200" b="0" i="0" kern="1200" dirty="0">
                <a:solidFill>
                  <a:schemeClr val="tx1"/>
                </a:solidFill>
                <a:effectLst/>
                <a:latin typeface="+mn-lt"/>
                <a:ea typeface="+mn-ea"/>
                <a:cs typeface="+mn-cs"/>
              </a:rPr>
              <a:t> a Pinyin </a:t>
            </a:r>
            <a:r>
              <a:rPr lang="de-DE" sz="1200" b="0" i="0" kern="1200" dirty="0" err="1">
                <a:solidFill>
                  <a:schemeClr val="tx1"/>
                </a:solidFill>
                <a:effectLst/>
                <a:latin typeface="+mn-lt"/>
                <a:ea typeface="+mn-ea"/>
                <a:cs typeface="+mn-cs"/>
              </a:rPr>
              <a:t>error</a:t>
            </a:r>
            <a:r>
              <a:rPr lang="de-DE" sz="1200" b="0" i="0" kern="1200" dirty="0">
                <a:solidFill>
                  <a:schemeClr val="tx1"/>
                </a:solidFill>
                <a:effectLst/>
                <a:latin typeface="+mn-lt"/>
                <a:ea typeface="+mn-ea"/>
                <a:cs typeface="+mn-cs"/>
              </a:rPr>
              <a:t> rate </a:t>
            </a:r>
            <a:r>
              <a:rPr lang="de-DE" sz="1200" b="0" i="0" kern="1200" dirty="0" err="1">
                <a:solidFill>
                  <a:schemeClr val="tx1"/>
                </a:solidFill>
                <a:effectLst/>
                <a:latin typeface="+mn-lt"/>
                <a:ea typeface="+mn-ea"/>
                <a:cs typeface="+mn-cs"/>
              </a:rPr>
              <a:t>of</a:t>
            </a:r>
            <a:r>
              <a:rPr lang="de-DE" sz="1200" b="0" i="0" kern="1200" dirty="0">
                <a:solidFill>
                  <a:schemeClr val="tx1"/>
                </a:solidFill>
                <a:effectLst/>
                <a:latin typeface="+mn-lt"/>
                <a:ea typeface="+mn-ea"/>
                <a:cs typeface="+mn-cs"/>
              </a:rPr>
              <a:t> 1.6%/1.9%' (S. 4). Ihre Motivation deckt sich mit meiner: ‚</a:t>
            </a:r>
            <a:r>
              <a:rPr lang="de-DE" sz="1200" b="0" i="0" kern="1200" dirty="0" err="1">
                <a:solidFill>
                  <a:schemeClr val="tx1"/>
                </a:solidFill>
                <a:effectLst/>
                <a:latin typeface="+mn-lt"/>
                <a:ea typeface="+mn-ea"/>
                <a:cs typeface="+mn-cs"/>
              </a:rPr>
              <a:t>its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implicit</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alignment</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often</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fails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to</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capture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phonetic</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relationships</a:t>
            </a:r>
            <a:r>
              <a:rPr lang="de-DE" sz="1200" b="0" i="0" kern="1200" dirty="0">
                <a:solidFill>
                  <a:schemeClr val="tx1"/>
                </a:solidFill>
                <a:effectLst/>
                <a:latin typeface="+mn-lt"/>
                <a:ea typeface="+mn-ea"/>
                <a:cs typeface="+mn-cs"/>
              </a:rPr>
              <a:t> in Chinese, </a:t>
            </a:r>
            <a:r>
              <a:rPr lang="de-DE" sz="1200" b="0" i="0" kern="1200" dirty="0" err="1">
                <a:solidFill>
                  <a:schemeClr val="tx1"/>
                </a:solidFill>
                <a:effectLst/>
                <a:latin typeface="+mn-lt"/>
                <a:ea typeface="+mn-ea"/>
                <a:cs typeface="+mn-cs"/>
              </a:rPr>
              <a:t>leading</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to</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pronunciation</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confusion</a:t>
            </a:r>
            <a:r>
              <a:rPr lang="de-DE" sz="1200" b="0" i="0" kern="1200" dirty="0">
                <a:solidFill>
                  <a:schemeClr val="tx1"/>
                </a:solidFill>
                <a:effectLst/>
                <a:latin typeface="+mn-lt"/>
                <a:ea typeface="+mn-ea"/>
                <a:cs typeface="+mn-cs"/>
              </a:rPr>
              <a:t> and homophone </a:t>
            </a:r>
            <a:r>
              <a:rPr lang="de-DE" sz="1200" b="0" i="0" kern="1200" dirty="0" err="1">
                <a:solidFill>
                  <a:schemeClr val="tx1"/>
                </a:solidFill>
                <a:effectLst/>
                <a:latin typeface="+mn-lt"/>
                <a:ea typeface="+mn-ea"/>
                <a:cs typeface="+mn-cs"/>
              </a:rPr>
              <a:t>errors</a:t>
            </a:r>
            <a:r>
              <a:rPr lang="de-DE" sz="1200" b="0" i="0" kern="1200" dirty="0">
                <a:solidFill>
                  <a:schemeClr val="tx1"/>
                </a:solidFill>
                <a:effectLst/>
                <a:latin typeface="+mn-lt"/>
                <a:ea typeface="+mn-ea"/>
                <a:cs typeface="+mn-cs"/>
              </a:rPr>
              <a:t>' (Abstract). Aber: Das generierte Pinyin enthält </a:t>
            </a:r>
            <a:r>
              <a:rPr lang="de-DE" sz="1200" b="1" i="0" kern="1200" dirty="0">
                <a:solidFill>
                  <a:schemeClr val="tx1"/>
                </a:solidFill>
                <a:effectLst/>
                <a:latin typeface="+mn-lt"/>
                <a:ea typeface="+mn-ea"/>
                <a:cs typeface="+mn-cs"/>
              </a:rPr>
              <a:t>keine</a:t>
            </a:r>
            <a:r>
              <a:rPr lang="de-DE" sz="1200" b="0" i="0" kern="1200" dirty="0">
                <a:solidFill>
                  <a:schemeClr val="tx1"/>
                </a:solidFill>
                <a:effectLst/>
                <a:latin typeface="+mn-lt"/>
                <a:ea typeface="+mn-ea"/>
                <a:cs typeface="+mn-cs"/>
              </a:rPr>
              <a:t> Tonnummern, ‚</a:t>
            </a:r>
            <a:r>
              <a:rPr lang="de-DE" sz="1200" b="0" i="0" kern="1200" dirty="0" err="1">
                <a:solidFill>
                  <a:schemeClr val="tx1"/>
                </a:solidFill>
                <a:effectLst/>
                <a:latin typeface="+mn-lt"/>
                <a:ea typeface="+mn-ea"/>
                <a:cs typeface="+mn-cs"/>
              </a:rPr>
              <a:t>mā</a:t>
            </a:r>
            <a:r>
              <a:rPr lang="de-DE" sz="1200" b="0" i="0" kern="1200" dirty="0">
                <a:solidFill>
                  <a:schemeClr val="tx1"/>
                </a:solidFill>
                <a:effectLst/>
                <a:latin typeface="+mn-lt"/>
                <a:ea typeface="+mn-ea"/>
                <a:cs typeface="+mn-cs"/>
              </a:rPr>
              <a:t>' und ‚</a:t>
            </a:r>
            <a:r>
              <a:rPr lang="de-DE" sz="1200" b="0" i="0" kern="1200" dirty="0" err="1">
                <a:solidFill>
                  <a:schemeClr val="tx1"/>
                </a:solidFill>
                <a:effectLst/>
                <a:latin typeface="+mn-lt"/>
                <a:ea typeface="+mn-ea"/>
                <a:cs typeface="+mn-cs"/>
              </a:rPr>
              <a:t>mà</a:t>
            </a:r>
            <a:r>
              <a:rPr lang="de-DE" sz="1200" b="0" i="0" kern="1200" dirty="0">
                <a:solidFill>
                  <a:schemeClr val="tx1"/>
                </a:solidFill>
                <a:effectLst/>
                <a:latin typeface="+mn-lt"/>
                <a:ea typeface="+mn-ea"/>
                <a:cs typeface="+mn-cs"/>
              </a:rPr>
              <a:t>' werden beide zu ‚</a:t>
            </a:r>
            <a:r>
              <a:rPr lang="de-DE" sz="1200" b="0" i="0" kern="1200" dirty="0" err="1">
                <a:solidFill>
                  <a:schemeClr val="tx1"/>
                </a:solidFill>
                <a:effectLst/>
                <a:latin typeface="+mn-lt"/>
                <a:ea typeface="+mn-ea"/>
                <a:cs typeface="+mn-cs"/>
              </a:rPr>
              <a:t>ma</a:t>
            </a:r>
            <a:r>
              <a:rPr lang="de-DE" sz="1200" b="0" i="0" kern="1200" dirty="0">
                <a:solidFill>
                  <a:schemeClr val="tx1"/>
                </a:solidFill>
                <a:effectLst/>
                <a:latin typeface="+mn-lt"/>
                <a:ea typeface="+mn-ea"/>
                <a:cs typeface="+mn-cs"/>
              </a:rPr>
              <a:t>'. Genau die Information, die ein Aussprache-Feedback braucht, fehlt. Sie benennen selbst, dass kaum erforscht ist, wie LLM-ASR direkt Pinyin erzeugen kann: ‚</a:t>
            </a:r>
            <a:r>
              <a:rPr lang="de-DE" sz="1200" b="0" i="0" kern="1200" dirty="0" err="1">
                <a:solidFill>
                  <a:schemeClr val="tx1"/>
                </a:solidFill>
                <a:effectLst/>
                <a:latin typeface="+mn-lt"/>
                <a:ea typeface="+mn-ea"/>
                <a:cs typeface="+mn-cs"/>
              </a:rPr>
              <a:t>there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has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been</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little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exploration</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of</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how</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the</a:t>
            </a:r>
            <a:r>
              <a:rPr lang="de-DE" sz="1200" b="0" i="0" kern="1200" dirty="0">
                <a:solidFill>
                  <a:schemeClr val="tx1"/>
                </a:solidFill>
                <a:effectLst/>
                <a:latin typeface="+mn-lt"/>
                <a:ea typeface="+mn-ea"/>
                <a:cs typeface="+mn-cs"/>
              </a:rPr>
              <a:t> LLM-ASR </a:t>
            </a:r>
            <a:r>
              <a:rPr lang="de-DE" sz="1200" b="0" i="0" kern="1200" dirty="0" err="1">
                <a:solidFill>
                  <a:schemeClr val="tx1"/>
                </a:solidFill>
                <a:effectLst/>
                <a:latin typeface="+mn-lt"/>
                <a:ea typeface="+mn-ea"/>
                <a:cs typeface="+mn-cs"/>
              </a:rPr>
              <a:t>model</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can</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directly</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generate</a:t>
            </a:r>
            <a:r>
              <a:rPr lang="de-DE" sz="1200" b="0" i="0" kern="1200" dirty="0">
                <a:solidFill>
                  <a:schemeClr val="tx1"/>
                </a:solidFill>
                <a:effectLst/>
                <a:latin typeface="+mn-lt"/>
                <a:ea typeface="+mn-ea"/>
                <a:cs typeface="+mn-cs"/>
              </a:rPr>
              <a:t> Pinyin and Chinese </a:t>
            </a:r>
            <a:r>
              <a:rPr lang="de-DE" sz="1200" b="0" i="0" kern="1200" dirty="0" err="1">
                <a:solidFill>
                  <a:schemeClr val="tx1"/>
                </a:solidFill>
                <a:effectLst/>
                <a:latin typeface="+mn-lt"/>
                <a:ea typeface="+mn-ea"/>
                <a:cs typeface="+mn-cs"/>
              </a:rPr>
              <a:t>characters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during</a:t>
            </a:r>
            <a:r>
              <a:rPr lang="de-DE" sz="1200" b="0" i="0" kern="1200" dirty="0">
                <a:solidFill>
                  <a:schemeClr val="tx1"/>
                </a:solidFill>
                <a:effectLst/>
                <a:latin typeface="+mn-lt"/>
                <a:ea typeface="+mn-ea"/>
                <a:cs typeface="+mn-cs"/>
              </a:rPr>
              <a:t> ASR' (</a:t>
            </a:r>
            <a:r>
              <a:rPr lang="de-DE" sz="1200" b="0" i="0" kern="1200" dirty="0" err="1">
                <a:solidFill>
                  <a:schemeClr val="tx1"/>
                </a:solidFill>
                <a:effectLst/>
                <a:latin typeface="+mn-lt"/>
                <a:ea typeface="+mn-ea"/>
                <a:cs typeface="+mn-cs"/>
              </a:rPr>
              <a:t>Zhengjie</a:t>
            </a:r>
            <a:r>
              <a:rPr lang="de-DE" sz="1200" b="0" i="0" kern="1200" dirty="0">
                <a:solidFill>
                  <a:schemeClr val="tx1"/>
                </a:solidFill>
                <a:effectLst/>
                <a:latin typeface="+mn-lt"/>
                <a:ea typeface="+mn-ea"/>
                <a:cs typeface="+mn-cs"/>
              </a:rPr>
              <a:t> &amp; Cheng, </a:t>
            </a:r>
            <a:r>
              <a:rPr lang="de-DE" sz="1200" b="0" i="0" kern="1200" dirty="0" err="1">
                <a:solidFill>
                  <a:schemeClr val="tx1"/>
                </a:solidFill>
                <a:effectLst/>
                <a:latin typeface="+mn-lt"/>
                <a:ea typeface="+mn-ea"/>
                <a:cs typeface="+mn-cs"/>
              </a:rPr>
              <a:t>Introduction</a:t>
            </a:r>
            <a:r>
              <a:rPr lang="de-DE" sz="1200" b="0" i="0" kern="1200" dirty="0">
                <a:solidFill>
                  <a:schemeClr val="tx1"/>
                </a:solidFill>
                <a:effectLst/>
                <a:latin typeface="+mn-lt"/>
                <a:ea typeface="+mn-ea"/>
                <a:cs typeface="+mn-cs"/>
              </a:rPr>
              <a:t>, S. 1). Ich kann auf dieser Architektur aufsetzen und genau den fehlenden Schritt (Töne) als Evaluationsachse ergänzen.</a:t>
            </a:r>
            <a:endParaRPr lang="de-DE" dirty="0"/>
          </a:p>
        </p:txBody>
      </p:sp>
      <p:sp>
        <p:nvSpPr>
          <p:cNvPr id="4" name="Slide Number Placeholder 3"/>
          <p:cNvSpPr>
            <a:spLocks noGrp="1"/>
          </p:cNvSpPr>
          <p:nvPr>
            <p:ph type="sldNum" sz="quarter" idx="5"/>
          </p:nvPr>
        </p:nvSpPr>
        <p:spPr/>
        <p:txBody>
          <a:bodyPr/>
          <a:lstStyle/>
          <a:p>
            <a:fld id="{35C0B671-25EF-47C3-BD31-46E7FB9E6220}" type="slidenum">
              <a:rPr lang="de-DE" smtClean="0"/>
              <a:t>12</a:t>
            </a:fld>
            <a:endParaRPr lang="de-DE"/>
          </a:p>
        </p:txBody>
      </p:sp>
    </p:spTree>
    <p:extLst>
      <p:ext uri="{BB962C8B-B14F-4D97-AF65-F5344CB8AC3E}">
        <p14:creationId xmlns:p14="http://schemas.microsoft.com/office/powerpoint/2010/main" val="30485545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sz="1200" b="0" i="0" kern="1200" dirty="0">
                <a:solidFill>
                  <a:schemeClr val="tx1"/>
                </a:solidFill>
                <a:effectLst/>
                <a:latin typeface="+mn-lt"/>
                <a:ea typeface="+mn-ea"/>
                <a:cs typeface="+mn-cs"/>
              </a:rPr>
              <a:t>Tonerkennung selbst ist kein neues Thema, es gibt Reviews über 61 Studien, Deep-Learning-Modelle erreichen 88,8 % </a:t>
            </a:r>
            <a:r>
              <a:rPr lang="de-DE" sz="1200" b="0" i="0" kern="1200" dirty="0" err="1">
                <a:solidFill>
                  <a:schemeClr val="tx1"/>
                </a:solidFill>
                <a:effectLst/>
                <a:latin typeface="+mn-lt"/>
                <a:ea typeface="+mn-ea"/>
                <a:cs typeface="+mn-cs"/>
              </a:rPr>
              <a:t>Accuracy</a:t>
            </a:r>
            <a:r>
              <a:rPr lang="de-DE" sz="1200" b="0" i="0" kern="1200" dirty="0">
                <a:solidFill>
                  <a:schemeClr val="tx1"/>
                </a:solidFill>
                <a:effectLst/>
                <a:latin typeface="+mn-lt"/>
                <a:ea typeface="+mn-ea"/>
                <a:cs typeface="+mn-cs"/>
              </a:rPr>
              <a:t>, die T2-T3-Verwechslung ist als chronisches Problem dokumentiert. Aber all das nutzt dedizierte CNNs, RNNs, </a:t>
            </a:r>
            <a:r>
              <a:rPr lang="de-DE" sz="1200" b="0" i="0" kern="1200" dirty="0" err="1">
                <a:solidFill>
                  <a:schemeClr val="tx1"/>
                </a:solidFill>
                <a:effectLst/>
                <a:latin typeface="+mn-lt"/>
                <a:ea typeface="+mn-ea"/>
                <a:cs typeface="+mn-cs"/>
              </a:rPr>
              <a:t>HuBERT</a:t>
            </a:r>
            <a:r>
              <a:rPr lang="de-DE" sz="1200" b="0" i="0" kern="1200" dirty="0">
                <a:solidFill>
                  <a:schemeClr val="tx1"/>
                </a:solidFill>
                <a:effectLst/>
                <a:latin typeface="+mn-lt"/>
                <a:ea typeface="+mn-ea"/>
                <a:cs typeface="+mn-cs"/>
              </a:rPr>
              <a:t>, kein multimodales LLM. Besonders relevant ist SITA 2026: Sie zeigen, dass sogar Whisper die Töne verliert, ‚Whisper </a:t>
            </a:r>
            <a:r>
              <a:rPr lang="de-DE" sz="1200" b="0" i="0" kern="1200" dirty="0" err="1">
                <a:solidFill>
                  <a:schemeClr val="tx1"/>
                </a:solidFill>
                <a:effectLst/>
                <a:latin typeface="+mn-lt"/>
                <a:ea typeface="+mn-ea"/>
                <a:cs typeface="+mn-cs"/>
              </a:rPr>
              <a:t>embeddings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largely</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collapse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into</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overlapping</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clusters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Section</a:t>
            </a:r>
            <a:r>
              <a:rPr lang="de-DE" sz="1200" b="0" i="0" kern="1200" dirty="0">
                <a:solidFill>
                  <a:schemeClr val="tx1"/>
                </a:solidFill>
                <a:effectLst/>
                <a:latin typeface="+mn-lt"/>
                <a:ea typeface="+mn-ea"/>
                <a:cs typeface="+mn-cs"/>
              </a:rPr>
              <a:t> 5.1). Verschiedene Töne derselben Silbe landen an fast derselben Stelle im Embedding-Raum. Das ist brisant, weil die meisten multimodalen LLMs Whisper-basierte Encoder verwenden, auch Kimi-Audio. SITA löst es mit einem ‚tone-repulsive </a:t>
            </a:r>
            <a:r>
              <a:rPr lang="de-DE" sz="1200" b="0" i="0" kern="1200" dirty="0" err="1">
                <a:solidFill>
                  <a:schemeClr val="tx1"/>
                </a:solidFill>
                <a:effectLst/>
                <a:latin typeface="+mn-lt"/>
                <a:ea typeface="+mn-ea"/>
                <a:cs typeface="+mn-cs"/>
              </a:rPr>
              <a:t>loss'</a:t>
            </a:r>
            <a:r>
              <a:rPr lang="de-DE" sz="1200" b="0" i="0" kern="1200" dirty="0">
                <a:solidFill>
                  <a:schemeClr val="tx1"/>
                </a:solidFill>
                <a:effectLst/>
                <a:latin typeface="+mn-lt"/>
                <a:ea typeface="+mn-ea"/>
                <a:cs typeface="+mn-cs"/>
              </a:rPr>
              <a:t> und erreicht ~0,99 Top-1 auf Tone Perfect (</a:t>
            </a:r>
            <a:r>
              <a:rPr lang="de-DE" sz="1200" b="0" i="0" kern="1200" dirty="0" err="1">
                <a:solidFill>
                  <a:schemeClr val="tx1"/>
                </a:solidFill>
                <a:effectLst/>
                <a:latin typeface="+mn-lt"/>
                <a:ea typeface="+mn-ea"/>
                <a:cs typeface="+mn-cs"/>
              </a:rPr>
              <a:t>Section</a:t>
            </a:r>
            <a:r>
              <a:rPr lang="de-DE" sz="1200" b="0" i="0" kern="1200" dirty="0">
                <a:solidFill>
                  <a:schemeClr val="tx1"/>
                </a:solidFill>
                <a:effectLst/>
                <a:latin typeface="+mn-lt"/>
                <a:ea typeface="+mn-ea"/>
                <a:cs typeface="+mn-cs"/>
              </a:rPr>
              <a:t> 5.4), </a:t>
            </a:r>
            <a:r>
              <a:rPr lang="de-DE" sz="1200" b="0" i="0" kern="1200" dirty="0" err="1">
                <a:solidFill>
                  <a:schemeClr val="tx1"/>
                </a:solidFill>
                <a:effectLst/>
                <a:latin typeface="+mn-lt"/>
                <a:ea typeface="+mn-ea"/>
                <a:cs typeface="+mn-cs"/>
              </a:rPr>
              <a:t>abe</a:t>
            </a:r>
            <a:r>
              <a:rPr lang="de-DE" sz="1200" b="0" i="0" kern="1200" dirty="0">
                <a:solidFill>
                  <a:schemeClr val="tx1"/>
                </a:solidFill>
                <a:effectLst/>
                <a:latin typeface="+mn-lt"/>
                <a:ea typeface="+mn-ea"/>
                <a:cs typeface="+mn-cs"/>
              </a:rPr>
              <a:t> r eben als dediziertes System. Meine Frage: Wie stark trifft dieses </a:t>
            </a:r>
            <a:r>
              <a:rPr lang="de-DE" sz="1200" b="0" i="0" kern="1200" dirty="0" err="1">
                <a:solidFill>
                  <a:schemeClr val="tx1"/>
                </a:solidFill>
                <a:effectLst/>
                <a:latin typeface="+mn-lt"/>
                <a:ea typeface="+mn-ea"/>
                <a:cs typeface="+mn-cs"/>
              </a:rPr>
              <a:t>Collapse</a:t>
            </a:r>
            <a:r>
              <a:rPr lang="de-DE" sz="1200" b="0" i="0" kern="1200" dirty="0">
                <a:solidFill>
                  <a:schemeClr val="tx1"/>
                </a:solidFill>
                <a:effectLst/>
                <a:latin typeface="+mn-lt"/>
                <a:ea typeface="+mn-ea"/>
                <a:cs typeface="+mn-cs"/>
              </a:rPr>
              <a:t>-Problem die LLMs, die wir tatsächlich off-</a:t>
            </a:r>
            <a:r>
              <a:rPr lang="de-DE" sz="1200" b="0" i="0" kern="1200" dirty="0" err="1">
                <a:solidFill>
                  <a:schemeClr val="tx1"/>
                </a:solidFill>
                <a:effectLst/>
                <a:latin typeface="+mn-lt"/>
                <a:ea typeface="+mn-ea"/>
                <a:cs typeface="+mn-cs"/>
              </a:rPr>
              <a:t>the</a:t>
            </a:r>
            <a:r>
              <a:rPr lang="de-DE" sz="1200" b="0" i="0" kern="1200" dirty="0">
                <a:solidFill>
                  <a:schemeClr val="tx1"/>
                </a:solidFill>
                <a:effectLst/>
                <a:latin typeface="+mn-lt"/>
                <a:ea typeface="+mn-ea"/>
                <a:cs typeface="+mn-cs"/>
              </a:rPr>
              <a:t>-</a:t>
            </a:r>
            <a:r>
              <a:rPr lang="de-DE" sz="1200" b="0" i="0" kern="1200" dirty="0" err="1">
                <a:solidFill>
                  <a:schemeClr val="tx1"/>
                </a:solidFill>
                <a:effectLst/>
                <a:latin typeface="+mn-lt"/>
                <a:ea typeface="+mn-ea"/>
                <a:cs typeface="+mn-cs"/>
              </a:rPr>
              <a:t>shelf</a:t>
            </a:r>
            <a:r>
              <a:rPr lang="de-DE" sz="1200" b="0" i="0" kern="1200" dirty="0">
                <a:solidFill>
                  <a:schemeClr val="tx1"/>
                </a:solidFill>
                <a:effectLst/>
                <a:latin typeface="+mn-lt"/>
                <a:ea typeface="+mn-ea"/>
                <a:cs typeface="+mn-cs"/>
              </a:rPr>
              <a:t> einsetzen?</a:t>
            </a:r>
            <a:endParaRPr lang="de-DE" dirty="0"/>
          </a:p>
        </p:txBody>
      </p:sp>
      <p:sp>
        <p:nvSpPr>
          <p:cNvPr id="4" name="Slide Number Placeholder 3"/>
          <p:cNvSpPr>
            <a:spLocks noGrp="1"/>
          </p:cNvSpPr>
          <p:nvPr>
            <p:ph type="sldNum" sz="quarter" idx="5"/>
          </p:nvPr>
        </p:nvSpPr>
        <p:spPr/>
        <p:txBody>
          <a:bodyPr/>
          <a:lstStyle/>
          <a:p>
            <a:fld id="{35C0B671-25EF-47C3-BD31-46E7FB9E6220}" type="slidenum">
              <a:rPr lang="de-DE" smtClean="0"/>
              <a:t>13</a:t>
            </a:fld>
            <a:endParaRPr lang="de-DE"/>
          </a:p>
        </p:txBody>
      </p:sp>
    </p:spTree>
    <p:extLst>
      <p:ext uri="{BB962C8B-B14F-4D97-AF65-F5344CB8AC3E}">
        <p14:creationId xmlns:p14="http://schemas.microsoft.com/office/powerpoint/2010/main" val="413628520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sz="1200" b="0" i="0" kern="1200" dirty="0">
                <a:solidFill>
                  <a:schemeClr val="tx1"/>
                </a:solidFill>
                <a:effectLst/>
                <a:latin typeface="+mn-lt"/>
                <a:ea typeface="+mn-ea"/>
                <a:cs typeface="+mn-cs"/>
              </a:rPr>
              <a:t>Vierte Beobachtung, die Metrik-Ebene: Es gibt reichlich Audio-LLM-Benchmarks, mehrere mit Mandarin. Der nächste an meinem Thema ist MSPB, der einzige, der Speech LLMs auf Mandarin-Prosodie testet. Selbst dort erreicht GPT-4o nur 59,70 % (</a:t>
            </a:r>
            <a:r>
              <a:rPr lang="de-DE" sz="1200" b="0" i="0" kern="1200" dirty="0" err="1">
                <a:solidFill>
                  <a:schemeClr val="tx1"/>
                </a:solidFill>
                <a:effectLst/>
                <a:latin typeface="+mn-lt"/>
                <a:ea typeface="+mn-ea"/>
                <a:cs typeface="+mn-cs"/>
              </a:rPr>
              <a:t>Section</a:t>
            </a:r>
            <a:r>
              <a:rPr lang="de-DE" sz="1200" b="0" i="0" kern="1200" dirty="0">
                <a:solidFill>
                  <a:schemeClr val="tx1"/>
                </a:solidFill>
                <a:effectLst/>
                <a:latin typeface="+mn-lt"/>
                <a:ea typeface="+mn-ea"/>
                <a:cs typeface="+mn-cs"/>
              </a:rPr>
              <a:t> 3.2.2, S. 5380), und die Autoren halten fest: ‚</a:t>
            </a:r>
            <a:r>
              <a:rPr lang="de-DE" sz="1200" b="0" i="0" kern="1200" dirty="0" err="1">
                <a:solidFill>
                  <a:schemeClr val="tx1"/>
                </a:solidFill>
                <a:effectLst/>
                <a:latin typeface="+mn-lt"/>
                <a:ea typeface="+mn-ea"/>
                <a:cs typeface="+mn-cs"/>
              </a:rPr>
              <a:t>they</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generally</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struggled</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with</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tasks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relying</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heavily</a:t>
            </a:r>
            <a:r>
              <a:rPr lang="de-DE" sz="1200" b="0" i="0" kern="1200" dirty="0">
                <a:solidFill>
                  <a:schemeClr val="tx1"/>
                </a:solidFill>
                <a:effectLst/>
                <a:latin typeface="+mn-lt"/>
                <a:ea typeface="+mn-ea"/>
                <a:cs typeface="+mn-cs"/>
              </a:rPr>
              <a:t> on </a:t>
            </a:r>
            <a:r>
              <a:rPr lang="de-DE" sz="1200" b="0" i="0" kern="1200" dirty="0" err="1">
                <a:solidFill>
                  <a:schemeClr val="tx1"/>
                </a:solidFill>
                <a:effectLst/>
                <a:latin typeface="+mn-lt"/>
                <a:ea typeface="+mn-ea"/>
                <a:cs typeface="+mn-cs"/>
              </a:rPr>
              <a:t>subtle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speech</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prosody</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variations</a:t>
            </a:r>
            <a:r>
              <a:rPr lang="de-DE" sz="1200" b="0" i="0" kern="1200" dirty="0">
                <a:solidFill>
                  <a:schemeClr val="tx1"/>
                </a:solidFill>
                <a:effectLst/>
                <a:latin typeface="+mn-lt"/>
                <a:ea typeface="+mn-ea"/>
                <a:cs typeface="+mn-cs"/>
              </a:rPr>
              <a:t> (e.g., </a:t>
            </a:r>
            <a:r>
              <a:rPr lang="de-DE" sz="1200" b="0" i="0" kern="1200" dirty="0" err="1">
                <a:solidFill>
                  <a:schemeClr val="tx1"/>
                </a:solidFill>
                <a:effectLst/>
                <a:latin typeface="+mn-lt"/>
                <a:ea typeface="+mn-ea"/>
                <a:cs typeface="+mn-cs"/>
              </a:rPr>
              <a:t>prosodic</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focus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marking</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scalar</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meaning</a:t>
            </a:r>
            <a:r>
              <a:rPr lang="de-DE" sz="1200" b="0" i="0" kern="1200" dirty="0">
                <a:solidFill>
                  <a:schemeClr val="tx1"/>
                </a:solidFill>
                <a:effectLst/>
                <a:latin typeface="+mn-lt"/>
                <a:ea typeface="+mn-ea"/>
                <a:cs typeface="+mn-cs"/>
              </a:rPr>
              <a:t>)' (S. 5378/5381). Aber MSPB misst Satzprosodie — Betonung, Intonation — nicht die lexikalischen Töne T1 bis T4. Und der überraschendste Befund: Die Tone Error Rate wird in der Community als Best Practice empfohlen, aber in keinem einzigen der 42 Papers tatsächlich angewandt. Es klafft eine Lücke zwischen dem, was als wichtig gilt, und dem, was gemessen wird.</a:t>
            </a:r>
            <a:endParaRPr lang="de-DE" dirty="0"/>
          </a:p>
        </p:txBody>
      </p:sp>
      <p:sp>
        <p:nvSpPr>
          <p:cNvPr id="4" name="Slide Number Placeholder 3"/>
          <p:cNvSpPr>
            <a:spLocks noGrp="1"/>
          </p:cNvSpPr>
          <p:nvPr>
            <p:ph type="sldNum" sz="quarter" idx="5"/>
          </p:nvPr>
        </p:nvSpPr>
        <p:spPr/>
        <p:txBody>
          <a:bodyPr/>
          <a:lstStyle/>
          <a:p>
            <a:fld id="{35C0B671-25EF-47C3-BD31-46E7FB9E6220}" type="slidenum">
              <a:rPr lang="de-DE" smtClean="0"/>
              <a:t>14</a:t>
            </a:fld>
            <a:endParaRPr lang="de-DE"/>
          </a:p>
        </p:txBody>
      </p:sp>
    </p:spTree>
    <p:extLst>
      <p:ext uri="{BB962C8B-B14F-4D97-AF65-F5344CB8AC3E}">
        <p14:creationId xmlns:p14="http://schemas.microsoft.com/office/powerpoint/2010/main" val="268765589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sz="1200" b="0" i="0" kern="1200" dirty="0">
                <a:solidFill>
                  <a:schemeClr val="tx1"/>
                </a:solidFill>
                <a:effectLst/>
                <a:latin typeface="+mn-lt"/>
                <a:ea typeface="+mn-ea"/>
                <a:cs typeface="+mn-cs"/>
              </a:rPr>
              <a:t>Konkret verwendbar — deine zweite Frage — ist mehr, als man zunächst denkt. Den Datensatz Tone Perfect übernehme ich als Evaluations-Rückgrat: 9.840 Audioclips, jede Silbe in allen vier Tönen, CC-BY-lizenziert. Die Architektur von </a:t>
            </a:r>
            <a:r>
              <a:rPr lang="de-DE" sz="1200" b="0" i="0" kern="1200" dirty="0" err="1">
                <a:solidFill>
                  <a:schemeClr val="tx1"/>
                </a:solidFill>
                <a:effectLst/>
                <a:latin typeface="+mn-lt"/>
                <a:ea typeface="+mn-ea"/>
                <a:cs typeface="+mn-cs"/>
              </a:rPr>
              <a:t>Zhengjie</a:t>
            </a:r>
            <a:r>
              <a:rPr lang="de-DE" sz="1200" b="0" i="0" kern="1200" dirty="0">
                <a:solidFill>
                  <a:schemeClr val="tx1"/>
                </a:solidFill>
                <a:effectLst/>
                <a:latin typeface="+mn-lt"/>
                <a:ea typeface="+mn-ea"/>
                <a:cs typeface="+mn-cs"/>
              </a:rPr>
              <a:t> &amp; Cheng dient als Pipeline-Vorbild, das ich um die Tondimension erweitere. Das Versuchsdesign von MSPB — mehrere LLMs im kontrollierten Head-</a:t>
            </a:r>
            <a:r>
              <a:rPr lang="de-DE" sz="1200" b="0" i="0" kern="1200" dirty="0" err="1">
                <a:solidFill>
                  <a:schemeClr val="tx1"/>
                </a:solidFill>
                <a:effectLst/>
                <a:latin typeface="+mn-lt"/>
                <a:ea typeface="+mn-ea"/>
                <a:cs typeface="+mn-cs"/>
              </a:rPr>
              <a:t>to</a:t>
            </a:r>
            <a:r>
              <a:rPr lang="de-DE" sz="1200" b="0" i="0" kern="1200" dirty="0">
                <a:solidFill>
                  <a:schemeClr val="tx1"/>
                </a:solidFill>
                <a:effectLst/>
                <a:latin typeface="+mn-lt"/>
                <a:ea typeface="+mn-ea"/>
                <a:cs typeface="+mn-cs"/>
              </a:rPr>
              <a:t>-Head — übertrage ich von Prosodie auf tonale Transkription. SITA und Whisper liefern den dedizierten Vergleichsanker für RQ4; SITAs ~0,99 ist meine obere Referenzlinie. Und bei den Metriken kombiniere ich die empfohlene, aber nie genutzte Tone Error Rate mit Phoneme Error Rate und per-Ton-F1 für die Fehleranalyse.</a:t>
            </a:r>
            <a:endParaRPr lang="de-DE" dirty="0"/>
          </a:p>
        </p:txBody>
      </p:sp>
      <p:sp>
        <p:nvSpPr>
          <p:cNvPr id="4" name="Slide Number Placeholder 3"/>
          <p:cNvSpPr>
            <a:spLocks noGrp="1"/>
          </p:cNvSpPr>
          <p:nvPr>
            <p:ph type="sldNum" sz="quarter" idx="5"/>
          </p:nvPr>
        </p:nvSpPr>
        <p:spPr/>
        <p:txBody>
          <a:bodyPr/>
          <a:lstStyle/>
          <a:p>
            <a:fld id="{35C0B671-25EF-47C3-BD31-46E7FB9E6220}" type="slidenum">
              <a:rPr lang="de-DE" smtClean="0"/>
              <a:t>15</a:t>
            </a:fld>
            <a:endParaRPr lang="de-DE"/>
          </a:p>
        </p:txBody>
      </p:sp>
    </p:spTree>
    <p:extLst>
      <p:ext uri="{BB962C8B-B14F-4D97-AF65-F5344CB8AC3E}">
        <p14:creationId xmlns:p14="http://schemas.microsoft.com/office/powerpoint/2010/main" val="21397988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sz="1200" b="0" i="0" kern="1200" dirty="0">
                <a:solidFill>
                  <a:schemeClr val="tx1"/>
                </a:solidFill>
                <a:effectLst/>
                <a:latin typeface="+mn-lt"/>
                <a:ea typeface="+mn-ea"/>
                <a:cs typeface="+mn-cs"/>
              </a:rPr>
              <a:t>Daraus ergeben sich vier Forschungslücken — deine dritte Frage. Erstens: Frontier-LLMs werden fast nur auf Wort- oder Zeichenebene evaluiert; Phonem- und Tongranularität für Mandarin ist praktisch unerforscht. Zweitens: Töne werden selten als eigene Achse behandelt — selbst das Pinyin-generierende Paper lässt sie weg. Drittens, belegt durch das Zou-Review: ‚L2 </a:t>
            </a:r>
            <a:r>
              <a:rPr lang="de-DE" sz="1200" b="0" i="0" kern="1200" dirty="0" err="1">
                <a:solidFill>
                  <a:schemeClr val="tx1"/>
                </a:solidFill>
                <a:effectLst/>
                <a:latin typeface="+mn-lt"/>
                <a:ea typeface="+mn-ea"/>
                <a:cs typeface="+mn-cs"/>
              </a:rPr>
              <a:t>corpora</a:t>
            </a:r>
            <a:r>
              <a:rPr lang="de-DE" sz="1200" b="0" i="0" kern="1200" dirty="0">
                <a:solidFill>
                  <a:schemeClr val="tx1"/>
                </a:solidFill>
                <a:effectLst/>
                <a:latin typeface="+mn-lt"/>
                <a:ea typeface="+mn-ea"/>
                <a:cs typeface="+mn-cs"/>
              </a:rPr>
              <a:t> like </a:t>
            </a:r>
            <a:r>
              <a:rPr lang="de-DE" sz="1200" b="0" i="0" kern="1200" dirty="0" err="1">
                <a:solidFill>
                  <a:schemeClr val="tx1"/>
                </a:solidFill>
                <a:effectLst/>
                <a:latin typeface="+mn-lt"/>
                <a:ea typeface="+mn-ea"/>
                <a:cs typeface="+mn-cs"/>
              </a:rPr>
              <a:t>iCALL</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exist</a:t>
            </a:r>
            <a:r>
              <a:rPr lang="de-DE" sz="1200" b="0" i="0" kern="1200" dirty="0">
                <a:solidFill>
                  <a:schemeClr val="tx1"/>
                </a:solidFill>
                <a:effectLst/>
                <a:latin typeface="+mn-lt"/>
                <a:ea typeface="+mn-ea"/>
                <a:cs typeface="+mn-cs"/>
              </a:rPr>
              <a:t> but </a:t>
            </a:r>
            <a:r>
              <a:rPr lang="de-DE" sz="1200" b="0" i="0" kern="1200" dirty="0" err="1">
                <a:solidFill>
                  <a:schemeClr val="tx1"/>
                </a:solidFill>
                <a:effectLst/>
                <a:latin typeface="+mn-lt"/>
                <a:ea typeface="+mn-ea"/>
                <a:cs typeface="+mn-cs"/>
              </a:rPr>
              <a:t>receive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less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attention</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than</a:t>
            </a:r>
            <a:r>
              <a:rPr lang="de-DE" sz="1200" b="0" i="0" kern="1200" dirty="0">
                <a:solidFill>
                  <a:schemeClr val="tx1"/>
                </a:solidFill>
                <a:effectLst/>
                <a:latin typeface="+mn-lt"/>
                <a:ea typeface="+mn-ea"/>
                <a:cs typeface="+mn-cs"/>
              </a:rPr>
              <a:t> native-</a:t>
            </a:r>
            <a:r>
              <a:rPr lang="de-DE" sz="1200" b="0" i="0" kern="1200" dirty="0" err="1">
                <a:solidFill>
                  <a:schemeClr val="tx1"/>
                </a:solidFill>
                <a:effectLst/>
                <a:latin typeface="+mn-lt"/>
                <a:ea typeface="+mn-ea"/>
                <a:cs typeface="+mn-cs"/>
              </a:rPr>
              <a:t>speaker</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datasets</a:t>
            </a:r>
            <a:r>
              <a:rPr lang="de-DE" sz="1200" b="0" i="0" kern="1200" dirty="0">
                <a:solidFill>
                  <a:schemeClr val="tx1"/>
                </a:solidFill>
                <a:effectLst/>
                <a:latin typeface="+mn-lt"/>
                <a:ea typeface="+mn-ea"/>
                <a:cs typeface="+mn-cs"/>
              </a:rPr>
              <a:t>' (S. 10). Viertens, Gaido 2024 für Speech </a:t>
            </a:r>
            <a:r>
              <a:rPr lang="de-DE" sz="1200" b="0" i="0" kern="1200" dirty="0" err="1">
                <a:solidFill>
                  <a:schemeClr val="tx1"/>
                </a:solidFill>
                <a:effectLst/>
                <a:latin typeface="+mn-lt"/>
                <a:ea typeface="+mn-ea"/>
                <a:cs typeface="+mn-cs"/>
              </a:rPr>
              <a:t>Foundation</a:t>
            </a:r>
            <a:r>
              <a:rPr lang="de-DE" sz="1200" b="0" i="0" kern="1200" dirty="0">
                <a:solidFill>
                  <a:schemeClr val="tx1"/>
                </a:solidFill>
                <a:effectLst/>
                <a:latin typeface="+mn-lt"/>
                <a:ea typeface="+mn-ea"/>
                <a:cs typeface="+mn-cs"/>
              </a:rPr>
              <a:t> Models allgemein: ‚</a:t>
            </a:r>
            <a:r>
              <a:rPr lang="de-DE" sz="1200" b="0" i="0" kern="1200" dirty="0" err="1">
                <a:solidFill>
                  <a:schemeClr val="tx1"/>
                </a:solidFill>
                <a:effectLst/>
                <a:latin typeface="+mn-lt"/>
                <a:ea typeface="+mn-ea"/>
                <a:cs typeface="+mn-cs"/>
              </a:rPr>
              <a:t>no</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work</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has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addressed</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the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comparative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assessment</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of</a:t>
            </a:r>
            <a:r>
              <a:rPr lang="de-DE" sz="1200" b="0" i="0" kern="1200" dirty="0">
                <a:solidFill>
                  <a:schemeClr val="tx1"/>
                </a:solidFill>
                <a:effectLst/>
                <a:latin typeface="+mn-lt"/>
                <a:ea typeface="+mn-ea"/>
                <a:cs typeface="+mn-cs"/>
              </a:rPr>
              <a:t> different SFMs </a:t>
            </a:r>
            <a:r>
              <a:rPr lang="de-DE" sz="1200" b="0" i="0" kern="1200" dirty="0" err="1">
                <a:solidFill>
                  <a:schemeClr val="tx1"/>
                </a:solidFill>
                <a:effectLst/>
                <a:latin typeface="+mn-lt"/>
                <a:ea typeface="+mn-ea"/>
                <a:cs typeface="+mn-cs"/>
              </a:rPr>
              <a:t>under</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controlled</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conditions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within</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the</a:t>
            </a:r>
            <a:r>
              <a:rPr lang="de-DE" sz="1200" b="0" i="0" kern="1200" dirty="0">
                <a:solidFill>
                  <a:schemeClr val="tx1"/>
                </a:solidFill>
                <a:effectLst/>
                <a:latin typeface="+mn-lt"/>
                <a:ea typeface="+mn-ea"/>
                <a:cs typeface="+mn-cs"/>
              </a:rPr>
              <a:t> same </a:t>
            </a:r>
            <a:r>
              <a:rPr lang="de-DE" sz="1200" b="0" i="0" kern="1200" dirty="0" err="1">
                <a:solidFill>
                  <a:schemeClr val="tx1"/>
                </a:solidFill>
                <a:effectLst/>
                <a:latin typeface="+mn-lt"/>
                <a:ea typeface="+mn-ea"/>
                <a:cs typeface="+mn-cs"/>
              </a:rPr>
              <a:t>framework</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Section</a:t>
            </a:r>
            <a:r>
              <a:rPr lang="de-DE" sz="1200" b="0" i="0" kern="1200" dirty="0">
                <a:solidFill>
                  <a:schemeClr val="tx1"/>
                </a:solidFill>
                <a:effectLst/>
                <a:latin typeface="+mn-lt"/>
                <a:ea typeface="+mn-ea"/>
                <a:cs typeface="+mn-cs"/>
              </a:rPr>
              <a:t> 2.1) — und für tonale Evaluation gilt das noch schärfer.</a:t>
            </a:r>
            <a:endParaRPr lang="de-DE" dirty="0"/>
          </a:p>
        </p:txBody>
      </p:sp>
      <p:sp>
        <p:nvSpPr>
          <p:cNvPr id="4" name="Slide Number Placeholder 3"/>
          <p:cNvSpPr>
            <a:spLocks noGrp="1"/>
          </p:cNvSpPr>
          <p:nvPr>
            <p:ph type="sldNum" sz="quarter" idx="5"/>
          </p:nvPr>
        </p:nvSpPr>
        <p:spPr/>
        <p:txBody>
          <a:bodyPr/>
          <a:lstStyle/>
          <a:p>
            <a:fld id="{35C0B671-25EF-47C3-BD31-46E7FB9E6220}" type="slidenum">
              <a:rPr lang="de-DE" smtClean="0"/>
              <a:t>16</a:t>
            </a:fld>
            <a:endParaRPr lang="de-DE"/>
          </a:p>
        </p:txBody>
      </p:sp>
    </p:spTree>
    <p:extLst>
      <p:ext uri="{BB962C8B-B14F-4D97-AF65-F5344CB8AC3E}">
        <p14:creationId xmlns:p14="http://schemas.microsoft.com/office/powerpoint/2010/main" val="3004646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sz="1200" b="0" i="0" kern="1200" dirty="0">
                <a:solidFill>
                  <a:schemeClr val="tx1"/>
                </a:solidFill>
                <a:effectLst/>
                <a:latin typeface="+mn-lt"/>
                <a:ea typeface="+mn-ea"/>
                <a:cs typeface="+mn-cs"/>
              </a:rPr>
              <a:t>Deine vierte Frage — welche dieser Lücken schließt die Arbeit. RQ1 isoliert das reine Sprachwissen über eine Text-zu-Pinyin-Baseline und adressiert Lücke 1. RQ2 ist der Kern: erstmals die tonale Transkriptionsgüte multimodaler LLMs auf nativer Sprache — Wort-, Phonem- und </a:t>
            </a:r>
            <a:r>
              <a:rPr lang="de-DE" sz="1200" b="0" i="0" kern="1200" dirty="0" err="1">
                <a:solidFill>
                  <a:schemeClr val="tx1"/>
                </a:solidFill>
                <a:effectLst/>
                <a:latin typeface="+mn-lt"/>
                <a:ea typeface="+mn-ea"/>
                <a:cs typeface="+mn-cs"/>
              </a:rPr>
              <a:t>Tonebene</a:t>
            </a:r>
            <a:r>
              <a:rPr lang="de-DE" sz="1200" b="0" i="0" kern="1200" dirty="0">
                <a:solidFill>
                  <a:schemeClr val="tx1"/>
                </a:solidFill>
                <a:effectLst/>
                <a:latin typeface="+mn-lt"/>
                <a:ea typeface="+mn-ea"/>
                <a:cs typeface="+mn-cs"/>
              </a:rPr>
              <a:t> — und schließt damit Lücken 1 und 2. RQ3, zeitabhängig, bringt L2-Lerner ins Spiel und adressiert Lücke 3, die feedback-relevante. RQ4 stellt die LLMs kontrolliert gegen Whisper und SITA — Lücke 4. Und RQ5 analysiert die Fehlerstruktur per Ton und Kontrast mit der Tone Error Rate, die bisher niemand angewandt hat. Der </a:t>
            </a:r>
            <a:r>
              <a:rPr lang="de-DE" sz="1200" b="0" i="0" kern="1200" dirty="0" err="1">
                <a:solidFill>
                  <a:schemeClr val="tx1"/>
                </a:solidFill>
                <a:effectLst/>
                <a:latin typeface="+mn-lt"/>
                <a:ea typeface="+mn-ea"/>
                <a:cs typeface="+mn-cs"/>
              </a:rPr>
              <a:t>committed</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core</a:t>
            </a:r>
            <a:r>
              <a:rPr lang="de-DE" sz="1200" b="0" i="0" kern="1200" dirty="0">
                <a:solidFill>
                  <a:schemeClr val="tx1"/>
                </a:solidFill>
                <a:effectLst/>
                <a:latin typeface="+mn-lt"/>
                <a:ea typeface="+mn-ea"/>
                <a:cs typeface="+mn-cs"/>
              </a:rPr>
              <a:t> — RQ1, RQ2, RQ4, RQ5 — steht für sich; RQ3 ist die Erweiterung.</a:t>
            </a:r>
            <a:endParaRPr lang="de-DE" dirty="0"/>
          </a:p>
        </p:txBody>
      </p:sp>
      <p:sp>
        <p:nvSpPr>
          <p:cNvPr id="4" name="Slide Number Placeholder 3"/>
          <p:cNvSpPr>
            <a:spLocks noGrp="1"/>
          </p:cNvSpPr>
          <p:nvPr>
            <p:ph type="sldNum" sz="quarter" idx="5"/>
          </p:nvPr>
        </p:nvSpPr>
        <p:spPr/>
        <p:txBody>
          <a:bodyPr/>
          <a:lstStyle/>
          <a:p>
            <a:fld id="{35C0B671-25EF-47C3-BD31-46E7FB9E6220}" type="slidenum">
              <a:rPr lang="de-DE" smtClean="0"/>
              <a:t>17</a:t>
            </a:fld>
            <a:endParaRPr lang="de-DE"/>
          </a:p>
        </p:txBody>
      </p:sp>
    </p:spTree>
    <p:extLst>
      <p:ext uri="{BB962C8B-B14F-4D97-AF65-F5344CB8AC3E}">
        <p14:creationId xmlns:p14="http://schemas.microsoft.com/office/powerpoint/2010/main" val="322969231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sz="1200" b="0" i="0" kern="1200" dirty="0">
                <a:solidFill>
                  <a:schemeClr val="tx1"/>
                </a:solidFill>
                <a:effectLst/>
                <a:latin typeface="+mn-lt"/>
                <a:ea typeface="+mn-ea"/>
                <a:cs typeface="+mn-cs"/>
              </a:rPr>
              <a:t>Zum Schluss die Abgrenzung in einem Bild. Drei Dimensionen: Werden Töne evaluiert? Wird ein LLM eingesetzt? Ist der Input Audio? Es gibt Papers für je zwei der drei — die Reviews evaluieren Töne ohne LLM, </a:t>
            </a:r>
            <a:r>
              <a:rPr lang="de-DE" sz="1200" b="0" i="0" kern="1200" dirty="0" err="1">
                <a:solidFill>
                  <a:schemeClr val="tx1"/>
                </a:solidFill>
                <a:effectLst/>
                <a:latin typeface="+mn-lt"/>
                <a:ea typeface="+mn-ea"/>
                <a:cs typeface="+mn-cs"/>
              </a:rPr>
              <a:t>Zhengjie</a:t>
            </a:r>
            <a:r>
              <a:rPr lang="de-DE" sz="1200" b="0" i="0" kern="1200" dirty="0">
                <a:solidFill>
                  <a:schemeClr val="tx1"/>
                </a:solidFill>
                <a:effectLst/>
                <a:latin typeface="+mn-lt"/>
                <a:ea typeface="+mn-ea"/>
                <a:cs typeface="+mn-cs"/>
              </a:rPr>
              <a:t> nutzt LLM und Audio, lässt aber Töne weg, MSPB testet LLMs auf Prosodie statt lexikalischer Töne. In der Schnittmenge aller drei steht aus 42 Papers: niemand. Der Peng-Survey fasst es zusammen — die Fähigkeit, das volle Spektrum akustischer Hinweise zu erfassen, ‚</a:t>
            </a:r>
            <a:r>
              <a:rPr lang="de-DE" sz="1200" b="0" i="0" kern="1200" dirty="0" err="1">
                <a:solidFill>
                  <a:schemeClr val="tx1"/>
                </a:solidFill>
                <a:effectLst/>
                <a:latin typeface="+mn-lt"/>
                <a:ea typeface="+mn-ea"/>
                <a:cs typeface="+mn-cs"/>
              </a:rPr>
              <a:t>remains</a:t>
            </a:r>
            <a:r>
              <a:rPr lang="de-DE" sz="1200" b="0" i="0" kern="1200" dirty="0">
                <a:solidFill>
                  <a:schemeClr val="tx1"/>
                </a:solidFill>
                <a:effectLst/>
                <a:latin typeface="+mn-lt"/>
                <a:ea typeface="+mn-ea"/>
                <a:cs typeface="+mn-cs"/>
              </a:rPr>
              <a:t> limited' (</a:t>
            </a:r>
            <a:r>
              <a:rPr lang="de-DE" sz="1200" b="0" i="0" kern="1200" dirty="0" err="1">
                <a:solidFill>
                  <a:schemeClr val="tx1"/>
                </a:solidFill>
                <a:effectLst/>
                <a:latin typeface="+mn-lt"/>
                <a:ea typeface="+mn-ea"/>
                <a:cs typeface="+mn-cs"/>
              </a:rPr>
              <a:t>Section</a:t>
            </a:r>
            <a:r>
              <a:rPr lang="de-DE" sz="1200" b="0" i="0" kern="1200" dirty="0">
                <a:solidFill>
                  <a:schemeClr val="tx1"/>
                </a:solidFill>
                <a:effectLst/>
                <a:latin typeface="+mn-lt"/>
                <a:ea typeface="+mn-ea"/>
                <a:cs typeface="+mn-cs"/>
              </a:rPr>
              <a:t> IX, S. 25). Genau diese Schnittmenge ist mein Beitrag.</a:t>
            </a:r>
            <a:endParaRPr lang="de-DE" dirty="0"/>
          </a:p>
        </p:txBody>
      </p:sp>
      <p:sp>
        <p:nvSpPr>
          <p:cNvPr id="4" name="Slide Number Placeholder 3"/>
          <p:cNvSpPr>
            <a:spLocks noGrp="1"/>
          </p:cNvSpPr>
          <p:nvPr>
            <p:ph type="sldNum" sz="quarter" idx="5"/>
          </p:nvPr>
        </p:nvSpPr>
        <p:spPr/>
        <p:txBody>
          <a:bodyPr/>
          <a:lstStyle/>
          <a:p>
            <a:fld id="{35C0B671-25EF-47C3-BD31-46E7FB9E6220}" type="slidenum">
              <a:rPr lang="de-DE" smtClean="0"/>
              <a:t>18</a:t>
            </a:fld>
            <a:endParaRPr lang="de-DE"/>
          </a:p>
        </p:txBody>
      </p:sp>
    </p:spTree>
    <p:extLst>
      <p:ext uri="{BB962C8B-B14F-4D97-AF65-F5344CB8AC3E}">
        <p14:creationId xmlns:p14="http://schemas.microsoft.com/office/powerpoint/2010/main" val="427839593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de-DE" dirty="0"/>
          </a:p>
        </p:txBody>
      </p:sp>
      <p:sp>
        <p:nvSpPr>
          <p:cNvPr id="4" name="Slide Number Placeholder 3"/>
          <p:cNvSpPr>
            <a:spLocks noGrp="1"/>
          </p:cNvSpPr>
          <p:nvPr>
            <p:ph type="sldNum" sz="quarter" idx="5"/>
          </p:nvPr>
        </p:nvSpPr>
        <p:spPr/>
        <p:txBody>
          <a:bodyPr/>
          <a:lstStyle/>
          <a:p>
            <a:fld id="{35C0B671-25EF-47C3-BD31-46E7FB9E6220}" type="slidenum">
              <a:rPr lang="de-DE" smtClean="0"/>
              <a:t>19</a:t>
            </a:fld>
            <a:endParaRPr lang="de-DE"/>
          </a:p>
        </p:txBody>
      </p:sp>
    </p:spTree>
    <p:extLst>
      <p:ext uri="{BB962C8B-B14F-4D97-AF65-F5344CB8AC3E}">
        <p14:creationId xmlns:p14="http://schemas.microsoft.com/office/powerpoint/2010/main" val="16397651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de-DE" sz="1200" b="0" i="0" kern="1200" dirty="0">
                <a:solidFill>
                  <a:schemeClr val="tx1"/>
                </a:solidFill>
                <a:effectLst/>
                <a:latin typeface="+mn-lt"/>
                <a:ea typeface="+mn-ea"/>
                <a:cs typeface="+mn-cs"/>
              </a:rPr>
              <a:t>Die 7 Speech LLMs trainieren auf </a:t>
            </a:r>
            <a:r>
              <a:rPr lang="de-DE" sz="1200" b="1" i="0" kern="1200" dirty="0">
                <a:solidFill>
                  <a:schemeClr val="tx1"/>
                </a:solidFill>
                <a:effectLst/>
                <a:latin typeface="+mn-lt"/>
                <a:ea typeface="+mn-ea"/>
                <a:cs typeface="+mn-cs"/>
              </a:rPr>
              <a:t>20M+ bis 40M Stunden</a:t>
            </a:r>
            <a:r>
              <a:rPr lang="de-DE" sz="1200" b="0" i="0" kern="1200" dirty="0">
                <a:solidFill>
                  <a:schemeClr val="tx1"/>
                </a:solidFill>
                <a:effectLst/>
                <a:latin typeface="+mn-lt"/>
                <a:ea typeface="+mn-ea"/>
                <a:cs typeface="+mn-cs"/>
              </a:rPr>
              <a:t> Audio — aber evaluieren nur mit CER auf Zeichenebene, nie auf Ton-/</a:t>
            </a:r>
            <a:r>
              <a:rPr lang="de-DE" sz="1200" b="0" i="0" kern="1200" dirty="0" err="1">
                <a:solidFill>
                  <a:schemeClr val="tx1"/>
                </a:solidFill>
                <a:effectLst/>
                <a:latin typeface="+mn-lt"/>
                <a:ea typeface="+mn-ea"/>
                <a:cs typeface="+mn-cs"/>
              </a:rPr>
              <a:t>Phonemebene</a:t>
            </a:r>
            <a:endParaRPr lang="de-DE" sz="1200" b="0" i="0" kern="1200" dirty="0">
              <a:solidFill>
                <a:schemeClr val="tx1"/>
              </a:solidFill>
              <a:effectLst/>
              <a:latin typeface="+mn-lt"/>
              <a:ea typeface="+mn-ea"/>
              <a:cs typeface="+mn-cs"/>
            </a:endParaRPr>
          </a:p>
          <a:p>
            <a:pPr marL="171450" indent="-171450">
              <a:buFont typeface="Arial" panose="020B0604020202020204" pitchFamily="34" charset="0"/>
              <a:buChar char="•"/>
            </a:pPr>
            <a:r>
              <a:rPr lang="de-DE" sz="1200" b="0" i="0" kern="1200" dirty="0">
                <a:solidFill>
                  <a:schemeClr val="tx1"/>
                </a:solidFill>
                <a:effectLst/>
                <a:latin typeface="+mn-lt"/>
                <a:ea typeface="+mn-ea"/>
                <a:cs typeface="+mn-cs"/>
              </a:rPr>
              <a:t>Nur 10 von 42 Papers evaluieren Töne explizit</a:t>
            </a:r>
          </a:p>
          <a:p>
            <a:pPr marL="171450" indent="-171450">
              <a:buFont typeface="Arial" panose="020B0604020202020204" pitchFamily="34" charset="0"/>
              <a:buChar char="•"/>
            </a:pPr>
            <a:r>
              <a:rPr lang="de-DE" sz="1200" b="0" i="0" kern="1200" dirty="0">
                <a:solidFill>
                  <a:schemeClr val="tx1"/>
                </a:solidFill>
                <a:effectLst/>
                <a:latin typeface="+mn-lt"/>
                <a:ea typeface="+mn-ea"/>
                <a:cs typeface="+mn-cs"/>
              </a:rPr>
              <a:t>Kein einziges Paper evaluiert ein multimodales LLM auf Tontranskription</a:t>
            </a:r>
          </a:p>
          <a:p>
            <a:pPr marL="171450" indent="-171450">
              <a:buFont typeface="Arial" panose="020B0604020202020204" pitchFamily="34" charset="0"/>
              <a:buChar char="•"/>
            </a:pPr>
            <a:r>
              <a:rPr lang="de-DE" sz="1200" b="0" i="0" kern="1200" dirty="0">
                <a:solidFill>
                  <a:schemeClr val="tx1"/>
                </a:solidFill>
                <a:effectLst/>
                <a:latin typeface="+mn-lt"/>
                <a:ea typeface="+mn-ea"/>
                <a:cs typeface="+mn-cs"/>
              </a:rPr>
              <a:t>AISHELL-1 ist der mit Abstand häufigste Benchmark (in 15+ Papers)</a:t>
            </a:r>
          </a:p>
          <a:p>
            <a:endParaRPr lang="de-DE" dirty="0"/>
          </a:p>
        </p:txBody>
      </p:sp>
      <p:sp>
        <p:nvSpPr>
          <p:cNvPr id="4" name="Slide Number Placeholder 3"/>
          <p:cNvSpPr>
            <a:spLocks noGrp="1"/>
          </p:cNvSpPr>
          <p:nvPr>
            <p:ph type="sldNum" sz="quarter" idx="5"/>
          </p:nvPr>
        </p:nvSpPr>
        <p:spPr/>
        <p:txBody>
          <a:bodyPr/>
          <a:lstStyle/>
          <a:p>
            <a:fld id="{35C0B671-25EF-47C3-BD31-46E7FB9E6220}" type="slidenum">
              <a:rPr lang="de-DE" smtClean="0"/>
              <a:t>22</a:t>
            </a:fld>
            <a:endParaRPr lang="de-DE"/>
          </a:p>
        </p:txBody>
      </p:sp>
    </p:spTree>
    <p:extLst>
      <p:ext uri="{BB962C8B-B14F-4D97-AF65-F5344CB8AC3E}">
        <p14:creationId xmlns:p14="http://schemas.microsoft.com/office/powerpoint/2010/main" val="37247491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de-DE" sz="1200" b="0" i="0" kern="1200" dirty="0">
                <a:solidFill>
                  <a:schemeClr val="tx1"/>
                </a:solidFill>
                <a:effectLst/>
                <a:latin typeface="+mn-lt"/>
                <a:ea typeface="+mn-ea"/>
                <a:cs typeface="+mn-cs"/>
              </a:rPr>
              <a:t>Seed-ASR: "</a:t>
            </a:r>
            <a:r>
              <a:rPr lang="de-DE" sz="1200" b="0" i="0" kern="1200" dirty="0" err="1">
                <a:solidFill>
                  <a:schemeClr val="tx1"/>
                </a:solidFill>
                <a:effectLst/>
                <a:latin typeface="+mn-lt"/>
                <a:ea typeface="+mn-ea"/>
                <a:cs typeface="+mn-cs"/>
              </a:rPr>
              <a:t>training</a:t>
            </a:r>
            <a:r>
              <a:rPr lang="de-DE" sz="1200" b="0" i="0" kern="1200" dirty="0">
                <a:solidFill>
                  <a:schemeClr val="tx1"/>
                </a:solidFill>
                <a:effectLst/>
                <a:latin typeface="+mn-lt"/>
                <a:ea typeface="+mn-ea"/>
                <a:cs typeface="+mn-cs"/>
              </a:rPr>
              <a:t> on </a:t>
            </a:r>
            <a:r>
              <a:rPr lang="de-DE" sz="1200" b="0" i="0" kern="1200" dirty="0" err="1">
                <a:solidFill>
                  <a:schemeClr val="tx1"/>
                </a:solidFill>
                <a:effectLst/>
                <a:latin typeface="+mn-lt"/>
                <a:ea typeface="+mn-ea"/>
                <a:cs typeface="+mn-cs"/>
              </a:rPr>
              <a:t>over</a:t>
            </a:r>
            <a:r>
              <a:rPr lang="de-DE" sz="1200" b="0" i="0" kern="1200" dirty="0">
                <a:solidFill>
                  <a:schemeClr val="tx1"/>
                </a:solidFill>
                <a:effectLst/>
                <a:latin typeface="+mn-lt"/>
                <a:ea typeface="+mn-ea"/>
                <a:cs typeface="+mn-cs"/>
              </a:rPr>
              <a:t> 20 </a:t>
            </a:r>
            <a:r>
              <a:rPr lang="de-DE" sz="1200" b="0" i="0" kern="1200" dirty="0" err="1">
                <a:solidFill>
                  <a:schemeClr val="tx1"/>
                </a:solidFill>
                <a:effectLst/>
                <a:latin typeface="+mn-lt"/>
                <a:ea typeface="+mn-ea"/>
                <a:cs typeface="+mn-cs"/>
              </a:rPr>
              <a:t>million</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hours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of</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speech</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data</a:t>
            </a:r>
            <a:r>
              <a:rPr lang="de-DE" sz="1200" b="0" i="0" kern="1200" dirty="0">
                <a:solidFill>
                  <a:schemeClr val="tx1"/>
                </a:solidFill>
                <a:effectLst/>
                <a:latin typeface="+mn-lt"/>
                <a:ea typeface="+mn-ea"/>
                <a:cs typeface="+mn-cs"/>
              </a:rPr>
              <a:t> and </a:t>
            </a:r>
            <a:r>
              <a:rPr lang="de-DE" sz="1200" b="0" i="0" kern="1200" dirty="0" err="1">
                <a:solidFill>
                  <a:schemeClr val="tx1"/>
                </a:solidFill>
                <a:effectLst/>
                <a:latin typeface="+mn-lt"/>
                <a:ea typeface="+mn-ea"/>
                <a:cs typeface="+mn-cs"/>
              </a:rPr>
              <a:t>nearly</a:t>
            </a:r>
            <a:r>
              <a:rPr lang="de-DE" sz="1200" b="0" i="0" kern="1200" dirty="0">
                <a:solidFill>
                  <a:schemeClr val="tx1"/>
                </a:solidFill>
                <a:effectLst/>
                <a:latin typeface="+mn-lt"/>
                <a:ea typeface="+mn-ea"/>
                <a:cs typeface="+mn-cs"/>
              </a:rPr>
              <a:t> 900 </a:t>
            </a:r>
            <a:r>
              <a:rPr lang="de-DE" sz="1200" b="0" i="0" kern="1200" dirty="0" err="1">
                <a:solidFill>
                  <a:schemeClr val="tx1"/>
                </a:solidFill>
                <a:effectLst/>
                <a:latin typeface="+mn-lt"/>
                <a:ea typeface="+mn-ea"/>
                <a:cs typeface="+mn-cs"/>
              </a:rPr>
              <a:t>thousand</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hours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of</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paired</a:t>
            </a:r>
            <a:r>
              <a:rPr lang="de-DE" sz="1200" b="0" i="0" kern="1200" dirty="0">
                <a:solidFill>
                  <a:schemeClr val="tx1"/>
                </a:solidFill>
                <a:effectLst/>
                <a:latin typeface="+mn-lt"/>
                <a:ea typeface="+mn-ea"/>
                <a:cs typeface="+mn-cs"/>
              </a:rPr>
              <a:t> ASR </a:t>
            </a:r>
            <a:r>
              <a:rPr lang="de-DE" sz="1200" b="0" i="0" kern="1200" dirty="0" err="1">
                <a:solidFill>
                  <a:schemeClr val="tx1"/>
                </a:solidFill>
                <a:effectLst/>
                <a:latin typeface="+mn-lt"/>
                <a:ea typeface="+mn-ea"/>
                <a:cs typeface="+mn-cs"/>
              </a:rPr>
              <a:t>data</a:t>
            </a:r>
            <a:r>
              <a:rPr lang="de-DE" sz="1200" b="0" i="0" kern="1200" dirty="0">
                <a:solidFill>
                  <a:schemeClr val="tx1"/>
                </a:solidFill>
                <a:effectLst/>
                <a:latin typeface="+mn-lt"/>
                <a:ea typeface="+mn-ea"/>
                <a:cs typeface="+mn-cs"/>
              </a:rPr>
              <a:t>" (Abstract, S. 1)</a:t>
            </a:r>
          </a:p>
          <a:p>
            <a:pPr marL="171450" indent="-171450">
              <a:buFont typeface="Arial" panose="020B0604020202020204" pitchFamily="34" charset="0"/>
              <a:buChar char="•"/>
            </a:pPr>
            <a:r>
              <a:rPr lang="de-DE" sz="1200" b="0" i="0" kern="1200" dirty="0">
                <a:solidFill>
                  <a:schemeClr val="tx1"/>
                </a:solidFill>
                <a:effectLst/>
                <a:latin typeface="+mn-lt"/>
                <a:ea typeface="+mn-ea"/>
                <a:cs typeface="+mn-cs"/>
              </a:rPr>
              <a:t>Qwen3-ASR: "</a:t>
            </a:r>
            <a:r>
              <a:rPr lang="de-DE" sz="1200" b="0" i="0" kern="1200" dirty="0" err="1">
                <a:solidFill>
                  <a:schemeClr val="tx1"/>
                </a:solidFill>
                <a:effectLst/>
                <a:latin typeface="+mn-lt"/>
                <a:ea typeface="+mn-ea"/>
                <a:cs typeface="+mn-cs"/>
              </a:rPr>
              <a:t>approximately</a:t>
            </a:r>
            <a:r>
              <a:rPr lang="de-DE" sz="1200" b="0" i="0" kern="1200" dirty="0">
                <a:solidFill>
                  <a:schemeClr val="tx1"/>
                </a:solidFill>
                <a:effectLst/>
                <a:latin typeface="+mn-lt"/>
                <a:ea typeface="+mn-ea"/>
                <a:cs typeface="+mn-cs"/>
              </a:rPr>
              <a:t> 40 </a:t>
            </a:r>
            <a:r>
              <a:rPr lang="de-DE" sz="1200" b="0" i="0" kern="1200" dirty="0" err="1">
                <a:solidFill>
                  <a:schemeClr val="tx1"/>
                </a:solidFill>
                <a:effectLst/>
                <a:latin typeface="+mn-lt"/>
                <a:ea typeface="+mn-ea"/>
                <a:cs typeface="+mn-cs"/>
              </a:rPr>
              <a:t>million</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hours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of</a:t>
            </a:r>
            <a:r>
              <a:rPr lang="de-DE" sz="1200" b="0" i="0" kern="1200" dirty="0">
                <a:solidFill>
                  <a:schemeClr val="tx1"/>
                </a:solidFill>
                <a:effectLst/>
                <a:latin typeface="+mn-lt"/>
                <a:ea typeface="+mn-ea"/>
                <a:cs typeface="+mn-cs"/>
              </a:rPr>
              <a:t> pseudo-</a:t>
            </a:r>
            <a:r>
              <a:rPr lang="de-DE" sz="1200" b="0" i="0" kern="1200" dirty="0" err="1">
                <a:solidFill>
                  <a:schemeClr val="tx1"/>
                </a:solidFill>
                <a:effectLst/>
                <a:latin typeface="+mn-lt"/>
                <a:ea typeface="+mn-ea"/>
                <a:cs typeface="+mn-cs"/>
              </a:rPr>
              <a:t>labeled</a:t>
            </a:r>
            <a:r>
              <a:rPr lang="de-DE" sz="1200" b="0" i="0" kern="1200" dirty="0">
                <a:solidFill>
                  <a:schemeClr val="tx1"/>
                </a:solidFill>
                <a:effectLst/>
                <a:latin typeface="+mn-lt"/>
                <a:ea typeface="+mn-ea"/>
                <a:cs typeface="+mn-cs"/>
              </a:rPr>
              <a:t> ASR </a:t>
            </a:r>
            <a:r>
              <a:rPr lang="de-DE" sz="1200" b="0" i="0" kern="1200" dirty="0" err="1">
                <a:solidFill>
                  <a:schemeClr val="tx1"/>
                </a:solidFill>
                <a:effectLst/>
                <a:latin typeface="+mn-lt"/>
                <a:ea typeface="+mn-ea"/>
                <a:cs typeface="+mn-cs"/>
              </a:rPr>
              <a:t>data</a:t>
            </a:r>
            <a:r>
              <a:rPr lang="de-DE" sz="1200" b="0" i="0" kern="1200" dirty="0">
                <a:solidFill>
                  <a:schemeClr val="tx1"/>
                </a:solidFill>
                <a:effectLst/>
                <a:latin typeface="+mn-lt"/>
                <a:ea typeface="+mn-ea"/>
                <a:cs typeface="+mn-cs"/>
              </a:rPr>
              <a:t>" (S. 3)</a:t>
            </a:r>
          </a:p>
          <a:p>
            <a:pPr marL="171450" indent="-171450">
              <a:buFont typeface="Arial" panose="020B0604020202020204" pitchFamily="34" charset="0"/>
              <a:buChar char="•"/>
            </a:pPr>
            <a:r>
              <a:rPr lang="de-DE" sz="1200" b="0" i="0" kern="1200" dirty="0">
                <a:solidFill>
                  <a:schemeClr val="tx1"/>
                </a:solidFill>
                <a:effectLst/>
                <a:latin typeface="+mn-lt"/>
                <a:ea typeface="+mn-ea"/>
                <a:cs typeface="+mn-cs"/>
              </a:rPr>
              <a:t>Kimi-Audio: "</a:t>
            </a:r>
            <a:r>
              <a:rPr lang="de-DE" sz="1200" b="0" i="0" kern="1200" dirty="0" err="1">
                <a:solidFill>
                  <a:schemeClr val="tx1"/>
                </a:solidFill>
                <a:effectLst/>
                <a:latin typeface="+mn-lt"/>
                <a:ea typeface="+mn-ea"/>
                <a:cs typeface="+mn-cs"/>
              </a:rPr>
              <a:t>approximately</a:t>
            </a:r>
            <a:r>
              <a:rPr lang="de-DE" sz="1200" b="0" i="0" kern="1200" dirty="0">
                <a:solidFill>
                  <a:schemeClr val="tx1"/>
                </a:solidFill>
                <a:effectLst/>
                <a:latin typeface="+mn-lt"/>
                <a:ea typeface="+mn-ea"/>
                <a:cs typeface="+mn-cs"/>
              </a:rPr>
              <a:t> 13 </a:t>
            </a:r>
            <a:r>
              <a:rPr lang="de-DE" sz="1200" b="0" i="0" kern="1200" dirty="0" err="1">
                <a:solidFill>
                  <a:schemeClr val="tx1"/>
                </a:solidFill>
                <a:effectLst/>
                <a:latin typeface="+mn-lt"/>
                <a:ea typeface="+mn-ea"/>
                <a:cs typeface="+mn-cs"/>
              </a:rPr>
              <a:t>million</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hours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of</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raw</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audio</a:t>
            </a:r>
            <a:r>
              <a:rPr lang="de-DE" sz="1200" b="0" i="0" kern="1200" dirty="0">
                <a:solidFill>
                  <a:schemeClr val="tx1"/>
                </a:solidFill>
                <a:effectLst/>
                <a:latin typeface="+mn-lt"/>
                <a:ea typeface="+mn-ea"/>
                <a:cs typeface="+mn-cs"/>
              </a:rPr>
              <a:t>" (S. 6)</a:t>
            </a:r>
          </a:p>
          <a:p>
            <a:pPr marL="171450" indent="-171450">
              <a:buFont typeface="Arial" panose="020B0604020202020204" pitchFamily="34" charset="0"/>
              <a:buChar char="•"/>
            </a:pPr>
            <a:r>
              <a:rPr lang="de-DE" sz="1200" b="0" i="0" kern="1200" dirty="0">
                <a:solidFill>
                  <a:schemeClr val="tx1"/>
                </a:solidFill>
                <a:effectLst/>
                <a:latin typeface="+mn-lt"/>
                <a:ea typeface="+mn-ea"/>
                <a:cs typeface="+mn-cs"/>
              </a:rPr>
              <a:t>Diese Modelle haben Mandarin-Töne hunderte Millionen Mal "gehört" — aber niemand hat geprüft, ob sie die Töne auch VERSTEHEN</a:t>
            </a:r>
          </a:p>
          <a:p>
            <a:pPr marL="171450" indent="-171450">
              <a:buFont typeface="Arial" panose="020B0604020202020204" pitchFamily="34" charset="0"/>
              <a:buChar char="•"/>
            </a:pPr>
            <a:r>
              <a:rPr lang="de-DE" sz="1200" b="0" i="0" kern="1200" dirty="0">
                <a:solidFill>
                  <a:schemeClr val="tx1"/>
                </a:solidFill>
                <a:effectLst/>
                <a:latin typeface="+mn-lt"/>
                <a:ea typeface="+mn-ea"/>
                <a:cs typeface="+mn-cs"/>
              </a:rPr>
              <a:t>Tone Perfect: 9.840 Silben, ~2 Stunden — winzig, aber PERFEKT für isolierte Tonevaluation</a:t>
            </a:r>
          </a:p>
          <a:p>
            <a:br>
              <a:rPr lang="de-DE" dirty="0"/>
            </a:br>
            <a:endParaRPr lang="de-DE" dirty="0"/>
          </a:p>
        </p:txBody>
      </p:sp>
      <p:sp>
        <p:nvSpPr>
          <p:cNvPr id="4" name="Slide Number Placeholder 3"/>
          <p:cNvSpPr>
            <a:spLocks noGrp="1"/>
          </p:cNvSpPr>
          <p:nvPr>
            <p:ph type="sldNum" sz="quarter" idx="5"/>
          </p:nvPr>
        </p:nvSpPr>
        <p:spPr/>
        <p:txBody>
          <a:bodyPr/>
          <a:lstStyle/>
          <a:p>
            <a:fld id="{35C0B671-25EF-47C3-BD31-46E7FB9E6220}" type="slidenum">
              <a:rPr lang="de-DE" smtClean="0"/>
              <a:t>23</a:t>
            </a:fld>
            <a:endParaRPr lang="de-DE"/>
          </a:p>
        </p:txBody>
      </p:sp>
    </p:spTree>
    <p:extLst>
      <p:ext uri="{BB962C8B-B14F-4D97-AF65-F5344CB8AC3E}">
        <p14:creationId xmlns:p14="http://schemas.microsoft.com/office/powerpoint/2010/main" val="379176679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de-DE" sz="1200" b="0" i="0" kern="1200" dirty="0">
                <a:solidFill>
                  <a:schemeClr val="tx1"/>
                </a:solidFill>
                <a:effectLst/>
                <a:latin typeface="+mn-lt"/>
                <a:ea typeface="+mn-ea"/>
                <a:cs typeface="+mn-cs"/>
              </a:rPr>
              <a:t>AISHELL-1 ist der "MNIST der chinesischen ASR" — überall verwendet, aber nur CER, nie Töne</a:t>
            </a:r>
          </a:p>
          <a:p>
            <a:pPr marL="171450" indent="-171450">
              <a:buFont typeface="Arial" panose="020B0604020202020204" pitchFamily="34" charset="0"/>
              <a:buChar char="•"/>
            </a:pPr>
            <a:r>
              <a:rPr lang="de-DE" sz="1200" b="0" i="0" kern="1200" dirty="0">
                <a:solidFill>
                  <a:schemeClr val="tx1"/>
                </a:solidFill>
                <a:effectLst/>
                <a:latin typeface="+mn-lt"/>
                <a:ea typeface="+mn-ea"/>
                <a:cs typeface="+mn-cs"/>
              </a:rPr>
              <a:t>Tone Perfect ist der EINZIGE öffentlich verfügbare Datensatz mit isolierten Silben × 4 Töne × 6 Sprecher — ideal für kontrollierte Tonevaluation</a:t>
            </a:r>
          </a:p>
          <a:p>
            <a:pPr marL="171450" indent="-171450">
              <a:buFont typeface="Arial" panose="020B0604020202020204" pitchFamily="34" charset="0"/>
              <a:buChar char="•"/>
            </a:pPr>
            <a:r>
              <a:rPr lang="de-DE" sz="1200" b="0" i="0" kern="1200" dirty="0">
                <a:solidFill>
                  <a:schemeClr val="tx1"/>
                </a:solidFill>
                <a:effectLst/>
                <a:latin typeface="+mn-lt"/>
                <a:ea typeface="+mn-ea"/>
                <a:cs typeface="+mn-cs"/>
              </a:rPr>
              <a:t>"The Tone Perfect </a:t>
            </a:r>
            <a:r>
              <a:rPr lang="de-DE" sz="1200" b="0" i="0" kern="1200" dirty="0" err="1">
                <a:solidFill>
                  <a:schemeClr val="tx1"/>
                </a:solidFill>
                <a:effectLst/>
                <a:latin typeface="+mn-lt"/>
                <a:ea typeface="+mn-ea"/>
                <a:cs typeface="+mn-cs"/>
              </a:rPr>
              <a:t>corpus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contains</a:t>
            </a:r>
            <a:r>
              <a:rPr lang="de-DE" sz="1200" b="0" i="0" kern="1200" dirty="0">
                <a:solidFill>
                  <a:schemeClr val="tx1"/>
                </a:solidFill>
                <a:effectLst/>
                <a:latin typeface="+mn-lt"/>
                <a:ea typeface="+mn-ea"/>
                <a:cs typeface="+mn-cs"/>
              </a:rPr>
              <a:t> 9,840 </a:t>
            </a:r>
            <a:r>
              <a:rPr lang="de-DE" sz="1200" b="0" i="0" kern="1200" dirty="0" err="1">
                <a:solidFill>
                  <a:schemeClr val="tx1"/>
                </a:solidFill>
                <a:effectLst/>
                <a:latin typeface="+mn-lt"/>
                <a:ea typeface="+mn-ea"/>
                <a:cs typeface="+mn-cs"/>
              </a:rPr>
              <a:t>recordings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of</a:t>
            </a:r>
            <a:r>
              <a:rPr lang="de-DE" sz="1200" b="0" i="0" kern="1200" dirty="0">
                <a:solidFill>
                  <a:schemeClr val="tx1"/>
                </a:solidFill>
                <a:effectLst/>
                <a:latin typeface="+mn-lt"/>
                <a:ea typeface="+mn-ea"/>
                <a:cs typeface="+mn-cs"/>
              </a:rPr>
              <a:t> 410 Mandarin </a:t>
            </a:r>
            <a:r>
              <a:rPr lang="de-DE" sz="1200" b="0" i="0" kern="1200" dirty="0" err="1">
                <a:solidFill>
                  <a:schemeClr val="tx1"/>
                </a:solidFill>
                <a:effectLst/>
                <a:latin typeface="+mn-lt"/>
                <a:ea typeface="+mn-ea"/>
                <a:cs typeface="+mn-cs"/>
              </a:rPr>
              <a:t>syllables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each</a:t>
            </a:r>
            <a:r>
              <a:rPr lang="de-DE" sz="1200" b="0" i="0" kern="1200" dirty="0">
                <a:solidFill>
                  <a:schemeClr val="tx1"/>
                </a:solidFill>
                <a:effectLst/>
                <a:latin typeface="+mn-lt"/>
                <a:ea typeface="+mn-ea"/>
                <a:cs typeface="+mn-cs"/>
              </a:rPr>
              <a:t> spoken in all 4 </a:t>
            </a:r>
            <a:r>
              <a:rPr lang="de-DE" sz="1200" b="0" i="0" kern="1200" dirty="0" err="1">
                <a:solidFill>
                  <a:schemeClr val="tx1"/>
                </a:solidFill>
                <a:effectLst/>
                <a:latin typeface="+mn-lt"/>
                <a:ea typeface="+mn-ea"/>
                <a:cs typeface="+mn-cs"/>
              </a:rPr>
              <a:t>tones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by</a:t>
            </a:r>
            <a:r>
              <a:rPr lang="de-DE" sz="1200" b="0" i="0" kern="1200" dirty="0">
                <a:solidFill>
                  <a:schemeClr val="tx1"/>
                </a:solidFill>
                <a:effectLst/>
                <a:latin typeface="+mn-lt"/>
                <a:ea typeface="+mn-ea"/>
                <a:cs typeface="+mn-cs"/>
              </a:rPr>
              <a:t> 6 Beijing native </a:t>
            </a:r>
            <a:r>
              <a:rPr lang="de-DE" sz="1200" b="0" i="0" kern="1200" dirty="0" err="1">
                <a:solidFill>
                  <a:schemeClr val="tx1"/>
                </a:solidFill>
                <a:effectLst/>
                <a:latin typeface="+mn-lt"/>
                <a:ea typeface="+mn-ea"/>
                <a:cs typeface="+mn-cs"/>
              </a:rPr>
              <a:t>speakers</a:t>
            </a:r>
            <a:r>
              <a:rPr lang="de-DE" sz="1200" b="0" i="0" kern="1200" dirty="0">
                <a:solidFill>
                  <a:schemeClr val="tx1"/>
                </a:solidFill>
                <a:effectLst/>
                <a:latin typeface="+mn-lt"/>
                <a:ea typeface="+mn-ea"/>
                <a:cs typeface="+mn-cs"/>
              </a:rPr>
              <a:t>" (Ryu 2021)</a:t>
            </a:r>
          </a:p>
          <a:p>
            <a:pPr marL="171450" indent="-171450">
              <a:buFont typeface="Arial" panose="020B0604020202020204" pitchFamily="34" charset="0"/>
              <a:buChar char="•"/>
            </a:pPr>
            <a:r>
              <a:rPr lang="de-DE" sz="1200" b="0" i="0" kern="1200" dirty="0">
                <a:solidFill>
                  <a:schemeClr val="tx1"/>
                </a:solidFill>
                <a:effectLst/>
                <a:latin typeface="+mn-lt"/>
                <a:ea typeface="+mn-ea"/>
                <a:cs typeface="+mn-cs"/>
              </a:rPr>
              <a:t>LATIC (4 Stunden, 4 L2-Sprecher) ist der einzige öffentliche L2-Mandarin-Datensatz mit Tonannotation — extrem klein</a:t>
            </a:r>
          </a:p>
          <a:p>
            <a:endParaRPr lang="de-DE" dirty="0"/>
          </a:p>
        </p:txBody>
      </p:sp>
      <p:sp>
        <p:nvSpPr>
          <p:cNvPr id="4" name="Slide Number Placeholder 3"/>
          <p:cNvSpPr>
            <a:spLocks noGrp="1"/>
          </p:cNvSpPr>
          <p:nvPr>
            <p:ph type="sldNum" sz="quarter" idx="5"/>
          </p:nvPr>
        </p:nvSpPr>
        <p:spPr/>
        <p:txBody>
          <a:bodyPr/>
          <a:lstStyle/>
          <a:p>
            <a:fld id="{35C0B671-25EF-47C3-BD31-46E7FB9E6220}" type="slidenum">
              <a:rPr lang="de-DE" smtClean="0"/>
              <a:t>24</a:t>
            </a:fld>
            <a:endParaRPr lang="de-DE"/>
          </a:p>
        </p:txBody>
      </p:sp>
    </p:spTree>
    <p:extLst>
      <p:ext uri="{BB962C8B-B14F-4D97-AF65-F5344CB8AC3E}">
        <p14:creationId xmlns:p14="http://schemas.microsoft.com/office/powerpoint/2010/main" val="131510591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de-DE" sz="1200" b="0" i="0" kern="1200" dirty="0">
                <a:solidFill>
                  <a:schemeClr val="tx1"/>
                </a:solidFill>
                <a:effectLst/>
                <a:latin typeface="+mn-lt"/>
                <a:ea typeface="+mn-ea"/>
                <a:cs typeface="+mn-cs"/>
              </a:rPr>
              <a:t>Kimi-Audio erwähnt "tone" explizit als wichtige paralinguistische Information: "</a:t>
            </a:r>
            <a:r>
              <a:rPr lang="de-DE" sz="1200" b="0" i="0" kern="1200" dirty="0" err="1">
                <a:solidFill>
                  <a:schemeClr val="tx1"/>
                </a:solidFill>
                <a:effectLst/>
                <a:latin typeface="+mn-lt"/>
                <a:ea typeface="+mn-ea"/>
                <a:cs typeface="+mn-cs"/>
              </a:rPr>
              <a:t>text</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transcription</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focuses</a:t>
            </a:r>
            <a:r>
              <a:rPr lang="de-DE" sz="1200" b="0" i="0" kern="1200" dirty="0">
                <a:solidFill>
                  <a:schemeClr val="tx1"/>
                </a:solidFill>
                <a:effectLst/>
                <a:latin typeface="+mn-lt"/>
                <a:ea typeface="+mn-ea"/>
                <a:cs typeface="+mn-cs"/>
              </a:rPr>
              <a:t> on </a:t>
            </a:r>
            <a:r>
              <a:rPr lang="de-DE" sz="1200" b="0" i="0" kern="1200" dirty="0" err="1">
                <a:solidFill>
                  <a:schemeClr val="tx1"/>
                </a:solidFill>
                <a:effectLst/>
                <a:latin typeface="+mn-lt"/>
                <a:ea typeface="+mn-ea"/>
                <a:cs typeface="+mn-cs"/>
              </a:rPr>
              <a:t>the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content</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of</a:t>
            </a:r>
            <a:r>
              <a:rPr lang="de-DE" sz="1200" b="0" i="0" kern="1200" dirty="0">
                <a:solidFill>
                  <a:schemeClr val="tx1"/>
                </a:solidFill>
                <a:effectLst/>
                <a:latin typeface="+mn-lt"/>
                <a:ea typeface="+mn-ea"/>
                <a:cs typeface="+mn-cs"/>
              </a:rPr>
              <a:t> spoken </a:t>
            </a:r>
            <a:r>
              <a:rPr lang="de-DE" sz="1200" b="0" i="0" kern="1200" dirty="0" err="1">
                <a:solidFill>
                  <a:schemeClr val="tx1"/>
                </a:solidFill>
                <a:effectLst/>
                <a:latin typeface="+mn-lt"/>
                <a:ea typeface="+mn-ea"/>
                <a:cs typeface="+mn-cs"/>
              </a:rPr>
              <a:t>words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what</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is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said</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neglecting</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important</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information</a:t>
            </a:r>
            <a:r>
              <a:rPr lang="de-DE" sz="1200" b="0" i="0" kern="1200" dirty="0">
                <a:solidFill>
                  <a:schemeClr val="tx1"/>
                </a:solidFill>
                <a:effectLst/>
                <a:latin typeface="+mn-lt"/>
                <a:ea typeface="+mn-ea"/>
                <a:cs typeface="+mn-cs"/>
              </a:rPr>
              <a:t> in </a:t>
            </a:r>
            <a:r>
              <a:rPr lang="de-DE" sz="1200" b="0" i="0" kern="1200" dirty="0" err="1">
                <a:solidFill>
                  <a:schemeClr val="tx1"/>
                </a:solidFill>
                <a:effectLst/>
                <a:latin typeface="+mn-lt"/>
                <a:ea typeface="+mn-ea"/>
                <a:cs typeface="+mn-cs"/>
              </a:rPr>
              <a:t>audio</a:t>
            </a:r>
            <a:r>
              <a:rPr lang="de-DE" sz="1200" b="0" i="0" kern="1200" dirty="0">
                <a:solidFill>
                  <a:schemeClr val="tx1"/>
                </a:solidFill>
                <a:effectLst/>
                <a:latin typeface="+mn-lt"/>
                <a:ea typeface="+mn-ea"/>
                <a:cs typeface="+mn-cs"/>
              </a:rPr>
              <a:t>, such </a:t>
            </a:r>
            <a:r>
              <a:rPr lang="de-DE" sz="1200" b="0" i="0" kern="1200" dirty="0" err="1">
                <a:solidFill>
                  <a:schemeClr val="tx1"/>
                </a:solidFill>
                <a:effectLst/>
                <a:latin typeface="+mn-lt"/>
                <a:ea typeface="+mn-ea"/>
                <a:cs typeface="+mn-cs"/>
              </a:rPr>
              <a:t>as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paralanguage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information</a:t>
            </a:r>
            <a:r>
              <a:rPr lang="de-DE" sz="1200" b="0" i="0" kern="1200" dirty="0">
                <a:solidFill>
                  <a:schemeClr val="tx1"/>
                </a:solidFill>
                <a:effectLst/>
                <a:latin typeface="+mn-lt"/>
                <a:ea typeface="+mn-ea"/>
                <a:cs typeface="+mn-cs"/>
              </a:rPr>
              <a:t> (e.g., </a:t>
            </a:r>
            <a:r>
              <a:rPr lang="de-DE" sz="1200" b="0" i="0" kern="1200" dirty="0" err="1">
                <a:solidFill>
                  <a:schemeClr val="tx1"/>
                </a:solidFill>
                <a:effectLst/>
                <a:latin typeface="+mn-lt"/>
                <a:ea typeface="+mn-ea"/>
                <a:cs typeface="+mn-cs"/>
              </a:rPr>
              <a:t>emotion</a:t>
            </a:r>
            <a:r>
              <a:rPr lang="de-DE" sz="1200" b="0" i="0" kern="1200" dirty="0">
                <a:solidFill>
                  <a:schemeClr val="tx1"/>
                </a:solidFill>
                <a:effectLst/>
                <a:latin typeface="+mn-lt"/>
                <a:ea typeface="+mn-ea"/>
                <a:cs typeface="+mn-cs"/>
              </a:rPr>
              <a:t>, style, </a:t>
            </a:r>
            <a:r>
              <a:rPr lang="de-DE" sz="1200" b="0" i="0" kern="1200" dirty="0" err="1">
                <a:solidFill>
                  <a:schemeClr val="tx1"/>
                </a:solidFill>
                <a:effectLst/>
                <a:latin typeface="+mn-lt"/>
                <a:ea typeface="+mn-ea"/>
                <a:cs typeface="+mn-cs"/>
              </a:rPr>
              <a:t>timbre</a:t>
            </a:r>
            <a:r>
              <a:rPr lang="de-DE" sz="1200" b="0" i="0" kern="1200" dirty="0">
                <a:solidFill>
                  <a:schemeClr val="tx1"/>
                </a:solidFill>
                <a:effectLst/>
                <a:latin typeface="+mn-lt"/>
                <a:ea typeface="+mn-ea"/>
                <a:cs typeface="+mn-cs"/>
              </a:rPr>
              <a:t>, tone)" (</a:t>
            </a:r>
            <a:r>
              <a:rPr lang="de-DE" sz="1200" b="0" i="0" kern="1200" dirty="0" err="1">
                <a:solidFill>
                  <a:schemeClr val="tx1"/>
                </a:solidFill>
                <a:effectLst/>
                <a:latin typeface="+mn-lt"/>
                <a:ea typeface="+mn-ea"/>
                <a:cs typeface="+mn-cs"/>
              </a:rPr>
              <a:t>Section</a:t>
            </a:r>
            <a:r>
              <a:rPr lang="de-DE" sz="1200" b="0" i="0" kern="1200" dirty="0">
                <a:solidFill>
                  <a:schemeClr val="tx1"/>
                </a:solidFill>
                <a:effectLst/>
                <a:latin typeface="+mn-lt"/>
                <a:ea typeface="+mn-ea"/>
                <a:cs typeface="+mn-cs"/>
              </a:rPr>
              <a:t> 8, S. 21) [VERIFIZIERT]</a:t>
            </a:r>
          </a:p>
          <a:p>
            <a:pPr marL="171450" indent="-171450">
              <a:buFont typeface="Arial" panose="020B0604020202020204" pitchFamily="34" charset="0"/>
              <a:buChar char="•"/>
            </a:pPr>
            <a:r>
              <a:rPr lang="de-DE" sz="1200" b="0" i="0" kern="1200" dirty="0" err="1">
                <a:solidFill>
                  <a:schemeClr val="tx1"/>
                </a:solidFill>
                <a:effectLst/>
                <a:latin typeface="+mn-lt"/>
                <a:ea typeface="+mn-ea"/>
                <a:cs typeface="+mn-cs"/>
              </a:rPr>
              <a:t>Zhengjie</a:t>
            </a:r>
            <a:r>
              <a:rPr lang="de-DE" sz="1200" b="0" i="0" kern="1200" dirty="0">
                <a:solidFill>
                  <a:schemeClr val="tx1"/>
                </a:solidFill>
                <a:effectLst/>
                <a:latin typeface="+mn-lt"/>
                <a:ea typeface="+mn-ea"/>
                <a:cs typeface="+mn-cs"/>
              </a:rPr>
              <a:t> ist das NÄCHSTE an unserer Arbeit: </a:t>
            </a:r>
            <a:r>
              <a:rPr lang="de-DE" sz="1200" b="0" i="0" kern="1200" dirty="0" err="1">
                <a:solidFill>
                  <a:schemeClr val="tx1"/>
                </a:solidFill>
                <a:effectLst/>
                <a:latin typeface="+mn-lt"/>
                <a:ea typeface="+mn-ea"/>
                <a:cs typeface="+mn-cs"/>
              </a:rPr>
              <a:t>Audio→LLM→Pinyin</a:t>
            </a:r>
            <a:r>
              <a:rPr lang="de-DE" sz="1200" b="0" i="0" kern="1200" dirty="0">
                <a:solidFill>
                  <a:schemeClr val="tx1"/>
                </a:solidFill>
                <a:effectLst/>
                <a:latin typeface="+mn-lt"/>
                <a:ea typeface="+mn-ea"/>
                <a:cs typeface="+mn-cs"/>
              </a:rPr>
              <a:t> — aber "</a:t>
            </a:r>
            <a:r>
              <a:rPr lang="de-DE" sz="1200" b="0" i="0" kern="1200" dirty="0" err="1">
                <a:solidFill>
                  <a:schemeClr val="tx1"/>
                </a:solidFill>
                <a:effectLst/>
                <a:latin typeface="+mn-lt"/>
                <a:ea typeface="+mn-ea"/>
                <a:cs typeface="+mn-cs"/>
              </a:rPr>
              <a:t>there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has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been</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little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exploration</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of</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leveraging</a:t>
            </a:r>
            <a:r>
              <a:rPr lang="de-DE" sz="1200" b="0" i="0" kern="1200" dirty="0">
                <a:solidFill>
                  <a:schemeClr val="tx1"/>
                </a:solidFill>
                <a:effectLst/>
                <a:latin typeface="+mn-lt"/>
                <a:ea typeface="+mn-ea"/>
                <a:cs typeface="+mn-cs"/>
              </a:rPr>
              <a:t> LLMs </a:t>
            </a:r>
            <a:r>
              <a:rPr lang="de-DE" sz="1200" b="0" i="0" kern="1200" dirty="0" err="1">
                <a:solidFill>
                  <a:schemeClr val="tx1"/>
                </a:solidFill>
                <a:effectLst/>
                <a:latin typeface="+mn-lt"/>
                <a:ea typeface="+mn-ea"/>
                <a:cs typeface="+mn-cs"/>
              </a:rPr>
              <a:t>to</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map</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audio</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features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directly</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to</a:t>
            </a:r>
            <a:r>
              <a:rPr lang="de-DE" sz="1200" b="0" i="0" kern="1200" dirty="0">
                <a:solidFill>
                  <a:schemeClr val="tx1"/>
                </a:solidFill>
                <a:effectLst/>
                <a:latin typeface="+mn-lt"/>
                <a:ea typeface="+mn-ea"/>
                <a:cs typeface="+mn-cs"/>
              </a:rPr>
              <a:t> Pinyin </a:t>
            </a:r>
            <a:r>
              <a:rPr lang="de-DE" sz="1200" b="0" i="0" kern="1200" dirty="0" err="1">
                <a:solidFill>
                  <a:schemeClr val="tx1"/>
                </a:solidFill>
                <a:effectLst/>
                <a:latin typeface="+mn-lt"/>
                <a:ea typeface="+mn-ea"/>
                <a:cs typeface="+mn-cs"/>
              </a:rPr>
              <a:t>representations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Introduction</a:t>
            </a:r>
            <a:r>
              <a:rPr lang="de-DE" sz="1200" b="0" i="0" kern="1200" dirty="0">
                <a:solidFill>
                  <a:schemeClr val="tx1"/>
                </a:solidFill>
                <a:effectLst/>
                <a:latin typeface="+mn-lt"/>
                <a:ea typeface="+mn-ea"/>
                <a:cs typeface="+mn-cs"/>
              </a:rPr>
              <a:t>, S. 1) [VERIFIZIERT]</a:t>
            </a:r>
          </a:p>
          <a:p>
            <a:pPr marL="171450" indent="-171450">
              <a:buFont typeface="Arial" panose="020B0604020202020204" pitchFamily="34" charset="0"/>
              <a:buChar char="•"/>
            </a:pPr>
            <a:r>
              <a:rPr lang="de-DE" sz="1200" b="0" i="0" kern="1200" dirty="0">
                <a:solidFill>
                  <a:schemeClr val="tx1"/>
                </a:solidFill>
                <a:effectLst/>
                <a:latin typeface="+mn-lt"/>
                <a:ea typeface="+mn-ea"/>
                <a:cs typeface="+mn-cs"/>
              </a:rPr>
              <a:t>Wang MSPB ist das einzige Paper, das multimodale LLMs (GPT-4o, Gemini, Qwen2-Audio) auf Audio-Prosodie testet — aber nur Satzprosodie (Frage/Aussage), nicht lexikalische Töne (ma1/ma2/ma3/ma4)</a:t>
            </a:r>
          </a:p>
          <a:p>
            <a:br>
              <a:rPr lang="de-DE" dirty="0"/>
            </a:br>
            <a:endParaRPr lang="de-DE" dirty="0"/>
          </a:p>
        </p:txBody>
      </p:sp>
      <p:sp>
        <p:nvSpPr>
          <p:cNvPr id="4" name="Slide Number Placeholder 3"/>
          <p:cNvSpPr>
            <a:spLocks noGrp="1"/>
          </p:cNvSpPr>
          <p:nvPr>
            <p:ph type="sldNum" sz="quarter" idx="5"/>
          </p:nvPr>
        </p:nvSpPr>
        <p:spPr/>
        <p:txBody>
          <a:bodyPr/>
          <a:lstStyle/>
          <a:p>
            <a:fld id="{35C0B671-25EF-47C3-BD31-46E7FB9E6220}" type="slidenum">
              <a:rPr lang="de-DE" smtClean="0"/>
              <a:t>25</a:t>
            </a:fld>
            <a:endParaRPr lang="de-DE"/>
          </a:p>
        </p:txBody>
      </p:sp>
    </p:spTree>
    <p:extLst>
      <p:ext uri="{BB962C8B-B14F-4D97-AF65-F5344CB8AC3E}">
        <p14:creationId xmlns:p14="http://schemas.microsoft.com/office/powerpoint/2010/main" val="8188766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de-DE" sz="1200" b="0" i="0" kern="1200" dirty="0">
                <a:solidFill>
                  <a:schemeClr val="tx1"/>
                </a:solidFill>
                <a:effectLst/>
                <a:latin typeface="+mn-lt"/>
                <a:ea typeface="+mn-ea"/>
                <a:cs typeface="+mn-cs"/>
              </a:rPr>
              <a:t>Bisher nur in 2 Papers verwendet: Ryu (2021) als Datensatz-Paper und Xu SITA (2026) für Mandarin-Transfer</a:t>
            </a:r>
          </a:p>
          <a:p>
            <a:pPr marL="171450" indent="-171450">
              <a:buFont typeface="Arial" panose="020B0604020202020204" pitchFamily="34" charset="0"/>
              <a:buChar char="•"/>
            </a:pPr>
            <a:r>
              <a:rPr lang="de-DE" sz="1200" b="0" i="0" kern="1200" dirty="0">
                <a:solidFill>
                  <a:schemeClr val="tx1"/>
                </a:solidFill>
                <a:effectLst/>
                <a:latin typeface="+mn-lt"/>
                <a:ea typeface="+mn-ea"/>
                <a:cs typeface="+mn-cs"/>
              </a:rPr>
              <a:t>SITA fand "tone </a:t>
            </a:r>
            <a:r>
              <a:rPr lang="de-DE" sz="1200" b="0" i="0" kern="1200" dirty="0" err="1">
                <a:solidFill>
                  <a:schemeClr val="tx1"/>
                </a:solidFill>
                <a:effectLst/>
                <a:latin typeface="+mn-lt"/>
                <a:ea typeface="+mn-ea"/>
                <a:cs typeface="+mn-cs"/>
              </a:rPr>
              <a:t>collapse</a:t>
            </a:r>
            <a:r>
              <a:rPr lang="de-DE" sz="1200" b="0" i="0" kern="1200" dirty="0">
                <a:solidFill>
                  <a:schemeClr val="tx1"/>
                </a:solidFill>
                <a:effectLst/>
                <a:latin typeface="+mn-lt"/>
                <a:ea typeface="+mn-ea"/>
                <a:cs typeface="+mn-cs"/>
              </a:rPr>
              <a:t>" in Whisper-</a:t>
            </a:r>
            <a:r>
              <a:rPr lang="de-DE" sz="1200" b="0" i="0" kern="1200" dirty="0" err="1">
                <a:solidFill>
                  <a:schemeClr val="tx1"/>
                </a:solidFill>
                <a:effectLst/>
                <a:latin typeface="+mn-lt"/>
                <a:ea typeface="+mn-ea"/>
                <a:cs typeface="+mn-cs"/>
              </a:rPr>
              <a:t>Embeddings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embeddings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from</a:t>
            </a:r>
            <a:r>
              <a:rPr lang="de-DE" sz="1200" b="0" i="0" kern="1200" dirty="0">
                <a:solidFill>
                  <a:schemeClr val="tx1"/>
                </a:solidFill>
                <a:effectLst/>
                <a:latin typeface="+mn-lt"/>
                <a:ea typeface="+mn-ea"/>
                <a:cs typeface="+mn-cs"/>
              </a:rPr>
              <a:t> Whisper large-v3 </a:t>
            </a:r>
            <a:r>
              <a:rPr lang="de-DE" sz="1200" b="0" i="0" kern="1200" dirty="0" err="1">
                <a:solidFill>
                  <a:schemeClr val="tx1"/>
                </a:solidFill>
                <a:effectLst/>
                <a:latin typeface="+mn-lt"/>
                <a:ea typeface="+mn-ea"/>
                <a:cs typeface="+mn-cs"/>
              </a:rPr>
              <a:t>exhibit</a:t>
            </a:r>
            <a:r>
              <a:rPr lang="de-DE" sz="1200" b="0" i="0" kern="1200" dirty="0">
                <a:solidFill>
                  <a:schemeClr val="tx1"/>
                </a:solidFill>
                <a:effectLst/>
                <a:latin typeface="+mn-lt"/>
                <a:ea typeface="+mn-ea"/>
                <a:cs typeface="+mn-cs"/>
              </a:rPr>
              <a:t> a notable </a:t>
            </a:r>
            <a:r>
              <a:rPr lang="de-DE" sz="1200" b="0" i="0" kern="1200" dirty="0" err="1">
                <a:solidFill>
                  <a:schemeClr val="tx1"/>
                </a:solidFill>
                <a:effectLst/>
                <a:latin typeface="+mn-lt"/>
                <a:ea typeface="+mn-ea"/>
                <a:cs typeface="+mn-cs"/>
              </a:rPr>
              <a:t>degree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of</a:t>
            </a:r>
            <a:r>
              <a:rPr lang="de-DE" sz="1200" b="0" i="0" kern="1200" dirty="0">
                <a:solidFill>
                  <a:schemeClr val="tx1"/>
                </a:solidFill>
                <a:effectLst/>
                <a:latin typeface="+mn-lt"/>
                <a:ea typeface="+mn-ea"/>
                <a:cs typeface="+mn-cs"/>
              </a:rPr>
              <a:t> tone </a:t>
            </a:r>
            <a:r>
              <a:rPr lang="de-DE" sz="1200" b="0" i="0" kern="1200" dirty="0" err="1">
                <a:solidFill>
                  <a:schemeClr val="tx1"/>
                </a:solidFill>
                <a:effectLst/>
                <a:latin typeface="+mn-lt"/>
                <a:ea typeface="+mn-ea"/>
                <a:cs typeface="+mn-cs"/>
              </a:rPr>
              <a:t>collapse</a:t>
            </a:r>
            <a:r>
              <a:rPr lang="de-DE" sz="1200" b="0" i="0" kern="1200" dirty="0">
                <a:solidFill>
                  <a:schemeClr val="tx1"/>
                </a:solidFill>
                <a:effectLst/>
                <a:latin typeface="+mn-lt"/>
                <a:ea typeface="+mn-ea"/>
                <a:cs typeface="+mn-cs"/>
              </a:rPr>
              <a:t>" — Töne werden im Embedding-Raum nicht gut unterschieden</a:t>
            </a:r>
          </a:p>
          <a:p>
            <a:pPr marL="171450" indent="-171450">
              <a:buFont typeface="Arial" panose="020B0604020202020204" pitchFamily="34" charset="0"/>
              <a:buChar char="•"/>
            </a:pPr>
            <a:r>
              <a:rPr lang="de-DE" sz="1200" b="0" i="0" kern="1200" dirty="0">
                <a:solidFill>
                  <a:schemeClr val="tx1"/>
                </a:solidFill>
                <a:effectLst/>
                <a:latin typeface="+mn-lt"/>
                <a:ea typeface="+mn-ea"/>
                <a:cs typeface="+mn-cs"/>
              </a:rPr>
              <a:t>Für unsere Arbeit: Wir nutzen Tone Perfect als kontrollierten Evaluationsdatensatz — jedes Sample hat exakt EINE Silbe mit exakt EINEM Ton → kein Tone Sandhi, keine Satzprosodie, reiner Tonerkennungstest</a:t>
            </a:r>
          </a:p>
          <a:p>
            <a:pPr marL="171450" indent="-171450">
              <a:buFont typeface="Arial" panose="020B0604020202020204" pitchFamily="34" charset="0"/>
              <a:buChar char="•"/>
            </a:pPr>
            <a:r>
              <a:rPr lang="de-DE" sz="1200" b="0" i="0" kern="1200" dirty="0">
                <a:solidFill>
                  <a:schemeClr val="tx1"/>
                </a:solidFill>
                <a:effectLst/>
                <a:latin typeface="+mn-lt"/>
                <a:ea typeface="+mn-ea"/>
                <a:cs typeface="+mn-cs"/>
              </a:rPr>
              <a:t>Limitation: Nur isolierte Silben, keine </a:t>
            </a:r>
            <a:r>
              <a:rPr lang="de-DE" sz="1200" b="0" i="0" kern="1200" dirty="0" err="1">
                <a:solidFill>
                  <a:schemeClr val="tx1"/>
                </a:solidFill>
                <a:effectLst/>
                <a:latin typeface="+mn-lt"/>
                <a:ea typeface="+mn-ea"/>
                <a:cs typeface="+mn-cs"/>
              </a:rPr>
              <a:t>connected</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speech</a:t>
            </a:r>
            <a:r>
              <a:rPr lang="de-DE" sz="1200" b="0" i="0" kern="1200" dirty="0">
                <a:solidFill>
                  <a:schemeClr val="tx1"/>
                </a:solidFill>
                <a:effectLst/>
                <a:latin typeface="+mn-lt"/>
                <a:ea typeface="+mn-ea"/>
                <a:cs typeface="+mn-cs"/>
              </a:rPr>
              <a:t> — das ist GEWOLLT für den ersten Test, aber muss als Limitation diskutiert werden</a:t>
            </a:r>
          </a:p>
          <a:p>
            <a:endParaRPr lang="de-DE" dirty="0"/>
          </a:p>
        </p:txBody>
      </p:sp>
      <p:sp>
        <p:nvSpPr>
          <p:cNvPr id="4" name="Slide Number Placeholder 3"/>
          <p:cNvSpPr>
            <a:spLocks noGrp="1"/>
          </p:cNvSpPr>
          <p:nvPr>
            <p:ph type="sldNum" sz="quarter" idx="5"/>
          </p:nvPr>
        </p:nvSpPr>
        <p:spPr/>
        <p:txBody>
          <a:bodyPr/>
          <a:lstStyle/>
          <a:p>
            <a:fld id="{35C0B671-25EF-47C3-BD31-46E7FB9E6220}" type="slidenum">
              <a:rPr lang="de-DE" smtClean="0"/>
              <a:t>26</a:t>
            </a:fld>
            <a:endParaRPr lang="de-DE"/>
          </a:p>
        </p:txBody>
      </p:sp>
    </p:spTree>
    <p:extLst>
      <p:ext uri="{BB962C8B-B14F-4D97-AF65-F5344CB8AC3E}">
        <p14:creationId xmlns:p14="http://schemas.microsoft.com/office/powerpoint/2010/main" val="346795270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de-DE" sz="1200" b="0" i="0" kern="1200" dirty="0">
                <a:solidFill>
                  <a:schemeClr val="tx1"/>
                </a:solidFill>
                <a:effectLst/>
                <a:latin typeface="+mn-lt"/>
                <a:ea typeface="+mn-ea"/>
                <a:cs typeface="+mn-cs"/>
              </a:rPr>
              <a:t>Die Literatur hat einen blinden Fleck: Millionen Stunden Training, aber die fundamentalste Eigenschaft des Mandarin — die 4 Töne — wird nie evaluiert</a:t>
            </a:r>
          </a:p>
          <a:p>
            <a:pPr marL="171450" indent="-171450">
              <a:buFont typeface="Arial" panose="020B0604020202020204" pitchFamily="34" charset="0"/>
              <a:buChar char="•"/>
            </a:pPr>
            <a:r>
              <a:rPr lang="de-DE" sz="1200" b="0" i="0" kern="1200" dirty="0">
                <a:solidFill>
                  <a:schemeClr val="tx1"/>
                </a:solidFill>
                <a:effectLst/>
                <a:latin typeface="+mn-lt"/>
                <a:ea typeface="+mn-ea"/>
                <a:cs typeface="+mn-cs"/>
              </a:rPr>
              <a:t>Zou (2025) empfiehlt TER (Tone Error Rate) als Metrik: "Tone Error Rate (TER) </a:t>
            </a:r>
            <a:r>
              <a:rPr lang="de-DE" sz="1200" b="0" i="0" kern="1200" dirty="0" err="1">
                <a:solidFill>
                  <a:schemeClr val="tx1"/>
                </a:solidFill>
                <a:effectLst/>
                <a:latin typeface="+mn-lt"/>
                <a:ea typeface="+mn-ea"/>
                <a:cs typeface="+mn-cs"/>
              </a:rPr>
              <a:t>analogous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to</a:t>
            </a:r>
            <a:r>
              <a:rPr lang="de-DE" sz="1200" b="0" i="0" kern="1200" dirty="0">
                <a:solidFill>
                  <a:schemeClr val="tx1"/>
                </a:solidFill>
                <a:effectLst/>
                <a:latin typeface="+mn-lt"/>
                <a:ea typeface="+mn-ea"/>
                <a:cs typeface="+mn-cs"/>
              </a:rPr>
              <a:t> Word Error Rate </a:t>
            </a:r>
            <a:r>
              <a:rPr lang="de-DE" sz="1200" b="0" i="0" kern="1200" dirty="0" err="1">
                <a:solidFill>
                  <a:schemeClr val="tx1"/>
                </a:solidFill>
                <a:effectLst/>
                <a:latin typeface="+mn-lt"/>
                <a:ea typeface="+mn-ea"/>
                <a:cs typeface="+mn-cs"/>
              </a:rPr>
              <a:t>is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preferred</a:t>
            </a:r>
            <a:r>
              <a:rPr lang="de-DE" sz="1200" b="0" i="0" kern="1200" dirty="0">
                <a:solidFill>
                  <a:schemeClr val="tx1"/>
                </a:solidFill>
                <a:effectLst/>
                <a:latin typeface="+mn-lt"/>
                <a:ea typeface="+mn-ea"/>
                <a:cs typeface="+mn-cs"/>
              </a:rPr>
              <a:t>" — aber KEIN Paper wendet TER tatsächlich an!</a:t>
            </a:r>
          </a:p>
          <a:p>
            <a:pPr marL="171450" indent="-171450">
              <a:buFont typeface="Arial" panose="020B0604020202020204" pitchFamily="34" charset="0"/>
              <a:buChar char="•"/>
            </a:pPr>
            <a:r>
              <a:rPr lang="de-DE" sz="1200" b="0" i="0" kern="1200" dirty="0">
                <a:solidFill>
                  <a:schemeClr val="tx1"/>
                </a:solidFill>
                <a:effectLst/>
                <a:latin typeface="+mn-lt"/>
                <a:ea typeface="+mn-ea"/>
                <a:cs typeface="+mn-cs"/>
              </a:rPr>
              <a:t>Unsere Arbeit schließt alle 3 Lücken: Tone Perfect + multimodale LLMs + TER als Metrik</a:t>
            </a:r>
          </a:p>
          <a:p>
            <a:endParaRPr lang="de-DE" dirty="0"/>
          </a:p>
        </p:txBody>
      </p:sp>
      <p:sp>
        <p:nvSpPr>
          <p:cNvPr id="4" name="Slide Number Placeholder 3"/>
          <p:cNvSpPr>
            <a:spLocks noGrp="1"/>
          </p:cNvSpPr>
          <p:nvPr>
            <p:ph type="sldNum" sz="quarter" idx="5"/>
          </p:nvPr>
        </p:nvSpPr>
        <p:spPr/>
        <p:txBody>
          <a:bodyPr/>
          <a:lstStyle/>
          <a:p>
            <a:fld id="{35C0B671-25EF-47C3-BD31-46E7FB9E6220}" type="slidenum">
              <a:rPr lang="de-DE" smtClean="0"/>
              <a:t>27</a:t>
            </a:fld>
            <a:endParaRPr lang="de-DE"/>
          </a:p>
        </p:txBody>
      </p:sp>
    </p:spTree>
    <p:extLst>
      <p:ext uri="{BB962C8B-B14F-4D97-AF65-F5344CB8AC3E}">
        <p14:creationId xmlns:p14="http://schemas.microsoft.com/office/powerpoint/2010/main" val="152844681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sz="1200" b="0" i="0" kern="1200" dirty="0">
                <a:solidFill>
                  <a:schemeClr val="tx1"/>
                </a:solidFill>
                <a:effectLst/>
                <a:latin typeface="+mn-lt"/>
                <a:ea typeface="+mn-ea"/>
                <a:cs typeface="+mn-cs"/>
              </a:rPr>
              <a:t>Wenn ein Paper ‚CER' sagt, muss man fragen: CER auf WAS? In Seed-ASR oder </a:t>
            </a:r>
            <a:r>
              <a:rPr lang="de-DE" sz="1200" b="0" i="0" kern="1200" dirty="0" err="1">
                <a:solidFill>
                  <a:schemeClr val="tx1"/>
                </a:solidFill>
                <a:effectLst/>
                <a:latin typeface="+mn-lt"/>
                <a:ea typeface="+mn-ea"/>
                <a:cs typeface="+mn-cs"/>
              </a:rPr>
              <a:t>FireRedASR</a:t>
            </a:r>
            <a:r>
              <a:rPr lang="de-DE" sz="1200" b="0" i="0" kern="1200" dirty="0">
                <a:solidFill>
                  <a:schemeClr val="tx1"/>
                </a:solidFill>
                <a:effectLst/>
                <a:latin typeface="+mn-lt"/>
                <a:ea typeface="+mn-ea"/>
                <a:cs typeface="+mn-cs"/>
              </a:rPr>
              <a:t> ist es CER auf chinesischen Zeichen — ob das Hanzi stimmt. In </a:t>
            </a:r>
            <a:r>
              <a:rPr lang="de-DE" sz="1200" b="0" i="0" kern="1200" dirty="0" err="1">
                <a:solidFill>
                  <a:schemeClr val="tx1"/>
                </a:solidFill>
                <a:effectLst/>
                <a:latin typeface="+mn-lt"/>
                <a:ea typeface="+mn-ea"/>
                <a:cs typeface="+mn-cs"/>
              </a:rPr>
              <a:t>Chirkovas</a:t>
            </a:r>
            <a:r>
              <a:rPr lang="de-DE" sz="1200" b="0" i="0" kern="1200" dirty="0">
                <a:solidFill>
                  <a:schemeClr val="tx1"/>
                </a:solidFill>
                <a:effectLst/>
                <a:latin typeface="+mn-lt"/>
                <a:ea typeface="+mn-ea"/>
                <a:cs typeface="+mn-cs"/>
              </a:rPr>
              <a:t> Arbeit ist es CER auf IPA-Symbolen inklusive Tonmarker. In </a:t>
            </a:r>
            <a:r>
              <a:rPr lang="de-DE" sz="1200" b="0" i="0" kern="1200" dirty="0" err="1">
                <a:solidFill>
                  <a:schemeClr val="tx1"/>
                </a:solidFill>
                <a:effectLst/>
                <a:latin typeface="+mn-lt"/>
                <a:ea typeface="+mn-ea"/>
                <a:cs typeface="+mn-cs"/>
              </a:rPr>
              <a:t>Zhengjies</a:t>
            </a:r>
            <a:r>
              <a:rPr lang="de-DE" sz="1200" b="0" i="0" kern="1200" dirty="0">
                <a:solidFill>
                  <a:schemeClr val="tx1"/>
                </a:solidFill>
                <a:effectLst/>
                <a:latin typeface="+mn-lt"/>
                <a:ea typeface="+mn-ea"/>
                <a:cs typeface="+mn-cs"/>
              </a:rPr>
              <a:t> PYG-ASR ist es CER auf Pinyin, aber ohne Töne. Alle drei sagen ‚CER', alle drei messen etwas völlig Verschiedenes. Das Diagramm zeigt es am Beispiel </a:t>
            </a:r>
            <a:r>
              <a:rPr lang="de-DE" sz="1200" b="0" i="0" kern="1200" dirty="0" err="1">
                <a:solidFill>
                  <a:schemeClr val="tx1"/>
                </a:solidFill>
                <a:effectLst/>
                <a:latin typeface="+mn-lt"/>
                <a:ea typeface="+mn-ea"/>
                <a:cs typeface="+mn-cs"/>
              </a:rPr>
              <a:t>diànnǎo</a:t>
            </a:r>
            <a:r>
              <a:rPr lang="de-DE" sz="1200" b="0" i="0" kern="1200" dirty="0">
                <a:solidFill>
                  <a:schemeClr val="tx1"/>
                </a:solidFill>
                <a:effectLst/>
                <a:latin typeface="+mn-lt"/>
                <a:ea typeface="+mn-ea"/>
                <a:cs typeface="+mn-cs"/>
              </a:rPr>
              <a:t>: Auf Hanzi-Ebene wird ein Tonfehler gar nicht sichtbar, wenn das System zufällig das richtige Zeichen errät. Auf </a:t>
            </a:r>
            <a:r>
              <a:rPr lang="de-DE" sz="1200" b="0" i="0" kern="1200" dirty="0" err="1">
                <a:solidFill>
                  <a:schemeClr val="tx1"/>
                </a:solidFill>
                <a:effectLst/>
                <a:latin typeface="+mn-lt"/>
                <a:ea typeface="+mn-ea"/>
                <a:cs typeface="+mn-cs"/>
              </a:rPr>
              <a:t>Pinyin+Ton-Ebene</a:t>
            </a:r>
            <a:r>
              <a:rPr lang="de-DE" sz="1200" b="0" i="0" kern="1200" dirty="0">
                <a:solidFill>
                  <a:schemeClr val="tx1"/>
                </a:solidFill>
                <a:effectLst/>
                <a:latin typeface="+mn-lt"/>
                <a:ea typeface="+mn-ea"/>
                <a:cs typeface="+mn-cs"/>
              </a:rPr>
              <a:t> ist der Fehler klar messbar. Diese Unterscheidung wird in keinem der 42 Papers explizit diskutiert.</a:t>
            </a:r>
            <a:endParaRPr lang="de-DE" dirty="0"/>
          </a:p>
        </p:txBody>
      </p:sp>
      <p:sp>
        <p:nvSpPr>
          <p:cNvPr id="4" name="Slide Number Placeholder 3"/>
          <p:cNvSpPr>
            <a:spLocks noGrp="1"/>
          </p:cNvSpPr>
          <p:nvPr>
            <p:ph type="sldNum" sz="quarter" idx="5"/>
          </p:nvPr>
        </p:nvSpPr>
        <p:spPr/>
        <p:txBody>
          <a:bodyPr/>
          <a:lstStyle/>
          <a:p>
            <a:fld id="{35C0B671-25EF-47C3-BD31-46E7FB9E6220}" type="slidenum">
              <a:rPr lang="de-DE" smtClean="0"/>
              <a:t>30</a:t>
            </a:fld>
            <a:endParaRPr lang="de-DE"/>
          </a:p>
        </p:txBody>
      </p:sp>
    </p:spTree>
    <p:extLst>
      <p:ext uri="{BB962C8B-B14F-4D97-AF65-F5344CB8AC3E}">
        <p14:creationId xmlns:p14="http://schemas.microsoft.com/office/powerpoint/2010/main" val="409506731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sz="1200" b="0" i="0" kern="1200" dirty="0">
                <a:solidFill>
                  <a:schemeClr val="tx1"/>
                </a:solidFill>
                <a:effectLst/>
                <a:latin typeface="+mn-lt"/>
                <a:ea typeface="+mn-ea"/>
                <a:cs typeface="+mn-cs"/>
              </a:rPr>
              <a:t>Die Übersichtskarte zeigt ein klares Muster: Etwa 27 der 42 Papers messen auf Hanzi-Ebene — Zeichen rein, Zeichen raus, fertig. Auf der Pinyin-Ebene, also der Lautschrift-Silbe, arbeiten nur zwei Papers: </a:t>
            </a:r>
            <a:r>
              <a:rPr lang="de-DE" sz="1200" b="0" i="0" kern="1200" dirty="0" err="1">
                <a:solidFill>
                  <a:schemeClr val="tx1"/>
                </a:solidFill>
                <a:effectLst/>
                <a:latin typeface="+mn-lt"/>
                <a:ea typeface="+mn-ea"/>
                <a:cs typeface="+mn-cs"/>
              </a:rPr>
              <a:t>Zhengjie</a:t>
            </a:r>
            <a:r>
              <a:rPr lang="de-DE" sz="1200" b="0" i="0" kern="1200" dirty="0">
                <a:solidFill>
                  <a:schemeClr val="tx1"/>
                </a:solidFill>
                <a:effectLst/>
                <a:latin typeface="+mn-lt"/>
                <a:ea typeface="+mn-ea"/>
                <a:cs typeface="+mn-cs"/>
              </a:rPr>
              <a:t> und Chen. Auf Phonem-Ebene — wo einzelne Laute verglichen werden — sind es drei: Du mit seinem </a:t>
            </a:r>
            <a:r>
              <a:rPr lang="de-DE" sz="1200" b="0" i="0" kern="1200" dirty="0" err="1">
                <a:solidFill>
                  <a:schemeClr val="tx1"/>
                </a:solidFill>
                <a:effectLst/>
                <a:latin typeface="+mn-lt"/>
                <a:ea typeface="+mn-ea"/>
                <a:cs typeface="+mn-cs"/>
              </a:rPr>
              <a:t>Zipformer</a:t>
            </a:r>
            <a:r>
              <a:rPr lang="de-DE" sz="1200" b="0" i="0" kern="1200" dirty="0">
                <a:solidFill>
                  <a:schemeClr val="tx1"/>
                </a:solidFill>
                <a:effectLst/>
                <a:latin typeface="+mn-lt"/>
                <a:ea typeface="+mn-ea"/>
                <a:cs typeface="+mn-cs"/>
              </a:rPr>
              <a:t>, Wang mit dem Pitch-Aware MDD-Modell und Zhu mit ZIPA. Explizit den Ton als eigene Dimension messen nur drei Papers: </a:t>
            </a:r>
            <a:r>
              <a:rPr lang="de-DE" sz="1200" b="0" i="0" kern="1200" dirty="0" err="1">
                <a:solidFill>
                  <a:schemeClr val="tx1"/>
                </a:solidFill>
                <a:effectLst/>
                <a:latin typeface="+mn-lt"/>
                <a:ea typeface="+mn-ea"/>
                <a:cs typeface="+mn-cs"/>
              </a:rPr>
              <a:t>Bu</a:t>
            </a:r>
            <a:r>
              <a:rPr lang="de-DE" sz="1200" b="0" i="0" kern="1200" dirty="0">
                <a:solidFill>
                  <a:schemeClr val="tx1"/>
                </a:solidFill>
                <a:effectLst/>
                <a:latin typeface="+mn-lt"/>
                <a:ea typeface="+mn-ea"/>
                <a:cs typeface="+mn-cs"/>
              </a:rPr>
              <a:t> über F0-Konturen, Wu mit FRR/FAR pro Ton, und der Zou-Review, der TER empfiehlt. Je relevanter die Ebene für Aussprache-Bewertung wird, desto weniger Papers messen dort.</a:t>
            </a:r>
            <a:endParaRPr lang="de-DE" dirty="0"/>
          </a:p>
        </p:txBody>
      </p:sp>
      <p:sp>
        <p:nvSpPr>
          <p:cNvPr id="4" name="Slide Number Placeholder 3"/>
          <p:cNvSpPr>
            <a:spLocks noGrp="1"/>
          </p:cNvSpPr>
          <p:nvPr>
            <p:ph type="sldNum" sz="quarter" idx="5"/>
          </p:nvPr>
        </p:nvSpPr>
        <p:spPr/>
        <p:txBody>
          <a:bodyPr/>
          <a:lstStyle/>
          <a:p>
            <a:fld id="{35C0B671-25EF-47C3-BD31-46E7FB9E6220}" type="slidenum">
              <a:rPr lang="de-DE" smtClean="0"/>
              <a:t>31</a:t>
            </a:fld>
            <a:endParaRPr lang="de-DE"/>
          </a:p>
        </p:txBody>
      </p:sp>
    </p:spTree>
    <p:extLst>
      <p:ext uri="{BB962C8B-B14F-4D97-AF65-F5344CB8AC3E}">
        <p14:creationId xmlns:p14="http://schemas.microsoft.com/office/powerpoint/2010/main" val="17638034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sz="1200" b="0" i="0" kern="1200" dirty="0">
                <a:solidFill>
                  <a:schemeClr val="tx1"/>
                </a:solidFill>
                <a:effectLst/>
                <a:latin typeface="+mn-lt"/>
                <a:ea typeface="+mn-ea"/>
                <a:cs typeface="+mn-cs"/>
              </a:rPr>
              <a:t>Diese Tabelle ist der Kern der Methodik-Analyse. Sie zeigt für die acht phonetisch relevanten Papers exakt, was als Goldstandard dient und was das System ausgibt. Bei Du sind es </a:t>
            </a:r>
            <a:r>
              <a:rPr lang="de-DE" sz="1200" b="0" i="0" kern="1200" dirty="0" err="1">
                <a:solidFill>
                  <a:schemeClr val="tx1"/>
                </a:solidFill>
                <a:effectLst/>
                <a:latin typeface="+mn-lt"/>
                <a:ea typeface="+mn-ea"/>
                <a:cs typeface="+mn-cs"/>
              </a:rPr>
              <a:t>Phonemsequenzen</a:t>
            </a:r>
            <a:r>
              <a:rPr lang="de-DE" sz="1200" b="0" i="0" kern="1200" dirty="0">
                <a:solidFill>
                  <a:schemeClr val="tx1"/>
                </a:solidFill>
                <a:effectLst/>
                <a:latin typeface="+mn-lt"/>
                <a:ea typeface="+mn-ea"/>
                <a:cs typeface="+mn-cs"/>
              </a:rPr>
              <a:t> aus 66 Kategorien — inklusive Tonphonem. Bei </a:t>
            </a:r>
            <a:r>
              <a:rPr lang="de-DE" sz="1200" b="0" i="0" kern="1200" dirty="0" err="1">
                <a:solidFill>
                  <a:schemeClr val="tx1"/>
                </a:solidFill>
                <a:effectLst/>
                <a:latin typeface="+mn-lt"/>
                <a:ea typeface="+mn-ea"/>
                <a:cs typeface="+mn-cs"/>
              </a:rPr>
              <a:t>Zhengjie</a:t>
            </a:r>
            <a:r>
              <a:rPr lang="de-DE" sz="1200" b="0" i="0" kern="1200" dirty="0">
                <a:solidFill>
                  <a:schemeClr val="tx1"/>
                </a:solidFill>
                <a:effectLst/>
                <a:latin typeface="+mn-lt"/>
                <a:ea typeface="+mn-ea"/>
                <a:cs typeface="+mn-cs"/>
              </a:rPr>
              <a:t> ist es Pinyin, aber ohne Tonmarker — ein wichtiger Unterschied. Bei Chirkova werden IPA-Transkriptionen mit Tönen verglichen, und sie definiert sogar eine eigene tonal CER, die nur Tonfehler zählt. Bei </a:t>
            </a:r>
            <a:r>
              <a:rPr lang="de-DE" sz="1200" b="0" i="0" kern="1200" dirty="0" err="1">
                <a:solidFill>
                  <a:schemeClr val="tx1"/>
                </a:solidFill>
                <a:effectLst/>
                <a:latin typeface="+mn-lt"/>
                <a:ea typeface="+mn-ea"/>
                <a:cs typeface="+mn-cs"/>
              </a:rPr>
              <a:t>Bu</a:t>
            </a:r>
            <a:r>
              <a:rPr lang="de-DE" sz="1200" b="0" i="0" kern="1200" dirty="0">
                <a:solidFill>
                  <a:schemeClr val="tx1"/>
                </a:solidFill>
                <a:effectLst/>
                <a:latin typeface="+mn-lt"/>
                <a:ea typeface="+mn-ea"/>
                <a:cs typeface="+mn-cs"/>
              </a:rPr>
              <a:t> werden gar keine diskreten Einheiten verglichen, sondern F0-Konturen als Vektoren — ein fundamentaler methodischer Unterschied. Was sofort auffällt: Kein Paper vergleicht Pinyin MIT Tonnummern als atomare Einheiten — also ‚ma1' gegen ‚ma2'. Das wäre genau die Ebene, die für einen Vokabeltrainer optimal wäre.</a:t>
            </a:r>
            <a:endParaRPr lang="de-DE" dirty="0"/>
          </a:p>
        </p:txBody>
      </p:sp>
      <p:sp>
        <p:nvSpPr>
          <p:cNvPr id="4" name="Slide Number Placeholder 3"/>
          <p:cNvSpPr>
            <a:spLocks noGrp="1"/>
          </p:cNvSpPr>
          <p:nvPr>
            <p:ph type="sldNum" sz="quarter" idx="5"/>
          </p:nvPr>
        </p:nvSpPr>
        <p:spPr/>
        <p:txBody>
          <a:bodyPr/>
          <a:lstStyle/>
          <a:p>
            <a:fld id="{35C0B671-25EF-47C3-BD31-46E7FB9E6220}" type="slidenum">
              <a:rPr lang="de-DE" smtClean="0"/>
              <a:t>32</a:t>
            </a:fld>
            <a:endParaRPr lang="de-DE"/>
          </a:p>
        </p:txBody>
      </p:sp>
    </p:spTree>
    <p:extLst>
      <p:ext uri="{BB962C8B-B14F-4D97-AF65-F5344CB8AC3E}">
        <p14:creationId xmlns:p14="http://schemas.microsoft.com/office/powerpoint/2010/main" val="7486266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sz="1200" b="0" i="0" kern="1200" dirty="0">
                <a:solidFill>
                  <a:schemeClr val="tx1"/>
                </a:solidFill>
                <a:effectLst/>
                <a:latin typeface="+mn-lt"/>
                <a:ea typeface="+mn-ea"/>
                <a:cs typeface="+mn-cs"/>
              </a:rPr>
              <a:t>Es gibt genau vier Strategien, wie Papers mit Mandarin-Tönen umgehen. Die Mehrheit — 27 Papers — ignoriert sie komplett: CER auf Hanzi misst Zeichen, nicht Töne. Drei Papers betten den Ton implizit ins Phonem ein — bei Wang etwa ist ‚a1' ein anderes Phonem als ‚a2', beide aus einem 66-Phonem-Set mit fünf Tönen. Vier Papers messen Töne als eigene Dimension: Chirkova mit tonal CER, Wu mit FRR und FAR pro Ton, Zou empfiehlt TER. Und zwei Papers arbeiten akustisch auf F0-Konturen statt auf symbolischen Einheiten. Der Haken an Strategie 2 — implizit — ist: Man kann nicht nachher sagen, ob ein Fehler ein Segment-Fehler oder ein Ton-Fehler war, weil beides in einer Zahl verschmilzt. Strategie 3 — separat — ist die informativste, wird aber am seltensten angewandt. Diese Lücke motiviert meinen zweiachsigen Ansatz.</a:t>
            </a:r>
            <a:endParaRPr lang="de-DE" dirty="0"/>
          </a:p>
        </p:txBody>
      </p:sp>
      <p:sp>
        <p:nvSpPr>
          <p:cNvPr id="4" name="Slide Number Placeholder 3"/>
          <p:cNvSpPr>
            <a:spLocks noGrp="1"/>
          </p:cNvSpPr>
          <p:nvPr>
            <p:ph type="sldNum" sz="quarter" idx="5"/>
          </p:nvPr>
        </p:nvSpPr>
        <p:spPr/>
        <p:txBody>
          <a:bodyPr/>
          <a:lstStyle/>
          <a:p>
            <a:fld id="{35C0B671-25EF-47C3-BD31-46E7FB9E6220}" type="slidenum">
              <a:rPr lang="de-DE" smtClean="0"/>
              <a:t>33</a:t>
            </a:fld>
            <a:endParaRPr lang="de-DE"/>
          </a:p>
        </p:txBody>
      </p:sp>
    </p:spTree>
    <p:extLst>
      <p:ext uri="{BB962C8B-B14F-4D97-AF65-F5344CB8AC3E}">
        <p14:creationId xmlns:p14="http://schemas.microsoft.com/office/powerpoint/2010/main" val="296227518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sz="1200" b="0" i="0" kern="1200" dirty="0">
                <a:solidFill>
                  <a:schemeClr val="tx1"/>
                </a:solidFill>
                <a:effectLst/>
                <a:latin typeface="+mn-lt"/>
                <a:ea typeface="+mn-ea"/>
                <a:cs typeface="+mn-cs"/>
              </a:rPr>
              <a:t>Alle 37 untersuchten Papers verwenden eine von drei Berechnungsstrategien. Erstens, mit Abstand am häufigsten: </a:t>
            </a:r>
            <a:r>
              <a:rPr lang="de-DE" sz="1200" b="0" i="0" kern="1200" dirty="0" err="1">
                <a:solidFill>
                  <a:schemeClr val="tx1"/>
                </a:solidFill>
                <a:effectLst/>
                <a:latin typeface="+mn-lt"/>
                <a:ea typeface="+mn-ea"/>
                <a:cs typeface="+mn-cs"/>
              </a:rPr>
              <a:t>Levenshtein</a:t>
            </a:r>
            <a:r>
              <a:rPr lang="de-DE" sz="1200" b="0" i="0" kern="1200" dirty="0">
                <a:solidFill>
                  <a:schemeClr val="tx1"/>
                </a:solidFill>
                <a:effectLst/>
                <a:latin typeface="+mn-lt"/>
                <a:ea typeface="+mn-ea"/>
                <a:cs typeface="+mn-cs"/>
              </a:rPr>
              <a:t>-Distanz. Das ist egal ob CER, WER, PER oder TER — immer wird die Editierdistanz berechnet, jede Substitution, Deletion oder Insertion kostet genau 1. </a:t>
            </a:r>
            <a:r>
              <a:rPr lang="de-DE" sz="1200" b="0" i="0" kern="1200" dirty="0" err="1">
                <a:solidFill>
                  <a:schemeClr val="tx1"/>
                </a:solidFill>
                <a:effectLst/>
                <a:latin typeface="+mn-lt"/>
                <a:ea typeface="+mn-ea"/>
                <a:cs typeface="+mn-cs"/>
              </a:rPr>
              <a:t>Wei's</a:t>
            </a:r>
            <a:r>
              <a:rPr lang="de-DE" sz="1200" b="0" i="0" kern="1200" dirty="0">
                <a:solidFill>
                  <a:schemeClr val="tx1"/>
                </a:solidFill>
                <a:effectLst/>
                <a:latin typeface="+mn-lt"/>
                <a:ea typeface="+mn-ea"/>
                <a:cs typeface="+mn-cs"/>
              </a:rPr>
              <a:t> ASR-EC Paper ist das einzige, das die S/D/I-Anteile separat aufschlüsselt. Zweitens, nur in Zhus ZIPA-Paper: Feature-Distanz auf 24 artikulatorischen Merkmalen aus </a:t>
            </a:r>
            <a:r>
              <a:rPr lang="de-DE" sz="1200" b="0" i="0" kern="1200" dirty="0" err="1">
                <a:solidFill>
                  <a:schemeClr val="tx1"/>
                </a:solidFill>
                <a:effectLst/>
                <a:latin typeface="+mn-lt"/>
                <a:ea typeface="+mn-ea"/>
                <a:cs typeface="+mn-cs"/>
              </a:rPr>
              <a:t>PanPhon</a:t>
            </a:r>
            <a:r>
              <a:rPr lang="de-DE" sz="1200" b="0" i="0" kern="1200" dirty="0">
                <a:solidFill>
                  <a:schemeClr val="tx1"/>
                </a:solidFill>
                <a:effectLst/>
                <a:latin typeface="+mn-lt"/>
                <a:ea typeface="+mn-ea"/>
                <a:cs typeface="+mn-cs"/>
              </a:rPr>
              <a:t>. Statt ‚falsch' oder ‚richtig' gibt es ein Maß der phonetischen Ähnlichkeit. Drittens, nur bei </a:t>
            </a:r>
            <a:r>
              <a:rPr lang="de-DE" sz="1200" b="0" i="0" kern="1200" dirty="0" err="1">
                <a:solidFill>
                  <a:schemeClr val="tx1"/>
                </a:solidFill>
                <a:effectLst/>
                <a:latin typeface="+mn-lt"/>
                <a:ea typeface="+mn-ea"/>
                <a:cs typeface="+mn-cs"/>
              </a:rPr>
              <a:t>Bu</a:t>
            </a:r>
            <a:r>
              <a:rPr lang="de-DE" sz="1200" b="0" i="0" kern="1200" dirty="0">
                <a:solidFill>
                  <a:schemeClr val="tx1"/>
                </a:solidFill>
                <a:effectLst/>
                <a:latin typeface="+mn-lt"/>
                <a:ea typeface="+mn-ea"/>
                <a:cs typeface="+mn-cs"/>
              </a:rPr>
              <a:t>: eine Regression auf F0-Konturen, also auf den Tonhöhenverlauf. Das ergibt einen kontinuierlichen MSE-Wert statt einer diskreten Fehlerrate. Für meine Arbeit ist die erste Frage: Auf welchen Token wird </a:t>
            </a:r>
            <a:r>
              <a:rPr lang="de-DE" sz="1200" b="0" i="0" kern="1200" dirty="0" err="1">
                <a:solidFill>
                  <a:schemeClr val="tx1"/>
                </a:solidFill>
                <a:effectLst/>
                <a:latin typeface="+mn-lt"/>
                <a:ea typeface="+mn-ea"/>
                <a:cs typeface="+mn-cs"/>
              </a:rPr>
              <a:t>Levenshtein</a:t>
            </a:r>
            <a:r>
              <a:rPr lang="de-DE" sz="1200" b="0" i="0" kern="1200" dirty="0">
                <a:solidFill>
                  <a:schemeClr val="tx1"/>
                </a:solidFill>
                <a:effectLst/>
                <a:latin typeface="+mn-lt"/>
                <a:ea typeface="+mn-ea"/>
                <a:cs typeface="+mn-cs"/>
              </a:rPr>
              <a:t> berechnet — Hanzi, Pinyin, </a:t>
            </a:r>
            <a:r>
              <a:rPr lang="de-DE" sz="1200" b="0" i="0" kern="1200" dirty="0" err="1">
                <a:solidFill>
                  <a:schemeClr val="tx1"/>
                </a:solidFill>
                <a:effectLst/>
                <a:latin typeface="+mn-lt"/>
                <a:ea typeface="+mn-ea"/>
                <a:cs typeface="+mn-cs"/>
              </a:rPr>
              <a:t>Pinyin+Ton</a:t>
            </a:r>
            <a:r>
              <a:rPr lang="de-DE" sz="1200" b="0" i="0" kern="1200" dirty="0">
                <a:solidFill>
                  <a:schemeClr val="tx1"/>
                </a:solidFill>
                <a:effectLst/>
                <a:latin typeface="+mn-lt"/>
                <a:ea typeface="+mn-ea"/>
                <a:cs typeface="+mn-cs"/>
              </a:rPr>
              <a:t>, oder Phonem? Die zweite Frage: Soll man gewichten wie PFER, oder jeder Fehler gleich?</a:t>
            </a:r>
            <a:endParaRPr lang="de-DE" dirty="0"/>
          </a:p>
        </p:txBody>
      </p:sp>
      <p:sp>
        <p:nvSpPr>
          <p:cNvPr id="4" name="Slide Number Placeholder 3"/>
          <p:cNvSpPr>
            <a:spLocks noGrp="1"/>
          </p:cNvSpPr>
          <p:nvPr>
            <p:ph type="sldNum" sz="quarter" idx="5"/>
          </p:nvPr>
        </p:nvSpPr>
        <p:spPr/>
        <p:txBody>
          <a:bodyPr/>
          <a:lstStyle/>
          <a:p>
            <a:fld id="{35C0B671-25EF-47C3-BD31-46E7FB9E6220}" type="slidenum">
              <a:rPr lang="de-DE" smtClean="0"/>
              <a:t>34</a:t>
            </a:fld>
            <a:endParaRPr lang="de-DE"/>
          </a:p>
        </p:txBody>
      </p:sp>
    </p:spTree>
    <p:extLst>
      <p:ext uri="{BB962C8B-B14F-4D97-AF65-F5344CB8AC3E}">
        <p14:creationId xmlns:p14="http://schemas.microsoft.com/office/powerpoint/2010/main" val="122304616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sz="1200" b="0" i="0" kern="1200" dirty="0">
                <a:solidFill>
                  <a:schemeClr val="tx1"/>
                </a:solidFill>
                <a:effectLst/>
                <a:latin typeface="+mn-lt"/>
                <a:ea typeface="+mn-ea"/>
                <a:cs typeface="+mn-cs"/>
              </a:rPr>
              <a:t>Von 42 Papers gewichtet genau eines Fehler nach phonetischer Ähnlichkeit: Zhus ZIPA mit PFER. Alle anderen behandeln jede Verwechslung gleich — ob ein Lerner ‚</a:t>
            </a:r>
            <a:r>
              <a:rPr lang="de-DE" sz="1200" b="0" i="0" kern="1200" dirty="0" err="1">
                <a:solidFill>
                  <a:schemeClr val="tx1"/>
                </a:solidFill>
                <a:effectLst/>
                <a:latin typeface="+mn-lt"/>
                <a:ea typeface="+mn-ea"/>
                <a:cs typeface="+mn-cs"/>
              </a:rPr>
              <a:t>dian</a:t>
            </a:r>
            <a:r>
              <a:rPr lang="de-DE" sz="1200" b="0" i="0" kern="1200" dirty="0">
                <a:solidFill>
                  <a:schemeClr val="tx1"/>
                </a:solidFill>
                <a:effectLst/>
                <a:latin typeface="+mn-lt"/>
                <a:ea typeface="+mn-ea"/>
                <a:cs typeface="+mn-cs"/>
              </a:rPr>
              <a:t>' statt ‚</a:t>
            </a:r>
            <a:r>
              <a:rPr lang="de-DE" sz="1200" b="0" i="0" kern="1200" dirty="0" err="1">
                <a:solidFill>
                  <a:schemeClr val="tx1"/>
                </a:solidFill>
                <a:effectLst/>
                <a:latin typeface="+mn-lt"/>
                <a:ea typeface="+mn-ea"/>
                <a:cs typeface="+mn-cs"/>
              </a:rPr>
              <a:t>tian</a:t>
            </a:r>
            <a:r>
              <a:rPr lang="de-DE" sz="1200" b="0" i="0" kern="1200" dirty="0">
                <a:solidFill>
                  <a:schemeClr val="tx1"/>
                </a:solidFill>
                <a:effectLst/>
                <a:latin typeface="+mn-lt"/>
                <a:ea typeface="+mn-ea"/>
                <a:cs typeface="+mn-cs"/>
              </a:rPr>
              <a:t>' sagt, also nur den Stimmhaftigkeitsunterschied verwechselt, oder ob er ‚</a:t>
            </a:r>
            <a:r>
              <a:rPr lang="de-DE" sz="1200" b="0" i="0" kern="1200" dirty="0" err="1">
                <a:solidFill>
                  <a:schemeClr val="tx1"/>
                </a:solidFill>
                <a:effectLst/>
                <a:latin typeface="+mn-lt"/>
                <a:ea typeface="+mn-ea"/>
                <a:cs typeface="+mn-cs"/>
              </a:rPr>
              <a:t>dian</a:t>
            </a:r>
            <a:r>
              <a:rPr lang="de-DE" sz="1200" b="0" i="0" kern="1200" dirty="0">
                <a:solidFill>
                  <a:schemeClr val="tx1"/>
                </a:solidFill>
                <a:effectLst/>
                <a:latin typeface="+mn-lt"/>
                <a:ea typeface="+mn-ea"/>
                <a:cs typeface="+mn-cs"/>
              </a:rPr>
              <a:t>' statt ‚</a:t>
            </a:r>
            <a:r>
              <a:rPr lang="de-DE" sz="1200" b="0" i="0" kern="1200" dirty="0" err="1">
                <a:solidFill>
                  <a:schemeClr val="tx1"/>
                </a:solidFill>
                <a:effectLst/>
                <a:latin typeface="+mn-lt"/>
                <a:ea typeface="+mn-ea"/>
                <a:cs typeface="+mn-cs"/>
              </a:rPr>
              <a:t>zhao</a:t>
            </a:r>
            <a:r>
              <a:rPr lang="de-DE" sz="1200" b="0" i="0" kern="1200" dirty="0">
                <a:solidFill>
                  <a:schemeClr val="tx1"/>
                </a:solidFill>
                <a:effectLst/>
                <a:latin typeface="+mn-lt"/>
                <a:ea typeface="+mn-ea"/>
                <a:cs typeface="+mn-cs"/>
              </a:rPr>
              <a:t>' sagt, also einen komplett anderen Laut produziert, beides ist genau 1 Fehler. Für einen Aussprache-Trainer ist das unfair: Der erste Fehler ist ein kleiner Patzer, der zweite ein fundamentales Problem. Seed-ASR gewichtet zwar auch, aber nach Keyword-Wichtigkeit, nicht nach phonetischer Ähnlichkeit — das hilft für Diktierfunktionen, nicht für Aussprache. Die Forschungslücke ist klar: Gewichtete tonale Metriken existieren nicht.</a:t>
            </a:r>
            <a:endParaRPr lang="de-DE" dirty="0"/>
          </a:p>
        </p:txBody>
      </p:sp>
      <p:sp>
        <p:nvSpPr>
          <p:cNvPr id="4" name="Slide Number Placeholder 3"/>
          <p:cNvSpPr>
            <a:spLocks noGrp="1"/>
          </p:cNvSpPr>
          <p:nvPr>
            <p:ph type="sldNum" sz="quarter" idx="5"/>
          </p:nvPr>
        </p:nvSpPr>
        <p:spPr/>
        <p:txBody>
          <a:bodyPr/>
          <a:lstStyle/>
          <a:p>
            <a:fld id="{35C0B671-25EF-47C3-BD31-46E7FB9E6220}" type="slidenum">
              <a:rPr lang="de-DE" smtClean="0"/>
              <a:t>35</a:t>
            </a:fld>
            <a:endParaRPr lang="de-DE"/>
          </a:p>
        </p:txBody>
      </p:sp>
    </p:spTree>
    <p:extLst>
      <p:ext uri="{BB962C8B-B14F-4D97-AF65-F5344CB8AC3E}">
        <p14:creationId xmlns:p14="http://schemas.microsoft.com/office/powerpoint/2010/main" val="50631466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sz="1200" b="0" i="0" kern="1200" dirty="0">
                <a:solidFill>
                  <a:schemeClr val="tx1"/>
                </a:solidFill>
                <a:effectLst/>
                <a:latin typeface="+mn-lt"/>
                <a:ea typeface="+mn-ea"/>
                <a:cs typeface="+mn-cs"/>
              </a:rPr>
              <a:t>Die tonale Evaluation ist der schwächste Punkt der gesamten Literatur. Zou zeigt in seinem Review über 61 Studien, dass Ton 3 durchgängig die meisten Fehler verursacht — in </a:t>
            </a:r>
            <a:r>
              <a:rPr lang="de-DE" sz="1200" b="0" i="0" kern="1200" dirty="0" err="1">
                <a:solidFill>
                  <a:schemeClr val="tx1"/>
                </a:solidFill>
                <a:effectLst/>
                <a:latin typeface="+mn-lt"/>
                <a:ea typeface="+mn-ea"/>
                <a:cs typeface="+mn-cs"/>
              </a:rPr>
              <a:t>Confusion</a:t>
            </a:r>
            <a:r>
              <a:rPr lang="de-DE" sz="1200" b="0" i="0" kern="1200" dirty="0">
                <a:solidFill>
                  <a:schemeClr val="tx1"/>
                </a:solidFill>
                <a:effectLst/>
                <a:latin typeface="+mn-lt"/>
                <a:ea typeface="+mn-ea"/>
                <a:cs typeface="+mn-cs"/>
              </a:rPr>
              <a:t> Matrices sieht man das klar. Wu liefert FRR und FAR pro Ton und zeigt, dass Ton 3 mit 30 % die höchste </a:t>
            </a:r>
            <a:r>
              <a:rPr lang="de-DE" sz="1200" b="0" i="0" kern="1200" dirty="0" err="1">
                <a:solidFill>
                  <a:schemeClr val="tx1"/>
                </a:solidFill>
                <a:effectLst/>
                <a:latin typeface="+mn-lt"/>
                <a:ea typeface="+mn-ea"/>
                <a:cs typeface="+mn-cs"/>
              </a:rPr>
              <a:t>False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Rejection</a:t>
            </a:r>
            <a:r>
              <a:rPr lang="de-DE" sz="1200" b="0" i="0" kern="1200" dirty="0">
                <a:solidFill>
                  <a:schemeClr val="tx1"/>
                </a:solidFill>
                <a:effectLst/>
                <a:latin typeface="+mn-lt"/>
                <a:ea typeface="+mn-ea"/>
                <a:cs typeface="+mn-cs"/>
              </a:rPr>
              <a:t> Rate hat. Chirkova definiert sogar eine eigene tonal CER — aber für Baima, nicht Mandarin. Was komplett fehlt: Erstens, TER als eigene Metrik auf Mandarin-LLM-Transkription. Zweitens, und das ist meine zentrale Erkenntnis, gewichtete Ton-Fehler. Niemand modelliert, dass eine Verwechslung von Ton 2 und Ton 3 — die akustisch ähnlich sind — anders zu bewerten ist als eine Verwechslung von Ton 1 und Ton 4, die akustisch maximal verschieden sind. Das ist die Forschungslücke, die meine Arbeit adressiert.</a:t>
            </a:r>
            <a:endParaRPr lang="de-DE" dirty="0"/>
          </a:p>
        </p:txBody>
      </p:sp>
      <p:sp>
        <p:nvSpPr>
          <p:cNvPr id="4" name="Slide Number Placeholder 3"/>
          <p:cNvSpPr>
            <a:spLocks noGrp="1"/>
          </p:cNvSpPr>
          <p:nvPr>
            <p:ph type="sldNum" sz="quarter" idx="5"/>
          </p:nvPr>
        </p:nvSpPr>
        <p:spPr/>
        <p:txBody>
          <a:bodyPr/>
          <a:lstStyle/>
          <a:p>
            <a:fld id="{35C0B671-25EF-47C3-BD31-46E7FB9E6220}" type="slidenum">
              <a:rPr lang="de-DE" smtClean="0"/>
              <a:t>36</a:t>
            </a:fld>
            <a:endParaRPr lang="de-DE"/>
          </a:p>
        </p:txBody>
      </p:sp>
    </p:spTree>
    <p:extLst>
      <p:ext uri="{BB962C8B-B14F-4D97-AF65-F5344CB8AC3E}">
        <p14:creationId xmlns:p14="http://schemas.microsoft.com/office/powerpoint/2010/main" val="255387053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sz="1200" b="0" i="0" kern="1200" dirty="0">
                <a:solidFill>
                  <a:schemeClr val="tx1"/>
                </a:solidFill>
                <a:effectLst/>
                <a:latin typeface="+mn-lt"/>
                <a:ea typeface="+mn-ea"/>
                <a:cs typeface="+mn-cs"/>
              </a:rPr>
              <a:t>Mein Ansatz entkoppelt die Evaluation in zwei Achsen. Achse 1 — das Segment: Stimmen Konsonant und Vokal? Das messe ich über </a:t>
            </a:r>
            <a:r>
              <a:rPr lang="de-DE" sz="1200" b="0" i="0" kern="1200" dirty="0" err="1">
                <a:solidFill>
                  <a:schemeClr val="tx1"/>
                </a:solidFill>
                <a:effectLst/>
                <a:latin typeface="+mn-lt"/>
                <a:ea typeface="+mn-ea"/>
                <a:cs typeface="+mn-cs"/>
              </a:rPr>
              <a:t>Syllable</a:t>
            </a:r>
            <a:r>
              <a:rPr lang="de-DE" sz="1200" b="0" i="0" kern="1200" dirty="0">
                <a:solidFill>
                  <a:schemeClr val="tx1"/>
                </a:solidFill>
                <a:effectLst/>
                <a:latin typeface="+mn-lt"/>
                <a:ea typeface="+mn-ea"/>
                <a:cs typeface="+mn-cs"/>
              </a:rPr>
              <a:t> Error Rate oder segmentale PER, also Pinyin ohne Ton. Achse 2 — der Ton: Stimmt der Ton? Das messe ich über TER plus per-Ton-F1 und eine </a:t>
            </a:r>
            <a:r>
              <a:rPr lang="de-DE" sz="1200" b="0" i="0" kern="1200" dirty="0" err="1">
                <a:solidFill>
                  <a:schemeClr val="tx1"/>
                </a:solidFill>
                <a:effectLst/>
                <a:latin typeface="+mn-lt"/>
                <a:ea typeface="+mn-ea"/>
                <a:cs typeface="+mn-cs"/>
              </a:rPr>
              <a:t>Confusion</a:t>
            </a:r>
            <a:r>
              <a:rPr lang="de-DE" sz="1200" b="0" i="0" kern="1200" dirty="0">
                <a:solidFill>
                  <a:schemeClr val="tx1"/>
                </a:solidFill>
                <a:effectLst/>
                <a:latin typeface="+mn-lt"/>
                <a:ea typeface="+mn-ea"/>
                <a:cs typeface="+mn-cs"/>
              </a:rPr>
              <a:t> Matrix, die zeigt, welche Töne das Modell verwechselt. Erst die Kombination — Silbe UND Ton korrekt — ergibt die </a:t>
            </a:r>
            <a:r>
              <a:rPr lang="de-DE" sz="1200" b="0" i="0" kern="1200" dirty="0" err="1">
                <a:solidFill>
                  <a:schemeClr val="tx1"/>
                </a:solidFill>
                <a:effectLst/>
                <a:latin typeface="+mn-lt"/>
                <a:ea typeface="+mn-ea"/>
                <a:cs typeface="+mn-cs"/>
              </a:rPr>
              <a:t>Combined</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Accuracy</a:t>
            </a:r>
            <a:r>
              <a:rPr lang="de-DE" sz="1200" b="0" i="0" kern="1200" dirty="0">
                <a:solidFill>
                  <a:schemeClr val="tx1"/>
                </a:solidFill>
                <a:effectLst/>
                <a:latin typeface="+mn-lt"/>
                <a:ea typeface="+mn-ea"/>
                <a:cs typeface="+mn-cs"/>
              </a:rPr>
              <a:t>. Diese Entkopplung hat zwei Vorteile: Erstens sehe ich, ob ein Modell gut bei Lauten aber schlecht bei Tönen ist — oder umgekehrt. Zweitens kann ich gezielt nach Ton-3-Schwächen suchen, die laut Zou der häufigste Fehlertyp sind. Für multimodale LLMs auf Mandarin wurde diese entkoppelte Evaluation noch nie gemacht — das ist der methodische Beitrag.</a:t>
            </a:r>
            <a:endParaRPr lang="de-DE" dirty="0"/>
          </a:p>
        </p:txBody>
      </p:sp>
      <p:sp>
        <p:nvSpPr>
          <p:cNvPr id="4" name="Slide Number Placeholder 3"/>
          <p:cNvSpPr>
            <a:spLocks noGrp="1"/>
          </p:cNvSpPr>
          <p:nvPr>
            <p:ph type="sldNum" sz="quarter" idx="5"/>
          </p:nvPr>
        </p:nvSpPr>
        <p:spPr/>
        <p:txBody>
          <a:bodyPr/>
          <a:lstStyle/>
          <a:p>
            <a:fld id="{35C0B671-25EF-47C3-BD31-46E7FB9E6220}" type="slidenum">
              <a:rPr lang="de-DE" smtClean="0"/>
              <a:t>37</a:t>
            </a:fld>
            <a:endParaRPr lang="de-DE"/>
          </a:p>
        </p:txBody>
      </p:sp>
    </p:spTree>
    <p:extLst>
      <p:ext uri="{BB962C8B-B14F-4D97-AF65-F5344CB8AC3E}">
        <p14:creationId xmlns:p14="http://schemas.microsoft.com/office/powerpoint/2010/main" val="174602979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sz="1200" b="0" i="0" kern="1200" dirty="0">
                <a:solidFill>
                  <a:schemeClr val="tx1"/>
                </a:solidFill>
                <a:effectLst/>
                <a:latin typeface="+mn-lt"/>
                <a:ea typeface="+mn-ea"/>
                <a:cs typeface="+mn-cs"/>
              </a:rPr>
              <a:t>Die Token-Definition verändert die Fehlerrate dramatisch — bei exakt demselben Fehler. Wenn ich ‚dian4 nao3' als zwei tonal </a:t>
            </a:r>
            <a:r>
              <a:rPr lang="de-DE" sz="1200" b="0" i="0" kern="1200" dirty="0" err="1">
                <a:solidFill>
                  <a:schemeClr val="tx1"/>
                </a:solidFill>
                <a:effectLst/>
                <a:latin typeface="+mn-lt"/>
                <a:ea typeface="+mn-ea"/>
                <a:cs typeface="+mn-cs"/>
              </a:rPr>
              <a:t>syllables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tokenisiere</a:t>
            </a:r>
            <a:r>
              <a:rPr lang="de-DE" sz="1200" b="0" i="0" kern="1200" dirty="0">
                <a:solidFill>
                  <a:schemeClr val="tx1"/>
                </a:solidFill>
                <a:effectLst/>
                <a:latin typeface="+mn-lt"/>
                <a:ea typeface="+mn-ea"/>
                <a:cs typeface="+mn-cs"/>
              </a:rPr>
              <a:t> und der Ton von </a:t>
            </a:r>
            <a:r>
              <a:rPr lang="de-DE" sz="1200" b="0" i="0" kern="1200" dirty="0" err="1">
                <a:solidFill>
                  <a:schemeClr val="tx1"/>
                </a:solidFill>
                <a:effectLst/>
                <a:latin typeface="+mn-lt"/>
                <a:ea typeface="+mn-ea"/>
                <a:cs typeface="+mn-cs"/>
              </a:rPr>
              <a:t>nao</a:t>
            </a:r>
            <a:r>
              <a:rPr lang="de-DE" sz="1200" b="0" i="0" kern="1200" dirty="0">
                <a:solidFill>
                  <a:schemeClr val="tx1"/>
                </a:solidFill>
                <a:effectLst/>
                <a:latin typeface="+mn-lt"/>
                <a:ea typeface="+mn-ea"/>
                <a:cs typeface="+mn-cs"/>
              </a:rPr>
              <a:t> falsch ist, habe ich 50 % </a:t>
            </a:r>
            <a:r>
              <a:rPr lang="de-DE" sz="1200" b="0" i="0" kern="1200" dirty="0" err="1">
                <a:solidFill>
                  <a:schemeClr val="tx1"/>
                </a:solidFill>
                <a:effectLst/>
                <a:latin typeface="+mn-lt"/>
                <a:ea typeface="+mn-ea"/>
                <a:cs typeface="+mn-cs"/>
              </a:rPr>
              <a:t>SyllER</a:t>
            </a:r>
            <a:r>
              <a:rPr lang="de-DE" sz="1200" b="0" i="0" kern="1200" dirty="0">
                <a:solidFill>
                  <a:schemeClr val="tx1"/>
                </a:solidFill>
                <a:effectLst/>
                <a:latin typeface="+mn-lt"/>
                <a:ea typeface="+mn-ea"/>
                <a:cs typeface="+mn-cs"/>
              </a:rPr>
              <a:t>. Wenn ich in Initial und tonal Final aufteile, wie Wang es tut, sind es 25 % PER. Und wenn ich bis auf einzelne Phoneme inklusive Ton als eigenes Token runterbreche, sind es nur 11 % PER — obwohl der Fehler identisch ist. Für meine Arbeit wähle ich Definition A, die tonale Silbe, aus zwei Gründen: Erstens ist Tone Perfect silbenbasiert — jeder Sample ist genau eine Silbe mit genau einem Ton. Zweitens ist die Silbe die natürliche Einheit im Mandarin — jede Silbe hat exakt einen Ton, was die Entkopplung in Segment und Ton trivial macht.</a:t>
            </a:r>
            <a:endParaRPr lang="de-DE" dirty="0"/>
          </a:p>
        </p:txBody>
      </p:sp>
      <p:sp>
        <p:nvSpPr>
          <p:cNvPr id="4" name="Slide Number Placeholder 3"/>
          <p:cNvSpPr>
            <a:spLocks noGrp="1"/>
          </p:cNvSpPr>
          <p:nvPr>
            <p:ph type="sldNum" sz="quarter" idx="5"/>
          </p:nvPr>
        </p:nvSpPr>
        <p:spPr/>
        <p:txBody>
          <a:bodyPr/>
          <a:lstStyle/>
          <a:p>
            <a:fld id="{35C0B671-25EF-47C3-BD31-46E7FB9E6220}" type="slidenum">
              <a:rPr lang="de-DE" smtClean="0"/>
              <a:t>38</a:t>
            </a:fld>
            <a:endParaRPr lang="de-DE"/>
          </a:p>
        </p:txBody>
      </p:sp>
    </p:spTree>
    <p:extLst>
      <p:ext uri="{BB962C8B-B14F-4D97-AF65-F5344CB8AC3E}">
        <p14:creationId xmlns:p14="http://schemas.microsoft.com/office/powerpoint/2010/main" val="2028572115"/>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sz="1200" b="0" i="0" kern="1200" dirty="0">
                <a:solidFill>
                  <a:schemeClr val="tx1"/>
                </a:solidFill>
                <a:effectLst/>
                <a:latin typeface="+mn-lt"/>
                <a:ea typeface="+mn-ea"/>
                <a:cs typeface="+mn-cs"/>
              </a:rPr>
              <a:t>Diese Tabelle fasst die gesamte 9-Fragen-Analyse über 37 Papers zusammen. Links steht, was existiert: CER auf Hanzi als Standard, PER auf Phonemen bei drei Papers, Pinyin-CER ohne Ton bei zweien, tonal CER bei Chirkova aber nur für Baima. Rechts steht, was ich beitrage: TER erstmals berechnet — obwohl Zou sie in seinem Review über 61 Studien explizit empfiehlt, hat kein einziges Paper sie tatsächlich angewandt. Per-Ton-F1 mit </a:t>
            </a:r>
            <a:r>
              <a:rPr lang="de-DE" sz="1200" b="0" i="0" kern="1200" dirty="0" err="1">
                <a:solidFill>
                  <a:schemeClr val="tx1"/>
                </a:solidFill>
                <a:effectLst/>
                <a:latin typeface="+mn-lt"/>
                <a:ea typeface="+mn-ea"/>
                <a:cs typeface="+mn-cs"/>
              </a:rPr>
              <a:t>Confusion</a:t>
            </a:r>
            <a:r>
              <a:rPr lang="de-DE" sz="1200" b="0" i="0" kern="1200" dirty="0">
                <a:solidFill>
                  <a:schemeClr val="tx1"/>
                </a:solidFill>
                <a:effectLst/>
                <a:latin typeface="+mn-lt"/>
                <a:ea typeface="+mn-ea"/>
                <a:cs typeface="+mn-cs"/>
              </a:rPr>
              <a:t> Matrix systematisch für LLMs. Und die Entkopplung von Segment- und Ton-Evaluation — diese Kombination gibt es für multimodale LLMs auf Mandarin schlicht nicht. Die offene Frage für die Zukunft ist die gewichtete Ton-Distanz: Ob Ton 2 gegen Ton 3, die akustisch ähnlich sind, anders bestraft werden sollte als Ton 1 gegen Ton 4.</a:t>
            </a:r>
            <a:endParaRPr lang="de-DE" dirty="0"/>
          </a:p>
        </p:txBody>
      </p:sp>
      <p:sp>
        <p:nvSpPr>
          <p:cNvPr id="4" name="Slide Number Placeholder 3"/>
          <p:cNvSpPr>
            <a:spLocks noGrp="1"/>
          </p:cNvSpPr>
          <p:nvPr>
            <p:ph type="sldNum" sz="quarter" idx="5"/>
          </p:nvPr>
        </p:nvSpPr>
        <p:spPr/>
        <p:txBody>
          <a:bodyPr/>
          <a:lstStyle/>
          <a:p>
            <a:fld id="{35C0B671-25EF-47C3-BD31-46E7FB9E6220}" type="slidenum">
              <a:rPr lang="de-DE" smtClean="0"/>
              <a:t>39</a:t>
            </a:fld>
            <a:endParaRPr lang="de-DE"/>
          </a:p>
        </p:txBody>
      </p:sp>
    </p:spTree>
    <p:extLst>
      <p:ext uri="{BB962C8B-B14F-4D97-AF65-F5344CB8AC3E}">
        <p14:creationId xmlns:p14="http://schemas.microsoft.com/office/powerpoint/2010/main" val="124379160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sz="1200" b="0" i="0" kern="1200" dirty="0">
                <a:solidFill>
                  <a:schemeClr val="tx1"/>
                </a:solidFill>
                <a:effectLst/>
                <a:latin typeface="+mn-lt"/>
                <a:ea typeface="+mn-ea"/>
                <a:cs typeface="+mn-cs"/>
              </a:rPr>
              <a:t>Die Auswahl deckt bewusst die drei großen KI-Märkte ab — USA, China, Europa — damit die Ergebnisse generalisierbar sind. Entscheidend ist aber die senkrechte Achse: Es sind drei verschiedene Systemtypen. Oben die echten multimodalen LLMs, die Audio direkt verarbeiten und auf Aufforderung Pinyin mit Tönen ausgeben können — das ist der Kern meiner Forschungsfrage. In der Mitte reine ASR-Systeme wie Whisper oder </a:t>
            </a:r>
            <a:r>
              <a:rPr lang="de-DE" sz="1200" b="0" i="0" kern="1200" dirty="0" err="1">
                <a:solidFill>
                  <a:schemeClr val="tx1"/>
                </a:solidFill>
                <a:effectLst/>
                <a:latin typeface="+mn-lt"/>
                <a:ea typeface="+mn-ea"/>
                <a:cs typeface="+mn-cs"/>
              </a:rPr>
              <a:t>FireRed</a:t>
            </a:r>
            <a:r>
              <a:rPr lang="de-DE" sz="1200" b="0" i="0" kern="1200" dirty="0">
                <a:solidFill>
                  <a:schemeClr val="tx1"/>
                </a:solidFill>
                <a:effectLst/>
                <a:latin typeface="+mn-lt"/>
                <a:ea typeface="+mn-ea"/>
                <a:cs typeface="+mn-cs"/>
              </a:rPr>
              <a:t>: Die geben chinesische Schriftzeichen aus, nicht Pinyin — ich muss sie nachträglich per Grapheme-</a:t>
            </a:r>
            <a:r>
              <a:rPr lang="de-DE" sz="1200" b="0" i="0" kern="1200" dirty="0" err="1">
                <a:solidFill>
                  <a:schemeClr val="tx1"/>
                </a:solidFill>
                <a:effectLst/>
                <a:latin typeface="+mn-lt"/>
                <a:ea typeface="+mn-ea"/>
                <a:cs typeface="+mn-cs"/>
              </a:rPr>
              <a:t>to</a:t>
            </a:r>
            <a:r>
              <a:rPr lang="de-DE" sz="1200" b="0" i="0" kern="1200" dirty="0">
                <a:solidFill>
                  <a:schemeClr val="tx1"/>
                </a:solidFill>
                <a:effectLst/>
                <a:latin typeface="+mn-lt"/>
                <a:ea typeface="+mn-ea"/>
                <a:cs typeface="+mn-cs"/>
              </a:rPr>
              <a:t>-Phoneme umwandeln, und genau dabei können Tonfehler bei Homophonen verschwinden. Diese Systeme laufen deshalb als Baseline, nicht als gleichwertige Konkurrenten. Claude und DeepSeek haben gar keinen Audio-Input und testen nur RQ1, also Text zu Pinyin.</a:t>
            </a:r>
            <a:endParaRPr lang="de-DE" dirty="0"/>
          </a:p>
        </p:txBody>
      </p:sp>
      <p:sp>
        <p:nvSpPr>
          <p:cNvPr id="4" name="Slide Number Placeholder 3"/>
          <p:cNvSpPr>
            <a:spLocks noGrp="1"/>
          </p:cNvSpPr>
          <p:nvPr>
            <p:ph type="sldNum" sz="quarter" idx="5"/>
          </p:nvPr>
        </p:nvSpPr>
        <p:spPr/>
        <p:txBody>
          <a:bodyPr/>
          <a:lstStyle/>
          <a:p>
            <a:fld id="{35C0B671-25EF-47C3-BD31-46E7FB9E6220}" type="slidenum">
              <a:rPr lang="de-DE" smtClean="0"/>
              <a:t>43</a:t>
            </a:fld>
            <a:endParaRPr lang="de-DE"/>
          </a:p>
        </p:txBody>
      </p:sp>
    </p:spTree>
    <p:extLst>
      <p:ext uri="{BB962C8B-B14F-4D97-AF65-F5344CB8AC3E}">
        <p14:creationId xmlns:p14="http://schemas.microsoft.com/office/powerpoint/2010/main" val="324798075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sz="1200" b="0" i="0" kern="1200" dirty="0">
                <a:solidFill>
                  <a:schemeClr val="tx1"/>
                </a:solidFill>
                <a:effectLst/>
                <a:latin typeface="+mn-lt"/>
                <a:ea typeface="+mn-ea"/>
                <a:cs typeface="+mn-cs"/>
              </a:rPr>
              <a:t>Diese Folie zeigt, warum die Unterscheidung kein Detail ist. Sage ich dem multimodalen LLM ‚gib mir Pinyin mit Tonnummer', bekomme ich ‚yi2' und kann den Ton direkt prüfen. Die reine ASR gibt mir das Schriftzeichen 一. Wenn ich das per </a:t>
            </a:r>
            <a:r>
              <a:rPr lang="de-DE" sz="1200" b="0" i="0" kern="1200" dirty="0" err="1">
                <a:solidFill>
                  <a:schemeClr val="tx1"/>
                </a:solidFill>
                <a:effectLst/>
                <a:latin typeface="+mn-lt"/>
                <a:ea typeface="+mn-ea"/>
                <a:cs typeface="+mn-cs"/>
              </a:rPr>
              <a:t>Pypinyin</a:t>
            </a:r>
            <a:r>
              <a:rPr lang="de-DE" sz="1200" b="0" i="0" kern="1200" dirty="0">
                <a:solidFill>
                  <a:schemeClr val="tx1"/>
                </a:solidFill>
                <a:effectLst/>
                <a:latin typeface="+mn-lt"/>
                <a:ea typeface="+mn-ea"/>
                <a:cs typeface="+mn-cs"/>
              </a:rPr>
              <a:t> in Pinyin umwandle, bekomme ich den kanonischen Ton des Zeichens — und der kann vom tatsächlich gesprochenen abweichen. Der Tonfehler verschwindet in der Nachbearbeitung. Deshalb sind Whisper und </a:t>
            </a:r>
            <a:r>
              <a:rPr lang="de-DE" sz="1200" b="0" i="0" kern="1200" dirty="0" err="1">
                <a:solidFill>
                  <a:schemeClr val="tx1"/>
                </a:solidFill>
                <a:effectLst/>
                <a:latin typeface="+mn-lt"/>
                <a:ea typeface="+mn-ea"/>
                <a:cs typeface="+mn-cs"/>
              </a:rPr>
              <a:t>FireRed</a:t>
            </a:r>
            <a:r>
              <a:rPr lang="de-DE" sz="1200" b="0" i="0" kern="1200" dirty="0">
                <a:solidFill>
                  <a:schemeClr val="tx1"/>
                </a:solidFill>
                <a:effectLst/>
                <a:latin typeface="+mn-lt"/>
                <a:ea typeface="+mn-ea"/>
                <a:cs typeface="+mn-cs"/>
              </a:rPr>
              <a:t> bei mir Baseline-Referenzen, keine gleichwertigen Kandidaten. Diese Trennung adressiert kein einziges der 42 Paper explizit.</a:t>
            </a:r>
            <a:endParaRPr lang="de-DE" dirty="0"/>
          </a:p>
        </p:txBody>
      </p:sp>
      <p:sp>
        <p:nvSpPr>
          <p:cNvPr id="4" name="Slide Number Placeholder 3"/>
          <p:cNvSpPr>
            <a:spLocks noGrp="1"/>
          </p:cNvSpPr>
          <p:nvPr>
            <p:ph type="sldNum" sz="quarter" idx="5"/>
          </p:nvPr>
        </p:nvSpPr>
        <p:spPr/>
        <p:txBody>
          <a:bodyPr/>
          <a:lstStyle/>
          <a:p>
            <a:fld id="{35C0B671-25EF-47C3-BD31-46E7FB9E6220}" type="slidenum">
              <a:rPr lang="de-DE" smtClean="0"/>
              <a:t>44</a:t>
            </a:fld>
            <a:endParaRPr lang="de-DE"/>
          </a:p>
        </p:txBody>
      </p:sp>
    </p:spTree>
    <p:extLst>
      <p:ext uri="{BB962C8B-B14F-4D97-AF65-F5344CB8AC3E}">
        <p14:creationId xmlns:p14="http://schemas.microsoft.com/office/powerpoint/2010/main" val="257758110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sz="1200" b="0" i="0" kern="1200" dirty="0">
                <a:solidFill>
                  <a:schemeClr val="tx1"/>
                </a:solidFill>
                <a:effectLst/>
                <a:latin typeface="+mn-lt"/>
                <a:ea typeface="+mn-ea"/>
                <a:cs typeface="+mn-cs"/>
              </a:rPr>
              <a:t>Eine wichtige Erkenntnis aus der Preisrecherche: Fast alle Modelle, die der ursprüngliche Plan als ‚lokal, kostenlos' eingestuft hat, sind inzwischen über APIs zugänglich — und oft sehr günstig. </a:t>
            </a:r>
            <a:r>
              <a:rPr lang="de-DE" sz="1200" b="0" i="0" kern="1200" dirty="0" err="1">
                <a:solidFill>
                  <a:schemeClr val="tx1"/>
                </a:solidFill>
                <a:effectLst/>
                <a:latin typeface="+mn-lt"/>
                <a:ea typeface="+mn-ea"/>
                <a:cs typeface="+mn-cs"/>
              </a:rPr>
              <a:t>Step</a:t>
            </a:r>
            <a:r>
              <a:rPr lang="de-DE" sz="1200" b="0" i="0" kern="1200" dirty="0">
                <a:solidFill>
                  <a:schemeClr val="tx1"/>
                </a:solidFill>
                <a:effectLst/>
                <a:latin typeface="+mn-lt"/>
                <a:ea typeface="+mn-ea"/>
                <a:cs typeface="+mn-cs"/>
              </a:rPr>
              <a:t>-Audio von </a:t>
            </a:r>
            <a:r>
              <a:rPr lang="de-DE" sz="1200" b="0" i="0" kern="1200" dirty="0" err="1">
                <a:solidFill>
                  <a:schemeClr val="tx1"/>
                </a:solidFill>
                <a:effectLst/>
                <a:latin typeface="+mn-lt"/>
                <a:ea typeface="+mn-ea"/>
                <a:cs typeface="+mn-cs"/>
              </a:rPr>
              <a:t>StepFun</a:t>
            </a:r>
            <a:r>
              <a:rPr lang="de-DE" sz="1200" b="0" i="0" kern="1200" dirty="0">
                <a:solidFill>
                  <a:schemeClr val="tx1"/>
                </a:solidFill>
                <a:effectLst/>
                <a:latin typeface="+mn-lt"/>
                <a:ea typeface="+mn-ea"/>
                <a:cs typeface="+mn-cs"/>
              </a:rPr>
              <a:t> kostet nur 2 Cent pro Stunde. Kimi-Audio läuft über </a:t>
            </a:r>
            <a:r>
              <a:rPr lang="de-DE" sz="1200" b="0" i="0" kern="1200" dirty="0" err="1">
                <a:solidFill>
                  <a:schemeClr val="tx1"/>
                </a:solidFill>
                <a:effectLst/>
                <a:latin typeface="+mn-lt"/>
                <a:ea typeface="+mn-ea"/>
                <a:cs typeface="+mn-cs"/>
              </a:rPr>
              <a:t>Replicate</a:t>
            </a:r>
            <a:r>
              <a:rPr lang="de-DE" sz="1200" b="0" i="0" kern="1200" dirty="0">
                <a:solidFill>
                  <a:schemeClr val="tx1"/>
                </a:solidFill>
                <a:effectLst/>
                <a:latin typeface="+mn-lt"/>
                <a:ea typeface="+mn-ea"/>
                <a:cs typeface="+mn-cs"/>
              </a:rPr>
              <a:t>, GLM über </a:t>
            </a:r>
            <a:r>
              <a:rPr lang="de-DE" sz="1200" b="0" i="0" kern="1200" dirty="0" err="1">
                <a:solidFill>
                  <a:schemeClr val="tx1"/>
                </a:solidFill>
                <a:effectLst/>
                <a:latin typeface="+mn-lt"/>
                <a:ea typeface="+mn-ea"/>
                <a:cs typeface="+mn-cs"/>
              </a:rPr>
              <a:t>DeepInfra</a:t>
            </a:r>
            <a:r>
              <a:rPr lang="de-DE" sz="1200" b="0" i="0" kern="1200" dirty="0">
                <a:solidFill>
                  <a:schemeClr val="tx1"/>
                </a:solidFill>
                <a:effectLst/>
                <a:latin typeface="+mn-lt"/>
                <a:ea typeface="+mn-ea"/>
                <a:cs typeface="+mn-cs"/>
              </a:rPr>
              <a:t>. Einzig FireRedASR2S hat keinen API-Anbieter und muss lokal auf einer GPU laufen. Das vereinfacht die Infrastruktur enorm: Statt fünf Open-Source-Modelle auf eigener Hardware zu betreiben, reicht ein Python-Skript mit verschiedenen API-Endpunkten.</a:t>
            </a:r>
            <a:endParaRPr lang="de-DE" dirty="0"/>
          </a:p>
        </p:txBody>
      </p:sp>
      <p:sp>
        <p:nvSpPr>
          <p:cNvPr id="4" name="Slide Number Placeholder 3"/>
          <p:cNvSpPr>
            <a:spLocks noGrp="1"/>
          </p:cNvSpPr>
          <p:nvPr>
            <p:ph type="sldNum" sz="quarter" idx="5"/>
          </p:nvPr>
        </p:nvSpPr>
        <p:spPr/>
        <p:txBody>
          <a:bodyPr/>
          <a:lstStyle/>
          <a:p>
            <a:fld id="{35C0B671-25EF-47C3-BD31-46E7FB9E6220}" type="slidenum">
              <a:rPr lang="de-DE" smtClean="0"/>
              <a:t>45</a:t>
            </a:fld>
            <a:endParaRPr lang="de-DE"/>
          </a:p>
        </p:txBody>
      </p:sp>
    </p:spTree>
    <p:extLst>
      <p:ext uri="{BB962C8B-B14F-4D97-AF65-F5344CB8AC3E}">
        <p14:creationId xmlns:p14="http://schemas.microsoft.com/office/powerpoint/2010/main" val="2441977338"/>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sz="1200" b="0" i="0" kern="1200" dirty="0">
                <a:solidFill>
                  <a:schemeClr val="tx1"/>
                </a:solidFill>
                <a:effectLst/>
                <a:latin typeface="+mn-lt"/>
                <a:ea typeface="+mn-ea"/>
                <a:cs typeface="+mn-cs"/>
              </a:rPr>
              <a:t>Mit den verifizierten Preisen sieht das Bild besser aus als befürchtet. Der DeepSeek-Plan hatte zwar die Audio-Input-Kosten bei GPT unterschätzt, aber dafür sind drei Dinge günstiger als gedacht: Erstens ist Grok 4.3 mit 1,25 Dollar pro Million Token viel billiger als die geschätzten 20 Dollar. Zweitens haben die chinesischen Modelle inzwischen günstige APIs — </a:t>
            </a:r>
            <a:r>
              <a:rPr lang="de-DE" sz="1200" b="0" i="0" kern="1200" dirty="0" err="1">
                <a:solidFill>
                  <a:schemeClr val="tx1"/>
                </a:solidFill>
                <a:effectLst/>
                <a:latin typeface="+mn-lt"/>
                <a:ea typeface="+mn-ea"/>
                <a:cs typeface="+mn-cs"/>
              </a:rPr>
              <a:t>Step</a:t>
            </a:r>
            <a:r>
              <a:rPr lang="de-DE" sz="1200" b="0" i="0" kern="1200" dirty="0">
                <a:solidFill>
                  <a:schemeClr val="tx1"/>
                </a:solidFill>
                <a:effectLst/>
                <a:latin typeface="+mn-lt"/>
                <a:ea typeface="+mn-ea"/>
                <a:cs typeface="+mn-cs"/>
              </a:rPr>
              <a:t>-Audio kostet nur 2 Cent pro Stunde, Qwen-</a:t>
            </a:r>
            <a:r>
              <a:rPr lang="de-DE" sz="1200" b="0" i="0" kern="1200" dirty="0" err="1">
                <a:solidFill>
                  <a:schemeClr val="tx1"/>
                </a:solidFill>
                <a:effectLst/>
                <a:latin typeface="+mn-lt"/>
                <a:ea typeface="+mn-ea"/>
                <a:cs typeface="+mn-cs"/>
              </a:rPr>
              <a:t>Omni</a:t>
            </a:r>
            <a:r>
              <a:rPr lang="de-DE" sz="1200" b="0" i="0" kern="1200" dirty="0">
                <a:solidFill>
                  <a:schemeClr val="tx1"/>
                </a:solidFill>
                <a:effectLst/>
                <a:latin typeface="+mn-lt"/>
                <a:ea typeface="+mn-ea"/>
                <a:cs typeface="+mn-cs"/>
              </a:rPr>
              <a:t> läuft über Alibaba Cloud. Drittens brauche ich keine Cloud-GPU-Miete, weil fast alles per API erreichbar ist. Selbst wenn ich alle Modelle auf allen 9.840 Samples laufen lasse, lande ich bei 25 bis 44 Dollar — unter den 50 Euro. Mit einer Teilstichprobe wäre es sogar nur 4 bis 7 Dollar. Die einzige Ausnahme ist FireRedASR2S, das hat keine API und braucht eine eigene GPU.</a:t>
            </a:r>
            <a:endParaRPr lang="de-DE" dirty="0"/>
          </a:p>
        </p:txBody>
      </p:sp>
      <p:sp>
        <p:nvSpPr>
          <p:cNvPr id="4" name="Slide Number Placeholder 3"/>
          <p:cNvSpPr>
            <a:spLocks noGrp="1"/>
          </p:cNvSpPr>
          <p:nvPr>
            <p:ph type="sldNum" sz="quarter" idx="5"/>
          </p:nvPr>
        </p:nvSpPr>
        <p:spPr/>
        <p:txBody>
          <a:bodyPr/>
          <a:lstStyle/>
          <a:p>
            <a:fld id="{35C0B671-25EF-47C3-BD31-46E7FB9E6220}" type="slidenum">
              <a:rPr lang="de-DE" smtClean="0"/>
              <a:t>46</a:t>
            </a:fld>
            <a:endParaRPr lang="de-DE"/>
          </a:p>
        </p:txBody>
      </p:sp>
    </p:spTree>
    <p:extLst>
      <p:ext uri="{BB962C8B-B14F-4D97-AF65-F5344CB8AC3E}">
        <p14:creationId xmlns:p14="http://schemas.microsoft.com/office/powerpoint/2010/main" val="398499091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sz="1200" b="0" i="0" kern="1200" dirty="0">
                <a:solidFill>
                  <a:schemeClr val="tx1"/>
                </a:solidFill>
                <a:effectLst/>
                <a:latin typeface="+mn-lt"/>
                <a:ea typeface="+mn-ea"/>
                <a:cs typeface="+mn-cs"/>
              </a:rPr>
              <a:t>Die Strategie ist einfach: billig anfangen und sich hocharbeiten. In Phase 1 teste ich die Pipeline mit einem 400-Sample-Pilot auf den günstigsten Modellen — das kostet unter einem Dollar und deckt trotzdem technische Probleme auf. In Phase 2 laufen alle günstigen APIs auf dem vollen Corpus, das sind unter 12 Dollar. Phase 3 bringt die mittelpreisigen Modelle dazu. Und nur bei GPT-5.5 in Phase 4 nutze ich Sub-Sampling, weil das das einzige wirklich teure Modell ist — 30 Dollar Output-Kosten pro Million Token. Aber selbst da reichen 700 Samples für einen statistisch belastbaren Vergleich. Insgesamt lande ich realistisch bei 15 bis 30 Euro. Die 50-Euro-Grenze ist kein Problem.</a:t>
            </a:r>
            <a:endParaRPr lang="de-DE" dirty="0"/>
          </a:p>
        </p:txBody>
      </p:sp>
      <p:sp>
        <p:nvSpPr>
          <p:cNvPr id="4" name="Slide Number Placeholder 3"/>
          <p:cNvSpPr>
            <a:spLocks noGrp="1"/>
          </p:cNvSpPr>
          <p:nvPr>
            <p:ph type="sldNum" sz="quarter" idx="5"/>
          </p:nvPr>
        </p:nvSpPr>
        <p:spPr/>
        <p:txBody>
          <a:bodyPr/>
          <a:lstStyle/>
          <a:p>
            <a:fld id="{35C0B671-25EF-47C3-BD31-46E7FB9E6220}" type="slidenum">
              <a:rPr lang="de-DE" smtClean="0"/>
              <a:t>47</a:t>
            </a:fld>
            <a:endParaRPr lang="de-DE"/>
          </a:p>
        </p:txBody>
      </p:sp>
    </p:spTree>
    <p:extLst>
      <p:ext uri="{BB962C8B-B14F-4D97-AF65-F5344CB8AC3E}">
        <p14:creationId xmlns:p14="http://schemas.microsoft.com/office/powerpoint/2010/main" val="353774638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sz="1200" b="0" i="0" kern="1200" dirty="0">
                <a:solidFill>
                  <a:schemeClr val="tx1"/>
                </a:solidFill>
                <a:effectLst/>
                <a:latin typeface="+mn-lt"/>
                <a:ea typeface="+mn-ea"/>
                <a:cs typeface="+mn-cs"/>
              </a:rPr>
              <a:t>Von den vier offenen Punkten ist einer gelöst: DeepSeek V4 hat definitiv kein Audio, also nur RQ1. Grok 4.3 hat eine dokumentierte STT-API, die muss ich mit einem Test-Call bestätigen. Der wichtigste Check: Funktionieren </a:t>
            </a:r>
            <a:r>
              <a:rPr lang="de-DE" sz="1200" b="0" i="0" kern="1200" dirty="0" err="1">
                <a:solidFill>
                  <a:schemeClr val="tx1"/>
                </a:solidFill>
                <a:effectLst/>
                <a:latin typeface="+mn-lt"/>
                <a:ea typeface="+mn-ea"/>
                <a:cs typeface="+mn-cs"/>
              </a:rPr>
              <a:t>Replicate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StepFun</a:t>
            </a:r>
            <a:r>
              <a:rPr lang="de-DE" sz="1200" b="0" i="0" kern="1200" dirty="0">
                <a:solidFill>
                  <a:schemeClr val="tx1"/>
                </a:solidFill>
                <a:effectLst/>
                <a:latin typeface="+mn-lt"/>
                <a:ea typeface="+mn-ea"/>
                <a:cs typeface="+mn-cs"/>
              </a:rPr>
              <a:t> und </a:t>
            </a:r>
            <a:r>
              <a:rPr lang="de-DE" sz="1200" b="0" i="0" kern="1200" dirty="0" err="1">
                <a:solidFill>
                  <a:schemeClr val="tx1"/>
                </a:solidFill>
                <a:effectLst/>
                <a:latin typeface="+mn-lt"/>
                <a:ea typeface="+mn-ea"/>
                <a:cs typeface="+mn-cs"/>
              </a:rPr>
              <a:t>DeepInfra</a:t>
            </a:r>
            <a:r>
              <a:rPr lang="de-DE" sz="1200" b="0" i="0" kern="1200" dirty="0">
                <a:solidFill>
                  <a:schemeClr val="tx1"/>
                </a:solidFill>
                <a:effectLst/>
                <a:latin typeface="+mn-lt"/>
                <a:ea typeface="+mn-ea"/>
                <a:cs typeface="+mn-cs"/>
              </a:rPr>
              <a:t> aus Deutschland? Das klärt je ein einziger API-Call. Und für FireRedASR2S — das einzige Modell ohne API — brauche ich entweder eine eigene GPU oder ich ersetze es durch Qwen3-ASR, das über Alibaba Cloud läuft und ebenfalls chinesische Transkription kann.</a:t>
            </a:r>
            <a:endParaRPr lang="de-DE" dirty="0"/>
          </a:p>
        </p:txBody>
      </p:sp>
      <p:sp>
        <p:nvSpPr>
          <p:cNvPr id="4" name="Slide Number Placeholder 3"/>
          <p:cNvSpPr>
            <a:spLocks noGrp="1"/>
          </p:cNvSpPr>
          <p:nvPr>
            <p:ph type="sldNum" sz="quarter" idx="5"/>
          </p:nvPr>
        </p:nvSpPr>
        <p:spPr/>
        <p:txBody>
          <a:bodyPr/>
          <a:lstStyle/>
          <a:p>
            <a:fld id="{35C0B671-25EF-47C3-BD31-46E7FB9E6220}" type="slidenum">
              <a:rPr lang="de-DE" smtClean="0"/>
              <a:t>48</a:t>
            </a:fld>
            <a:endParaRPr lang="de-DE"/>
          </a:p>
        </p:txBody>
      </p:sp>
    </p:spTree>
    <p:extLst>
      <p:ext uri="{BB962C8B-B14F-4D97-AF65-F5344CB8AC3E}">
        <p14:creationId xmlns:p14="http://schemas.microsoft.com/office/powerpoint/2010/main" val="217202818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sz="1200" b="0" i="0" kern="1200" dirty="0">
                <a:solidFill>
                  <a:schemeClr val="tx1"/>
                </a:solidFill>
                <a:effectLst/>
                <a:latin typeface="+mn-lt"/>
                <a:ea typeface="+mn-ea"/>
                <a:cs typeface="+mn-cs"/>
              </a:rPr>
              <a:t>Aus 20 recherchierten Korpora bleiben am Ende drei übrig, die direkt für mein Experiment nutzbar sind. Der Trichter zeigt, warum: Vier Datensätze fallen sofort raus — ein Textkorpus, ein TTS-Datensatz, ein Code-Switching-Korpus und ein Kantonesisch-Datensatz. Von den 16 mit Audio sind nur 9 öffentlich zugänglich. Von diesen haben nur 5 eine Tonannotation. Und von diesen sind nur 3 sowohl öffentlich als auch für meine Forschungsfragen geeignet: Tone Perfect für die Native-Speaker-Evaluation, LATIC und OMPAL für die L2-Evaluation.</a:t>
            </a:r>
            <a:endParaRPr lang="de-DE" dirty="0"/>
          </a:p>
        </p:txBody>
      </p:sp>
      <p:sp>
        <p:nvSpPr>
          <p:cNvPr id="4" name="Slide Number Placeholder 3"/>
          <p:cNvSpPr>
            <a:spLocks noGrp="1"/>
          </p:cNvSpPr>
          <p:nvPr>
            <p:ph type="sldNum" sz="quarter" idx="5"/>
          </p:nvPr>
        </p:nvSpPr>
        <p:spPr/>
        <p:txBody>
          <a:bodyPr/>
          <a:lstStyle/>
          <a:p>
            <a:fld id="{35C0B671-25EF-47C3-BD31-46E7FB9E6220}" type="slidenum">
              <a:rPr lang="de-DE" smtClean="0"/>
              <a:t>51</a:t>
            </a:fld>
            <a:endParaRPr lang="de-DE"/>
          </a:p>
        </p:txBody>
      </p:sp>
    </p:spTree>
    <p:extLst>
      <p:ext uri="{BB962C8B-B14F-4D97-AF65-F5344CB8AC3E}">
        <p14:creationId xmlns:p14="http://schemas.microsoft.com/office/powerpoint/2010/main" val="3399695169"/>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sz="1200" b="0" i="0" kern="1200" dirty="0">
                <a:solidFill>
                  <a:schemeClr val="tx1"/>
                </a:solidFill>
                <a:effectLst/>
                <a:latin typeface="+mn-lt"/>
                <a:ea typeface="+mn-ea"/>
                <a:cs typeface="+mn-cs"/>
              </a:rPr>
              <a:t>Diese Tabelle zeigt alle 20 recherchierten Korpora. Oben die drei Kernkorpora für mein Experiment: Tone Perfect für RQ2, LATIC und OMPAL für RQ3. AISHELL-1 und THCHS-30 dienen als ASR-Baselines für den Literaturvergleich. Die großen Korpora wie MAGICDATA und </a:t>
            </a:r>
            <a:r>
              <a:rPr lang="de-DE" sz="1200" b="0" i="0" kern="1200" dirty="0" err="1">
                <a:solidFill>
                  <a:schemeClr val="tx1"/>
                </a:solidFill>
                <a:effectLst/>
                <a:latin typeface="+mn-lt"/>
                <a:ea typeface="+mn-ea"/>
                <a:cs typeface="+mn-cs"/>
              </a:rPr>
              <a:t>KeSpeech</a:t>
            </a:r>
            <a:r>
              <a:rPr lang="de-DE" sz="1200" b="0" i="0" kern="1200" dirty="0">
                <a:solidFill>
                  <a:schemeClr val="tx1"/>
                </a:solidFill>
                <a:effectLst/>
                <a:latin typeface="+mn-lt"/>
                <a:ea typeface="+mn-ea"/>
                <a:cs typeface="+mn-cs"/>
              </a:rPr>
              <a:t> sind für meine isolierte Tonevaluation zu komplex — ich brauche keine 755 Stunden, sondern die richtigen 2 Stunden. Unten die ausgeschlossenen: </a:t>
            </a:r>
            <a:r>
              <a:rPr lang="de-DE" sz="1200" b="0" i="0" kern="1200" dirty="0" err="1">
                <a:solidFill>
                  <a:schemeClr val="tx1"/>
                </a:solidFill>
                <a:effectLst/>
                <a:latin typeface="+mn-lt"/>
                <a:ea typeface="+mn-ea"/>
                <a:cs typeface="+mn-cs"/>
              </a:rPr>
              <a:t>Sinica</a:t>
            </a:r>
            <a:r>
              <a:rPr lang="de-DE" sz="1200" b="0" i="0" kern="1200" dirty="0">
                <a:solidFill>
                  <a:schemeClr val="tx1"/>
                </a:solidFill>
                <a:effectLst/>
                <a:latin typeface="+mn-lt"/>
                <a:ea typeface="+mn-ea"/>
                <a:cs typeface="+mn-cs"/>
              </a:rPr>
              <a:t> ist ein reines Textkorpus, </a:t>
            </a:r>
            <a:r>
              <a:rPr lang="de-DE" sz="1200" b="0" i="0" kern="1200" dirty="0" err="1">
                <a:solidFill>
                  <a:schemeClr val="tx1"/>
                </a:solidFill>
                <a:effectLst/>
                <a:latin typeface="+mn-lt"/>
                <a:ea typeface="+mn-ea"/>
                <a:cs typeface="+mn-cs"/>
              </a:rPr>
              <a:t>Biaobei</a:t>
            </a:r>
            <a:r>
              <a:rPr lang="de-DE" sz="1200" b="0" i="0" kern="1200" dirty="0">
                <a:solidFill>
                  <a:schemeClr val="tx1"/>
                </a:solidFill>
                <a:effectLst/>
                <a:latin typeface="+mn-lt"/>
                <a:ea typeface="+mn-ea"/>
                <a:cs typeface="+mn-cs"/>
              </a:rPr>
              <a:t> ist für TTS, CS-</a:t>
            </a:r>
            <a:r>
              <a:rPr lang="de-DE" sz="1200" b="0" i="0" kern="1200" dirty="0" err="1">
                <a:solidFill>
                  <a:schemeClr val="tx1"/>
                </a:solidFill>
                <a:effectLst/>
                <a:latin typeface="+mn-lt"/>
                <a:ea typeface="+mn-ea"/>
                <a:cs typeface="+mn-cs"/>
              </a:rPr>
              <a:t>Dialogue</a:t>
            </a:r>
            <a:r>
              <a:rPr lang="de-DE" sz="1200" b="0" i="0" kern="1200" dirty="0">
                <a:solidFill>
                  <a:schemeClr val="tx1"/>
                </a:solidFill>
                <a:effectLst/>
                <a:latin typeface="+mn-lt"/>
                <a:ea typeface="+mn-ea"/>
                <a:cs typeface="+mn-cs"/>
              </a:rPr>
              <a:t> mischt Mandarin mit Englisch, und </a:t>
            </a:r>
            <a:r>
              <a:rPr lang="de-DE" sz="1200" b="0" i="0" kern="1200" dirty="0" err="1">
                <a:solidFill>
                  <a:schemeClr val="tx1"/>
                </a:solidFill>
                <a:effectLst/>
                <a:latin typeface="+mn-lt"/>
                <a:ea typeface="+mn-ea"/>
                <a:cs typeface="+mn-cs"/>
              </a:rPr>
              <a:t>EdUHK</a:t>
            </a:r>
            <a:r>
              <a:rPr lang="de-DE" sz="1200" b="0" i="0" kern="1200" dirty="0">
                <a:solidFill>
                  <a:schemeClr val="tx1"/>
                </a:solidFill>
                <a:effectLst/>
                <a:latin typeface="+mn-lt"/>
                <a:ea typeface="+mn-ea"/>
                <a:cs typeface="+mn-cs"/>
              </a:rPr>
              <a:t> ist Kantonesisch. Fünf Korpora wie </a:t>
            </a:r>
            <a:r>
              <a:rPr lang="de-DE" sz="1200" b="0" i="0" kern="1200" dirty="0" err="1">
                <a:solidFill>
                  <a:schemeClr val="tx1"/>
                </a:solidFill>
                <a:effectLst/>
                <a:latin typeface="+mn-lt"/>
                <a:ea typeface="+mn-ea"/>
                <a:cs typeface="+mn-cs"/>
              </a:rPr>
              <a:t>iCALL</a:t>
            </a:r>
            <a:r>
              <a:rPr lang="de-DE" sz="1200" b="0" i="0" kern="1200" dirty="0">
                <a:solidFill>
                  <a:schemeClr val="tx1"/>
                </a:solidFill>
                <a:effectLst/>
                <a:latin typeface="+mn-lt"/>
                <a:ea typeface="+mn-ea"/>
                <a:cs typeface="+mn-cs"/>
              </a:rPr>
              <a:t> und </a:t>
            </a:r>
            <a:r>
              <a:rPr lang="de-DE" sz="1200" b="0" i="0" kern="1200" dirty="0" err="1">
                <a:solidFill>
                  <a:schemeClr val="tx1"/>
                </a:solidFill>
                <a:effectLst/>
                <a:latin typeface="+mn-lt"/>
                <a:ea typeface="+mn-ea"/>
                <a:cs typeface="+mn-cs"/>
              </a:rPr>
              <a:t>SingaKids</a:t>
            </a:r>
            <a:r>
              <a:rPr lang="de-DE" sz="1200" b="0" i="0" kern="1200" dirty="0">
                <a:solidFill>
                  <a:schemeClr val="tx1"/>
                </a:solidFill>
                <a:effectLst/>
                <a:latin typeface="+mn-lt"/>
                <a:ea typeface="+mn-ea"/>
                <a:cs typeface="+mn-cs"/>
              </a:rPr>
              <a:t> wären interessant, sind aber nicht öffentlich — die wären ein Bonus, wenn ich Kontakt aufnehme.</a:t>
            </a:r>
            <a:endParaRPr lang="de-DE" dirty="0"/>
          </a:p>
        </p:txBody>
      </p:sp>
      <p:sp>
        <p:nvSpPr>
          <p:cNvPr id="4" name="Slide Number Placeholder 3"/>
          <p:cNvSpPr>
            <a:spLocks noGrp="1"/>
          </p:cNvSpPr>
          <p:nvPr>
            <p:ph type="sldNum" sz="quarter" idx="5"/>
          </p:nvPr>
        </p:nvSpPr>
        <p:spPr/>
        <p:txBody>
          <a:bodyPr/>
          <a:lstStyle/>
          <a:p>
            <a:fld id="{35C0B671-25EF-47C3-BD31-46E7FB9E6220}" type="slidenum">
              <a:rPr lang="de-DE" smtClean="0"/>
              <a:t>52</a:t>
            </a:fld>
            <a:endParaRPr lang="de-DE"/>
          </a:p>
        </p:txBody>
      </p:sp>
    </p:spTree>
    <p:extLst>
      <p:ext uri="{BB962C8B-B14F-4D97-AF65-F5344CB8AC3E}">
        <p14:creationId xmlns:p14="http://schemas.microsoft.com/office/powerpoint/2010/main" val="168770546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sz="1200" b="0" i="0" kern="1200" dirty="0">
                <a:solidFill>
                  <a:schemeClr val="tx1"/>
                </a:solidFill>
                <a:effectLst/>
                <a:latin typeface="+mn-lt"/>
                <a:ea typeface="+mn-ea"/>
                <a:cs typeface="+mn-cs"/>
              </a:rPr>
              <a:t>Tone Perfect ist der Kern meines Experiments. Es enthält alle 410 Mandarin-Silben in allen vier Tönen, gesprochen von sechs Pekinger Muttersprachlern — insgesamt 9.840 Aufnahmen. Das Besondere: Jedes Sample ist genau eine Silbe, und der korrekte Ton steht im Dateinamen. Damit habe ich einen perfekten Ground Truth für isolierte Tonevaluation. Das schließt Kontexteffekte wie Tone Sandhi aus — das ist gewollt, denn ich will zuerst wissen, ob ein Modell überhaupt Einzeltöne richtig erkennt. Wichtig: In meiner Excel stand ‚von Autoren bekommen', aber Tone Perfect ist tatsächlich Open Access unter tone.lib.msu.edu — das habe ich online verifiziert.</a:t>
            </a:r>
            <a:endParaRPr lang="de-DE" dirty="0"/>
          </a:p>
        </p:txBody>
      </p:sp>
      <p:sp>
        <p:nvSpPr>
          <p:cNvPr id="4" name="Slide Number Placeholder 3"/>
          <p:cNvSpPr>
            <a:spLocks noGrp="1"/>
          </p:cNvSpPr>
          <p:nvPr>
            <p:ph type="sldNum" sz="quarter" idx="5"/>
          </p:nvPr>
        </p:nvSpPr>
        <p:spPr/>
        <p:txBody>
          <a:bodyPr/>
          <a:lstStyle/>
          <a:p>
            <a:fld id="{35C0B671-25EF-47C3-BD31-46E7FB9E6220}" type="slidenum">
              <a:rPr lang="de-DE" smtClean="0"/>
              <a:t>53</a:t>
            </a:fld>
            <a:endParaRPr lang="de-DE"/>
          </a:p>
        </p:txBody>
      </p:sp>
    </p:spTree>
    <p:extLst>
      <p:ext uri="{BB962C8B-B14F-4D97-AF65-F5344CB8AC3E}">
        <p14:creationId xmlns:p14="http://schemas.microsoft.com/office/powerpoint/2010/main" val="273644099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sz="1200" b="0" i="0" kern="1200" dirty="0">
                <a:solidFill>
                  <a:schemeClr val="tx1"/>
                </a:solidFill>
                <a:effectLst/>
                <a:latin typeface="+mn-lt"/>
                <a:ea typeface="+mn-ea"/>
                <a:cs typeface="+mn-cs"/>
              </a:rPr>
              <a:t>Für die L2-Evaluation habe ich zwei öffentliche Datensätze: LATIC und OMPAL. LATIC ist klein — nur 4 Sprecher — aber es ist der einzige Datensatz mit expliziten Tonnummern im Pinyin-Format, also genau das, was mein Experiment braucht. OMPAL ist neuer und größer, 46 französische Mandarin-Lerner, mit Expertenrating auf Wort- und Satzebene. Zusammen sind das 50 L2-Sprecher. Das ist wenig, aber kein Paper hat bisher überhaupt multimodale LLMs auf L2-Mandarin getestet — der erste Datenpunkt ist schon ein Beitrag. Falls ich mehr brauche, könnte ich Nancy Chen für </a:t>
            </a:r>
            <a:r>
              <a:rPr lang="de-DE" sz="1200" b="0" i="0" kern="1200" dirty="0" err="1">
                <a:solidFill>
                  <a:schemeClr val="tx1"/>
                </a:solidFill>
                <a:effectLst/>
                <a:latin typeface="+mn-lt"/>
                <a:ea typeface="+mn-ea"/>
                <a:cs typeface="+mn-cs"/>
              </a:rPr>
              <a:t>iCALL</a:t>
            </a:r>
            <a:r>
              <a:rPr lang="de-DE" sz="1200" b="0" i="0" kern="1200" dirty="0">
                <a:solidFill>
                  <a:schemeClr val="tx1"/>
                </a:solidFill>
                <a:effectLst/>
                <a:latin typeface="+mn-lt"/>
                <a:ea typeface="+mn-ea"/>
                <a:cs typeface="+mn-cs"/>
              </a:rPr>
              <a:t> kontaktieren — 305 Sprecher, 142 Stunden — aber das ist nicht öffentlich und nicht kritisch für die Thesis.</a:t>
            </a:r>
            <a:endParaRPr lang="de-DE" dirty="0"/>
          </a:p>
        </p:txBody>
      </p:sp>
      <p:sp>
        <p:nvSpPr>
          <p:cNvPr id="4" name="Slide Number Placeholder 3"/>
          <p:cNvSpPr>
            <a:spLocks noGrp="1"/>
          </p:cNvSpPr>
          <p:nvPr>
            <p:ph type="sldNum" sz="quarter" idx="5"/>
          </p:nvPr>
        </p:nvSpPr>
        <p:spPr/>
        <p:txBody>
          <a:bodyPr/>
          <a:lstStyle/>
          <a:p>
            <a:fld id="{35C0B671-25EF-47C3-BD31-46E7FB9E6220}" type="slidenum">
              <a:rPr lang="de-DE" smtClean="0"/>
              <a:t>54</a:t>
            </a:fld>
            <a:endParaRPr lang="de-DE"/>
          </a:p>
        </p:txBody>
      </p:sp>
    </p:spTree>
    <p:extLst>
      <p:ext uri="{BB962C8B-B14F-4D97-AF65-F5344CB8AC3E}">
        <p14:creationId xmlns:p14="http://schemas.microsoft.com/office/powerpoint/2010/main" val="2787322388"/>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sz="1200" b="0" i="0" kern="1200" dirty="0">
                <a:solidFill>
                  <a:schemeClr val="tx1"/>
                </a:solidFill>
                <a:effectLst/>
                <a:latin typeface="+mn-lt"/>
                <a:ea typeface="+mn-ea"/>
                <a:cs typeface="+mn-cs"/>
              </a:rPr>
              <a:t>Diese Folie erklärt, warum ich nicht einfach AISHELL-1 mit seinen 170 Stunden nehme. AISHELL hat keinen Ton-Ground-Truth — es enthält Sätze mit Zeichentranskription, aber nirgendwo steht, welchen Ton ein bestimmtes Zeichen in einem bestimmten Kontext hat. Ich kann CER rechnen, aber keine Tone Error Rate. Dasselbe gilt für MAGICDATA, </a:t>
            </a:r>
            <a:r>
              <a:rPr lang="de-DE" sz="1200" b="0" i="0" kern="1200" dirty="0" err="1">
                <a:solidFill>
                  <a:schemeClr val="tx1"/>
                </a:solidFill>
                <a:effectLst/>
                <a:latin typeface="+mn-lt"/>
                <a:ea typeface="+mn-ea"/>
                <a:cs typeface="+mn-cs"/>
              </a:rPr>
              <a:t>KeSpeech</a:t>
            </a:r>
            <a:r>
              <a:rPr lang="de-DE" sz="1200" b="0" i="0" kern="1200" dirty="0">
                <a:solidFill>
                  <a:schemeClr val="tx1"/>
                </a:solidFill>
                <a:effectLst/>
                <a:latin typeface="+mn-lt"/>
                <a:ea typeface="+mn-ea"/>
                <a:cs typeface="+mn-cs"/>
              </a:rPr>
              <a:t> und </a:t>
            </a:r>
            <a:r>
              <a:rPr lang="de-DE" sz="1200" b="0" i="0" kern="1200" dirty="0" err="1">
                <a:solidFill>
                  <a:schemeClr val="tx1"/>
                </a:solidFill>
                <a:effectLst/>
                <a:latin typeface="+mn-lt"/>
                <a:ea typeface="+mn-ea"/>
                <a:cs typeface="+mn-cs"/>
              </a:rPr>
              <a:t>WenetSpeech</a:t>
            </a:r>
            <a:r>
              <a:rPr lang="de-DE" sz="1200" b="0" i="0" kern="1200" dirty="0">
                <a:solidFill>
                  <a:schemeClr val="tx1"/>
                </a:solidFill>
                <a:effectLst/>
                <a:latin typeface="+mn-lt"/>
                <a:ea typeface="+mn-ea"/>
                <a:cs typeface="+mn-cs"/>
              </a:rPr>
              <a:t>. Tone Perfect hat nur 2 Stunden — aber jedes einzelne Sample hat ein Label, das mir genau sagt: Diese Silbe ist ‚</a:t>
            </a:r>
            <a:r>
              <a:rPr lang="de-DE" sz="1200" b="0" i="0" kern="1200" dirty="0" err="1">
                <a:solidFill>
                  <a:schemeClr val="tx1"/>
                </a:solidFill>
                <a:effectLst/>
                <a:latin typeface="+mn-lt"/>
                <a:ea typeface="+mn-ea"/>
                <a:cs typeface="+mn-cs"/>
              </a:rPr>
              <a:t>ma</a:t>
            </a:r>
            <a:r>
              <a:rPr lang="de-DE" sz="1200" b="0" i="0" kern="1200" dirty="0">
                <a:solidFill>
                  <a:schemeClr val="tx1"/>
                </a:solidFill>
                <a:effectLst/>
                <a:latin typeface="+mn-lt"/>
                <a:ea typeface="+mn-ea"/>
                <a:cs typeface="+mn-cs"/>
              </a:rPr>
              <a:t>' mit Ton 2. Das ist, was ich für eine kontrollierte Evaluation brauche. Die großen Korpora nutze ich nur für den Literaturvergleich, also CER-Werte, die ich mit anderen Papers vergleichen kann.</a:t>
            </a:r>
            <a:endParaRPr lang="de-DE" dirty="0"/>
          </a:p>
        </p:txBody>
      </p:sp>
      <p:sp>
        <p:nvSpPr>
          <p:cNvPr id="4" name="Slide Number Placeholder 3"/>
          <p:cNvSpPr>
            <a:spLocks noGrp="1"/>
          </p:cNvSpPr>
          <p:nvPr>
            <p:ph type="sldNum" sz="quarter" idx="5"/>
          </p:nvPr>
        </p:nvSpPr>
        <p:spPr/>
        <p:txBody>
          <a:bodyPr/>
          <a:lstStyle/>
          <a:p>
            <a:fld id="{35C0B671-25EF-47C3-BD31-46E7FB9E6220}" type="slidenum">
              <a:rPr lang="de-DE" smtClean="0"/>
              <a:t>55</a:t>
            </a:fld>
            <a:endParaRPr lang="de-DE"/>
          </a:p>
        </p:txBody>
      </p:sp>
    </p:spTree>
    <p:extLst>
      <p:ext uri="{BB962C8B-B14F-4D97-AF65-F5344CB8AC3E}">
        <p14:creationId xmlns:p14="http://schemas.microsoft.com/office/powerpoint/2010/main" val="428705953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sz="1200" b="0" i="0" kern="1200" dirty="0">
                <a:solidFill>
                  <a:schemeClr val="tx1"/>
                </a:solidFill>
                <a:effectLst/>
                <a:latin typeface="+mn-lt"/>
                <a:ea typeface="+mn-ea"/>
                <a:cs typeface="+mn-cs"/>
              </a:rPr>
              <a:t>Die Zuordnung ist einfach: Für RQ1, die reine Text-zu-Pinyin-Aufgabe, brauche ich kein Audio — da reichen Textproben für Claude und DeepSeek. Für RQ2, die Kern-Evaluation auf Native Speech, nehme ich Tone Perfect — entweder alle 9.840 Samples oder eine stratifizierte Stichprobe von 700. Für RQ3, die L2-Evaluation, nehme ich LATIC und OMPAL zusammen — die einzigen öffentlichen L2-Datensätze mit Toninformation. Für den Literaturvergleich in RQ4 rechne ich zusätzlich CER auf AISHELL-1, damit meine Ergebnisse mit den 15+ Papers vergleichbar sind, die AISHELL als Benchmark nutzen. Und die Fehlerstruktur in RQ5 ergibt sich aus den Konfusionsmatrizen von RQ2 und RQ3. Bevor das volle Experiment startet, laufe ich einen Pilot: 400 Tone-Perfect-Samples plus 200 LATIC-Samples — das testet die gesamte Pipeline für unter einen Dollar.</a:t>
            </a:r>
            <a:endParaRPr lang="de-DE" dirty="0"/>
          </a:p>
        </p:txBody>
      </p:sp>
      <p:sp>
        <p:nvSpPr>
          <p:cNvPr id="4" name="Slide Number Placeholder 3"/>
          <p:cNvSpPr>
            <a:spLocks noGrp="1"/>
          </p:cNvSpPr>
          <p:nvPr>
            <p:ph type="sldNum" sz="quarter" idx="5"/>
          </p:nvPr>
        </p:nvSpPr>
        <p:spPr/>
        <p:txBody>
          <a:bodyPr/>
          <a:lstStyle/>
          <a:p>
            <a:fld id="{35C0B671-25EF-47C3-BD31-46E7FB9E6220}" type="slidenum">
              <a:rPr lang="de-DE" smtClean="0"/>
              <a:t>56</a:t>
            </a:fld>
            <a:endParaRPr lang="de-DE"/>
          </a:p>
        </p:txBody>
      </p:sp>
    </p:spTree>
    <p:extLst>
      <p:ext uri="{BB962C8B-B14F-4D97-AF65-F5344CB8AC3E}">
        <p14:creationId xmlns:p14="http://schemas.microsoft.com/office/powerpoint/2010/main" val="153813205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sz="1200" b="0" i="0" kern="1200" dirty="0">
                <a:solidFill>
                  <a:schemeClr val="tx1"/>
                </a:solidFill>
                <a:effectLst/>
                <a:latin typeface="+mn-lt"/>
                <a:ea typeface="+mn-ea"/>
                <a:cs typeface="+mn-cs"/>
              </a:rPr>
              <a:t>Für den Fall, dass Tim fragt, warum ich bestimmte Korpora nicht verwende: </a:t>
            </a:r>
            <a:r>
              <a:rPr lang="de-DE" sz="1200" b="0" i="0" kern="1200" dirty="0" err="1">
                <a:solidFill>
                  <a:schemeClr val="tx1"/>
                </a:solidFill>
                <a:effectLst/>
                <a:latin typeface="+mn-lt"/>
                <a:ea typeface="+mn-ea"/>
                <a:cs typeface="+mn-cs"/>
              </a:rPr>
              <a:t>Sinica</a:t>
            </a:r>
            <a:r>
              <a:rPr lang="de-DE" sz="1200" b="0" i="0" kern="1200" dirty="0">
                <a:solidFill>
                  <a:schemeClr val="tx1"/>
                </a:solidFill>
                <a:effectLst/>
                <a:latin typeface="+mn-lt"/>
                <a:ea typeface="+mn-ea"/>
                <a:cs typeface="+mn-cs"/>
              </a:rPr>
              <a:t> ist ein Textkorpus ohne Audio. </a:t>
            </a:r>
            <a:r>
              <a:rPr lang="de-DE" sz="1200" b="0" i="0" kern="1200" dirty="0" err="1">
                <a:solidFill>
                  <a:schemeClr val="tx1"/>
                </a:solidFill>
                <a:effectLst/>
                <a:latin typeface="+mn-lt"/>
                <a:ea typeface="+mn-ea"/>
                <a:cs typeface="+mn-cs"/>
              </a:rPr>
              <a:t>Biaobei</a:t>
            </a:r>
            <a:r>
              <a:rPr lang="de-DE" sz="1200" b="0" i="0" kern="1200" dirty="0">
                <a:solidFill>
                  <a:schemeClr val="tx1"/>
                </a:solidFill>
                <a:effectLst/>
                <a:latin typeface="+mn-lt"/>
                <a:ea typeface="+mn-ea"/>
                <a:cs typeface="+mn-cs"/>
              </a:rPr>
              <a:t> und </a:t>
            </a:r>
            <a:r>
              <a:rPr lang="de-DE" sz="1200" b="0" i="0" kern="1200" dirty="0" err="1">
                <a:solidFill>
                  <a:schemeClr val="tx1"/>
                </a:solidFill>
                <a:effectLst/>
                <a:latin typeface="+mn-lt"/>
                <a:ea typeface="+mn-ea"/>
                <a:cs typeface="+mn-cs"/>
              </a:rPr>
              <a:t>WenetSpeech</a:t>
            </a:r>
            <a:r>
              <a:rPr lang="de-DE" sz="1200" b="0" i="0" kern="1200" dirty="0">
                <a:solidFill>
                  <a:schemeClr val="tx1"/>
                </a:solidFill>
                <a:effectLst/>
                <a:latin typeface="+mn-lt"/>
                <a:ea typeface="+mn-ea"/>
                <a:cs typeface="+mn-cs"/>
              </a:rPr>
              <a:t> sind TTS-Korpora — die gehen von Text zu Sprache, ich brauche Sprache zu Text. CS-</a:t>
            </a:r>
            <a:r>
              <a:rPr lang="de-DE" sz="1200" b="0" i="0" kern="1200" dirty="0" err="1">
                <a:solidFill>
                  <a:schemeClr val="tx1"/>
                </a:solidFill>
                <a:effectLst/>
                <a:latin typeface="+mn-lt"/>
                <a:ea typeface="+mn-ea"/>
                <a:cs typeface="+mn-cs"/>
              </a:rPr>
              <a:t>Dialogue</a:t>
            </a:r>
            <a:r>
              <a:rPr lang="de-DE" sz="1200" b="0" i="0" kern="1200" dirty="0">
                <a:solidFill>
                  <a:schemeClr val="tx1"/>
                </a:solidFill>
                <a:effectLst/>
                <a:latin typeface="+mn-lt"/>
                <a:ea typeface="+mn-ea"/>
                <a:cs typeface="+mn-cs"/>
              </a:rPr>
              <a:t> mischt Mandarin mit Englisch, </a:t>
            </a:r>
            <a:r>
              <a:rPr lang="de-DE" sz="1200" b="0" i="0" kern="1200" dirty="0" err="1">
                <a:solidFill>
                  <a:schemeClr val="tx1"/>
                </a:solidFill>
                <a:effectLst/>
                <a:latin typeface="+mn-lt"/>
                <a:ea typeface="+mn-ea"/>
                <a:cs typeface="+mn-cs"/>
              </a:rPr>
              <a:t>EdUHK</a:t>
            </a:r>
            <a:r>
              <a:rPr lang="de-DE" sz="1200" b="0" i="0" kern="1200" dirty="0">
                <a:solidFill>
                  <a:schemeClr val="tx1"/>
                </a:solidFill>
                <a:effectLst/>
                <a:latin typeface="+mn-lt"/>
                <a:ea typeface="+mn-ea"/>
                <a:cs typeface="+mn-cs"/>
              </a:rPr>
              <a:t> ist Kantonesisch. Spoken Chinese L2 hat kein öffentliches Audio, nur Transkripte. </a:t>
            </a:r>
            <a:r>
              <a:rPr lang="de-DE" sz="1200" b="0" i="0" kern="1200" dirty="0" err="1">
                <a:solidFill>
                  <a:schemeClr val="tx1"/>
                </a:solidFill>
                <a:effectLst/>
                <a:latin typeface="+mn-lt"/>
                <a:ea typeface="+mn-ea"/>
                <a:cs typeface="+mn-cs"/>
              </a:rPr>
              <a:t>ChildMandarin</a:t>
            </a:r>
            <a:r>
              <a:rPr lang="de-DE" sz="1200" b="0" i="0" kern="1200" dirty="0">
                <a:solidFill>
                  <a:schemeClr val="tx1"/>
                </a:solidFill>
                <a:effectLst/>
                <a:latin typeface="+mn-lt"/>
                <a:ea typeface="+mn-ea"/>
                <a:cs typeface="+mn-cs"/>
              </a:rPr>
              <a:t> wäre interessant, aber Kinder von 3 bis 5 sind weder meine Zielgruppe noch L2-Lerner. Und BLCU war 2016 noch im Design — ob der Datensatz inzwischen fertig ist, müsste ich erst recherchieren.</a:t>
            </a:r>
            <a:endParaRPr lang="de-DE" dirty="0"/>
          </a:p>
        </p:txBody>
      </p:sp>
      <p:sp>
        <p:nvSpPr>
          <p:cNvPr id="4" name="Slide Number Placeholder 3"/>
          <p:cNvSpPr>
            <a:spLocks noGrp="1"/>
          </p:cNvSpPr>
          <p:nvPr>
            <p:ph type="sldNum" sz="quarter" idx="5"/>
          </p:nvPr>
        </p:nvSpPr>
        <p:spPr/>
        <p:txBody>
          <a:bodyPr/>
          <a:lstStyle/>
          <a:p>
            <a:fld id="{35C0B671-25EF-47C3-BD31-46E7FB9E6220}" type="slidenum">
              <a:rPr lang="de-DE" smtClean="0"/>
              <a:t>57</a:t>
            </a:fld>
            <a:endParaRPr lang="de-DE"/>
          </a:p>
        </p:txBody>
      </p:sp>
    </p:spTree>
    <p:extLst>
      <p:ext uri="{BB962C8B-B14F-4D97-AF65-F5344CB8AC3E}">
        <p14:creationId xmlns:p14="http://schemas.microsoft.com/office/powerpoint/2010/main" val="419891392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sz="1200" b="0" i="0" kern="1200" dirty="0">
                <a:solidFill>
                  <a:schemeClr val="tx1"/>
                </a:solidFill>
                <a:effectLst/>
                <a:latin typeface="+mn-lt"/>
                <a:ea typeface="+mn-ea"/>
                <a:cs typeface="+mn-cs"/>
              </a:rPr>
              <a:t>Die Tool-Landschaft hat drei Ebenen. Tier A wandelt Text in Pinyin um — g2pW erreicht 99 Prozent. Das ist aber die kanonische Soll-Aussprache, nicht das, was tatsächlich gesprochen wurde. Tier B ist die spannende Ebene: Tools, die aus Audio den Ton bestimmen — kommerzielle APIs wie </a:t>
            </a:r>
            <a:r>
              <a:rPr lang="de-DE" sz="1200" b="0" i="0" kern="1200" dirty="0" err="1">
                <a:solidFill>
                  <a:schemeClr val="tx1"/>
                </a:solidFill>
                <a:effectLst/>
                <a:latin typeface="+mn-lt"/>
                <a:ea typeface="+mn-ea"/>
                <a:cs typeface="+mn-cs"/>
              </a:rPr>
              <a:t>SpeechSuper</a:t>
            </a:r>
            <a:r>
              <a:rPr lang="de-DE" sz="1200" b="0" i="0" kern="1200" dirty="0">
                <a:solidFill>
                  <a:schemeClr val="tx1"/>
                </a:solidFill>
                <a:effectLst/>
                <a:latin typeface="+mn-lt"/>
                <a:ea typeface="+mn-ea"/>
                <a:cs typeface="+mn-cs"/>
              </a:rPr>
              <a:t> und akademische CNN-Klassifikatoren. Hier ist der Befund zweigeteilt: Für Muttersprachler mit isolierten Silben ist das praktisch gelöst, bis 99 Prozent. Aber für L2-Lerner brechen alle Werte ein, mit Diagnose-Fehlerraten von 26 bis 32 Prozent. Tier C misst die physikalische Pitch-Kontur mit </a:t>
            </a:r>
            <a:r>
              <a:rPr lang="de-DE" sz="1200" b="0" i="0" kern="1200" dirty="0" err="1">
                <a:solidFill>
                  <a:schemeClr val="tx1"/>
                </a:solidFill>
                <a:effectLst/>
                <a:latin typeface="+mn-lt"/>
                <a:ea typeface="+mn-ea"/>
                <a:cs typeface="+mn-cs"/>
              </a:rPr>
              <a:t>Praat</a:t>
            </a:r>
            <a:r>
              <a:rPr lang="de-DE" sz="1200" b="0" i="0" kern="1200" dirty="0">
                <a:solidFill>
                  <a:schemeClr val="tx1"/>
                </a:solidFill>
                <a:effectLst/>
                <a:latin typeface="+mn-lt"/>
                <a:ea typeface="+mn-ea"/>
                <a:cs typeface="+mn-cs"/>
              </a:rPr>
              <a:t> — die Messung ist gelöst, aber die Klassifikation in Tonkategorien muss man selbst bauen. Und ganz unten: Was fehlt? Ein Tool, das Audio robust in vollständige Pinyin-plus-Ton-Transkription umwandelt — gerade für L2. Und kein Frontier-LLM wurde je auf isolierter Silben-</a:t>
            </a:r>
            <a:r>
              <a:rPr lang="de-DE" sz="1200" b="0" i="0" kern="1200" dirty="0" err="1">
                <a:solidFill>
                  <a:schemeClr val="tx1"/>
                </a:solidFill>
                <a:effectLst/>
                <a:latin typeface="+mn-lt"/>
                <a:ea typeface="+mn-ea"/>
                <a:cs typeface="+mn-cs"/>
              </a:rPr>
              <a:t>Tonebene</a:t>
            </a:r>
            <a:r>
              <a:rPr lang="de-DE" sz="1200" b="0" i="0" kern="1200" dirty="0">
                <a:solidFill>
                  <a:schemeClr val="tx1"/>
                </a:solidFill>
                <a:effectLst/>
                <a:latin typeface="+mn-lt"/>
                <a:ea typeface="+mn-ea"/>
                <a:cs typeface="+mn-cs"/>
              </a:rPr>
              <a:t> gebenchmarkt. Das ist meine Lücke.</a:t>
            </a:r>
            <a:endParaRPr lang="de-DE" dirty="0"/>
          </a:p>
        </p:txBody>
      </p:sp>
      <p:sp>
        <p:nvSpPr>
          <p:cNvPr id="4" name="Slide Number Placeholder 3"/>
          <p:cNvSpPr>
            <a:spLocks noGrp="1"/>
          </p:cNvSpPr>
          <p:nvPr>
            <p:ph type="sldNum" sz="quarter" idx="5"/>
          </p:nvPr>
        </p:nvSpPr>
        <p:spPr/>
        <p:txBody>
          <a:bodyPr/>
          <a:lstStyle/>
          <a:p>
            <a:fld id="{35C0B671-25EF-47C3-BD31-46E7FB9E6220}" type="slidenum">
              <a:rPr lang="de-DE" smtClean="0"/>
              <a:t>60</a:t>
            </a:fld>
            <a:endParaRPr lang="de-DE"/>
          </a:p>
        </p:txBody>
      </p:sp>
    </p:spTree>
    <p:extLst>
      <p:ext uri="{BB962C8B-B14F-4D97-AF65-F5344CB8AC3E}">
        <p14:creationId xmlns:p14="http://schemas.microsoft.com/office/powerpoint/2010/main" val="125506268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sz="1200" b="0" i="0" kern="1200" dirty="0">
                <a:solidFill>
                  <a:schemeClr val="tx1"/>
                </a:solidFill>
                <a:effectLst/>
                <a:latin typeface="+mn-lt"/>
                <a:ea typeface="+mn-ea"/>
                <a:cs typeface="+mn-cs"/>
              </a:rPr>
              <a:t>Tier A ist gelöst. g2pW nutzt BERT, um Polyphone kontextabhängig aufzulösen, und erreicht 99 Prozent auf dem Standard-Benchmark. Es ist meine Baseline für die erste Forschungsfrage, Text zu Pinyin. Aber — und das ist der entscheidende Punkt — Tier A liefert nur die kanonische Soll-Aussprache aus dem Wörterbuch. Es sagt mir, wie ein Wort ausgesprochen werden sollte, nicht, was ein Sprecher tatsächlich produziert hat. Für die Audio-Aufgabe brauche ich Tier B.</a:t>
            </a:r>
            <a:endParaRPr lang="de-DE" dirty="0"/>
          </a:p>
        </p:txBody>
      </p:sp>
      <p:sp>
        <p:nvSpPr>
          <p:cNvPr id="4" name="Slide Number Placeholder 3"/>
          <p:cNvSpPr>
            <a:spLocks noGrp="1"/>
          </p:cNvSpPr>
          <p:nvPr>
            <p:ph type="sldNum" sz="quarter" idx="5"/>
          </p:nvPr>
        </p:nvSpPr>
        <p:spPr/>
        <p:txBody>
          <a:bodyPr/>
          <a:lstStyle/>
          <a:p>
            <a:fld id="{35C0B671-25EF-47C3-BD31-46E7FB9E6220}" type="slidenum">
              <a:rPr lang="de-DE" smtClean="0"/>
              <a:t>61</a:t>
            </a:fld>
            <a:endParaRPr lang="de-DE"/>
          </a:p>
        </p:txBody>
      </p:sp>
    </p:spTree>
    <p:extLst>
      <p:ext uri="{BB962C8B-B14F-4D97-AF65-F5344CB8AC3E}">
        <p14:creationId xmlns:p14="http://schemas.microsoft.com/office/powerpoint/2010/main" val="623155136"/>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sz="1200" b="0" i="0" kern="1200" dirty="0">
                <a:solidFill>
                  <a:schemeClr val="tx1"/>
                </a:solidFill>
                <a:effectLst/>
                <a:latin typeface="+mn-lt"/>
                <a:ea typeface="+mn-ea"/>
                <a:cs typeface="+mn-cs"/>
              </a:rPr>
              <a:t>Auf der kommerziellen Seite von Tier B gibt es spezialisierte Aussprachebewertungs-APIs. Die beiden chinesischen Marktführer, </a:t>
            </a:r>
            <a:r>
              <a:rPr lang="de-DE" sz="1200" b="0" i="0" kern="1200" dirty="0" err="1">
                <a:solidFill>
                  <a:schemeClr val="tx1"/>
                </a:solidFill>
                <a:effectLst/>
                <a:latin typeface="+mn-lt"/>
                <a:ea typeface="+mn-ea"/>
                <a:cs typeface="+mn-cs"/>
              </a:rPr>
              <a:t>SpeechSuper</a:t>
            </a:r>
            <a:r>
              <a:rPr lang="de-DE" sz="1200" b="0" i="0" kern="1200" dirty="0">
                <a:solidFill>
                  <a:schemeClr val="tx1"/>
                </a:solidFill>
                <a:effectLst/>
                <a:latin typeface="+mn-lt"/>
                <a:ea typeface="+mn-ea"/>
                <a:cs typeface="+mn-cs"/>
              </a:rPr>
              <a:t> und </a:t>
            </a:r>
            <a:r>
              <a:rPr lang="de-DE" sz="1200" b="0" i="0" kern="1200" dirty="0" err="1">
                <a:solidFill>
                  <a:schemeClr val="tx1"/>
                </a:solidFill>
                <a:effectLst/>
                <a:latin typeface="+mn-lt"/>
                <a:ea typeface="+mn-ea"/>
                <a:cs typeface="+mn-cs"/>
              </a:rPr>
              <a:t>iFlytek</a:t>
            </a:r>
            <a:r>
              <a:rPr lang="de-DE" sz="1200" b="0" i="0" kern="1200" dirty="0">
                <a:solidFill>
                  <a:schemeClr val="tx1"/>
                </a:solidFill>
                <a:effectLst/>
                <a:latin typeface="+mn-lt"/>
                <a:ea typeface="+mn-ea"/>
                <a:cs typeface="+mn-cs"/>
              </a:rPr>
              <a:t>, sind genau auf Mandarin zugeschnitten: Sie bewerten Initial, Final und Ton getrennt und liefern sogar eine Ton-Prädiktion — sie sagen dem Lerner: ‚Du hast Ton 2 produziert, korrekt wäre Ton 4.' </a:t>
            </a:r>
            <a:r>
              <a:rPr lang="de-DE" sz="1200" b="0" i="0" kern="1200" dirty="0" err="1">
                <a:solidFill>
                  <a:schemeClr val="tx1"/>
                </a:solidFill>
                <a:effectLst/>
                <a:latin typeface="+mn-lt"/>
                <a:ea typeface="+mn-ea"/>
                <a:cs typeface="+mn-cs"/>
              </a:rPr>
              <a:t>iFlytek</a:t>
            </a:r>
            <a:r>
              <a:rPr lang="de-DE" sz="1200" b="0" i="0" kern="1200" dirty="0">
                <a:solidFill>
                  <a:schemeClr val="tx1"/>
                </a:solidFill>
                <a:effectLst/>
                <a:latin typeface="+mn-lt"/>
                <a:ea typeface="+mn-ea"/>
                <a:cs typeface="+mn-cs"/>
              </a:rPr>
              <a:t> ist so etabliert, dass es das offizielle chinesische Sprachexamen antreibt. Microsoft Azure ist technisch exzellent bei Segmenten und gibt sogar IPA-Alternativen mit Konfidenzwerten zurück — aber für Chinesisch hat Azure keinen separaten Ton-Score, der Ton versteckt sich im Phonem-Score. Das große Problem aller drei: Es sind Black Boxes ohne publizierte Fehlerraten. Bevor ich sie als Cross-Check nutze, muss ich sie selbst auf einer Stichprobe validieren.</a:t>
            </a:r>
            <a:endParaRPr lang="de-DE" dirty="0"/>
          </a:p>
        </p:txBody>
      </p:sp>
      <p:sp>
        <p:nvSpPr>
          <p:cNvPr id="4" name="Slide Number Placeholder 3"/>
          <p:cNvSpPr>
            <a:spLocks noGrp="1"/>
          </p:cNvSpPr>
          <p:nvPr>
            <p:ph type="sldNum" sz="quarter" idx="5"/>
          </p:nvPr>
        </p:nvSpPr>
        <p:spPr/>
        <p:txBody>
          <a:bodyPr/>
          <a:lstStyle/>
          <a:p>
            <a:fld id="{35C0B671-25EF-47C3-BD31-46E7FB9E6220}" type="slidenum">
              <a:rPr lang="de-DE" smtClean="0"/>
              <a:t>62</a:t>
            </a:fld>
            <a:endParaRPr lang="de-DE"/>
          </a:p>
        </p:txBody>
      </p:sp>
    </p:spTree>
    <p:extLst>
      <p:ext uri="{BB962C8B-B14F-4D97-AF65-F5344CB8AC3E}">
        <p14:creationId xmlns:p14="http://schemas.microsoft.com/office/powerpoint/2010/main" val="271858264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sz="1200" b="0" i="0" kern="1200" dirty="0">
                <a:solidFill>
                  <a:schemeClr val="tx1"/>
                </a:solidFill>
                <a:effectLst/>
                <a:latin typeface="+mn-lt"/>
                <a:ea typeface="+mn-ea"/>
                <a:cs typeface="+mn-cs"/>
              </a:rPr>
              <a:t>Auf der akademischen Seite von Tier B ist die Tonklassifikation für Muttersprachler mit isolierten Silben praktisch gelöst. Ein simples CNN auf dem Tone-Perfect-Datensatz erreicht 99,8 Prozent, </a:t>
            </a:r>
            <a:r>
              <a:rPr lang="de-DE" sz="1200" b="0" i="0" kern="1200" dirty="0" err="1">
                <a:solidFill>
                  <a:schemeClr val="tx1"/>
                </a:solidFill>
                <a:effectLst/>
                <a:latin typeface="+mn-lt"/>
                <a:ea typeface="+mn-ea"/>
                <a:cs typeface="+mn-cs"/>
              </a:rPr>
              <a:t>fine</a:t>
            </a:r>
            <a:r>
              <a:rPr lang="de-DE" sz="1200" b="0" i="0" kern="1200" dirty="0">
                <a:solidFill>
                  <a:schemeClr val="tx1"/>
                </a:solidFill>
                <a:effectLst/>
                <a:latin typeface="+mn-lt"/>
                <a:ea typeface="+mn-ea"/>
                <a:cs typeface="+mn-cs"/>
              </a:rPr>
              <a:t>-getunte </a:t>
            </a:r>
            <a:r>
              <a:rPr lang="de-DE" sz="1200" b="0" i="0" kern="1200" dirty="0" err="1">
                <a:solidFill>
                  <a:schemeClr val="tx1"/>
                </a:solidFill>
                <a:effectLst/>
                <a:latin typeface="+mn-lt"/>
                <a:ea typeface="+mn-ea"/>
                <a:cs typeface="+mn-cs"/>
              </a:rPr>
              <a:t>HuBERT</a:t>
            </a:r>
            <a:r>
              <a:rPr lang="de-DE" sz="1200" b="0" i="0" kern="1200" dirty="0">
                <a:solidFill>
                  <a:schemeClr val="tx1"/>
                </a:solidFill>
                <a:effectLst/>
                <a:latin typeface="+mn-lt"/>
                <a:ea typeface="+mn-ea"/>
                <a:cs typeface="+mn-cs"/>
              </a:rPr>
              <a:t>-Modelle melden bis zu 100 Prozent. Eine systematische Review von 61 Studien bestätigt: Deep Learning erreicht im Schnitt 89 Prozent, bei isolierten Silben bis 99 Prozent. Durchgängig der schwierigste Ton ist Ton 3 — der tief-fallend-steigende. Für meine Arbeit hat das zwei Konsequenzen: Erstens kann ich für Phase 1, die Muttersprachler-Daten, einen CNN-Klassifikator als automatischen Cross-Check nutzen — wenn er über 98 Prozent gegen die bekannten Labels liegt, spare ich mir die manuelle Annotation. Zweitens sind diese 99-Prozent-Werte die perfekten Nicht-LLM-Baselines: Spezialmodell 99 Prozent — wie schlägt sich ein generalistisches LLM dagegen?</a:t>
            </a:r>
            <a:endParaRPr lang="de-DE" dirty="0"/>
          </a:p>
        </p:txBody>
      </p:sp>
      <p:sp>
        <p:nvSpPr>
          <p:cNvPr id="4" name="Slide Number Placeholder 3"/>
          <p:cNvSpPr>
            <a:spLocks noGrp="1"/>
          </p:cNvSpPr>
          <p:nvPr>
            <p:ph type="sldNum" sz="quarter" idx="5"/>
          </p:nvPr>
        </p:nvSpPr>
        <p:spPr/>
        <p:txBody>
          <a:bodyPr/>
          <a:lstStyle/>
          <a:p>
            <a:fld id="{35C0B671-25EF-47C3-BD31-46E7FB9E6220}" type="slidenum">
              <a:rPr lang="de-DE" smtClean="0"/>
              <a:t>63</a:t>
            </a:fld>
            <a:endParaRPr lang="de-DE"/>
          </a:p>
        </p:txBody>
      </p:sp>
    </p:spTree>
    <p:extLst>
      <p:ext uri="{BB962C8B-B14F-4D97-AF65-F5344CB8AC3E}">
        <p14:creationId xmlns:p14="http://schemas.microsoft.com/office/powerpoint/2010/main" val="324860525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sz="1200" b="0" i="0" kern="1200" dirty="0">
                <a:solidFill>
                  <a:schemeClr val="tx1"/>
                </a:solidFill>
                <a:effectLst/>
                <a:latin typeface="+mn-lt"/>
                <a:ea typeface="+mn-ea"/>
                <a:cs typeface="+mn-cs"/>
              </a:rPr>
              <a:t>Und jetzt der entscheidende Kontrast. Sobald wir von Muttersprachlern zu L2-Lernern wechseln, brechen alle Tools ein. Die besten spezialisierten </a:t>
            </a:r>
            <a:r>
              <a:rPr lang="de-DE" sz="1200" b="0" i="0" kern="1200" dirty="0" err="1">
                <a:solidFill>
                  <a:schemeClr val="tx1"/>
                </a:solidFill>
                <a:effectLst/>
                <a:latin typeface="+mn-lt"/>
                <a:ea typeface="+mn-ea"/>
                <a:cs typeface="+mn-cs"/>
              </a:rPr>
              <a:t>Mispronunciation</a:t>
            </a:r>
            <a:r>
              <a:rPr lang="de-DE" sz="1200" b="0" i="0" kern="1200" dirty="0">
                <a:solidFill>
                  <a:schemeClr val="tx1"/>
                </a:solidFill>
                <a:effectLst/>
                <a:latin typeface="+mn-lt"/>
                <a:ea typeface="+mn-ea"/>
                <a:cs typeface="+mn-cs"/>
              </a:rPr>
              <a:t>-</a:t>
            </a:r>
            <a:r>
              <a:rPr lang="de-DE" sz="1200" b="0" i="0" kern="1200" dirty="0" err="1">
                <a:solidFill>
                  <a:schemeClr val="tx1"/>
                </a:solidFill>
                <a:effectLst/>
                <a:latin typeface="+mn-lt"/>
                <a:ea typeface="+mn-ea"/>
                <a:cs typeface="+mn-cs"/>
              </a:rPr>
              <a:t>Detection</a:t>
            </a:r>
            <a:r>
              <a:rPr lang="de-DE" sz="1200" b="0" i="0" kern="1200" dirty="0">
                <a:solidFill>
                  <a:schemeClr val="tx1"/>
                </a:solidFill>
                <a:effectLst/>
                <a:latin typeface="+mn-lt"/>
                <a:ea typeface="+mn-ea"/>
                <a:cs typeface="+mn-cs"/>
              </a:rPr>
              <a:t>-Systeme — Pitch-Aware RNN-T, Tone-CAT, Tone-PT, alle auf dem L2-Korpus LATIC evaluiert — haben Diagnose-Fehlerraten zwischen 26 und 32 Prozent. Warum? Weil L2-Lerner Laute produzieren, die das Modell nie im Training gesehen hat: Ein zu flacher Ton 3 klingt wie ein Ton 2, Aspiration wird verwechselt, dazu kommt massive Datenknappheit. Die Konsequenz für meine Arbeit ist klar: Für die L2-Phase bleibt menschliche Annotation unverzichtbar — die Tools taugen nur als Vorab-Filter, nicht als Ground Truth. Erst bei einem Tool-Mensch-Agreement über Kappa 0,85 könnte man automatisieren. Und genau das macht mein L2-Experiment wertvoll: Können multimodale LLMs hier vielleicht anders oder besser abschneiden als die spezialisierten Systeme?</a:t>
            </a:r>
            <a:endParaRPr lang="de-DE" dirty="0"/>
          </a:p>
        </p:txBody>
      </p:sp>
      <p:sp>
        <p:nvSpPr>
          <p:cNvPr id="4" name="Slide Number Placeholder 3"/>
          <p:cNvSpPr>
            <a:spLocks noGrp="1"/>
          </p:cNvSpPr>
          <p:nvPr>
            <p:ph type="sldNum" sz="quarter" idx="5"/>
          </p:nvPr>
        </p:nvSpPr>
        <p:spPr/>
        <p:txBody>
          <a:bodyPr/>
          <a:lstStyle/>
          <a:p>
            <a:fld id="{35C0B671-25EF-47C3-BD31-46E7FB9E6220}" type="slidenum">
              <a:rPr lang="de-DE" smtClean="0"/>
              <a:t>64</a:t>
            </a:fld>
            <a:endParaRPr lang="de-DE"/>
          </a:p>
        </p:txBody>
      </p:sp>
    </p:spTree>
    <p:extLst>
      <p:ext uri="{BB962C8B-B14F-4D97-AF65-F5344CB8AC3E}">
        <p14:creationId xmlns:p14="http://schemas.microsoft.com/office/powerpoint/2010/main" val="127412939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sz="1200" b="0" i="0" kern="1200" dirty="0">
                <a:solidFill>
                  <a:schemeClr val="tx1"/>
                </a:solidFill>
                <a:effectLst/>
                <a:latin typeface="+mn-lt"/>
                <a:ea typeface="+mn-ea"/>
                <a:cs typeface="+mn-cs"/>
              </a:rPr>
              <a:t>Tier C ist die Signalebene — die physikalische Wahrheit der Tonhöhe. </a:t>
            </a:r>
            <a:r>
              <a:rPr lang="de-DE" sz="1200" b="0" i="0" kern="1200" dirty="0" err="1">
                <a:solidFill>
                  <a:schemeClr val="tx1"/>
                </a:solidFill>
                <a:effectLst/>
                <a:latin typeface="+mn-lt"/>
                <a:ea typeface="+mn-ea"/>
                <a:cs typeface="+mn-cs"/>
              </a:rPr>
              <a:t>Praat</a:t>
            </a:r>
            <a:r>
              <a:rPr lang="de-DE" sz="1200" b="0" i="0" kern="1200" dirty="0">
                <a:solidFill>
                  <a:schemeClr val="tx1"/>
                </a:solidFill>
                <a:effectLst/>
                <a:latin typeface="+mn-lt"/>
                <a:ea typeface="+mn-ea"/>
                <a:cs typeface="+mn-cs"/>
              </a:rPr>
              <a:t> ist der phonetische Goldstandard zur F0-Extraktion, und </a:t>
            </a:r>
            <a:r>
              <a:rPr lang="de-DE" sz="1200" b="0" i="0" kern="1200" dirty="0" err="1">
                <a:solidFill>
                  <a:schemeClr val="tx1"/>
                </a:solidFill>
                <a:effectLst/>
                <a:latin typeface="+mn-lt"/>
                <a:ea typeface="+mn-ea"/>
                <a:cs typeface="+mn-cs"/>
              </a:rPr>
              <a:t>Parselmouth</a:t>
            </a:r>
            <a:r>
              <a:rPr lang="de-DE" sz="1200" b="0" i="0" kern="1200" dirty="0">
                <a:solidFill>
                  <a:schemeClr val="tx1"/>
                </a:solidFill>
                <a:effectLst/>
                <a:latin typeface="+mn-lt"/>
                <a:ea typeface="+mn-ea"/>
                <a:cs typeface="+mn-cs"/>
              </a:rPr>
              <a:t> bringt den </a:t>
            </a:r>
            <a:r>
              <a:rPr lang="de-DE" sz="1200" b="0" i="0" kern="1200" dirty="0" err="1">
                <a:solidFill>
                  <a:schemeClr val="tx1"/>
                </a:solidFill>
                <a:effectLst/>
                <a:latin typeface="+mn-lt"/>
                <a:ea typeface="+mn-ea"/>
                <a:cs typeface="+mn-cs"/>
              </a:rPr>
              <a:t>Praat</a:t>
            </a:r>
            <a:r>
              <a:rPr lang="de-DE" sz="1200" b="0" i="0" kern="1200" dirty="0">
                <a:solidFill>
                  <a:schemeClr val="tx1"/>
                </a:solidFill>
                <a:effectLst/>
                <a:latin typeface="+mn-lt"/>
                <a:ea typeface="+mn-ea"/>
                <a:cs typeface="+mn-cs"/>
              </a:rPr>
              <a:t>-Kern nach Python, sodass ich tausende Samples automatisch verarbeiten kann. </a:t>
            </a:r>
            <a:r>
              <a:rPr lang="de-DE" sz="1200" b="0" i="0" kern="1200" dirty="0" err="1">
                <a:solidFill>
                  <a:schemeClr val="tx1"/>
                </a:solidFill>
                <a:effectLst/>
                <a:latin typeface="+mn-lt"/>
                <a:ea typeface="+mn-ea"/>
                <a:cs typeface="+mn-cs"/>
              </a:rPr>
              <a:t>ProsodyPro</a:t>
            </a:r>
            <a:r>
              <a:rPr lang="de-DE" sz="1200" b="0" i="0" kern="1200" dirty="0">
                <a:solidFill>
                  <a:schemeClr val="tx1"/>
                </a:solidFill>
                <a:effectLst/>
                <a:latin typeface="+mn-lt"/>
                <a:ea typeface="+mn-ea"/>
                <a:cs typeface="+mn-cs"/>
              </a:rPr>
              <a:t> normalisiert die Konturen zeitlich auf zehn Punkte pro Silbe — erst dadurch kann ich die Kurve eines L2-Lerners direkt über die Muttersprachler-Sollkurve legen und sehen: Hier fehlt der Anstieg von Ton 3. Der Montreal </a:t>
            </a:r>
            <a:r>
              <a:rPr lang="de-DE" sz="1200" b="0" i="0" kern="1200" dirty="0" err="1">
                <a:solidFill>
                  <a:schemeClr val="tx1"/>
                </a:solidFill>
                <a:effectLst/>
                <a:latin typeface="+mn-lt"/>
                <a:ea typeface="+mn-ea"/>
                <a:cs typeface="+mn-cs"/>
              </a:rPr>
              <a:t>Forced</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Aligner</a:t>
            </a:r>
            <a:r>
              <a:rPr lang="de-DE" sz="1200" b="0" i="0" kern="1200" dirty="0">
                <a:solidFill>
                  <a:schemeClr val="tx1"/>
                </a:solidFill>
                <a:effectLst/>
                <a:latin typeface="+mn-lt"/>
                <a:ea typeface="+mn-ea"/>
                <a:cs typeface="+mn-cs"/>
              </a:rPr>
              <a:t> liefert die nötigen Zeitgrenzen, damit ich überhaupt weiß, wo im Audiosignal die Silbe liegt. Diese Pipeline gibt mir quantitatives, erklärbares Feedback — die Rohdaten für den späteren Vokabeltrainer. Wichtig ist aber: Tier C misst nur, es klassifiziert nicht. Die Einteilung in Tonkategorien muss ich selbst aufsetzen. Und der </a:t>
            </a:r>
            <a:r>
              <a:rPr lang="de-DE" sz="1200" b="0" i="0" kern="1200" dirty="0" err="1">
                <a:solidFill>
                  <a:schemeClr val="tx1"/>
                </a:solidFill>
                <a:effectLst/>
                <a:latin typeface="+mn-lt"/>
                <a:ea typeface="+mn-ea"/>
                <a:cs typeface="+mn-cs"/>
              </a:rPr>
              <a:t>Aligner</a:t>
            </a:r>
            <a:r>
              <a:rPr lang="de-DE" sz="1200" b="0" i="0" kern="1200" dirty="0">
                <a:solidFill>
                  <a:schemeClr val="tx1"/>
                </a:solidFill>
                <a:effectLst/>
                <a:latin typeface="+mn-lt"/>
                <a:ea typeface="+mn-ea"/>
                <a:cs typeface="+mn-cs"/>
              </a:rPr>
              <a:t> ist auf native Aussprache trainiert, kann also bei starken L2-Abweichungen die Grenzen verfehlen.</a:t>
            </a:r>
            <a:endParaRPr lang="de-DE" dirty="0"/>
          </a:p>
        </p:txBody>
      </p:sp>
      <p:sp>
        <p:nvSpPr>
          <p:cNvPr id="4" name="Slide Number Placeholder 3"/>
          <p:cNvSpPr>
            <a:spLocks noGrp="1"/>
          </p:cNvSpPr>
          <p:nvPr>
            <p:ph type="sldNum" sz="quarter" idx="5"/>
          </p:nvPr>
        </p:nvSpPr>
        <p:spPr/>
        <p:txBody>
          <a:bodyPr/>
          <a:lstStyle/>
          <a:p>
            <a:fld id="{35C0B671-25EF-47C3-BD31-46E7FB9E6220}" type="slidenum">
              <a:rPr lang="de-DE" smtClean="0"/>
              <a:t>65</a:t>
            </a:fld>
            <a:endParaRPr lang="de-DE"/>
          </a:p>
        </p:txBody>
      </p:sp>
    </p:spTree>
    <p:extLst>
      <p:ext uri="{BB962C8B-B14F-4D97-AF65-F5344CB8AC3E}">
        <p14:creationId xmlns:p14="http://schemas.microsoft.com/office/powerpoint/2010/main" val="2230103792"/>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sz="1200" b="0" i="0" kern="1200" dirty="0">
                <a:solidFill>
                  <a:schemeClr val="tx1"/>
                </a:solidFill>
                <a:effectLst/>
                <a:latin typeface="+mn-lt"/>
                <a:ea typeface="+mn-ea"/>
                <a:cs typeface="+mn-cs"/>
              </a:rPr>
              <a:t>Die naheliegendste Pipeline ist Whisper plus g2pW: Audio rein, Hanzi raus, dann G2P zu Pinyin. Für Muttersprachler funktioniert das. Aber bei L2-Lernern hat es einen fatalen blinden Fleck. Wenn ein Lerner ‚</a:t>
            </a:r>
            <a:r>
              <a:rPr lang="de-DE" sz="1200" b="0" i="0" kern="1200" dirty="0" err="1">
                <a:solidFill>
                  <a:schemeClr val="tx1"/>
                </a:solidFill>
                <a:effectLst/>
                <a:latin typeface="+mn-lt"/>
                <a:ea typeface="+mn-ea"/>
                <a:cs typeface="+mn-cs"/>
              </a:rPr>
              <a:t>má</a:t>
            </a:r>
            <a:r>
              <a:rPr lang="de-DE" sz="1200" b="0" i="0" kern="1200" dirty="0">
                <a:solidFill>
                  <a:schemeClr val="tx1"/>
                </a:solidFill>
                <a:effectLst/>
                <a:latin typeface="+mn-lt"/>
                <a:ea typeface="+mn-ea"/>
                <a:cs typeface="+mn-cs"/>
              </a:rPr>
              <a:t>' mit Ton 2 sagt, obwohl er das Zeichen 马 mit Ton 3 meint, dann wählt Whisper trotzdem das wahrscheinlichste Zeichen — 马 — und g2pW gibt brav dessen Standardton aus, Ton 3. Der Tonfehler ist spurlos verschwunden. Selbst spezialisierte Pinyin-ASR mit </a:t>
            </a:r>
            <a:r>
              <a:rPr lang="de-DE" sz="1200" b="0" i="0" kern="1200" dirty="0" err="1">
                <a:solidFill>
                  <a:schemeClr val="tx1"/>
                </a:solidFill>
                <a:effectLst/>
                <a:latin typeface="+mn-lt"/>
                <a:ea typeface="+mn-ea"/>
                <a:cs typeface="+mn-cs"/>
              </a:rPr>
              <a:t>LoRA</a:t>
            </a:r>
            <a:r>
              <a:rPr lang="de-DE" sz="1200" b="0" i="0" kern="1200" dirty="0">
                <a:solidFill>
                  <a:schemeClr val="tx1"/>
                </a:solidFill>
                <a:effectLst/>
                <a:latin typeface="+mn-lt"/>
                <a:ea typeface="+mn-ea"/>
                <a:cs typeface="+mn-cs"/>
              </a:rPr>
              <a:t> oder </a:t>
            </a:r>
            <a:r>
              <a:rPr lang="de-DE" sz="1200" b="0" i="0" kern="1200" dirty="0" err="1">
                <a:solidFill>
                  <a:schemeClr val="tx1"/>
                </a:solidFill>
                <a:effectLst/>
                <a:latin typeface="+mn-lt"/>
                <a:ea typeface="+mn-ea"/>
                <a:cs typeface="+mn-cs"/>
              </a:rPr>
              <a:t>Branchformer</a:t>
            </a:r>
            <a:r>
              <a:rPr lang="de-DE" sz="1200" b="0" i="0" kern="1200" dirty="0">
                <a:solidFill>
                  <a:schemeClr val="tx1"/>
                </a:solidFill>
                <a:effectLst/>
                <a:latin typeface="+mn-lt"/>
                <a:ea typeface="+mn-ea"/>
                <a:cs typeface="+mn-cs"/>
              </a:rPr>
              <a:t> verbessert nur die Pinyin-Genauigkeit, nicht die L2-Ton-Diagnose. Mein direkter Weg über ein multimodales LLM, das ich anweise, Pinyin mit Tonnummer auszugeben, hält den Fehler sichtbar — ich bekomme ‚ma2' und kann es direkt gegen den Ground Truth ‚ma3' prüfen.</a:t>
            </a:r>
            <a:endParaRPr lang="de-DE" dirty="0"/>
          </a:p>
        </p:txBody>
      </p:sp>
      <p:sp>
        <p:nvSpPr>
          <p:cNvPr id="4" name="Slide Number Placeholder 3"/>
          <p:cNvSpPr>
            <a:spLocks noGrp="1"/>
          </p:cNvSpPr>
          <p:nvPr>
            <p:ph type="sldNum" sz="quarter" idx="5"/>
          </p:nvPr>
        </p:nvSpPr>
        <p:spPr/>
        <p:txBody>
          <a:bodyPr/>
          <a:lstStyle/>
          <a:p>
            <a:fld id="{35C0B671-25EF-47C3-BD31-46E7FB9E6220}" type="slidenum">
              <a:rPr lang="de-DE" smtClean="0"/>
              <a:t>66</a:t>
            </a:fld>
            <a:endParaRPr lang="de-DE"/>
          </a:p>
        </p:txBody>
      </p:sp>
    </p:spTree>
    <p:extLst>
      <p:ext uri="{BB962C8B-B14F-4D97-AF65-F5344CB8AC3E}">
        <p14:creationId xmlns:p14="http://schemas.microsoft.com/office/powerpoint/2010/main" val="515122695"/>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sz="1200" b="0" i="0" kern="1200" dirty="0">
                <a:solidFill>
                  <a:schemeClr val="tx1"/>
                </a:solidFill>
                <a:effectLst/>
                <a:latin typeface="+mn-lt"/>
                <a:ea typeface="+mn-ea"/>
                <a:cs typeface="+mn-cs"/>
              </a:rPr>
              <a:t>Jetzt zur eigentlichen Lücke. Es gibt zwar Benchmarks, die Audio-LLMs testen — der wichtigste ist MMSU von der CUHK, 22 Sprach-LLMs über 47 Aufgaben. Das beste Modell, Gemini-1.5-Pro, erreicht insgesamt nur 60 Prozent, während Menschen bei 90 liegen. Und in der Phonologie-Domäne — Töne, Prosodie, Phoneme — fällt selbst das beste Modell auf 54 Prozent. Bemerkenswert: GPT-4o-Audio schneidet schlechter ab als Open-Source-Modelle wie Qwen und Kimi. Aber — und das ist mein Einstieg — MMSU testet aggregiert mit Real-World-Audio, es gibt keine Zahlen für isolierte Silben und keine Aufschlüsselung pro Ton. Kein einziges Paper benchmarkt Frontier-LLMs auf isolierter Silben-</a:t>
            </a:r>
            <a:r>
              <a:rPr lang="de-DE" sz="1200" b="0" i="0" kern="1200" dirty="0" err="1">
                <a:solidFill>
                  <a:schemeClr val="tx1"/>
                </a:solidFill>
                <a:effectLst/>
                <a:latin typeface="+mn-lt"/>
                <a:ea typeface="+mn-ea"/>
                <a:cs typeface="+mn-cs"/>
              </a:rPr>
              <a:t>Tonebene</a:t>
            </a:r>
            <a:r>
              <a:rPr lang="de-DE" sz="1200" b="0" i="0" kern="1200" dirty="0">
                <a:solidFill>
                  <a:schemeClr val="tx1"/>
                </a:solidFill>
                <a:effectLst/>
                <a:latin typeface="+mn-lt"/>
                <a:ea typeface="+mn-ea"/>
                <a:cs typeface="+mn-cs"/>
              </a:rPr>
              <a:t>. SSL-Probing-Studien liefern sogar die Erklärung, warum LLMs hier scheitern könnten: Die diskrete Tokenisierung, die LLMs nutzen, zerstört gerade die feine Toninformation, die in den mittleren Layern eigentlich vorhanden wäre.</a:t>
            </a:r>
            <a:endParaRPr lang="de-DE" dirty="0"/>
          </a:p>
        </p:txBody>
      </p:sp>
      <p:sp>
        <p:nvSpPr>
          <p:cNvPr id="4" name="Slide Number Placeholder 3"/>
          <p:cNvSpPr>
            <a:spLocks noGrp="1"/>
          </p:cNvSpPr>
          <p:nvPr>
            <p:ph type="sldNum" sz="quarter" idx="5"/>
          </p:nvPr>
        </p:nvSpPr>
        <p:spPr/>
        <p:txBody>
          <a:bodyPr/>
          <a:lstStyle/>
          <a:p>
            <a:fld id="{35C0B671-25EF-47C3-BD31-46E7FB9E6220}" type="slidenum">
              <a:rPr lang="de-DE" smtClean="0"/>
              <a:t>67</a:t>
            </a:fld>
            <a:endParaRPr lang="de-DE"/>
          </a:p>
        </p:txBody>
      </p:sp>
    </p:spTree>
    <p:extLst>
      <p:ext uri="{BB962C8B-B14F-4D97-AF65-F5344CB8AC3E}">
        <p14:creationId xmlns:p14="http://schemas.microsoft.com/office/powerpoint/2010/main" val="783458926"/>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sz="1200" b="0" i="0" kern="1200" dirty="0">
                <a:solidFill>
                  <a:schemeClr val="tx1"/>
                </a:solidFill>
                <a:effectLst/>
                <a:latin typeface="+mn-lt"/>
                <a:ea typeface="+mn-ea"/>
                <a:cs typeface="+mn-cs"/>
              </a:rPr>
              <a:t>Diese Tabelle bringt die Abgrenzung auf den Punkt. Die akademischen CNN-Klassifikatoren und die kommerziellen APIs können Töne aus Audio bestimmen — aber sie sind keine LLMs und geben nur eine Ton-Klasse oder einen Score, keine vollständige Transkription. MMSU testet LLMs, aber aggregiert und ohne isolierte Silben. Die MDD-Systeme testen L2, sind aber keine LLMs. Meine Arbeit füllt jede Spalte gleichzeitig: ein multimodales LLM, das Audio direkt in Pinyin plus Ton umwandelt, auf isolierten Silben aus Tone Perfect, mit einer eigenen Tonfehlerrate und Konfusionsmatrix, und in der zweiten Phase auf L2-Daten aus LATIC. Ich positioniere das als das erste systematische Benchmark von Frontier-Audio-LLMs auf isolierter Silben-</a:t>
            </a:r>
            <a:r>
              <a:rPr lang="de-DE" sz="1200" b="0" i="0" kern="1200" dirty="0" err="1">
                <a:solidFill>
                  <a:schemeClr val="tx1"/>
                </a:solidFill>
                <a:effectLst/>
                <a:latin typeface="+mn-lt"/>
                <a:ea typeface="+mn-ea"/>
                <a:cs typeface="+mn-cs"/>
              </a:rPr>
              <a:t>Tonebene</a:t>
            </a:r>
            <a:r>
              <a:rPr lang="de-DE" sz="1200" b="0" i="0" kern="1200" dirty="0">
                <a:solidFill>
                  <a:schemeClr val="tx1"/>
                </a:solidFill>
                <a:effectLst/>
                <a:latin typeface="+mn-lt"/>
                <a:ea typeface="+mn-ea"/>
                <a:cs typeface="+mn-cs"/>
              </a:rPr>
              <a:t> für Mandarin — klar abgegrenzt von MMSU, </a:t>
            </a:r>
            <a:r>
              <a:rPr lang="de-DE" sz="1200" b="0" i="0" kern="1200" dirty="0" err="1">
                <a:solidFill>
                  <a:schemeClr val="tx1"/>
                </a:solidFill>
                <a:effectLst/>
                <a:latin typeface="+mn-lt"/>
                <a:ea typeface="+mn-ea"/>
                <a:cs typeface="+mn-cs"/>
              </a:rPr>
              <a:t>PRiSM</a:t>
            </a:r>
            <a:r>
              <a:rPr lang="de-DE" sz="1200" b="0" i="0" kern="1200" dirty="0">
                <a:solidFill>
                  <a:schemeClr val="tx1"/>
                </a:solidFill>
                <a:effectLst/>
                <a:latin typeface="+mn-lt"/>
                <a:ea typeface="+mn-ea"/>
                <a:cs typeface="+mn-cs"/>
              </a:rPr>
              <a:t> und den Probing-Studien.</a:t>
            </a:r>
            <a:endParaRPr lang="de-DE" dirty="0"/>
          </a:p>
        </p:txBody>
      </p:sp>
      <p:sp>
        <p:nvSpPr>
          <p:cNvPr id="4" name="Slide Number Placeholder 3"/>
          <p:cNvSpPr>
            <a:spLocks noGrp="1"/>
          </p:cNvSpPr>
          <p:nvPr>
            <p:ph type="sldNum" sz="quarter" idx="5"/>
          </p:nvPr>
        </p:nvSpPr>
        <p:spPr/>
        <p:txBody>
          <a:bodyPr/>
          <a:lstStyle/>
          <a:p>
            <a:fld id="{35C0B671-25EF-47C3-BD31-46E7FB9E6220}" type="slidenum">
              <a:rPr lang="de-DE" smtClean="0"/>
              <a:t>68</a:t>
            </a:fld>
            <a:endParaRPr lang="de-DE"/>
          </a:p>
        </p:txBody>
      </p:sp>
    </p:spTree>
    <p:extLst>
      <p:ext uri="{BB962C8B-B14F-4D97-AF65-F5344CB8AC3E}">
        <p14:creationId xmlns:p14="http://schemas.microsoft.com/office/powerpoint/2010/main" val="532667879"/>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sz="1200" b="0" i="0" kern="1200" dirty="0">
                <a:solidFill>
                  <a:schemeClr val="tx1"/>
                </a:solidFill>
                <a:effectLst/>
                <a:latin typeface="+mn-lt"/>
                <a:ea typeface="+mn-ea"/>
                <a:cs typeface="+mn-cs"/>
              </a:rPr>
              <a:t>Zum Abschluss: So setze ich die Tools konkret ein, in drei Rollen. Erstens als Nicht-LLM-Baseline — g2pW für Text, der CNN-Klassifikator für Audio. Daran messe ich, ob ein LLM überhaupt mithalten kann. Zweitens als automatischer Cross-Check, um Annotationskosten zu senken: In Phase 1 mit Muttersprachlern brauche ich dank der bekannten Tone-Perfect-Labels und dem 99-Prozent-CNN gar kein manuelles </a:t>
            </a:r>
            <a:r>
              <a:rPr lang="de-DE" sz="1200" b="0" i="0" kern="1200" dirty="0" err="1">
                <a:solidFill>
                  <a:schemeClr val="tx1"/>
                </a:solidFill>
                <a:effectLst/>
                <a:latin typeface="+mn-lt"/>
                <a:ea typeface="+mn-ea"/>
                <a:cs typeface="+mn-cs"/>
              </a:rPr>
              <a:t>Labeling</a:t>
            </a:r>
            <a:r>
              <a:rPr lang="de-DE" sz="1200" b="0" i="0" kern="1200" dirty="0">
                <a:solidFill>
                  <a:schemeClr val="tx1"/>
                </a:solidFill>
                <a:effectLst/>
                <a:latin typeface="+mn-lt"/>
                <a:ea typeface="+mn-ea"/>
                <a:cs typeface="+mn-cs"/>
              </a:rPr>
              <a:t>. In Phase 2 mit L2-Lernern nutze ich </a:t>
            </a:r>
            <a:r>
              <a:rPr lang="de-DE" sz="1200" b="0" i="0" kern="1200" dirty="0" err="1">
                <a:solidFill>
                  <a:schemeClr val="tx1"/>
                </a:solidFill>
                <a:effectLst/>
                <a:latin typeface="+mn-lt"/>
                <a:ea typeface="+mn-ea"/>
                <a:cs typeface="+mn-cs"/>
              </a:rPr>
              <a:t>SpeechSuper</a:t>
            </a:r>
            <a:r>
              <a:rPr lang="de-DE" sz="1200" b="0" i="0" kern="1200" dirty="0">
                <a:solidFill>
                  <a:schemeClr val="tx1"/>
                </a:solidFill>
                <a:effectLst/>
                <a:latin typeface="+mn-lt"/>
                <a:ea typeface="+mn-ea"/>
                <a:cs typeface="+mn-cs"/>
              </a:rPr>
              <a:t> als Vorab-Label, aber ein Mensch prüft eine Stichprobe und alle Fälle, wo die Tools uneinig sind. Drittens als Evaluations-Werkzeuge: Den LLM-Output wandle ich über </a:t>
            </a:r>
            <a:r>
              <a:rPr lang="de-DE" sz="1200" b="0" i="0" kern="1200" dirty="0" err="1">
                <a:solidFill>
                  <a:schemeClr val="tx1"/>
                </a:solidFill>
                <a:effectLst/>
                <a:latin typeface="+mn-lt"/>
                <a:ea typeface="+mn-ea"/>
                <a:cs typeface="+mn-cs"/>
              </a:rPr>
              <a:t>pinyin-to-ipa</a:t>
            </a:r>
            <a:r>
              <a:rPr lang="de-DE" sz="1200" b="0" i="0" kern="1200" dirty="0">
                <a:solidFill>
                  <a:schemeClr val="tx1"/>
                </a:solidFill>
                <a:effectLst/>
                <a:latin typeface="+mn-lt"/>
                <a:ea typeface="+mn-ea"/>
                <a:cs typeface="+mn-cs"/>
              </a:rPr>
              <a:t> und </a:t>
            </a:r>
            <a:r>
              <a:rPr lang="de-DE" sz="1200" b="0" i="0" kern="1200" dirty="0" err="1">
                <a:solidFill>
                  <a:schemeClr val="tx1"/>
                </a:solidFill>
                <a:effectLst/>
                <a:latin typeface="+mn-lt"/>
                <a:ea typeface="+mn-ea"/>
                <a:cs typeface="+mn-cs"/>
              </a:rPr>
              <a:t>PanPhon</a:t>
            </a:r>
            <a:r>
              <a:rPr lang="de-DE" sz="1200" b="0" i="0" kern="1200" dirty="0">
                <a:solidFill>
                  <a:schemeClr val="tx1"/>
                </a:solidFill>
                <a:effectLst/>
                <a:latin typeface="+mn-lt"/>
                <a:ea typeface="+mn-ea"/>
                <a:cs typeface="+mn-cs"/>
              </a:rPr>
              <a:t> in eine phonetisch gewichtete Fehlerdistanz, die PFER. Dazu TER für die </a:t>
            </a:r>
            <a:r>
              <a:rPr lang="de-DE" sz="1200" b="0" i="0" kern="1200" dirty="0" err="1">
                <a:solidFill>
                  <a:schemeClr val="tx1"/>
                </a:solidFill>
                <a:effectLst/>
                <a:latin typeface="+mn-lt"/>
                <a:ea typeface="+mn-ea"/>
                <a:cs typeface="+mn-cs"/>
              </a:rPr>
              <a:t>Tonebene</a:t>
            </a:r>
            <a:r>
              <a:rPr lang="de-DE" sz="1200" b="0" i="0" kern="1200" dirty="0">
                <a:solidFill>
                  <a:schemeClr val="tx1"/>
                </a:solidFill>
                <a:effectLst/>
                <a:latin typeface="+mn-lt"/>
                <a:ea typeface="+mn-ea"/>
                <a:cs typeface="+mn-cs"/>
              </a:rPr>
              <a:t> und CER für den Literaturvergleich. Und bei strittigen L2-Fällen ist die </a:t>
            </a:r>
            <a:r>
              <a:rPr lang="de-DE" sz="1200" b="0" i="0" kern="1200" dirty="0" err="1">
                <a:solidFill>
                  <a:schemeClr val="tx1"/>
                </a:solidFill>
                <a:effectLst/>
                <a:latin typeface="+mn-lt"/>
                <a:ea typeface="+mn-ea"/>
                <a:cs typeface="+mn-cs"/>
              </a:rPr>
              <a:t>Praat</a:t>
            </a:r>
            <a:r>
              <a:rPr lang="de-DE" sz="1200" b="0" i="0" kern="1200" dirty="0">
                <a:solidFill>
                  <a:schemeClr val="tx1"/>
                </a:solidFill>
                <a:effectLst/>
                <a:latin typeface="+mn-lt"/>
                <a:ea typeface="+mn-ea"/>
                <a:cs typeface="+mn-cs"/>
              </a:rPr>
              <a:t>-Pipeline mein Schiedsrichter. Das Schöne: Bis auf die optionalen API-Gegenchecks ist alles Open Source — das passt zu meinem Budget von unter 50 Euro.</a:t>
            </a:r>
            <a:endParaRPr lang="de-DE" dirty="0"/>
          </a:p>
        </p:txBody>
      </p:sp>
      <p:sp>
        <p:nvSpPr>
          <p:cNvPr id="4" name="Slide Number Placeholder 3"/>
          <p:cNvSpPr>
            <a:spLocks noGrp="1"/>
          </p:cNvSpPr>
          <p:nvPr>
            <p:ph type="sldNum" sz="quarter" idx="5"/>
          </p:nvPr>
        </p:nvSpPr>
        <p:spPr/>
        <p:txBody>
          <a:bodyPr/>
          <a:lstStyle/>
          <a:p>
            <a:fld id="{35C0B671-25EF-47C3-BD31-46E7FB9E6220}" type="slidenum">
              <a:rPr lang="de-DE" smtClean="0"/>
              <a:t>69</a:t>
            </a:fld>
            <a:endParaRPr lang="de-DE"/>
          </a:p>
        </p:txBody>
      </p:sp>
    </p:spTree>
    <p:extLst>
      <p:ext uri="{BB962C8B-B14F-4D97-AF65-F5344CB8AC3E}">
        <p14:creationId xmlns:p14="http://schemas.microsoft.com/office/powerpoint/2010/main" val="94656105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de-DE" sz="1200" b="1" i="0" kern="1200" dirty="0">
                <a:solidFill>
                  <a:schemeClr val="tx1"/>
                </a:solidFill>
                <a:effectLst/>
                <a:latin typeface="+mn-lt"/>
                <a:ea typeface="+mn-ea"/>
                <a:cs typeface="+mn-cs"/>
              </a:rPr>
              <a:t>11 Systeme insgesamt</a:t>
            </a:r>
            <a:r>
              <a:rPr lang="de-DE" sz="1200" b="0" i="0" kern="1200" dirty="0">
                <a:solidFill>
                  <a:schemeClr val="tx1"/>
                </a:solidFill>
                <a:effectLst/>
                <a:latin typeface="+mn-lt"/>
                <a:ea typeface="+mn-ea"/>
                <a:cs typeface="+mn-cs"/>
              </a:rPr>
              <a:t>, aber nur 7 sind heute relevant — die 4 historischen sind in keinen LLM-Trainingsdaten vertreten</a:t>
            </a:r>
          </a:p>
          <a:p>
            <a:pPr marL="171450" indent="-171450">
              <a:buFont typeface="Arial" panose="020B0604020202020204" pitchFamily="34" charset="0"/>
              <a:buChar char="•"/>
            </a:pPr>
            <a:r>
              <a:rPr lang="de-DE" sz="1200" b="0" i="0" kern="1200" dirty="0">
                <a:solidFill>
                  <a:schemeClr val="tx1"/>
                </a:solidFill>
                <a:effectLst/>
                <a:latin typeface="+mn-lt"/>
                <a:ea typeface="+mn-ea"/>
                <a:cs typeface="+mn-cs"/>
              </a:rPr>
              <a:t>Hanyu Pinyin ist der offizielle internationale Standard seit 1958 (VR China) / 1982 (ISO 7098) / 1986 (UN)</a:t>
            </a:r>
          </a:p>
          <a:p>
            <a:pPr marL="171450" indent="-171450">
              <a:buFont typeface="Arial" panose="020B0604020202020204" pitchFamily="34" charset="0"/>
              <a:buChar char="•"/>
            </a:pPr>
            <a:r>
              <a:rPr lang="de-DE" sz="1200" b="0" i="0" kern="1200" dirty="0">
                <a:solidFill>
                  <a:schemeClr val="tx1"/>
                </a:solidFill>
                <a:effectLst/>
                <a:latin typeface="+mn-lt"/>
                <a:ea typeface="+mn-ea"/>
                <a:cs typeface="+mn-cs"/>
              </a:rPr>
              <a:t>In der Literatur: 7 Papers nutzen Pinyin, 2 nutzen IPA, 0 nutzen </a:t>
            </a:r>
            <a:r>
              <a:rPr lang="de-DE" sz="1200" b="0" i="0" kern="1200" dirty="0" err="1">
                <a:solidFill>
                  <a:schemeClr val="tx1"/>
                </a:solidFill>
                <a:effectLst/>
                <a:latin typeface="+mn-lt"/>
                <a:ea typeface="+mn-ea"/>
                <a:cs typeface="+mn-cs"/>
              </a:rPr>
              <a:t>Zhuyin</a:t>
            </a:r>
            <a:r>
              <a:rPr lang="de-DE" sz="1200" b="0" i="0" kern="1200" dirty="0">
                <a:solidFill>
                  <a:schemeClr val="tx1"/>
                </a:solidFill>
                <a:effectLst/>
                <a:latin typeface="+mn-lt"/>
                <a:ea typeface="+mn-ea"/>
                <a:cs typeface="+mn-cs"/>
              </a:rPr>
              <a:t>/Wade-Giles/GR/Yale/</a:t>
            </a:r>
            <a:r>
              <a:rPr lang="de-DE" sz="1200" b="0" i="0" kern="1200" dirty="0" err="1">
                <a:solidFill>
                  <a:schemeClr val="tx1"/>
                </a:solidFill>
                <a:effectLst/>
                <a:latin typeface="+mn-lt"/>
                <a:ea typeface="+mn-ea"/>
                <a:cs typeface="+mn-cs"/>
              </a:rPr>
              <a:t>Tongyong</a:t>
            </a:r>
            <a:endParaRPr lang="de-DE" sz="1200" b="0" i="0" kern="1200" dirty="0">
              <a:solidFill>
                <a:schemeClr val="tx1"/>
              </a:solidFill>
              <a:effectLst/>
              <a:latin typeface="+mn-lt"/>
              <a:ea typeface="+mn-ea"/>
              <a:cs typeface="+mn-cs"/>
            </a:endParaRPr>
          </a:p>
          <a:p>
            <a:pPr marL="171450" indent="-171450">
              <a:buFont typeface="Arial" panose="020B0604020202020204" pitchFamily="34" charset="0"/>
              <a:buChar char="•"/>
            </a:pPr>
            <a:r>
              <a:rPr lang="de-DE" sz="1200" b="0" i="0" kern="1200" dirty="0">
                <a:solidFill>
                  <a:schemeClr val="tx1"/>
                </a:solidFill>
                <a:effectLst/>
                <a:latin typeface="+mn-lt"/>
                <a:ea typeface="+mn-ea"/>
                <a:cs typeface="+mn-cs"/>
              </a:rPr>
              <a:t>Für LLMs ist Pinyin optimal: lateinische Buchstaben sind in den Trainingsdaten massiv vertreten</a:t>
            </a:r>
          </a:p>
          <a:p>
            <a:pPr marL="171450" indent="-171450">
              <a:buFont typeface="Arial" panose="020B0604020202020204" pitchFamily="34" charset="0"/>
              <a:buChar char="•"/>
            </a:pPr>
            <a:r>
              <a:rPr lang="de-DE" sz="1200" b="0" i="0" kern="1200" dirty="0">
                <a:solidFill>
                  <a:schemeClr val="tx1"/>
                </a:solidFill>
                <a:effectLst/>
                <a:latin typeface="+mn-lt"/>
                <a:ea typeface="+mn-ea"/>
                <a:cs typeface="+mn-cs"/>
              </a:rPr>
              <a:t>IPA-Symbole wie ˥, ˧˥, ˨˩˦ sind seltene Unicode-Zeichen → Token-Fragmentierung bei LLMs möglich</a:t>
            </a:r>
          </a:p>
          <a:p>
            <a:pPr marL="171450" indent="-171450">
              <a:buFont typeface="Arial" panose="020B0604020202020204" pitchFamily="34" charset="0"/>
              <a:buChar char="•"/>
            </a:pPr>
            <a:r>
              <a:rPr lang="de-DE" sz="1200" b="0" i="0" kern="1200" dirty="0">
                <a:solidFill>
                  <a:schemeClr val="tx1"/>
                </a:solidFill>
                <a:effectLst/>
                <a:latin typeface="+mn-lt"/>
                <a:ea typeface="+mn-ea"/>
                <a:cs typeface="+mn-cs"/>
              </a:rPr>
              <a:t>Yale </a:t>
            </a:r>
            <a:r>
              <a:rPr lang="de-DE" sz="1200" b="0" i="0" kern="1200" dirty="0" err="1">
                <a:solidFill>
                  <a:schemeClr val="tx1"/>
                </a:solidFill>
                <a:effectLst/>
                <a:latin typeface="+mn-lt"/>
                <a:ea typeface="+mn-ea"/>
                <a:cs typeface="+mn-cs"/>
              </a:rPr>
              <a:t>Romanization</a:t>
            </a:r>
            <a:r>
              <a:rPr lang="de-DE" sz="1200" b="0" i="0" kern="1200" dirty="0">
                <a:solidFill>
                  <a:schemeClr val="tx1"/>
                </a:solidFill>
                <a:effectLst/>
                <a:latin typeface="+mn-lt"/>
                <a:ea typeface="+mn-ea"/>
                <a:cs typeface="+mn-cs"/>
              </a:rPr>
              <a:t> war vor Hanyu Pinyin der westliche Standard — heute vollständig durch Pinyin ersetzt</a:t>
            </a:r>
          </a:p>
          <a:p>
            <a:pPr marL="171450" indent="-171450">
              <a:buFont typeface="Arial" panose="020B0604020202020204" pitchFamily="34" charset="0"/>
              <a:buChar char="•"/>
            </a:pPr>
            <a:r>
              <a:rPr lang="de-DE" sz="1200" b="0" i="0" kern="1200" dirty="0" err="1">
                <a:solidFill>
                  <a:schemeClr val="tx1"/>
                </a:solidFill>
                <a:effectLst/>
                <a:latin typeface="+mn-lt"/>
                <a:ea typeface="+mn-ea"/>
                <a:cs typeface="+mn-cs"/>
              </a:rPr>
              <a:t>Tongyong</a:t>
            </a:r>
            <a:r>
              <a:rPr lang="de-DE" sz="1200" b="0" i="0" kern="1200" dirty="0">
                <a:solidFill>
                  <a:schemeClr val="tx1"/>
                </a:solidFill>
                <a:effectLst/>
                <a:latin typeface="+mn-lt"/>
                <a:ea typeface="+mn-ea"/>
                <a:cs typeface="+mn-cs"/>
              </a:rPr>
              <a:t> Pinyin war nur 6 Jahre offiziell in Taiwan (2002–2008), bevor Taiwan zu Hanyu Pinyin wechselte</a:t>
            </a:r>
          </a:p>
          <a:p>
            <a:pPr marL="171450" indent="-171450">
              <a:buFont typeface="Arial" panose="020B0604020202020204" pitchFamily="34" charset="0"/>
              <a:buChar char="•"/>
            </a:pPr>
            <a:r>
              <a:rPr lang="de-DE" sz="1200" b="0" i="0" kern="1200" dirty="0">
                <a:solidFill>
                  <a:schemeClr val="tx1"/>
                </a:solidFill>
                <a:effectLst/>
                <a:latin typeface="+mn-lt"/>
                <a:ea typeface="+mn-ea"/>
                <a:cs typeface="+mn-cs"/>
              </a:rPr>
              <a:t>Chirkova (2025): "</a:t>
            </a:r>
            <a:r>
              <a:rPr lang="de-DE" sz="1200" b="0" i="0" kern="1200" dirty="0" err="1">
                <a:solidFill>
                  <a:schemeClr val="tx1"/>
                </a:solidFill>
                <a:effectLst/>
                <a:latin typeface="+mn-lt"/>
                <a:ea typeface="+mn-ea"/>
                <a:cs typeface="+mn-cs"/>
              </a:rPr>
              <a:t>favouring</a:t>
            </a:r>
            <a:r>
              <a:rPr lang="de-DE" sz="1200" b="0" i="0" kern="1200" dirty="0">
                <a:solidFill>
                  <a:schemeClr val="tx1"/>
                </a:solidFill>
                <a:effectLst/>
                <a:latin typeface="+mn-lt"/>
                <a:ea typeface="+mn-ea"/>
                <a:cs typeface="+mn-cs"/>
              </a:rPr>
              <a:t> Chao tone </a:t>
            </a:r>
            <a:r>
              <a:rPr lang="de-DE" sz="1200" b="0" i="0" kern="1200" dirty="0" err="1">
                <a:solidFill>
                  <a:schemeClr val="tx1"/>
                </a:solidFill>
                <a:effectLst/>
                <a:latin typeface="+mn-lt"/>
                <a:ea typeface="+mn-ea"/>
                <a:cs typeface="+mn-cs"/>
              </a:rPr>
              <a:t>numbers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over</a:t>
            </a:r>
            <a:r>
              <a:rPr lang="de-DE" sz="1200" b="0" i="0" kern="1200" dirty="0">
                <a:solidFill>
                  <a:schemeClr val="tx1"/>
                </a:solidFill>
                <a:effectLst/>
                <a:latin typeface="+mn-lt"/>
                <a:ea typeface="+mn-ea"/>
                <a:cs typeface="+mn-cs"/>
              </a:rPr>
              <a:t> IPA </a:t>
            </a:r>
            <a:r>
              <a:rPr lang="de-DE" sz="1200" b="0" i="0" kern="1200" dirty="0" err="1">
                <a:solidFill>
                  <a:schemeClr val="tx1"/>
                </a:solidFill>
                <a:effectLst/>
                <a:latin typeface="+mn-lt"/>
                <a:ea typeface="+mn-ea"/>
                <a:cs typeface="+mn-cs"/>
              </a:rPr>
              <a:t>diacritics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for</a:t>
            </a:r>
            <a:r>
              <a:rPr lang="de-DE" sz="1200" b="0" i="0" kern="1200" dirty="0">
                <a:solidFill>
                  <a:schemeClr val="tx1"/>
                </a:solidFill>
                <a:effectLst/>
                <a:latin typeface="+mn-lt"/>
                <a:ea typeface="+mn-ea"/>
                <a:cs typeface="+mn-cs"/>
              </a:rPr>
              <a:t> tone </a:t>
            </a:r>
            <a:r>
              <a:rPr lang="de-DE" sz="1200" b="0" i="0" kern="1200" dirty="0" err="1">
                <a:solidFill>
                  <a:schemeClr val="tx1"/>
                </a:solidFill>
                <a:effectLst/>
                <a:latin typeface="+mn-lt"/>
                <a:ea typeface="+mn-ea"/>
                <a:cs typeface="+mn-cs"/>
              </a:rPr>
              <a:t>representation</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Section</a:t>
            </a:r>
            <a:r>
              <a:rPr lang="de-DE" sz="1200" b="0" i="0" kern="1200" dirty="0">
                <a:solidFill>
                  <a:schemeClr val="tx1"/>
                </a:solidFill>
                <a:effectLst/>
                <a:latin typeface="+mn-lt"/>
                <a:ea typeface="+mn-ea"/>
                <a:cs typeface="+mn-cs"/>
              </a:rPr>
              <a:t> 1)</a:t>
            </a:r>
          </a:p>
          <a:p>
            <a:endParaRPr lang="de-DE" dirty="0"/>
          </a:p>
        </p:txBody>
      </p:sp>
      <p:sp>
        <p:nvSpPr>
          <p:cNvPr id="4" name="Slide Number Placeholder 3"/>
          <p:cNvSpPr>
            <a:spLocks noGrp="1"/>
          </p:cNvSpPr>
          <p:nvPr>
            <p:ph type="sldNum" sz="quarter" idx="5"/>
          </p:nvPr>
        </p:nvSpPr>
        <p:spPr/>
        <p:txBody>
          <a:bodyPr/>
          <a:lstStyle/>
          <a:p>
            <a:fld id="{35C0B671-25EF-47C3-BD31-46E7FB9E6220}" type="slidenum">
              <a:rPr lang="de-DE" smtClean="0"/>
              <a:t>73</a:t>
            </a:fld>
            <a:endParaRPr lang="de-DE"/>
          </a:p>
        </p:txBody>
      </p:sp>
    </p:spTree>
    <p:extLst>
      <p:ext uri="{BB962C8B-B14F-4D97-AF65-F5344CB8AC3E}">
        <p14:creationId xmlns:p14="http://schemas.microsoft.com/office/powerpoint/2010/main" val="4240452388"/>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de-DE" sz="1200" b="0" i="0" kern="1200" dirty="0">
                <a:solidFill>
                  <a:schemeClr val="tx1"/>
                </a:solidFill>
                <a:effectLst/>
                <a:latin typeface="+mn-lt"/>
                <a:ea typeface="+mn-ea"/>
                <a:cs typeface="+mn-cs"/>
              </a:rPr>
              <a:t>7 Methoden nach Hacking Chinese (2024) + Chirkova (2025) + IPA-Handbuch</a:t>
            </a:r>
          </a:p>
          <a:p>
            <a:pPr marL="171450" indent="-171450">
              <a:buFont typeface="Arial" panose="020B0604020202020204" pitchFamily="34" charset="0"/>
              <a:buChar char="•"/>
            </a:pPr>
            <a:r>
              <a:rPr lang="de-DE" sz="1200" b="0" i="0" kern="1200" dirty="0">
                <a:solidFill>
                  <a:schemeClr val="tx1"/>
                </a:solidFill>
                <a:effectLst/>
                <a:latin typeface="+mn-lt"/>
                <a:ea typeface="+mn-ea"/>
                <a:cs typeface="+mn-cs"/>
              </a:rPr>
              <a:t>Chao Yuen Ren (</a:t>
            </a:r>
            <a:r>
              <a:rPr lang="de-DE" sz="1200" b="0" i="0" kern="1200" dirty="0" err="1">
                <a:solidFill>
                  <a:schemeClr val="tx1"/>
                </a:solidFill>
                <a:effectLst/>
                <a:latin typeface="+mn-lt"/>
                <a:ea typeface="+mn-ea"/>
                <a:cs typeface="+mn-cs"/>
              </a:rPr>
              <a:t>赵元任</a:t>
            </a:r>
            <a:r>
              <a:rPr lang="de-DE" sz="1200" b="0" i="0" kern="1200" dirty="0">
                <a:solidFill>
                  <a:schemeClr val="tx1"/>
                </a:solidFill>
                <a:effectLst/>
                <a:latin typeface="+mn-lt"/>
                <a:ea typeface="+mn-ea"/>
                <a:cs typeface="+mn-cs"/>
              </a:rPr>
              <a:t>) entwickelte 1930 das 5-Stufen-System, das bis heute der Standard in der Tonforschung ist</a:t>
            </a:r>
          </a:p>
          <a:p>
            <a:pPr marL="171450" indent="-171450">
              <a:buFont typeface="Arial" panose="020B0604020202020204" pitchFamily="34" charset="0"/>
              <a:buChar char="•"/>
            </a:pPr>
            <a:r>
              <a:rPr lang="de-DE" sz="1200" b="0" i="0" kern="1200" dirty="0">
                <a:solidFill>
                  <a:schemeClr val="tx1"/>
                </a:solidFill>
                <a:effectLst/>
                <a:latin typeface="+mn-lt"/>
                <a:ea typeface="+mn-ea"/>
                <a:cs typeface="+mn-cs"/>
              </a:rPr>
              <a:t>Chirkova (2025): "Chao tone </a:t>
            </a:r>
            <a:r>
              <a:rPr lang="de-DE" sz="1200" b="0" i="0" kern="1200" dirty="0" err="1">
                <a:solidFill>
                  <a:schemeClr val="tx1"/>
                </a:solidFill>
                <a:effectLst/>
                <a:latin typeface="+mn-lt"/>
                <a:ea typeface="+mn-ea"/>
                <a:cs typeface="+mn-cs"/>
              </a:rPr>
              <a:t>numbers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offer</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the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most</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accurate</a:t>
            </a:r>
            <a:r>
              <a:rPr lang="de-DE" sz="1200" b="0" i="0" kern="1200" dirty="0">
                <a:solidFill>
                  <a:schemeClr val="tx1"/>
                </a:solidFill>
                <a:effectLst/>
                <a:latin typeface="+mn-lt"/>
                <a:ea typeface="+mn-ea"/>
                <a:cs typeface="+mn-cs"/>
              </a:rPr>
              <a:t> and reliable </a:t>
            </a:r>
            <a:r>
              <a:rPr lang="de-DE" sz="1200" b="0" i="0" kern="1200" dirty="0" err="1">
                <a:solidFill>
                  <a:schemeClr val="tx1"/>
                </a:solidFill>
                <a:effectLst/>
                <a:latin typeface="+mn-lt"/>
                <a:ea typeface="+mn-ea"/>
                <a:cs typeface="+mn-cs"/>
              </a:rPr>
              <a:t>method</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for</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noting</a:t>
            </a:r>
            <a:r>
              <a:rPr lang="de-DE" sz="1200" b="0" i="0" kern="1200" dirty="0">
                <a:solidFill>
                  <a:schemeClr val="tx1"/>
                </a:solidFill>
                <a:effectLst/>
                <a:latin typeface="+mn-lt"/>
                <a:ea typeface="+mn-ea"/>
                <a:cs typeface="+mn-cs"/>
              </a:rPr>
              <a:t> tone </a:t>
            </a:r>
            <a:r>
              <a:rPr lang="de-DE" sz="1200" b="0" i="0" kern="1200" dirty="0" err="1">
                <a:solidFill>
                  <a:schemeClr val="tx1"/>
                </a:solidFill>
                <a:effectLst/>
                <a:latin typeface="+mn-lt"/>
                <a:ea typeface="+mn-ea"/>
                <a:cs typeface="+mn-cs"/>
              </a:rPr>
              <a:t>variation</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Section</a:t>
            </a:r>
            <a:r>
              <a:rPr lang="de-DE" sz="1200" b="0" i="0" kern="1200" dirty="0">
                <a:solidFill>
                  <a:schemeClr val="tx1"/>
                </a:solidFill>
                <a:effectLst/>
                <a:latin typeface="+mn-lt"/>
                <a:ea typeface="+mn-ea"/>
                <a:cs typeface="+mn-cs"/>
              </a:rPr>
              <a:t> 2.2)</a:t>
            </a:r>
          </a:p>
          <a:p>
            <a:pPr marL="171450" indent="-171450">
              <a:buFont typeface="Arial" panose="020B0604020202020204" pitchFamily="34" charset="0"/>
              <a:buChar char="•"/>
            </a:pPr>
            <a:r>
              <a:rPr lang="de-DE" sz="1200" b="0" i="0" kern="1200" dirty="0">
                <a:solidFill>
                  <a:schemeClr val="tx1"/>
                </a:solidFill>
                <a:effectLst/>
                <a:latin typeface="+mn-lt"/>
                <a:ea typeface="+mn-ea"/>
                <a:cs typeface="+mn-cs"/>
              </a:rPr>
              <a:t>Für LLMs ist "ma1" (Tonnummer) optimal: (1) lateinische Buchstaben + Ziffer, (2) kein Unicode-Sonderzeichen, (3) klar </a:t>
            </a:r>
            <a:r>
              <a:rPr lang="de-DE" sz="1200" b="0" i="0" kern="1200" dirty="0" err="1">
                <a:solidFill>
                  <a:schemeClr val="tx1"/>
                </a:solidFill>
                <a:effectLst/>
                <a:latin typeface="+mn-lt"/>
                <a:ea typeface="+mn-ea"/>
                <a:cs typeface="+mn-cs"/>
              </a:rPr>
              <a:t>maschinenparsbar</a:t>
            </a:r>
            <a:r>
              <a:rPr lang="de-DE" sz="1200" b="0" i="0" kern="1200" dirty="0">
                <a:solidFill>
                  <a:schemeClr val="tx1"/>
                </a:solidFill>
                <a:effectLst/>
                <a:latin typeface="+mn-lt"/>
                <a:ea typeface="+mn-ea"/>
                <a:cs typeface="+mn-cs"/>
              </a:rPr>
              <a:t>, (4) massiv in Online-Lernmaterialien vertreten</a:t>
            </a:r>
          </a:p>
          <a:p>
            <a:pPr marL="171450" indent="-171450">
              <a:buFont typeface="Arial" panose="020B0604020202020204" pitchFamily="34" charset="0"/>
              <a:buChar char="•"/>
            </a:pPr>
            <a:r>
              <a:rPr lang="de-DE" sz="1200" b="0" i="0" kern="1200" dirty="0">
                <a:solidFill>
                  <a:schemeClr val="tx1"/>
                </a:solidFill>
                <a:effectLst/>
                <a:latin typeface="+mn-lt"/>
                <a:ea typeface="+mn-ea"/>
                <a:cs typeface="+mn-cs"/>
              </a:rPr>
              <a:t>Methoden 5-7 werden NICHT im Pilot getestet: IPA-Diakritika und </a:t>
            </a:r>
            <a:r>
              <a:rPr lang="de-DE" sz="1200" b="0" i="0" kern="1200" dirty="0" err="1">
                <a:solidFill>
                  <a:schemeClr val="tx1"/>
                </a:solidFill>
                <a:effectLst/>
                <a:latin typeface="+mn-lt"/>
                <a:ea typeface="+mn-ea"/>
                <a:cs typeface="+mn-cs"/>
              </a:rPr>
              <a:t>Bopomofo</a:t>
            </a:r>
            <a:r>
              <a:rPr lang="de-DE" sz="1200" b="0" i="0" kern="1200" dirty="0">
                <a:solidFill>
                  <a:schemeClr val="tx1"/>
                </a:solidFill>
                <a:effectLst/>
                <a:latin typeface="+mn-lt"/>
                <a:ea typeface="+mn-ea"/>
                <a:cs typeface="+mn-cs"/>
              </a:rPr>
              <a:t>-Tonmarken sind zu selten in LLM-Trainingsdaten; GR-</a:t>
            </a:r>
            <a:r>
              <a:rPr lang="de-DE" sz="1200" b="0" i="0" kern="1200" dirty="0" err="1">
                <a:solidFill>
                  <a:schemeClr val="tx1"/>
                </a:solidFill>
                <a:effectLst/>
                <a:latin typeface="+mn-lt"/>
                <a:ea typeface="+mn-ea"/>
                <a:cs typeface="+mn-cs"/>
              </a:rPr>
              <a:t>Tonspelling</a:t>
            </a:r>
            <a:r>
              <a:rPr lang="de-DE" sz="1200" b="0" i="0" kern="1200" dirty="0">
                <a:solidFill>
                  <a:schemeClr val="tx1"/>
                </a:solidFill>
                <a:effectLst/>
                <a:latin typeface="+mn-lt"/>
                <a:ea typeface="+mn-ea"/>
                <a:cs typeface="+mn-cs"/>
              </a:rPr>
              <a:t> ist veraltet und mehrdeutig (z.B. "</a:t>
            </a:r>
            <a:r>
              <a:rPr lang="de-DE" sz="1200" b="0" i="0" kern="1200" dirty="0" err="1">
                <a:solidFill>
                  <a:schemeClr val="tx1"/>
                </a:solidFill>
                <a:effectLst/>
                <a:latin typeface="+mn-lt"/>
                <a:ea typeface="+mn-ea"/>
                <a:cs typeface="+mn-cs"/>
              </a:rPr>
              <a:t>ma</a:t>
            </a:r>
            <a:r>
              <a:rPr lang="de-DE" sz="1200" b="0" i="0" kern="1200" dirty="0">
                <a:solidFill>
                  <a:schemeClr val="tx1"/>
                </a:solidFill>
                <a:effectLst/>
                <a:latin typeface="+mn-lt"/>
                <a:ea typeface="+mn-ea"/>
                <a:cs typeface="+mn-cs"/>
              </a:rPr>
              <a:t>" = T1, aber "</a:t>
            </a:r>
            <a:r>
              <a:rPr lang="de-DE" sz="1200" b="0" i="0" kern="1200" dirty="0" err="1">
                <a:solidFill>
                  <a:schemeClr val="tx1"/>
                </a:solidFill>
                <a:effectLst/>
                <a:latin typeface="+mn-lt"/>
                <a:ea typeface="+mn-ea"/>
                <a:cs typeface="+mn-cs"/>
              </a:rPr>
              <a:t>mha</a:t>
            </a:r>
            <a:r>
              <a:rPr lang="de-DE" sz="1200" b="0" i="0" kern="1200" dirty="0">
                <a:solidFill>
                  <a:schemeClr val="tx1"/>
                </a:solidFill>
                <a:effectLst/>
                <a:latin typeface="+mn-lt"/>
                <a:ea typeface="+mn-ea"/>
                <a:cs typeface="+mn-cs"/>
              </a:rPr>
              <a:t>" ist nicht transparent)</a:t>
            </a:r>
          </a:p>
          <a:p>
            <a:pPr marL="171450" indent="-171450">
              <a:buFont typeface="Arial" panose="020B0604020202020204" pitchFamily="34" charset="0"/>
              <a:buChar char="•"/>
            </a:pPr>
            <a:r>
              <a:rPr lang="de-DE" sz="1200" b="0" i="0" kern="1200" dirty="0">
                <a:solidFill>
                  <a:schemeClr val="tx1"/>
                </a:solidFill>
                <a:effectLst/>
                <a:latin typeface="+mn-lt"/>
                <a:ea typeface="+mn-ea"/>
                <a:cs typeface="+mn-cs"/>
              </a:rPr>
              <a:t>Zou (2025) empfiehlt separate Tonevaluation: "Tone Error Rate (TER) </a:t>
            </a:r>
            <a:r>
              <a:rPr lang="de-DE" sz="1200" b="0" i="0" kern="1200" dirty="0" err="1">
                <a:solidFill>
                  <a:schemeClr val="tx1"/>
                </a:solidFill>
                <a:effectLst/>
                <a:latin typeface="+mn-lt"/>
                <a:ea typeface="+mn-ea"/>
                <a:cs typeface="+mn-cs"/>
              </a:rPr>
              <a:t>analogous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to</a:t>
            </a:r>
            <a:r>
              <a:rPr lang="de-DE" sz="1200" b="0" i="0" kern="1200" dirty="0">
                <a:solidFill>
                  <a:schemeClr val="tx1"/>
                </a:solidFill>
                <a:effectLst/>
                <a:latin typeface="+mn-lt"/>
                <a:ea typeface="+mn-ea"/>
                <a:cs typeface="+mn-cs"/>
              </a:rPr>
              <a:t> Word Error Rate </a:t>
            </a:r>
            <a:r>
              <a:rPr lang="de-DE" sz="1200" b="0" i="0" kern="1200" dirty="0" err="1">
                <a:solidFill>
                  <a:schemeClr val="tx1"/>
                </a:solidFill>
                <a:effectLst/>
                <a:latin typeface="+mn-lt"/>
                <a:ea typeface="+mn-ea"/>
                <a:cs typeface="+mn-cs"/>
              </a:rPr>
              <a:t>is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preferred</a:t>
            </a:r>
            <a:r>
              <a:rPr lang="de-DE" sz="1200" b="0" i="0" kern="1200" dirty="0">
                <a:solidFill>
                  <a:schemeClr val="tx1"/>
                </a:solidFill>
                <a:effectLst/>
                <a:latin typeface="+mn-lt"/>
                <a:ea typeface="+mn-ea"/>
                <a:cs typeface="+mn-cs"/>
              </a:rPr>
              <a:t>"</a:t>
            </a:r>
          </a:p>
          <a:p>
            <a:pPr marL="171450" indent="-171450">
              <a:buFont typeface="Arial" panose="020B0604020202020204" pitchFamily="34" charset="0"/>
              <a:buChar char="•"/>
            </a:pPr>
            <a:r>
              <a:rPr lang="de-DE" sz="1200" b="0" i="0" kern="1200" dirty="0">
                <a:solidFill>
                  <a:schemeClr val="tx1"/>
                </a:solidFill>
                <a:effectLst/>
                <a:latin typeface="+mn-lt"/>
                <a:ea typeface="+mn-ea"/>
                <a:cs typeface="+mn-cs"/>
              </a:rPr>
              <a:t>Unsere Wahl: </a:t>
            </a:r>
            <a:r>
              <a:rPr lang="de-DE" sz="1200" b="1" i="0" kern="1200" dirty="0">
                <a:solidFill>
                  <a:schemeClr val="tx1"/>
                </a:solidFill>
                <a:effectLst/>
                <a:latin typeface="+mn-lt"/>
                <a:ea typeface="+mn-ea"/>
                <a:cs typeface="+mn-cs"/>
              </a:rPr>
              <a:t>Pinyin + Tonnummer (ma1)</a:t>
            </a:r>
            <a:r>
              <a:rPr lang="de-DE" sz="1200" b="0" i="0" kern="1200" dirty="0">
                <a:solidFill>
                  <a:schemeClr val="tx1"/>
                </a:solidFill>
                <a:effectLst/>
                <a:latin typeface="+mn-lt"/>
                <a:ea typeface="+mn-ea"/>
                <a:cs typeface="+mn-cs"/>
              </a:rPr>
              <a:t> — optimal für LLM-Ausgabe UND maschinenlesbare Evaluation</a:t>
            </a:r>
          </a:p>
          <a:p>
            <a:pPr marL="171450" indent="-171450">
              <a:buFont typeface="Arial" panose="020B0604020202020204" pitchFamily="34" charset="0"/>
              <a:buChar char="•"/>
            </a:pPr>
            <a:endParaRPr lang="de-DE" dirty="0"/>
          </a:p>
        </p:txBody>
      </p:sp>
      <p:sp>
        <p:nvSpPr>
          <p:cNvPr id="4" name="Slide Number Placeholder 3"/>
          <p:cNvSpPr>
            <a:spLocks noGrp="1"/>
          </p:cNvSpPr>
          <p:nvPr>
            <p:ph type="sldNum" sz="quarter" idx="5"/>
          </p:nvPr>
        </p:nvSpPr>
        <p:spPr/>
        <p:txBody>
          <a:bodyPr/>
          <a:lstStyle/>
          <a:p>
            <a:fld id="{35C0B671-25EF-47C3-BD31-46E7FB9E6220}" type="slidenum">
              <a:rPr lang="de-DE" smtClean="0"/>
              <a:t>74</a:t>
            </a:fld>
            <a:endParaRPr lang="de-DE"/>
          </a:p>
        </p:txBody>
      </p:sp>
    </p:spTree>
    <p:extLst>
      <p:ext uri="{BB962C8B-B14F-4D97-AF65-F5344CB8AC3E}">
        <p14:creationId xmlns:p14="http://schemas.microsoft.com/office/powerpoint/2010/main" val="162567568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de-DE" sz="1200" b="0" i="0" kern="1200" dirty="0">
                <a:solidFill>
                  <a:schemeClr val="tx1"/>
                </a:solidFill>
                <a:effectLst/>
                <a:latin typeface="+mn-lt"/>
                <a:ea typeface="+mn-ea"/>
                <a:cs typeface="+mn-cs"/>
              </a:rPr>
              <a:t>Ein Mandarin-Wort besteht aus: Initial (Konsonant) + Final (Vokal/Diphthong) + Ton</a:t>
            </a:r>
          </a:p>
          <a:p>
            <a:pPr marL="171450" indent="-171450">
              <a:buFont typeface="Arial" panose="020B0604020202020204" pitchFamily="34" charset="0"/>
              <a:buChar char="•"/>
            </a:pPr>
            <a:r>
              <a:rPr lang="de-DE" sz="1200" b="0" i="0" kern="1200" dirty="0">
                <a:solidFill>
                  <a:schemeClr val="tx1"/>
                </a:solidFill>
                <a:effectLst/>
                <a:latin typeface="+mn-lt"/>
                <a:ea typeface="+mn-ea"/>
                <a:cs typeface="+mn-cs"/>
              </a:rPr>
              <a:t>Standard: 23 Initiale × 35 Finale × 4 Töne — aber nicht alle Kombinationen existieren → 410 gültige Silben (Tone Perfect)</a:t>
            </a:r>
          </a:p>
          <a:p>
            <a:pPr marL="171450" indent="-171450">
              <a:buFont typeface="Arial" panose="020B0604020202020204" pitchFamily="34" charset="0"/>
              <a:buChar char="•"/>
            </a:pPr>
            <a:r>
              <a:rPr lang="de-DE" sz="1200" b="0" i="0" kern="1200" dirty="0">
                <a:solidFill>
                  <a:schemeClr val="tx1"/>
                </a:solidFill>
                <a:effectLst/>
                <a:latin typeface="+mn-lt"/>
                <a:ea typeface="+mn-ea"/>
                <a:cs typeface="+mn-cs"/>
              </a:rPr>
              <a:t>Die meisten Papers (31/42) evaluieren nur auf Hanzi-Ebene (CER): </a:t>
            </a:r>
            <a:r>
              <a:rPr lang="de-DE" sz="1200" b="0" i="0" kern="1200" dirty="0" err="1">
                <a:solidFill>
                  <a:schemeClr val="tx1"/>
                </a:solidFill>
                <a:effectLst/>
                <a:latin typeface="+mn-lt"/>
                <a:ea typeface="+mn-ea"/>
                <a:cs typeface="+mn-cs"/>
              </a:rPr>
              <a:t>电→电</a:t>
            </a:r>
            <a:r>
              <a:rPr lang="de-DE" sz="1200" b="0" i="0" kern="1200" dirty="0">
                <a:solidFill>
                  <a:schemeClr val="tx1"/>
                </a:solidFill>
                <a:effectLst/>
                <a:latin typeface="+mn-lt"/>
                <a:ea typeface="+mn-ea"/>
                <a:cs typeface="+mn-cs"/>
              </a:rPr>
              <a:t> korrekt oder nicht</a:t>
            </a:r>
          </a:p>
          <a:p>
            <a:pPr marL="171450" indent="-171450">
              <a:buFont typeface="Arial" panose="020B0604020202020204" pitchFamily="34" charset="0"/>
              <a:buChar char="•"/>
            </a:pPr>
            <a:r>
              <a:rPr lang="de-DE" sz="1200" b="0" i="0" kern="1200" dirty="0">
                <a:solidFill>
                  <a:schemeClr val="tx1"/>
                </a:solidFill>
                <a:effectLst/>
                <a:latin typeface="+mn-lt"/>
                <a:ea typeface="+mn-ea"/>
                <a:cs typeface="+mn-cs"/>
              </a:rPr>
              <a:t>Unsere Arbeit evaluiert auf ALLEN 3 Ebenen: Segment (</a:t>
            </a:r>
            <a:r>
              <a:rPr lang="de-DE" sz="1200" b="0" i="0" kern="1200" dirty="0" err="1">
                <a:solidFill>
                  <a:schemeClr val="tx1"/>
                </a:solidFill>
                <a:effectLst/>
                <a:latin typeface="+mn-lt"/>
                <a:ea typeface="+mn-ea"/>
                <a:cs typeface="+mn-cs"/>
              </a:rPr>
              <a:t>d+ian</a:t>
            </a:r>
            <a:r>
              <a:rPr lang="de-DE" sz="1200" b="0" i="0" kern="1200" dirty="0">
                <a:solidFill>
                  <a:schemeClr val="tx1"/>
                </a:solidFill>
                <a:effectLst/>
                <a:latin typeface="+mn-lt"/>
                <a:ea typeface="+mn-ea"/>
                <a:cs typeface="+mn-cs"/>
              </a:rPr>
              <a:t>) + Ton (4) + Kombiniert (dian4)</a:t>
            </a:r>
          </a:p>
          <a:p>
            <a:pPr marL="171450" indent="-171450">
              <a:buFont typeface="Arial" panose="020B0604020202020204" pitchFamily="34" charset="0"/>
              <a:buChar char="•"/>
            </a:pPr>
            <a:r>
              <a:rPr lang="de-DE" sz="1200" b="0" i="0" kern="1200" dirty="0">
                <a:solidFill>
                  <a:schemeClr val="tx1"/>
                </a:solidFill>
                <a:effectLst/>
                <a:latin typeface="+mn-lt"/>
                <a:ea typeface="+mn-ea"/>
                <a:cs typeface="+mn-cs"/>
              </a:rPr>
              <a:t>"Chinese </a:t>
            </a:r>
            <a:r>
              <a:rPr lang="de-DE" sz="1200" b="0" i="0" kern="1200" dirty="0" err="1">
                <a:solidFill>
                  <a:schemeClr val="tx1"/>
                </a:solidFill>
                <a:effectLst/>
                <a:latin typeface="+mn-lt"/>
                <a:ea typeface="+mn-ea"/>
                <a:cs typeface="+mn-cs"/>
              </a:rPr>
              <a:t>uses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pinyin</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as</a:t>
            </a:r>
            <a:r>
              <a:rPr lang="de-DE" sz="1200" b="0" i="0" kern="1200" dirty="0">
                <a:solidFill>
                  <a:schemeClr val="tx1"/>
                </a:solidFill>
                <a:effectLst/>
                <a:latin typeface="+mn-lt"/>
                <a:ea typeface="+mn-ea"/>
                <a:cs typeface="+mn-cs"/>
              </a:rPr>
              <a:t> a </a:t>
            </a:r>
            <a:r>
              <a:rPr lang="de-DE" sz="1200" b="0" i="0" kern="1200" dirty="0" err="1">
                <a:solidFill>
                  <a:schemeClr val="tx1"/>
                </a:solidFill>
                <a:effectLst/>
                <a:latin typeface="+mn-lt"/>
                <a:ea typeface="+mn-ea"/>
                <a:cs typeface="+mn-cs"/>
              </a:rPr>
              <a:t>phonetic</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notation</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system</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where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each</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character</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is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transcribed</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into</a:t>
            </a:r>
            <a:r>
              <a:rPr lang="de-DE" sz="1200" b="0" i="0" kern="1200" dirty="0">
                <a:solidFill>
                  <a:schemeClr val="tx1"/>
                </a:solidFill>
                <a:effectLst/>
                <a:latin typeface="+mn-lt"/>
                <a:ea typeface="+mn-ea"/>
                <a:cs typeface="+mn-cs"/>
              </a:rPr>
              <a:t> a </a:t>
            </a:r>
            <a:r>
              <a:rPr lang="de-DE" sz="1200" b="0" i="0" kern="1200" dirty="0" err="1">
                <a:solidFill>
                  <a:schemeClr val="tx1"/>
                </a:solidFill>
                <a:effectLst/>
                <a:latin typeface="+mn-lt"/>
                <a:ea typeface="+mn-ea"/>
                <a:cs typeface="+mn-cs"/>
              </a:rPr>
              <a:t>syllable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composed</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of</a:t>
            </a:r>
            <a:r>
              <a:rPr lang="de-DE" sz="1200" b="0" i="0" kern="1200" dirty="0">
                <a:solidFill>
                  <a:schemeClr val="tx1"/>
                </a:solidFill>
                <a:effectLst/>
                <a:latin typeface="+mn-lt"/>
                <a:ea typeface="+mn-ea"/>
                <a:cs typeface="+mn-cs"/>
              </a:rPr>
              <a:t> an initial and a final" (Chen SCCM, </a:t>
            </a:r>
            <a:r>
              <a:rPr lang="de-DE" sz="1200" b="0" i="0" kern="1200" dirty="0" err="1">
                <a:solidFill>
                  <a:schemeClr val="tx1"/>
                </a:solidFill>
                <a:effectLst/>
                <a:latin typeface="+mn-lt"/>
                <a:ea typeface="+mn-ea"/>
                <a:cs typeface="+mn-cs"/>
              </a:rPr>
              <a:t>Section</a:t>
            </a:r>
            <a:r>
              <a:rPr lang="de-DE" sz="1200" b="0" i="0" kern="1200" dirty="0">
                <a:solidFill>
                  <a:schemeClr val="tx1"/>
                </a:solidFill>
                <a:effectLst/>
                <a:latin typeface="+mn-lt"/>
                <a:ea typeface="+mn-ea"/>
                <a:cs typeface="+mn-cs"/>
              </a:rPr>
              <a:t> 1)</a:t>
            </a:r>
          </a:p>
          <a:p>
            <a:pPr marL="171450" indent="-171450">
              <a:buFont typeface="Arial" panose="020B0604020202020204" pitchFamily="34" charset="0"/>
              <a:buChar char="•"/>
            </a:pPr>
            <a:endParaRPr lang="de-DE" dirty="0"/>
          </a:p>
        </p:txBody>
      </p:sp>
      <p:sp>
        <p:nvSpPr>
          <p:cNvPr id="4" name="Slide Number Placeholder 3"/>
          <p:cNvSpPr>
            <a:spLocks noGrp="1"/>
          </p:cNvSpPr>
          <p:nvPr>
            <p:ph type="sldNum" sz="quarter" idx="5"/>
          </p:nvPr>
        </p:nvSpPr>
        <p:spPr/>
        <p:txBody>
          <a:bodyPr/>
          <a:lstStyle/>
          <a:p>
            <a:fld id="{35C0B671-25EF-47C3-BD31-46E7FB9E6220}" type="slidenum">
              <a:rPr lang="de-DE" smtClean="0"/>
              <a:t>75</a:t>
            </a:fld>
            <a:endParaRPr lang="de-DE"/>
          </a:p>
        </p:txBody>
      </p:sp>
    </p:spTree>
    <p:extLst>
      <p:ext uri="{BB962C8B-B14F-4D97-AF65-F5344CB8AC3E}">
        <p14:creationId xmlns:p14="http://schemas.microsoft.com/office/powerpoint/2010/main" val="1117827993"/>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de-DE" sz="1200" b="0" i="0" kern="1200" dirty="0" err="1">
                <a:solidFill>
                  <a:schemeClr val="tx1"/>
                </a:solidFill>
                <a:effectLst/>
                <a:latin typeface="+mn-lt"/>
                <a:ea typeface="+mn-ea"/>
                <a:cs typeface="+mn-cs"/>
              </a:rPr>
              <a:t>Pinyin+Tonnummern</a:t>
            </a:r>
            <a:r>
              <a:rPr lang="de-DE" sz="1200" b="0" i="0" kern="1200" dirty="0">
                <a:solidFill>
                  <a:schemeClr val="tx1"/>
                </a:solidFill>
                <a:effectLst/>
                <a:latin typeface="+mn-lt"/>
                <a:ea typeface="+mn-ea"/>
                <a:cs typeface="+mn-cs"/>
              </a:rPr>
              <a:t> ist der optimale Kompromiss für unsere Arbeit:</a:t>
            </a:r>
          </a:p>
          <a:p>
            <a:pPr marL="628650" lvl="1" indent="-171450">
              <a:buFont typeface="Arial" panose="020B0604020202020204" pitchFamily="34" charset="0"/>
              <a:buChar char="•"/>
            </a:pPr>
            <a:r>
              <a:rPr lang="de-DE" sz="1200" b="0" i="0" kern="1200" dirty="0">
                <a:solidFill>
                  <a:schemeClr val="tx1"/>
                </a:solidFill>
                <a:effectLst/>
                <a:latin typeface="+mn-lt"/>
                <a:ea typeface="+mn-ea"/>
                <a:cs typeface="+mn-cs"/>
              </a:rPr>
              <a:t>LLMs kennen Pinyin aus den Trainingsdaten</a:t>
            </a:r>
          </a:p>
          <a:p>
            <a:pPr marL="628650" lvl="1" indent="-171450">
              <a:buFont typeface="Arial" panose="020B0604020202020204" pitchFamily="34" charset="0"/>
              <a:buChar char="•"/>
            </a:pPr>
            <a:r>
              <a:rPr lang="de-DE" sz="1200" b="0" i="0" kern="1200" dirty="0">
                <a:solidFill>
                  <a:schemeClr val="tx1"/>
                </a:solidFill>
                <a:effectLst/>
                <a:latin typeface="+mn-lt"/>
                <a:ea typeface="+mn-ea"/>
                <a:cs typeface="+mn-cs"/>
              </a:rPr>
              <a:t>Tonnummern sind maschinenlesbar → automatische TER-Berechnung</a:t>
            </a:r>
          </a:p>
          <a:p>
            <a:pPr marL="628650" lvl="1" indent="-171450">
              <a:buFont typeface="Arial" panose="020B0604020202020204" pitchFamily="34" charset="0"/>
              <a:buChar char="•"/>
            </a:pPr>
            <a:r>
              <a:rPr lang="de-DE" sz="1200" b="0" i="0" kern="1200" dirty="0">
                <a:solidFill>
                  <a:schemeClr val="tx1"/>
                </a:solidFill>
                <a:effectLst/>
                <a:latin typeface="+mn-lt"/>
                <a:ea typeface="+mn-ea"/>
                <a:cs typeface="+mn-cs"/>
              </a:rPr>
              <a:t>Es ist der De-facto-Standard in der digitalen Mandarin-Didaktik</a:t>
            </a:r>
          </a:p>
          <a:p>
            <a:pPr marL="171450" indent="-171450">
              <a:buFont typeface="Arial" panose="020B0604020202020204" pitchFamily="34" charset="0"/>
              <a:buChar char="•"/>
            </a:pPr>
            <a:r>
              <a:rPr lang="de-DE" sz="1200" b="0" i="0" kern="1200" dirty="0">
                <a:solidFill>
                  <a:schemeClr val="tx1"/>
                </a:solidFill>
                <a:effectLst/>
                <a:latin typeface="+mn-lt"/>
                <a:ea typeface="+mn-ea"/>
                <a:cs typeface="+mn-cs"/>
              </a:rPr>
              <a:t>Chirkova (2025) fand: "IPA </a:t>
            </a:r>
            <a:r>
              <a:rPr lang="de-DE" sz="1200" b="0" i="0" kern="1200" dirty="0" err="1">
                <a:solidFill>
                  <a:schemeClr val="tx1"/>
                </a:solidFill>
                <a:effectLst/>
                <a:latin typeface="+mn-lt"/>
                <a:ea typeface="+mn-ea"/>
                <a:cs typeface="+mn-cs"/>
              </a:rPr>
              <a:t>reduced</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character</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errors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by</a:t>
            </a:r>
            <a:r>
              <a:rPr lang="de-DE" sz="1200" b="0" i="0" kern="1200" dirty="0">
                <a:solidFill>
                  <a:schemeClr val="tx1"/>
                </a:solidFill>
                <a:effectLst/>
                <a:latin typeface="+mn-lt"/>
                <a:ea typeface="+mn-ea"/>
                <a:cs typeface="+mn-cs"/>
              </a:rPr>
              <a:t> 2.7% and tone </a:t>
            </a:r>
            <a:r>
              <a:rPr lang="de-DE" sz="1200" b="0" i="0" kern="1200" dirty="0" err="1">
                <a:solidFill>
                  <a:schemeClr val="tx1"/>
                </a:solidFill>
                <a:effectLst/>
                <a:latin typeface="+mn-lt"/>
                <a:ea typeface="+mn-ea"/>
                <a:cs typeface="+mn-cs"/>
              </a:rPr>
              <a:t>errors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by</a:t>
            </a:r>
            <a:r>
              <a:rPr lang="de-DE" sz="1200" b="0" i="0" kern="1200" dirty="0">
                <a:solidFill>
                  <a:schemeClr val="tx1"/>
                </a:solidFill>
                <a:effectLst/>
                <a:latin typeface="+mn-lt"/>
                <a:ea typeface="+mn-ea"/>
                <a:cs typeface="+mn-cs"/>
              </a:rPr>
              <a:t> 5.2% </a:t>
            </a:r>
            <a:r>
              <a:rPr lang="de-DE" sz="1200" b="0" i="0" kern="1200" dirty="0" err="1">
                <a:solidFill>
                  <a:schemeClr val="tx1"/>
                </a:solidFill>
                <a:effectLst/>
                <a:latin typeface="+mn-lt"/>
                <a:ea typeface="+mn-ea"/>
                <a:cs typeface="+mn-cs"/>
              </a:rPr>
              <a:t>over</a:t>
            </a:r>
            <a:r>
              <a:rPr lang="de-DE" sz="1200" b="0" i="0" kern="1200" dirty="0">
                <a:solidFill>
                  <a:schemeClr val="tx1"/>
                </a:solidFill>
                <a:effectLst/>
                <a:latin typeface="+mn-lt"/>
                <a:ea typeface="+mn-ea"/>
                <a:cs typeface="+mn-cs"/>
              </a:rPr>
              <a:t> Pinyin" — ABER mit Wav2Vec2/Whisper (ASR-Modelle), nicht LLMs</a:t>
            </a:r>
          </a:p>
          <a:p>
            <a:pPr marL="171450" indent="-171450">
              <a:buFont typeface="Arial" panose="020B0604020202020204" pitchFamily="34" charset="0"/>
              <a:buChar char="•"/>
            </a:pPr>
            <a:r>
              <a:rPr lang="de-DE" sz="1200" b="0" i="0" kern="1200" dirty="0">
                <a:solidFill>
                  <a:schemeClr val="tx1"/>
                </a:solidFill>
                <a:effectLst/>
                <a:latin typeface="+mn-lt"/>
                <a:ea typeface="+mn-ea"/>
                <a:cs typeface="+mn-cs"/>
              </a:rPr>
              <a:t>Bei LLMs könnte Pinyin BESSER sein als IPA — wegen Token-Vertrautheit. Das ist eine offene Frage.</a:t>
            </a:r>
          </a:p>
          <a:p>
            <a:pPr marL="171450" indent="-171450">
              <a:buFont typeface="Arial" panose="020B0604020202020204" pitchFamily="34" charset="0"/>
              <a:buChar char="•"/>
            </a:pPr>
            <a:r>
              <a:rPr lang="de-DE" sz="1200" b="0" i="0" kern="1200" dirty="0">
                <a:solidFill>
                  <a:schemeClr val="tx1"/>
                </a:solidFill>
                <a:effectLst/>
                <a:latin typeface="+mn-lt"/>
                <a:ea typeface="+mn-ea"/>
                <a:cs typeface="+mn-cs"/>
              </a:rPr>
              <a:t>Die Entscheidung für </a:t>
            </a:r>
            <a:r>
              <a:rPr lang="de-DE" sz="1200" b="0" i="0" kern="1200" dirty="0" err="1">
                <a:solidFill>
                  <a:schemeClr val="tx1"/>
                </a:solidFill>
                <a:effectLst/>
                <a:latin typeface="+mn-lt"/>
                <a:ea typeface="+mn-ea"/>
                <a:cs typeface="+mn-cs"/>
              </a:rPr>
              <a:t>Pinyin+Tonnummern</a:t>
            </a:r>
            <a:r>
              <a:rPr lang="de-DE" sz="1200" b="0" i="0" kern="1200" dirty="0">
                <a:solidFill>
                  <a:schemeClr val="tx1"/>
                </a:solidFill>
                <a:effectLst/>
                <a:latin typeface="+mn-lt"/>
                <a:ea typeface="+mn-ea"/>
                <a:cs typeface="+mn-cs"/>
              </a:rPr>
              <a:t> wird durch die Literatur gestützt:</a:t>
            </a:r>
          </a:p>
          <a:p>
            <a:pPr marL="628650" lvl="1" indent="-171450">
              <a:buFont typeface="Arial" panose="020B0604020202020204" pitchFamily="34" charset="0"/>
              <a:buChar char="•"/>
            </a:pPr>
            <a:r>
              <a:rPr lang="de-DE" sz="1200" b="0" i="0" kern="1200" dirty="0">
                <a:solidFill>
                  <a:schemeClr val="tx1"/>
                </a:solidFill>
                <a:effectLst/>
                <a:latin typeface="+mn-lt"/>
                <a:ea typeface="+mn-ea"/>
                <a:cs typeface="+mn-cs"/>
              </a:rPr>
              <a:t>Tone Perfect nutzt </a:t>
            </a:r>
            <a:r>
              <a:rPr lang="de-DE" sz="1200" b="0" i="0" kern="1200" dirty="0" err="1">
                <a:solidFill>
                  <a:schemeClr val="tx1"/>
                </a:solidFill>
                <a:effectLst/>
                <a:latin typeface="+mn-lt"/>
                <a:ea typeface="+mn-ea"/>
                <a:cs typeface="+mn-cs"/>
              </a:rPr>
              <a:t>Pinyin+Ton</a:t>
            </a:r>
            <a:r>
              <a:rPr lang="de-DE" sz="1200" b="0" i="0" kern="1200" dirty="0">
                <a:solidFill>
                  <a:schemeClr val="tx1"/>
                </a:solidFill>
                <a:effectLst/>
                <a:latin typeface="+mn-lt"/>
                <a:ea typeface="+mn-ea"/>
                <a:cs typeface="+mn-cs"/>
              </a:rPr>
              <a:t># als Ground Truth</a:t>
            </a:r>
          </a:p>
          <a:p>
            <a:pPr marL="628650" lvl="1" indent="-171450">
              <a:buFont typeface="Arial" panose="020B0604020202020204" pitchFamily="34" charset="0"/>
              <a:buChar char="•"/>
            </a:pPr>
            <a:r>
              <a:rPr lang="de-DE" sz="1200" b="0" i="0" kern="1200" dirty="0">
                <a:solidFill>
                  <a:schemeClr val="tx1"/>
                </a:solidFill>
                <a:effectLst/>
                <a:latin typeface="+mn-lt"/>
                <a:ea typeface="+mn-ea"/>
                <a:cs typeface="+mn-cs"/>
              </a:rPr>
              <a:t>5 von 7 Pinyin-Papers nutzen Tonnummern oder Initials/Finals</a:t>
            </a:r>
          </a:p>
          <a:p>
            <a:pPr marL="628650" lvl="1" indent="-171450">
              <a:buFont typeface="Arial" panose="020B0604020202020204" pitchFamily="34" charset="0"/>
              <a:buChar char="•"/>
            </a:pPr>
            <a:r>
              <a:rPr lang="de-DE" sz="1200" b="0" i="0" kern="1200" dirty="0">
                <a:solidFill>
                  <a:schemeClr val="tx1"/>
                </a:solidFill>
                <a:effectLst/>
                <a:latin typeface="+mn-lt"/>
                <a:ea typeface="+mn-ea"/>
                <a:cs typeface="+mn-cs"/>
              </a:rPr>
              <a:t>Chao-Tonnummern (55/35/214/51) wären präziser, aber in LLM-Trainingsdaten selten</a:t>
            </a:r>
          </a:p>
          <a:p>
            <a:pPr marL="171450" indent="-171450">
              <a:buFont typeface="Arial" panose="020B0604020202020204" pitchFamily="34" charset="0"/>
              <a:buChar char="•"/>
            </a:pPr>
            <a:br>
              <a:rPr lang="de-DE" dirty="0"/>
            </a:br>
            <a:endParaRPr lang="de-DE" dirty="0"/>
          </a:p>
        </p:txBody>
      </p:sp>
      <p:sp>
        <p:nvSpPr>
          <p:cNvPr id="4" name="Slide Number Placeholder 3"/>
          <p:cNvSpPr>
            <a:spLocks noGrp="1"/>
          </p:cNvSpPr>
          <p:nvPr>
            <p:ph type="sldNum" sz="quarter" idx="5"/>
          </p:nvPr>
        </p:nvSpPr>
        <p:spPr/>
        <p:txBody>
          <a:bodyPr/>
          <a:lstStyle/>
          <a:p>
            <a:fld id="{35C0B671-25EF-47C3-BD31-46E7FB9E6220}" type="slidenum">
              <a:rPr lang="de-DE" smtClean="0"/>
              <a:t>76</a:t>
            </a:fld>
            <a:endParaRPr lang="de-DE"/>
          </a:p>
        </p:txBody>
      </p:sp>
    </p:spTree>
    <p:extLst>
      <p:ext uri="{BB962C8B-B14F-4D97-AF65-F5344CB8AC3E}">
        <p14:creationId xmlns:p14="http://schemas.microsoft.com/office/powerpoint/2010/main" val="5452127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de-DE" sz="1200" b="0" i="0" kern="1200" dirty="0">
                <a:solidFill>
                  <a:schemeClr val="tx1"/>
                </a:solidFill>
                <a:effectLst/>
                <a:latin typeface="+mn-lt"/>
                <a:ea typeface="+mn-ea"/>
                <a:cs typeface="+mn-cs"/>
              </a:rPr>
              <a:t>Chirkova (2025) ist das EINZIGE Paper das IPA vs. Pinyin systematisch auf Tonerkennung vergleicht</a:t>
            </a:r>
          </a:p>
          <a:p>
            <a:pPr marL="171450" indent="-171450">
              <a:buFont typeface="Arial" panose="020B0604020202020204" pitchFamily="34" charset="0"/>
              <a:buChar char="•"/>
            </a:pPr>
            <a:r>
              <a:rPr lang="de-DE" sz="1200" b="0" i="0" kern="1200" dirty="0">
                <a:solidFill>
                  <a:schemeClr val="tx1"/>
                </a:solidFill>
                <a:effectLst/>
                <a:latin typeface="+mn-lt"/>
                <a:ea typeface="+mn-ea"/>
                <a:cs typeface="+mn-cs"/>
              </a:rPr>
              <a:t>Ergebnis: IPA ist 5,2% besser bei Tonfehlern (tonal CER 20 vs. 28) und 2,7% besser bei Zeichenfehlern</a:t>
            </a:r>
          </a:p>
          <a:p>
            <a:pPr marL="171450" indent="-171450">
              <a:buFont typeface="Arial" panose="020B0604020202020204" pitchFamily="34" charset="0"/>
              <a:buChar char="•"/>
            </a:pPr>
            <a:r>
              <a:rPr lang="de-DE" sz="1200" b="0" i="0" kern="1200" dirty="0">
                <a:solidFill>
                  <a:schemeClr val="tx1"/>
                </a:solidFill>
                <a:effectLst/>
                <a:latin typeface="+mn-lt"/>
                <a:ea typeface="+mn-ea"/>
                <a:cs typeface="+mn-cs"/>
              </a:rPr>
              <a:t>ABER: (1) Sprache ist Baima (</a:t>
            </a:r>
            <a:r>
              <a:rPr lang="de-DE" sz="1200" b="0" i="0" kern="1200" dirty="0" err="1">
                <a:solidFill>
                  <a:schemeClr val="tx1"/>
                </a:solidFill>
                <a:effectLst/>
                <a:latin typeface="+mn-lt"/>
                <a:ea typeface="+mn-ea"/>
                <a:cs typeface="+mn-cs"/>
              </a:rPr>
              <a:t>Tibeto</a:t>
            </a:r>
            <a:r>
              <a:rPr lang="de-DE" sz="1200" b="0" i="0" kern="1200" dirty="0">
                <a:solidFill>
                  <a:schemeClr val="tx1"/>
                </a:solidFill>
                <a:effectLst/>
                <a:latin typeface="+mn-lt"/>
                <a:ea typeface="+mn-ea"/>
                <a:cs typeface="+mn-cs"/>
              </a:rPr>
              <a:t>-Burman), nicht Standard-Mandarin; (2) Modelle sind Wav2Vec2 und Whisper, keine LLMs</a:t>
            </a:r>
          </a:p>
          <a:p>
            <a:pPr marL="171450" indent="-171450">
              <a:buFont typeface="Arial" panose="020B0604020202020204" pitchFamily="34" charset="0"/>
              <a:buChar char="•"/>
            </a:pPr>
            <a:r>
              <a:rPr lang="de-DE" sz="1200" b="0" i="0" kern="1200" dirty="0">
                <a:solidFill>
                  <a:schemeClr val="tx1"/>
                </a:solidFill>
                <a:effectLst/>
                <a:latin typeface="+mn-lt"/>
                <a:ea typeface="+mn-ea"/>
                <a:cs typeface="+mn-cs"/>
              </a:rPr>
              <a:t>Für LLMs gibt es Gründe, warum Pinyin besser sein KÖNNTE:</a:t>
            </a:r>
          </a:p>
          <a:p>
            <a:pPr marL="628650" lvl="1" indent="-171450">
              <a:buFont typeface="Arial" panose="020B0604020202020204" pitchFamily="34" charset="0"/>
              <a:buChar char="•"/>
            </a:pPr>
            <a:r>
              <a:rPr lang="de-DE" sz="1200" b="0" i="0" kern="1200" dirty="0">
                <a:solidFill>
                  <a:schemeClr val="tx1"/>
                </a:solidFill>
                <a:effectLst/>
                <a:latin typeface="+mn-lt"/>
                <a:ea typeface="+mn-ea"/>
                <a:cs typeface="+mn-cs"/>
              </a:rPr>
              <a:t>"ma1" ist ein häufiges Token in LLM-Trainingsdaten</a:t>
            </a:r>
          </a:p>
          <a:p>
            <a:pPr marL="628650" lvl="1" indent="-171450">
              <a:buFont typeface="Arial" panose="020B0604020202020204" pitchFamily="34" charset="0"/>
              <a:buChar char="•"/>
            </a:pPr>
            <a:r>
              <a:rPr lang="de-DE" sz="1200" b="0" i="0" kern="1200" dirty="0">
                <a:solidFill>
                  <a:schemeClr val="tx1"/>
                </a:solidFill>
                <a:effectLst/>
                <a:latin typeface="+mn-lt"/>
                <a:ea typeface="+mn-ea"/>
                <a:cs typeface="+mn-cs"/>
              </a:rPr>
              <a:t>IPA-Symbole wie ˥˧˥˨˩˦˥˩ sind seltene Unicode-Zeichen</a:t>
            </a:r>
          </a:p>
          <a:p>
            <a:pPr marL="628650" lvl="1" indent="-171450">
              <a:buFont typeface="Arial" panose="020B0604020202020204" pitchFamily="34" charset="0"/>
              <a:buChar char="•"/>
            </a:pPr>
            <a:r>
              <a:rPr lang="de-DE" sz="1200" b="0" i="0" kern="1200" dirty="0">
                <a:solidFill>
                  <a:schemeClr val="tx1"/>
                </a:solidFill>
                <a:effectLst/>
                <a:latin typeface="+mn-lt"/>
                <a:ea typeface="+mn-ea"/>
                <a:cs typeface="+mn-cs"/>
              </a:rPr>
              <a:t>LLMs </a:t>
            </a:r>
            <a:r>
              <a:rPr lang="de-DE" sz="1200" b="0" i="0" kern="1200" dirty="0" err="1">
                <a:solidFill>
                  <a:schemeClr val="tx1"/>
                </a:solidFill>
                <a:effectLst/>
                <a:latin typeface="+mn-lt"/>
                <a:ea typeface="+mn-ea"/>
                <a:cs typeface="+mn-cs"/>
              </a:rPr>
              <a:t>tokenisieren</a:t>
            </a:r>
            <a:r>
              <a:rPr lang="de-DE" sz="1200" b="0" i="0" kern="1200" dirty="0">
                <a:solidFill>
                  <a:schemeClr val="tx1"/>
                </a:solidFill>
                <a:effectLst/>
                <a:latin typeface="+mn-lt"/>
                <a:ea typeface="+mn-ea"/>
                <a:cs typeface="+mn-cs"/>
              </a:rPr>
              <a:t> IPA-Zeichen möglicherweise als einzelne Bytes → schlechtere Repräsentation</a:t>
            </a:r>
          </a:p>
          <a:p>
            <a:pPr marL="171450" indent="-171450">
              <a:buFont typeface="Arial" panose="020B0604020202020204" pitchFamily="34" charset="0"/>
              <a:buChar char="•"/>
            </a:pPr>
            <a:r>
              <a:rPr lang="de-DE" sz="1200" b="0" i="0" kern="1200" dirty="0">
                <a:solidFill>
                  <a:schemeClr val="tx1"/>
                </a:solidFill>
                <a:effectLst/>
                <a:latin typeface="+mn-lt"/>
                <a:ea typeface="+mn-ea"/>
                <a:cs typeface="+mn-cs"/>
              </a:rPr>
              <a:t>Chirkova selbst schreibt: "While </a:t>
            </a:r>
            <a:r>
              <a:rPr lang="de-DE" sz="1200" b="0" i="0" kern="1200" dirty="0" err="1">
                <a:solidFill>
                  <a:schemeClr val="tx1"/>
                </a:solidFill>
                <a:effectLst/>
                <a:latin typeface="+mn-lt"/>
                <a:ea typeface="+mn-ea"/>
                <a:cs typeface="+mn-cs"/>
              </a:rPr>
              <a:t>conversion</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from</a:t>
            </a:r>
            <a:r>
              <a:rPr lang="de-DE" sz="1200" b="0" i="0" kern="1200" dirty="0">
                <a:solidFill>
                  <a:schemeClr val="tx1"/>
                </a:solidFill>
                <a:effectLst/>
                <a:latin typeface="+mn-lt"/>
                <a:ea typeface="+mn-ea"/>
                <a:cs typeface="+mn-cs"/>
              </a:rPr>
              <a:t> Simple </a:t>
            </a:r>
            <a:r>
              <a:rPr lang="de-DE" sz="1200" b="0" i="0" kern="1200" dirty="0" err="1">
                <a:solidFill>
                  <a:schemeClr val="tx1"/>
                </a:solidFill>
                <a:effectLst/>
                <a:latin typeface="+mn-lt"/>
                <a:ea typeface="+mn-ea"/>
                <a:cs typeface="+mn-cs"/>
              </a:rPr>
              <a:t>romanisation</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or</a:t>
            </a:r>
            <a:r>
              <a:rPr lang="de-DE" sz="1200" b="0" i="0" kern="1200" dirty="0">
                <a:solidFill>
                  <a:schemeClr val="tx1"/>
                </a:solidFill>
                <a:effectLst/>
                <a:latin typeface="+mn-lt"/>
                <a:ea typeface="+mn-ea"/>
                <a:cs typeface="+mn-cs"/>
              </a:rPr>
              <a:t> Baima Pinyin </a:t>
            </a:r>
            <a:r>
              <a:rPr lang="de-DE" sz="1200" b="0" i="0" kern="1200" dirty="0" err="1">
                <a:solidFill>
                  <a:schemeClr val="tx1"/>
                </a:solidFill>
                <a:effectLst/>
                <a:latin typeface="+mn-lt"/>
                <a:ea typeface="+mn-ea"/>
                <a:cs typeface="+mn-cs"/>
              </a:rPr>
              <a:t>to</a:t>
            </a:r>
            <a:r>
              <a:rPr lang="de-DE" sz="1200" b="0" i="0" kern="1200" dirty="0">
                <a:solidFill>
                  <a:schemeClr val="tx1"/>
                </a:solidFill>
                <a:effectLst/>
                <a:latin typeface="+mn-lt"/>
                <a:ea typeface="+mn-ea"/>
                <a:cs typeface="+mn-cs"/>
              </a:rPr>
              <a:t> IPA </a:t>
            </a:r>
            <a:r>
              <a:rPr lang="de-DE" sz="1200" b="0" i="0" kern="1200" dirty="0" err="1">
                <a:solidFill>
                  <a:schemeClr val="tx1"/>
                </a:solidFill>
                <a:effectLst/>
                <a:latin typeface="+mn-lt"/>
                <a:ea typeface="+mn-ea"/>
                <a:cs typeface="+mn-cs"/>
              </a:rPr>
              <a:t>is</a:t>
            </a:r>
            <a:r>
              <a:rPr lang="de-DE" sz="1200" b="0" i="0" kern="1200" dirty="0">
                <a:solidFill>
                  <a:schemeClr val="tx1"/>
                </a:solidFill>
                <a:effectLst/>
                <a:latin typeface="+mn-lt"/>
                <a:ea typeface="+mn-ea"/>
                <a:cs typeface="+mn-cs"/>
              </a:rPr>
              <a:t> impossible </a:t>
            </a:r>
            <a:r>
              <a:rPr lang="de-DE" sz="1200" b="0" i="0" kern="1200" dirty="0" err="1">
                <a:solidFill>
                  <a:schemeClr val="tx1"/>
                </a:solidFill>
                <a:effectLst/>
                <a:latin typeface="+mn-lt"/>
                <a:ea typeface="+mn-ea"/>
                <a:cs typeface="+mn-cs"/>
              </a:rPr>
              <a:t>as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too</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many</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details</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are</a:t>
            </a:r>
            <a:r>
              <a:rPr lang="de-DE" sz="1200" b="0" i="0" kern="1200" dirty="0">
                <a:solidFill>
                  <a:schemeClr val="tx1"/>
                </a:solidFill>
                <a:effectLst/>
                <a:latin typeface="+mn-lt"/>
                <a:ea typeface="+mn-ea"/>
                <a:cs typeface="+mn-cs"/>
              </a:rPr>
              <a:t> lost, </a:t>
            </a:r>
            <a:r>
              <a:rPr lang="de-DE" sz="1200" b="0" i="0" kern="1200" dirty="0" err="1">
                <a:solidFill>
                  <a:schemeClr val="tx1"/>
                </a:solidFill>
                <a:effectLst/>
                <a:latin typeface="+mn-lt"/>
                <a:ea typeface="+mn-ea"/>
                <a:cs typeface="+mn-cs"/>
              </a:rPr>
              <a:t>it</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is</a:t>
            </a:r>
            <a:r>
              <a:rPr lang="de-DE" sz="1200" b="0" i="0" kern="1200" dirty="0">
                <a:solidFill>
                  <a:schemeClr val="tx1"/>
                </a:solidFill>
                <a:effectLst/>
                <a:latin typeface="+mn-lt"/>
                <a:ea typeface="+mn-ea"/>
                <a:cs typeface="+mn-cs"/>
              </a:rPr>
              <a:t> possible </a:t>
            </a:r>
            <a:r>
              <a:rPr lang="de-DE" sz="1200" b="0" i="0" kern="1200" dirty="0" err="1">
                <a:solidFill>
                  <a:schemeClr val="tx1"/>
                </a:solidFill>
                <a:effectLst/>
                <a:latin typeface="+mn-lt"/>
                <a:ea typeface="+mn-ea"/>
                <a:cs typeface="+mn-cs"/>
              </a:rPr>
              <a:t>to</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convert</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into</a:t>
            </a:r>
            <a:r>
              <a:rPr lang="de-DE" sz="1200" b="0" i="0" kern="1200" dirty="0">
                <a:solidFill>
                  <a:schemeClr val="tx1"/>
                </a:solidFill>
                <a:effectLst/>
                <a:latin typeface="+mn-lt"/>
                <a:ea typeface="+mn-ea"/>
                <a:cs typeface="+mn-cs"/>
              </a:rPr>
              <a:t> Pinyin and Simple </a:t>
            </a:r>
            <a:r>
              <a:rPr lang="de-DE" sz="1200" b="0" i="0" kern="1200" dirty="0" err="1">
                <a:solidFill>
                  <a:schemeClr val="tx1"/>
                </a:solidFill>
                <a:effectLst/>
                <a:latin typeface="+mn-lt"/>
                <a:ea typeface="+mn-ea"/>
                <a:cs typeface="+mn-cs"/>
              </a:rPr>
              <a:t>romanised</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script</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from</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the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better-performing</a:t>
            </a:r>
            <a:r>
              <a:rPr lang="de-DE" sz="1200" b="0" i="0" kern="1200" dirty="0">
                <a:solidFill>
                  <a:schemeClr val="tx1"/>
                </a:solidFill>
                <a:effectLst/>
                <a:latin typeface="+mn-lt"/>
                <a:ea typeface="+mn-ea"/>
                <a:cs typeface="+mn-cs"/>
              </a:rPr>
              <a:t> IPA </a:t>
            </a:r>
            <a:r>
              <a:rPr lang="de-DE" sz="1200" b="0" i="0" kern="1200" dirty="0" err="1">
                <a:solidFill>
                  <a:schemeClr val="tx1"/>
                </a:solidFill>
                <a:effectLst/>
                <a:latin typeface="+mn-lt"/>
                <a:ea typeface="+mn-ea"/>
                <a:cs typeface="+mn-cs"/>
              </a:rPr>
              <a:t>model</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Section</a:t>
            </a:r>
            <a:r>
              <a:rPr lang="de-DE" sz="1200" b="0" i="0" kern="1200" dirty="0">
                <a:solidFill>
                  <a:schemeClr val="tx1"/>
                </a:solidFill>
                <a:effectLst/>
                <a:latin typeface="+mn-lt"/>
                <a:ea typeface="+mn-ea"/>
                <a:cs typeface="+mn-cs"/>
              </a:rPr>
              <a:t> 4) — IPA erfasst mehr Detail, aber Pinyin ist praktischer</a:t>
            </a:r>
          </a:p>
          <a:p>
            <a:pPr marL="171450" indent="-171450">
              <a:buFont typeface="Arial" panose="020B0604020202020204" pitchFamily="34" charset="0"/>
              <a:buChar char="•"/>
            </a:pPr>
            <a:endParaRPr lang="de-DE" dirty="0"/>
          </a:p>
        </p:txBody>
      </p:sp>
      <p:sp>
        <p:nvSpPr>
          <p:cNvPr id="4" name="Slide Number Placeholder 3"/>
          <p:cNvSpPr>
            <a:spLocks noGrp="1"/>
          </p:cNvSpPr>
          <p:nvPr>
            <p:ph type="sldNum" sz="quarter" idx="5"/>
          </p:nvPr>
        </p:nvSpPr>
        <p:spPr/>
        <p:txBody>
          <a:bodyPr/>
          <a:lstStyle/>
          <a:p>
            <a:fld id="{35C0B671-25EF-47C3-BD31-46E7FB9E6220}" type="slidenum">
              <a:rPr lang="de-DE" smtClean="0"/>
              <a:t>77</a:t>
            </a:fld>
            <a:endParaRPr lang="de-DE"/>
          </a:p>
        </p:txBody>
      </p:sp>
    </p:spTree>
    <p:extLst>
      <p:ext uri="{BB962C8B-B14F-4D97-AF65-F5344CB8AC3E}">
        <p14:creationId xmlns:p14="http://schemas.microsoft.com/office/powerpoint/2010/main" val="1673189856"/>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de-DE" sz="1200" b="0" i="0" kern="1200" dirty="0">
                <a:solidFill>
                  <a:schemeClr val="tx1"/>
                </a:solidFill>
                <a:effectLst/>
                <a:latin typeface="+mn-lt"/>
                <a:ea typeface="+mn-ea"/>
                <a:cs typeface="+mn-cs"/>
              </a:rPr>
              <a:t>Chirkova (2025) fand: IPA reduziert Tonfehler um 5,2% </a:t>
            </a:r>
            <a:r>
              <a:rPr lang="de-DE" sz="1200" b="0" i="0" kern="1200" dirty="0" err="1">
                <a:solidFill>
                  <a:schemeClr val="tx1"/>
                </a:solidFill>
                <a:effectLst/>
                <a:latin typeface="+mn-lt"/>
                <a:ea typeface="+mn-ea"/>
                <a:cs typeface="+mn-cs"/>
              </a:rPr>
              <a:t>ggü</a:t>
            </a:r>
            <a:r>
              <a:rPr lang="de-DE" sz="1200" b="0" i="0" kern="1200" dirty="0">
                <a:solidFill>
                  <a:schemeClr val="tx1"/>
                </a:solidFill>
                <a:effectLst/>
                <a:latin typeface="+mn-lt"/>
                <a:ea typeface="+mn-ea"/>
                <a:cs typeface="+mn-cs"/>
              </a:rPr>
              <a:t>. Pinyin — ABER mit Wav2Vec2/Whisper, nicht LLMs</a:t>
            </a:r>
          </a:p>
          <a:p>
            <a:pPr marL="171450" indent="-171450">
              <a:buFont typeface="Arial" panose="020B0604020202020204" pitchFamily="34" charset="0"/>
              <a:buChar char="•"/>
            </a:pPr>
            <a:r>
              <a:rPr lang="de-DE" sz="1200" b="0" i="0" kern="1200" dirty="0">
                <a:solidFill>
                  <a:schemeClr val="tx1"/>
                </a:solidFill>
                <a:effectLst/>
                <a:latin typeface="+mn-lt"/>
                <a:ea typeface="+mn-ea"/>
                <a:cs typeface="+mn-cs"/>
              </a:rPr>
              <a:t>Bei LLMs gibt es 3 Gründe, warum Pinyin besser sein KÖNNTE:</a:t>
            </a:r>
          </a:p>
          <a:p>
            <a:pPr marL="628650" lvl="1" indent="-171450">
              <a:buFont typeface="Arial" panose="020B0604020202020204" pitchFamily="34" charset="0"/>
              <a:buChar char="•"/>
            </a:pPr>
            <a:r>
              <a:rPr lang="de-DE" sz="1200" b="0" i="0" kern="1200" dirty="0">
                <a:solidFill>
                  <a:schemeClr val="tx1"/>
                </a:solidFill>
                <a:effectLst/>
                <a:latin typeface="+mn-lt"/>
                <a:ea typeface="+mn-ea"/>
                <a:cs typeface="+mn-cs"/>
              </a:rPr>
              <a:t>LLMs haben massiv mehr Pinyin im Training (Wikipedia, Lehrbücher, Unicode-Texte)</a:t>
            </a:r>
          </a:p>
          <a:p>
            <a:pPr marL="628650" lvl="1" indent="-171450">
              <a:buFont typeface="Arial" panose="020B0604020202020204" pitchFamily="34" charset="0"/>
              <a:buChar char="•"/>
            </a:pPr>
            <a:r>
              <a:rPr lang="de-DE" sz="1200" b="0" i="0" kern="1200" dirty="0">
                <a:solidFill>
                  <a:schemeClr val="tx1"/>
                </a:solidFill>
                <a:effectLst/>
                <a:latin typeface="+mn-lt"/>
                <a:ea typeface="+mn-ea"/>
                <a:cs typeface="+mn-cs"/>
              </a:rPr>
              <a:t>IPA-Symbole wie ˥, ˧˥, ˨˩˦ sind seltene Unicode-Zeichen → Token-Fragmentierung</a:t>
            </a:r>
          </a:p>
          <a:p>
            <a:pPr marL="628650" lvl="1" indent="-171450">
              <a:buFont typeface="Arial" panose="020B0604020202020204" pitchFamily="34" charset="0"/>
              <a:buChar char="•"/>
            </a:pPr>
            <a:r>
              <a:rPr lang="de-DE" sz="1200" b="0" i="0" kern="1200" dirty="0">
                <a:solidFill>
                  <a:schemeClr val="tx1"/>
                </a:solidFill>
                <a:effectLst/>
                <a:latin typeface="+mn-lt"/>
                <a:ea typeface="+mn-ea"/>
                <a:cs typeface="+mn-cs"/>
              </a:rPr>
              <a:t>"ma1" wird als ein Token verarbeitet; "[</a:t>
            </a:r>
            <a:r>
              <a:rPr lang="de-DE" sz="1200" b="0" i="0" kern="1200" dirty="0" err="1">
                <a:solidFill>
                  <a:schemeClr val="tx1"/>
                </a:solidFill>
                <a:effectLst/>
                <a:latin typeface="+mn-lt"/>
                <a:ea typeface="+mn-ea"/>
                <a:cs typeface="+mn-cs"/>
              </a:rPr>
              <a:t>ma</a:t>
            </a:r>
            <a:r>
              <a:rPr lang="de-DE" sz="1200" b="0" i="0" kern="1200" dirty="0">
                <a:solidFill>
                  <a:schemeClr val="tx1"/>
                </a:solidFill>
                <a:effectLst/>
                <a:latin typeface="+mn-lt"/>
                <a:ea typeface="+mn-ea"/>
                <a:cs typeface="+mn-cs"/>
              </a:rPr>
              <a:t>˥]" wird in </a:t>
            </a:r>
            <a:r>
              <a:rPr lang="de-DE" sz="1200" b="0" i="0" kern="1200" dirty="0" err="1">
                <a:solidFill>
                  <a:schemeClr val="tx1"/>
                </a:solidFill>
                <a:effectLst/>
                <a:latin typeface="+mn-lt"/>
                <a:ea typeface="+mn-ea"/>
                <a:cs typeface="+mn-cs"/>
              </a:rPr>
              <a:t>Subword</a:t>
            </a:r>
            <a:r>
              <a:rPr lang="de-DE" sz="1200" b="0" i="0" kern="1200" dirty="0">
                <a:solidFill>
                  <a:schemeClr val="tx1"/>
                </a:solidFill>
                <a:effectLst/>
                <a:latin typeface="+mn-lt"/>
                <a:ea typeface="+mn-ea"/>
                <a:cs typeface="+mn-cs"/>
              </a:rPr>
              <a:t>-Tokens zerhackt</a:t>
            </a:r>
          </a:p>
          <a:p>
            <a:pPr marL="171450" indent="-171450">
              <a:buFont typeface="Arial" panose="020B0604020202020204" pitchFamily="34" charset="0"/>
              <a:buChar char="•"/>
            </a:pPr>
            <a:r>
              <a:rPr lang="de-DE" sz="1200" b="0" i="0" kern="1200" dirty="0">
                <a:solidFill>
                  <a:schemeClr val="tx1"/>
                </a:solidFill>
                <a:effectLst/>
                <a:latin typeface="+mn-lt"/>
                <a:ea typeface="+mn-ea"/>
                <a:cs typeface="+mn-cs"/>
              </a:rPr>
              <a:t>Format C (ohne Töne) dient als Baseline: Wenn das Modell "</a:t>
            </a:r>
            <a:r>
              <a:rPr lang="de-DE" sz="1200" b="0" i="0" kern="1200" dirty="0" err="1">
                <a:solidFill>
                  <a:schemeClr val="tx1"/>
                </a:solidFill>
                <a:effectLst/>
                <a:latin typeface="+mn-lt"/>
                <a:ea typeface="+mn-ea"/>
                <a:cs typeface="+mn-cs"/>
              </a:rPr>
              <a:t>ma</a:t>
            </a:r>
            <a:r>
              <a:rPr lang="de-DE" sz="1200" b="0" i="0" kern="1200" dirty="0">
                <a:solidFill>
                  <a:schemeClr val="tx1"/>
                </a:solidFill>
                <a:effectLst/>
                <a:latin typeface="+mn-lt"/>
                <a:ea typeface="+mn-ea"/>
                <a:cs typeface="+mn-cs"/>
              </a:rPr>
              <a:t>" ohne Ton korrekt transkribiert, wissen wir, dass Silbenerkennung funktioniert — Tonfehler sind dann separat messbar</a:t>
            </a:r>
          </a:p>
          <a:p>
            <a:pPr marL="171450" indent="-171450">
              <a:buFont typeface="Arial" panose="020B0604020202020204" pitchFamily="34" charset="0"/>
              <a:buChar char="•"/>
            </a:pPr>
            <a:r>
              <a:rPr lang="de-DE" sz="1200" b="0" i="0" kern="1200" dirty="0">
                <a:solidFill>
                  <a:schemeClr val="tx1"/>
                </a:solidFill>
                <a:effectLst/>
                <a:latin typeface="+mn-lt"/>
                <a:ea typeface="+mn-ea"/>
                <a:cs typeface="+mn-cs"/>
              </a:rPr>
              <a:t>Format F (Hybrid) testet, ob die Trennung von Silbe und Ton die Genauigkeit verbessert</a:t>
            </a:r>
          </a:p>
          <a:p>
            <a:pPr marL="171450" indent="-171450">
              <a:buFont typeface="Arial" panose="020B0604020202020204" pitchFamily="34" charset="0"/>
              <a:buChar char="•"/>
            </a:pPr>
            <a:r>
              <a:rPr lang="de-DE" sz="1200" b="0" i="0" kern="1200" dirty="0">
                <a:solidFill>
                  <a:schemeClr val="tx1"/>
                </a:solidFill>
                <a:effectLst/>
                <a:latin typeface="+mn-lt"/>
                <a:ea typeface="+mn-ea"/>
                <a:cs typeface="+mn-cs"/>
              </a:rPr>
              <a:t>Dieses Pilot-Experiment liefert ein eigenständiges methodologisches Ergebnis für die Thesis</a:t>
            </a:r>
          </a:p>
          <a:p>
            <a:pPr marL="171450" indent="-171450">
              <a:buFont typeface="Arial" panose="020B0604020202020204" pitchFamily="34" charset="0"/>
              <a:buChar char="•"/>
            </a:pPr>
            <a:br>
              <a:rPr lang="de-DE" dirty="0"/>
            </a:br>
            <a:endParaRPr lang="de-DE" dirty="0"/>
          </a:p>
        </p:txBody>
      </p:sp>
      <p:sp>
        <p:nvSpPr>
          <p:cNvPr id="4" name="Slide Number Placeholder 3"/>
          <p:cNvSpPr>
            <a:spLocks noGrp="1"/>
          </p:cNvSpPr>
          <p:nvPr>
            <p:ph type="sldNum" sz="quarter" idx="5"/>
          </p:nvPr>
        </p:nvSpPr>
        <p:spPr/>
        <p:txBody>
          <a:bodyPr/>
          <a:lstStyle/>
          <a:p>
            <a:fld id="{35C0B671-25EF-47C3-BD31-46E7FB9E6220}" type="slidenum">
              <a:rPr lang="de-DE" smtClean="0"/>
              <a:t>78</a:t>
            </a:fld>
            <a:endParaRPr lang="de-DE"/>
          </a:p>
        </p:txBody>
      </p:sp>
    </p:spTree>
    <p:extLst>
      <p:ext uri="{BB962C8B-B14F-4D97-AF65-F5344CB8AC3E}">
        <p14:creationId xmlns:p14="http://schemas.microsoft.com/office/powerpoint/2010/main" val="281510515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de-DE" sz="1200" b="0" i="0" kern="1200" dirty="0">
                <a:solidFill>
                  <a:schemeClr val="tx1"/>
                </a:solidFill>
                <a:effectLst/>
                <a:latin typeface="+mn-lt"/>
                <a:ea typeface="+mn-ea"/>
                <a:cs typeface="+mn-cs"/>
              </a:rPr>
              <a:t>Die stratifizierte Auswahl stellt sicher, dass schwierige Silben (Retroflexe, Diphthongs) repräsentiert sind — das sind die Silben, bei denen Tonfehler am häufigsten auftreten</a:t>
            </a:r>
          </a:p>
          <a:p>
            <a:pPr marL="171450" indent="-171450">
              <a:buFont typeface="Arial" panose="020B0604020202020204" pitchFamily="34" charset="0"/>
              <a:buChar char="•"/>
            </a:pPr>
            <a:r>
              <a:rPr lang="de-DE" sz="1200" b="0" i="0" kern="1200" dirty="0">
                <a:solidFill>
                  <a:schemeClr val="tx1"/>
                </a:solidFill>
                <a:effectLst/>
                <a:latin typeface="+mn-lt"/>
                <a:ea typeface="+mn-ea"/>
                <a:cs typeface="+mn-cs"/>
              </a:rPr>
              <a:t>7.200 API-Calls klingen viel, sind aber bei den Preisen der günstigsten Modelle machbar (&lt;$10)</a:t>
            </a:r>
          </a:p>
          <a:p>
            <a:pPr marL="171450" indent="-171450">
              <a:buFont typeface="Arial" panose="020B0604020202020204" pitchFamily="34" charset="0"/>
              <a:buChar char="•"/>
            </a:pPr>
            <a:r>
              <a:rPr lang="de-DE" sz="1200" b="0" i="0" kern="1200" dirty="0">
                <a:solidFill>
                  <a:schemeClr val="tx1"/>
                </a:solidFill>
                <a:effectLst/>
                <a:latin typeface="+mn-lt"/>
                <a:ea typeface="+mn-ea"/>
                <a:cs typeface="+mn-cs"/>
              </a:rPr>
              <a:t>Die Tone </a:t>
            </a:r>
            <a:r>
              <a:rPr lang="de-DE" sz="1200" b="0" i="0" kern="1200" dirty="0" err="1">
                <a:solidFill>
                  <a:schemeClr val="tx1"/>
                </a:solidFill>
                <a:effectLst/>
                <a:latin typeface="+mn-lt"/>
                <a:ea typeface="+mn-ea"/>
                <a:cs typeface="+mn-cs"/>
              </a:rPr>
              <a:t>Confusion</a:t>
            </a:r>
            <a:r>
              <a:rPr lang="de-DE" sz="1200" b="0" i="0" kern="1200" dirty="0">
                <a:solidFill>
                  <a:schemeClr val="tx1"/>
                </a:solidFill>
                <a:effectLst/>
                <a:latin typeface="+mn-lt"/>
                <a:ea typeface="+mn-ea"/>
                <a:cs typeface="+mn-cs"/>
              </a:rPr>
              <a:t> Matrix ist besonders wichtig: Wenn alle Modelle systematisch T2↔T3 verwechseln, deutet das auf ein fundamentales akustisches Problem hin (beide steigen am Ende)</a:t>
            </a:r>
          </a:p>
          <a:p>
            <a:pPr marL="171450" indent="-171450">
              <a:buFont typeface="Arial" panose="020B0604020202020204" pitchFamily="34" charset="0"/>
              <a:buChar char="•"/>
            </a:pPr>
            <a:r>
              <a:rPr lang="de-DE" sz="1200" b="0" i="0" kern="1200" dirty="0">
                <a:solidFill>
                  <a:schemeClr val="tx1"/>
                </a:solidFill>
                <a:effectLst/>
                <a:latin typeface="+mn-lt"/>
                <a:ea typeface="+mn-ea"/>
                <a:cs typeface="+mn-cs"/>
              </a:rPr>
              <a:t>PER (Phone Error Rate) ist die feinste Metrik: Sie erfasst, ob z.B. "</a:t>
            </a:r>
            <a:r>
              <a:rPr lang="de-DE" sz="1200" b="0" i="0" kern="1200" dirty="0" err="1">
                <a:solidFill>
                  <a:schemeClr val="tx1"/>
                </a:solidFill>
                <a:effectLst/>
                <a:latin typeface="+mn-lt"/>
                <a:ea typeface="+mn-ea"/>
                <a:cs typeface="+mn-cs"/>
              </a:rPr>
              <a:t>zh</a:t>
            </a:r>
            <a:r>
              <a:rPr lang="de-DE" sz="1200" b="0" i="0" kern="1200" dirty="0">
                <a:solidFill>
                  <a:schemeClr val="tx1"/>
                </a:solidFill>
                <a:effectLst/>
                <a:latin typeface="+mn-lt"/>
                <a:ea typeface="+mn-ea"/>
                <a:cs typeface="+mn-cs"/>
              </a:rPr>
              <a:t>" als "z" transkribiert wird (Retroflex-Fehler)</a:t>
            </a:r>
          </a:p>
          <a:p>
            <a:pPr marL="171450" indent="-171450">
              <a:buFont typeface="Arial" panose="020B0604020202020204" pitchFamily="34" charset="0"/>
              <a:buChar char="•"/>
            </a:pPr>
            <a:r>
              <a:rPr lang="de-DE" sz="1200" b="0" i="0" kern="1200" dirty="0">
                <a:solidFill>
                  <a:schemeClr val="tx1"/>
                </a:solidFill>
                <a:effectLst/>
                <a:latin typeface="+mn-lt"/>
                <a:ea typeface="+mn-ea"/>
                <a:cs typeface="+mn-cs"/>
              </a:rPr>
              <a:t>Falls </a:t>
            </a:r>
            <a:r>
              <a:rPr lang="de-DE" sz="1200" b="0" i="0" kern="1200" dirty="0" err="1">
                <a:solidFill>
                  <a:schemeClr val="tx1"/>
                </a:solidFill>
                <a:effectLst/>
                <a:latin typeface="+mn-lt"/>
                <a:ea typeface="+mn-ea"/>
                <a:cs typeface="+mn-cs"/>
              </a:rPr>
              <a:t>Pinyin+Tonnummern</a:t>
            </a:r>
            <a:r>
              <a:rPr lang="de-DE" sz="1200" b="0" i="0" kern="1200" dirty="0">
                <a:solidFill>
                  <a:schemeClr val="tx1"/>
                </a:solidFill>
                <a:effectLst/>
                <a:latin typeface="+mn-lt"/>
                <a:ea typeface="+mn-ea"/>
                <a:cs typeface="+mn-cs"/>
              </a:rPr>
              <a:t> klar gewinnt → Bestätigung unserer Wahl für das Hauptexperiment</a:t>
            </a:r>
          </a:p>
          <a:p>
            <a:pPr marL="171450" indent="-171450">
              <a:buFont typeface="Arial" panose="020B0604020202020204" pitchFamily="34" charset="0"/>
              <a:buChar char="•"/>
            </a:pPr>
            <a:r>
              <a:rPr lang="de-DE" sz="1200" b="0" i="0" kern="1200" dirty="0">
                <a:solidFill>
                  <a:schemeClr val="tx1"/>
                </a:solidFill>
                <a:effectLst/>
                <a:latin typeface="+mn-lt"/>
                <a:ea typeface="+mn-ea"/>
                <a:cs typeface="+mn-cs"/>
              </a:rPr>
              <a:t>Falls IPA besser → Chirkova-Ergebnis bestätigt auch für LLMs → IPA für Hauptexperiment erwägen</a:t>
            </a:r>
          </a:p>
          <a:p>
            <a:pPr marL="171450" indent="-171450">
              <a:buFont typeface="Arial" panose="020B0604020202020204" pitchFamily="34" charset="0"/>
              <a:buChar char="•"/>
            </a:pPr>
            <a:r>
              <a:rPr lang="de-DE" sz="1200" b="0" i="0" kern="1200" dirty="0">
                <a:solidFill>
                  <a:schemeClr val="tx1"/>
                </a:solidFill>
                <a:effectLst/>
                <a:latin typeface="+mn-lt"/>
                <a:ea typeface="+mn-ea"/>
                <a:cs typeface="+mn-cs"/>
              </a:rPr>
              <a:t>Falls kein Unterschied → Einfachstes Format (</a:t>
            </a:r>
            <a:r>
              <a:rPr lang="de-DE" sz="1200" b="0" i="0" kern="1200" dirty="0" err="1">
                <a:solidFill>
                  <a:schemeClr val="tx1"/>
                </a:solidFill>
                <a:effectLst/>
                <a:latin typeface="+mn-lt"/>
                <a:ea typeface="+mn-ea"/>
                <a:cs typeface="+mn-cs"/>
              </a:rPr>
              <a:t>Pinyin+Ton</a:t>
            </a:r>
            <a:r>
              <a:rPr lang="de-DE" sz="1200" b="0" i="0" kern="1200" dirty="0">
                <a:solidFill>
                  <a:schemeClr val="tx1"/>
                </a:solidFill>
                <a:effectLst/>
                <a:latin typeface="+mn-lt"/>
                <a:ea typeface="+mn-ea"/>
                <a:cs typeface="+mn-cs"/>
              </a:rPr>
              <a:t>#) wählen → methodologisch sauber</a:t>
            </a:r>
          </a:p>
          <a:p>
            <a:pPr marL="171450" indent="-171450">
              <a:buFont typeface="Arial" panose="020B0604020202020204" pitchFamily="34" charset="0"/>
              <a:buChar char="•"/>
            </a:pPr>
            <a:endParaRPr lang="de-DE" dirty="0"/>
          </a:p>
        </p:txBody>
      </p:sp>
      <p:sp>
        <p:nvSpPr>
          <p:cNvPr id="4" name="Slide Number Placeholder 3"/>
          <p:cNvSpPr>
            <a:spLocks noGrp="1"/>
          </p:cNvSpPr>
          <p:nvPr>
            <p:ph type="sldNum" sz="quarter" idx="5"/>
          </p:nvPr>
        </p:nvSpPr>
        <p:spPr/>
        <p:txBody>
          <a:bodyPr/>
          <a:lstStyle/>
          <a:p>
            <a:fld id="{35C0B671-25EF-47C3-BD31-46E7FB9E6220}" type="slidenum">
              <a:rPr lang="de-DE" smtClean="0"/>
              <a:t>79</a:t>
            </a:fld>
            <a:endParaRPr lang="de-DE"/>
          </a:p>
        </p:txBody>
      </p:sp>
    </p:spTree>
    <p:extLst>
      <p:ext uri="{BB962C8B-B14F-4D97-AF65-F5344CB8AC3E}">
        <p14:creationId xmlns:p14="http://schemas.microsoft.com/office/powerpoint/2010/main" val="297031224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de-DE" sz="1200" b="0" i="0" kern="1200" dirty="0">
                <a:solidFill>
                  <a:schemeClr val="tx1"/>
                </a:solidFill>
                <a:effectLst/>
                <a:latin typeface="+mn-lt"/>
                <a:ea typeface="+mn-ea"/>
                <a:cs typeface="+mn-cs"/>
              </a:rPr>
              <a:t>Das Pilot-Experiment stärkt die Methodologie erheblich: Statt "wir haben </a:t>
            </a:r>
            <a:r>
              <a:rPr lang="de-DE" sz="1200" b="0" i="0" kern="1200" dirty="0" err="1">
                <a:solidFill>
                  <a:schemeClr val="tx1"/>
                </a:solidFill>
                <a:effectLst/>
                <a:latin typeface="+mn-lt"/>
                <a:ea typeface="+mn-ea"/>
                <a:cs typeface="+mn-cs"/>
              </a:rPr>
              <a:t>Pinyin+Ton</a:t>
            </a:r>
            <a:r>
              <a:rPr lang="de-DE" sz="1200" b="0" i="0" kern="1200" dirty="0">
                <a:solidFill>
                  <a:schemeClr val="tx1"/>
                </a:solidFill>
                <a:effectLst/>
                <a:latin typeface="+mn-lt"/>
                <a:ea typeface="+mn-ea"/>
                <a:cs typeface="+mn-cs"/>
              </a:rPr>
              <a:t># gewählt, weil es Standard ist" können wir sagen "wir haben empirisch getestet, welches Format am besten funktioniert"</a:t>
            </a:r>
          </a:p>
          <a:p>
            <a:pPr marL="171450" indent="-171450">
              <a:buFont typeface="Arial" panose="020B0604020202020204" pitchFamily="34" charset="0"/>
              <a:buChar char="•"/>
            </a:pPr>
            <a:r>
              <a:rPr lang="de-DE" sz="1200" b="0" i="0" kern="1200" dirty="0">
                <a:solidFill>
                  <a:schemeClr val="tx1"/>
                </a:solidFill>
                <a:effectLst/>
                <a:latin typeface="+mn-lt"/>
                <a:ea typeface="+mn-ea"/>
                <a:cs typeface="+mn-cs"/>
              </a:rPr>
              <a:t>Der interessanteste Fall wäre eine Chirkova-Umkehr (Pinyin &gt; IPA bei LLMs): Das wäre ein eigenständiger Forschungsbeitrag und zeigt, dass ASR-Ergebnisse nicht 1:1 auf LLMs übertragbar sind</a:t>
            </a:r>
          </a:p>
          <a:p>
            <a:pPr marL="171450" indent="-171450">
              <a:buFont typeface="Arial" panose="020B0604020202020204" pitchFamily="34" charset="0"/>
              <a:buChar char="•"/>
            </a:pPr>
            <a:r>
              <a:rPr lang="de-DE" sz="1200" b="0" i="0" kern="1200" dirty="0">
                <a:solidFill>
                  <a:schemeClr val="tx1"/>
                </a:solidFill>
                <a:effectLst/>
                <a:latin typeface="+mn-lt"/>
                <a:ea typeface="+mn-ea"/>
                <a:cs typeface="+mn-cs"/>
              </a:rPr>
              <a:t>Selbst wenn alle Formate gleich gut abschneiden, ist das ein Ergebnis: "Format spielt keine Rolle → einfachstes Format wählen" ist eine valide methodologische Entscheidung</a:t>
            </a:r>
          </a:p>
          <a:p>
            <a:pPr marL="171450" indent="-171450">
              <a:buFont typeface="Arial" panose="020B0604020202020204" pitchFamily="34" charset="0"/>
              <a:buChar char="•"/>
            </a:pPr>
            <a:r>
              <a:rPr lang="de-DE" sz="1200" b="0" i="0" kern="1200" dirty="0">
                <a:solidFill>
                  <a:schemeClr val="tx1"/>
                </a:solidFill>
                <a:effectLst/>
                <a:latin typeface="+mn-lt"/>
                <a:ea typeface="+mn-ea"/>
                <a:cs typeface="+mn-cs"/>
              </a:rPr>
              <a:t>Falls alle Formate schlecht sind (&lt;50% Tone </a:t>
            </a:r>
            <a:r>
              <a:rPr lang="de-DE" sz="1200" b="0" i="0" kern="1200" dirty="0" err="1">
                <a:solidFill>
                  <a:schemeClr val="tx1"/>
                </a:solidFill>
                <a:effectLst/>
                <a:latin typeface="+mn-lt"/>
                <a:ea typeface="+mn-ea"/>
                <a:cs typeface="+mn-cs"/>
              </a:rPr>
              <a:t>Accuracy</a:t>
            </a:r>
            <a:r>
              <a:rPr lang="de-DE" sz="1200" b="0" i="0" kern="1200" dirty="0">
                <a:solidFill>
                  <a:schemeClr val="tx1"/>
                </a:solidFill>
                <a:effectLst/>
                <a:latin typeface="+mn-lt"/>
                <a:ea typeface="+mn-ea"/>
                <a:cs typeface="+mn-cs"/>
              </a:rPr>
              <a:t>): Das wäre das radikalste Ergebnis und würde die gesamte Forschungsfrage verschieben — von "welches Format" zu "können LLMs Töne überhaupt?"</a:t>
            </a:r>
          </a:p>
          <a:p>
            <a:pPr marL="171450" indent="-171450">
              <a:buFont typeface="Arial" panose="020B0604020202020204" pitchFamily="34" charset="0"/>
              <a:buChar char="•"/>
            </a:pPr>
            <a:r>
              <a:rPr lang="de-DE" sz="1200" b="0" i="0" kern="1200" dirty="0">
                <a:solidFill>
                  <a:schemeClr val="tx1"/>
                </a:solidFill>
                <a:effectLst/>
                <a:latin typeface="+mn-lt"/>
                <a:ea typeface="+mn-ea"/>
                <a:cs typeface="+mn-cs"/>
              </a:rPr>
              <a:t>Tim fragen: Soll der Pilot als eigenes Sub-Experiment in die Thesis oder nur als Methodologie-Entscheidung?</a:t>
            </a:r>
          </a:p>
          <a:p>
            <a:pPr marL="171450" indent="-171450">
              <a:buFont typeface="Arial" panose="020B0604020202020204" pitchFamily="34" charset="0"/>
              <a:buChar char="•"/>
            </a:pPr>
            <a:endParaRPr lang="de-DE" dirty="0"/>
          </a:p>
        </p:txBody>
      </p:sp>
      <p:sp>
        <p:nvSpPr>
          <p:cNvPr id="4" name="Slide Number Placeholder 3"/>
          <p:cNvSpPr>
            <a:spLocks noGrp="1"/>
          </p:cNvSpPr>
          <p:nvPr>
            <p:ph type="sldNum" sz="quarter" idx="5"/>
          </p:nvPr>
        </p:nvSpPr>
        <p:spPr/>
        <p:txBody>
          <a:bodyPr/>
          <a:lstStyle/>
          <a:p>
            <a:fld id="{35C0B671-25EF-47C3-BD31-46E7FB9E6220}" type="slidenum">
              <a:rPr lang="de-DE" smtClean="0"/>
              <a:t>80</a:t>
            </a:fld>
            <a:endParaRPr lang="de-DE"/>
          </a:p>
        </p:txBody>
      </p:sp>
    </p:spTree>
    <p:extLst>
      <p:ext uri="{BB962C8B-B14F-4D97-AF65-F5344CB8AC3E}">
        <p14:creationId xmlns:p14="http://schemas.microsoft.com/office/powerpoint/2010/main" val="2884689178"/>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sz="1200" b="0" i="0" kern="1200" dirty="0">
                <a:solidFill>
                  <a:schemeClr val="tx1"/>
                </a:solidFill>
                <a:effectLst/>
                <a:latin typeface="+mn-lt"/>
                <a:ea typeface="+mn-ea"/>
                <a:cs typeface="+mn-cs"/>
              </a:rPr>
              <a:t>Wir haben fünf Forschungsfragen. Der Kern sind RQ2 und RQ3 — können multimodale LLMs Mandarin-Töne hören, und wie gut funktioniert das bei L2-Lernern? Der methodische Beitrag liegt in den drei Bewertungsachsen: TER misst die </a:t>
            </a:r>
            <a:r>
              <a:rPr lang="de-DE" sz="1200" b="0" i="0" kern="1200" dirty="0" err="1">
                <a:solidFill>
                  <a:schemeClr val="tx1"/>
                </a:solidFill>
                <a:effectLst/>
                <a:latin typeface="+mn-lt"/>
                <a:ea typeface="+mn-ea"/>
                <a:cs typeface="+mn-cs"/>
              </a:rPr>
              <a:t>Tonebene</a:t>
            </a:r>
            <a:r>
              <a:rPr lang="de-DE" sz="1200" b="0" i="0" kern="1200" dirty="0">
                <a:solidFill>
                  <a:schemeClr val="tx1"/>
                </a:solidFill>
                <a:effectLst/>
                <a:latin typeface="+mn-lt"/>
                <a:ea typeface="+mn-ea"/>
                <a:cs typeface="+mn-cs"/>
              </a:rPr>
              <a:t> separat — das hat noch keine vergleichbare Studie gemacht. PFER gewichtet Segmentfehler artikulatorisch über </a:t>
            </a:r>
            <a:r>
              <a:rPr lang="de-DE" sz="1200" b="0" i="0" kern="1200" dirty="0" err="1">
                <a:solidFill>
                  <a:schemeClr val="tx1"/>
                </a:solidFill>
                <a:effectLst/>
                <a:latin typeface="+mn-lt"/>
                <a:ea typeface="+mn-ea"/>
                <a:cs typeface="+mn-cs"/>
              </a:rPr>
              <a:t>PanPhon</a:t>
            </a:r>
            <a:r>
              <a:rPr lang="de-DE" sz="1200" b="0" i="0" kern="1200" dirty="0">
                <a:solidFill>
                  <a:schemeClr val="tx1"/>
                </a:solidFill>
                <a:effectLst/>
                <a:latin typeface="+mn-lt"/>
                <a:ea typeface="+mn-ea"/>
                <a:cs typeface="+mn-cs"/>
              </a:rPr>
              <a:t> mit 21 Features, statt binäres richtig/falsch. CER rechnen wir nur für den Literaturanschluss, weil alle bisherigen Papers nur CER berichten.</a:t>
            </a:r>
            <a:endParaRPr lang="de-DE" dirty="0"/>
          </a:p>
        </p:txBody>
      </p:sp>
      <p:sp>
        <p:nvSpPr>
          <p:cNvPr id="4" name="Slide Number Placeholder 3"/>
          <p:cNvSpPr>
            <a:spLocks noGrp="1"/>
          </p:cNvSpPr>
          <p:nvPr>
            <p:ph type="sldNum" sz="quarter" idx="5"/>
          </p:nvPr>
        </p:nvSpPr>
        <p:spPr/>
        <p:txBody>
          <a:bodyPr/>
          <a:lstStyle/>
          <a:p>
            <a:fld id="{35C0B671-25EF-47C3-BD31-46E7FB9E6220}" type="slidenum">
              <a:rPr lang="de-DE" smtClean="0"/>
              <a:t>83</a:t>
            </a:fld>
            <a:endParaRPr lang="de-DE"/>
          </a:p>
        </p:txBody>
      </p:sp>
    </p:spTree>
    <p:extLst>
      <p:ext uri="{BB962C8B-B14F-4D97-AF65-F5344CB8AC3E}">
        <p14:creationId xmlns:p14="http://schemas.microsoft.com/office/powerpoint/2010/main" val="3115168743"/>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sz="1200" b="0" i="0" kern="1200" dirty="0">
                <a:solidFill>
                  <a:schemeClr val="tx1"/>
                </a:solidFill>
                <a:effectLst/>
                <a:latin typeface="+mn-lt"/>
                <a:ea typeface="+mn-ea"/>
                <a:cs typeface="+mn-cs"/>
              </a:rPr>
              <a:t>Fünf Pflicht-Experimente. E1 testet, ob Modelle überhaupt das Pinyin-System beherrschen — rein linguistisch, ohne Audio. E2 ist der Kern: Muttersprachler-Silben aus Tone Perfect, isoliert, kontrolliert. E3 verschiebt den Fokus auf L2-Lerner — hier ist die Forschungslücke am größten, kein LLM wurde je darauf getestet. E4 vergleicht drei Ansätze auf denselben Daten. E5 ist die linguistische Analyse: welche Töne, welche Phoneme werden verwechselt? Als Kür haben wir den Format-Pilot — welches Transkriptionsformat funktioniert am besten — und einen eigenen L2-Korpus mit deutschen Lernern, den es so noch nicht gibt.</a:t>
            </a:r>
            <a:endParaRPr lang="de-DE" dirty="0"/>
          </a:p>
        </p:txBody>
      </p:sp>
      <p:sp>
        <p:nvSpPr>
          <p:cNvPr id="4" name="Slide Number Placeholder 3"/>
          <p:cNvSpPr>
            <a:spLocks noGrp="1"/>
          </p:cNvSpPr>
          <p:nvPr>
            <p:ph type="sldNum" sz="quarter" idx="5"/>
          </p:nvPr>
        </p:nvSpPr>
        <p:spPr/>
        <p:txBody>
          <a:bodyPr/>
          <a:lstStyle/>
          <a:p>
            <a:fld id="{35C0B671-25EF-47C3-BD31-46E7FB9E6220}" type="slidenum">
              <a:rPr lang="de-DE" smtClean="0"/>
              <a:t>84</a:t>
            </a:fld>
            <a:endParaRPr lang="de-DE"/>
          </a:p>
        </p:txBody>
      </p:sp>
    </p:spTree>
    <p:extLst>
      <p:ext uri="{BB962C8B-B14F-4D97-AF65-F5344CB8AC3E}">
        <p14:creationId xmlns:p14="http://schemas.microsoft.com/office/powerpoint/2010/main" val="2561929519"/>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sz="1200" b="0" i="0" kern="1200" dirty="0">
                <a:solidFill>
                  <a:schemeClr val="tx1"/>
                </a:solidFill>
                <a:effectLst/>
                <a:latin typeface="+mn-lt"/>
                <a:ea typeface="+mn-ea"/>
                <a:cs typeface="+mn-cs"/>
              </a:rPr>
              <a:t>14 Modelle, abgedeckt über drei Märkte — USA, China, Europa — und drei Systemtypen. Gruppe 1 ist der Kern: sieben multimodale LLMs, die Audio direkt in </a:t>
            </a:r>
            <a:r>
              <a:rPr lang="de-DE" sz="1200" b="0" i="0" kern="1200" dirty="0" err="1">
                <a:solidFill>
                  <a:schemeClr val="tx1"/>
                </a:solidFill>
                <a:effectLst/>
                <a:latin typeface="+mn-lt"/>
                <a:ea typeface="+mn-ea"/>
                <a:cs typeface="+mn-cs"/>
              </a:rPr>
              <a:t>Pinyin+Ton</a:t>
            </a:r>
            <a:r>
              <a:rPr lang="de-DE" sz="1200" b="0" i="0" kern="1200" dirty="0">
                <a:solidFill>
                  <a:schemeClr val="tx1"/>
                </a:solidFill>
                <a:effectLst/>
                <a:latin typeface="+mn-lt"/>
                <a:ea typeface="+mn-ea"/>
                <a:cs typeface="+mn-cs"/>
              </a:rPr>
              <a:t> umwandeln sollen. Die spannende Frage ist, ob sie Töne hören können. Gruppe 2 sind reine ASR-Systeme — die geben Hanzi aus, dann braucht man g2pW für Pinyin. Das verdeckt aber L2-Tonfehler bei Homophonen, deshalb nur Baseline. Gruppe 3 testet nur RQ1: ob Text-</a:t>
            </a:r>
            <a:r>
              <a:rPr lang="de-DE" sz="1200" b="0" i="0" kern="1200" dirty="0" err="1">
                <a:solidFill>
                  <a:schemeClr val="tx1"/>
                </a:solidFill>
                <a:effectLst/>
                <a:latin typeface="+mn-lt"/>
                <a:ea typeface="+mn-ea"/>
                <a:cs typeface="+mn-cs"/>
              </a:rPr>
              <a:t>only</a:t>
            </a:r>
            <a:r>
              <a:rPr lang="de-DE" sz="1200" b="0" i="0" kern="1200" dirty="0">
                <a:solidFill>
                  <a:schemeClr val="tx1"/>
                </a:solidFill>
                <a:effectLst/>
                <a:latin typeface="+mn-lt"/>
                <a:ea typeface="+mn-ea"/>
                <a:cs typeface="+mn-cs"/>
              </a:rPr>
              <a:t>-Modelle Hanzi in Pinyin umwandeln können. Wichtig: Nur GPT-5.5 bekommt ein Sub-Sample wegen der hohen Kosten — alle anderen laufen auf dem vollen Korpus.</a:t>
            </a:r>
            <a:endParaRPr lang="de-DE" dirty="0"/>
          </a:p>
        </p:txBody>
      </p:sp>
      <p:sp>
        <p:nvSpPr>
          <p:cNvPr id="4" name="Slide Number Placeholder 3"/>
          <p:cNvSpPr>
            <a:spLocks noGrp="1"/>
          </p:cNvSpPr>
          <p:nvPr>
            <p:ph type="sldNum" sz="quarter" idx="5"/>
          </p:nvPr>
        </p:nvSpPr>
        <p:spPr/>
        <p:txBody>
          <a:bodyPr/>
          <a:lstStyle/>
          <a:p>
            <a:fld id="{35C0B671-25EF-47C3-BD31-46E7FB9E6220}" type="slidenum">
              <a:rPr lang="de-DE" smtClean="0"/>
              <a:t>85</a:t>
            </a:fld>
            <a:endParaRPr lang="de-DE"/>
          </a:p>
        </p:txBody>
      </p:sp>
    </p:spTree>
    <p:extLst>
      <p:ext uri="{BB962C8B-B14F-4D97-AF65-F5344CB8AC3E}">
        <p14:creationId xmlns:p14="http://schemas.microsoft.com/office/powerpoint/2010/main" val="4234213766"/>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sz="1200" b="0" i="0" kern="1200" dirty="0">
                <a:solidFill>
                  <a:schemeClr val="tx1"/>
                </a:solidFill>
                <a:effectLst/>
                <a:latin typeface="+mn-lt"/>
                <a:ea typeface="+mn-ea"/>
                <a:cs typeface="+mn-cs"/>
              </a:rPr>
              <a:t>Vier Pflicht-Korpora. Tone Perfect ist das Herzstück: 9.840 isolierte Silben, native Sprecher, exakte Tonlabels — klein aber perfekt kontrolliert. Für L2 haben wir LATIC und OMPAL — zusammen rund 4.350 Äußerungen von 50 Lernern. AISHELL-1 nutzen wir nur für CER, um an die Literatur anzuschließen. Warum nicht die großen Korpora wie </a:t>
            </a:r>
            <a:r>
              <a:rPr lang="de-DE" sz="1200" b="0" i="0" kern="1200" dirty="0" err="1">
                <a:solidFill>
                  <a:schemeClr val="tx1"/>
                </a:solidFill>
                <a:effectLst/>
                <a:latin typeface="+mn-lt"/>
                <a:ea typeface="+mn-ea"/>
                <a:cs typeface="+mn-cs"/>
              </a:rPr>
              <a:t>KeSpeech</a:t>
            </a:r>
            <a:r>
              <a:rPr lang="de-DE" sz="1200" b="0" i="0" kern="1200" dirty="0">
                <a:solidFill>
                  <a:schemeClr val="tx1"/>
                </a:solidFill>
                <a:effectLst/>
                <a:latin typeface="+mn-lt"/>
                <a:ea typeface="+mn-ea"/>
                <a:cs typeface="+mn-cs"/>
              </a:rPr>
              <a:t> mit 1.500 Stunden? Weil die keinen Ton-Ground-Truth haben — man kann CER rechnen, aber unsere Kernmetrik TER braucht ein </a:t>
            </a:r>
            <a:r>
              <a:rPr lang="de-DE" sz="1200" b="0" i="0" kern="1200" dirty="0" err="1">
                <a:solidFill>
                  <a:schemeClr val="tx1"/>
                </a:solidFill>
                <a:effectLst/>
                <a:latin typeface="+mn-lt"/>
                <a:ea typeface="+mn-ea"/>
                <a:cs typeface="+mn-cs"/>
              </a:rPr>
              <a:t>Tonlabel</a:t>
            </a:r>
            <a:r>
              <a:rPr lang="de-DE" sz="1200" b="0" i="0" kern="1200" dirty="0">
                <a:solidFill>
                  <a:schemeClr val="tx1"/>
                </a:solidFill>
                <a:effectLst/>
                <a:latin typeface="+mn-lt"/>
                <a:ea typeface="+mn-ea"/>
                <a:cs typeface="+mn-cs"/>
              </a:rPr>
              <a:t> pro Silbe. Und als Kür: ein eigener Korpus mit deutschen Lernern, den es so noch nicht gibt.</a:t>
            </a:r>
            <a:endParaRPr lang="de-DE" dirty="0"/>
          </a:p>
        </p:txBody>
      </p:sp>
      <p:sp>
        <p:nvSpPr>
          <p:cNvPr id="4" name="Slide Number Placeholder 3"/>
          <p:cNvSpPr>
            <a:spLocks noGrp="1"/>
          </p:cNvSpPr>
          <p:nvPr>
            <p:ph type="sldNum" sz="quarter" idx="5"/>
          </p:nvPr>
        </p:nvSpPr>
        <p:spPr/>
        <p:txBody>
          <a:bodyPr/>
          <a:lstStyle/>
          <a:p>
            <a:fld id="{35C0B671-25EF-47C3-BD31-46E7FB9E6220}" type="slidenum">
              <a:rPr lang="de-DE" smtClean="0"/>
              <a:t>86</a:t>
            </a:fld>
            <a:endParaRPr lang="de-DE"/>
          </a:p>
        </p:txBody>
      </p:sp>
    </p:spTree>
    <p:extLst>
      <p:ext uri="{BB962C8B-B14F-4D97-AF65-F5344CB8AC3E}">
        <p14:creationId xmlns:p14="http://schemas.microsoft.com/office/powerpoint/2010/main" val="2774979312"/>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sz="1200" b="0" i="0" kern="1200" dirty="0">
                <a:solidFill>
                  <a:schemeClr val="tx1"/>
                </a:solidFill>
                <a:effectLst/>
                <a:latin typeface="+mn-lt"/>
                <a:ea typeface="+mn-ea"/>
                <a:cs typeface="+mn-cs"/>
              </a:rPr>
              <a:t>Das Budget ist sehr überschaubar. Der Pflicht-Kern kostet realistisch 15 bis 30 Euro — weil wir eine klare Strategie haben: günstige Modelle laufen auf dem vollen Korpus, nur GPT-5.5 bekommt ein Sub-Sample wegen der hohen Token-Kosten. Selbst wenn wir alles ohne Sub-Sampling rechnen, bleiben wir unter 50 Dollar. Die billigsten Modelle kosten Bruchteile eines Cents pro Aufruf. Wichtig: Kein GPU-Server nötig — 11 von 12 Audio-Modellen laufen über APIs. Annotationskosten fallen nur beim eigenen Kür-Korpus an.</a:t>
            </a:r>
            <a:endParaRPr lang="de-DE" dirty="0"/>
          </a:p>
        </p:txBody>
      </p:sp>
      <p:sp>
        <p:nvSpPr>
          <p:cNvPr id="4" name="Slide Number Placeholder 3"/>
          <p:cNvSpPr>
            <a:spLocks noGrp="1"/>
          </p:cNvSpPr>
          <p:nvPr>
            <p:ph type="sldNum" sz="quarter" idx="5"/>
          </p:nvPr>
        </p:nvSpPr>
        <p:spPr/>
        <p:txBody>
          <a:bodyPr/>
          <a:lstStyle/>
          <a:p>
            <a:fld id="{35C0B671-25EF-47C3-BD31-46E7FB9E6220}" type="slidenum">
              <a:rPr lang="de-DE" smtClean="0"/>
              <a:t>87</a:t>
            </a:fld>
            <a:endParaRPr lang="de-DE"/>
          </a:p>
        </p:txBody>
      </p:sp>
    </p:spTree>
    <p:extLst>
      <p:ext uri="{BB962C8B-B14F-4D97-AF65-F5344CB8AC3E}">
        <p14:creationId xmlns:p14="http://schemas.microsoft.com/office/powerpoint/2010/main" val="53728373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sz="1200" b="0" i="0" kern="1200" dirty="0">
                <a:solidFill>
                  <a:schemeClr val="tx1"/>
                </a:solidFill>
                <a:effectLst/>
                <a:latin typeface="+mn-lt"/>
                <a:ea typeface="+mn-ea"/>
                <a:cs typeface="+mn-cs"/>
              </a:rPr>
              <a:t>Die Phasenstrategie ist: günstig anfangen, teuer nur bei Bedarf. P0 ist Setup — API-Zugänge testen, vor allem die chinesischen Anbieter von Deutschland aus. P1 ist ein Mini-Pilot: 600 Samples durch die ganze Pipeline, um Bugs im Eval-Code zu finden, bevor wir Geld ausgeben. Ab P2 gehen die billigen Modelle auf den vollen Korpus — das sind nur 7 bis 12 Dollar. P3 sind die mittleren — Gemini, Grok, Kimi. GPT-5.5 kommt erst in P4 und nur auf dem Sub-Sample. Text-</a:t>
            </a:r>
            <a:r>
              <a:rPr lang="de-DE" sz="1200" b="0" i="0" kern="1200" dirty="0" err="1">
                <a:solidFill>
                  <a:schemeClr val="tx1"/>
                </a:solidFill>
                <a:effectLst/>
                <a:latin typeface="+mn-lt"/>
                <a:ea typeface="+mn-ea"/>
                <a:cs typeface="+mn-cs"/>
              </a:rPr>
              <a:t>only</a:t>
            </a:r>
            <a:r>
              <a:rPr lang="de-DE" sz="1200" b="0" i="0" kern="1200" dirty="0">
                <a:solidFill>
                  <a:schemeClr val="tx1"/>
                </a:solidFill>
                <a:effectLst/>
                <a:latin typeface="+mn-lt"/>
                <a:ea typeface="+mn-ea"/>
                <a:cs typeface="+mn-cs"/>
              </a:rPr>
              <a:t> in P5 kostet unter einem Dollar. P6 ist reine Auswertung. Und P7 ist Kür — erst wenn der Pflicht-Kern sauber steht.</a:t>
            </a:r>
            <a:endParaRPr lang="de-DE" dirty="0"/>
          </a:p>
        </p:txBody>
      </p:sp>
      <p:sp>
        <p:nvSpPr>
          <p:cNvPr id="4" name="Slide Number Placeholder 3"/>
          <p:cNvSpPr>
            <a:spLocks noGrp="1"/>
          </p:cNvSpPr>
          <p:nvPr>
            <p:ph type="sldNum" sz="quarter" idx="5"/>
          </p:nvPr>
        </p:nvSpPr>
        <p:spPr/>
        <p:txBody>
          <a:bodyPr/>
          <a:lstStyle/>
          <a:p>
            <a:fld id="{35C0B671-25EF-47C3-BD31-46E7FB9E6220}" type="slidenum">
              <a:rPr lang="de-DE" smtClean="0"/>
              <a:t>88</a:t>
            </a:fld>
            <a:endParaRPr lang="de-DE"/>
          </a:p>
        </p:txBody>
      </p:sp>
    </p:spTree>
    <p:extLst>
      <p:ext uri="{BB962C8B-B14F-4D97-AF65-F5344CB8AC3E}">
        <p14:creationId xmlns:p14="http://schemas.microsoft.com/office/powerpoint/2010/main" val="127355063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sz="1200" b="0" i="0" kern="1200" dirty="0">
                <a:solidFill>
                  <a:schemeClr val="tx1"/>
                </a:solidFill>
                <a:effectLst/>
                <a:latin typeface="+mn-lt"/>
                <a:ea typeface="+mn-ea"/>
                <a:cs typeface="+mn-cs"/>
              </a:rPr>
              <a:t>Klare Trennung: Pflicht ist das, was in zwei bis drei Monaten fertig sein muss — fünf Experimente, alle Phasen bis P6, Kosten unter 30 Euro. Kür kommt nur, wenn der Kern steht. Die Prioritätsreihenfolge: Erstens der eigene L2-Korpus — der hat den höchsten Neuheitswert, weil kein deutscher L2-Mandarin-Korpus existiert. Zweitens der Format-Pilot für unter 10 Dollar. Dann weitere Kontakte wie </a:t>
            </a:r>
            <a:r>
              <a:rPr lang="de-DE" sz="1200" b="0" i="0" kern="1200" dirty="0" err="1">
                <a:solidFill>
                  <a:schemeClr val="tx1"/>
                </a:solidFill>
                <a:effectLst/>
                <a:latin typeface="+mn-lt"/>
                <a:ea typeface="+mn-ea"/>
                <a:cs typeface="+mn-cs"/>
              </a:rPr>
              <a:t>iCALL</a:t>
            </a:r>
            <a:r>
              <a:rPr lang="de-DE" sz="1200" b="0" i="0" kern="1200" dirty="0">
                <a:solidFill>
                  <a:schemeClr val="tx1"/>
                </a:solidFill>
                <a:effectLst/>
                <a:latin typeface="+mn-lt"/>
                <a:ea typeface="+mn-ea"/>
                <a:cs typeface="+mn-cs"/>
              </a:rPr>
              <a:t> für mehr L2-Daten. FireRedASR2S lokal und der volle GPT-5.5-Lauf ganz am Ende.</a:t>
            </a:r>
            <a:endParaRPr lang="de-DE" dirty="0"/>
          </a:p>
        </p:txBody>
      </p:sp>
      <p:sp>
        <p:nvSpPr>
          <p:cNvPr id="4" name="Slide Number Placeholder 3"/>
          <p:cNvSpPr>
            <a:spLocks noGrp="1"/>
          </p:cNvSpPr>
          <p:nvPr>
            <p:ph type="sldNum" sz="quarter" idx="5"/>
          </p:nvPr>
        </p:nvSpPr>
        <p:spPr/>
        <p:txBody>
          <a:bodyPr/>
          <a:lstStyle/>
          <a:p>
            <a:fld id="{35C0B671-25EF-47C3-BD31-46E7FB9E6220}" type="slidenum">
              <a:rPr lang="de-DE" smtClean="0"/>
              <a:t>89</a:t>
            </a:fld>
            <a:endParaRPr lang="de-DE"/>
          </a:p>
        </p:txBody>
      </p:sp>
    </p:spTree>
    <p:extLst>
      <p:ext uri="{BB962C8B-B14F-4D97-AF65-F5344CB8AC3E}">
        <p14:creationId xmlns:p14="http://schemas.microsoft.com/office/powerpoint/2010/main" val="3810054433"/>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sz="1200" b="0" i="0" kern="1200" dirty="0">
                <a:solidFill>
                  <a:schemeClr val="tx1"/>
                </a:solidFill>
                <a:effectLst/>
                <a:latin typeface="+mn-lt"/>
                <a:ea typeface="+mn-ea"/>
                <a:cs typeface="+mn-cs"/>
              </a:rPr>
              <a:t>Falls wir zur Kür kommen: 8 bis 12 deutsche Mandarin-Lerner, Niveau A2 bis B2, ungefähr 80 bis 100 Zielsilben — fokussiert auf die schwierigen: Tonminimalpaare, Retroflexe, Diphthonge. Ergibt 800 bis 2.000 Aufnahmen, vergleichbar mit LATIC. Rekrutierung über das IU-Netzwerk. Aufnahmen standardisiert als WAV, 16 kHz mono. Stimulus-Design so, dass Vergleichbarkeit mit Tone Perfect besteht. Ethik und DSGVO vorher mit Tim klären.</a:t>
            </a:r>
            <a:endParaRPr lang="de-DE" dirty="0"/>
          </a:p>
        </p:txBody>
      </p:sp>
      <p:sp>
        <p:nvSpPr>
          <p:cNvPr id="4" name="Slide Number Placeholder 3"/>
          <p:cNvSpPr>
            <a:spLocks noGrp="1"/>
          </p:cNvSpPr>
          <p:nvPr>
            <p:ph type="sldNum" sz="quarter" idx="5"/>
          </p:nvPr>
        </p:nvSpPr>
        <p:spPr/>
        <p:txBody>
          <a:bodyPr/>
          <a:lstStyle/>
          <a:p>
            <a:fld id="{35C0B671-25EF-47C3-BD31-46E7FB9E6220}" type="slidenum">
              <a:rPr lang="de-DE" smtClean="0"/>
              <a:t>90</a:t>
            </a:fld>
            <a:endParaRPr lang="de-DE"/>
          </a:p>
        </p:txBody>
      </p:sp>
    </p:spTree>
    <p:extLst>
      <p:ext uri="{BB962C8B-B14F-4D97-AF65-F5344CB8AC3E}">
        <p14:creationId xmlns:p14="http://schemas.microsoft.com/office/powerpoint/2010/main" val="34166376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sz="1200" b="0" i="0" kern="1200" dirty="0">
                <a:solidFill>
                  <a:schemeClr val="tx1"/>
                </a:solidFill>
                <a:effectLst/>
                <a:latin typeface="+mn-lt"/>
                <a:ea typeface="+mn-ea"/>
                <a:cs typeface="+mn-cs"/>
              </a:rPr>
              <a:t>Der Annotationsworkflow ist halbautomatisch. Zuerst läuft ein CNN-</a:t>
            </a:r>
            <a:r>
              <a:rPr lang="de-DE" sz="1200" b="0" i="0" kern="1200" dirty="0" err="1">
                <a:solidFill>
                  <a:schemeClr val="tx1"/>
                </a:solidFill>
                <a:effectLst/>
                <a:latin typeface="+mn-lt"/>
                <a:ea typeface="+mn-ea"/>
                <a:cs typeface="+mn-cs"/>
              </a:rPr>
              <a:t>Tonklassifikator</a:t>
            </a:r>
            <a:r>
              <a:rPr lang="de-DE" sz="1200" b="0" i="0" kern="1200" dirty="0">
                <a:solidFill>
                  <a:schemeClr val="tx1"/>
                </a:solidFill>
                <a:effectLst/>
                <a:latin typeface="+mn-lt"/>
                <a:ea typeface="+mn-ea"/>
                <a:cs typeface="+mn-cs"/>
              </a:rPr>
              <a:t> als </a:t>
            </a:r>
            <a:r>
              <a:rPr lang="de-DE" sz="1200" b="0" i="0" kern="1200" dirty="0" err="1">
                <a:solidFill>
                  <a:schemeClr val="tx1"/>
                </a:solidFill>
                <a:effectLst/>
                <a:latin typeface="+mn-lt"/>
                <a:ea typeface="+mn-ea"/>
                <a:cs typeface="+mn-cs"/>
              </a:rPr>
              <a:t>Vorlabel</a:t>
            </a:r>
            <a:r>
              <a:rPr lang="de-DE" sz="1200" b="0" i="0" kern="1200" dirty="0">
                <a:solidFill>
                  <a:schemeClr val="tx1"/>
                </a:solidFill>
                <a:effectLst/>
                <a:latin typeface="+mn-lt"/>
                <a:ea typeface="+mn-ea"/>
                <a:cs typeface="+mn-cs"/>
              </a:rPr>
              <a:t> — der ist für native Sprache bei 99 Prozent, gibt aber für L2 nur einen Vorschlag. Dann annotieren zwei Muttersprachler unabhängig, was sie tatsächlich hören — perzeptiv, nicht kanonisch. Das ist der Schlüssel: Whisper plus g2pW kann nur die Soll-Aussprache liefern, nicht die Realisierung. Wir messen Inter-Rater-Agreement mit </a:t>
            </a:r>
            <a:r>
              <a:rPr lang="de-DE" sz="1200" b="0" i="0" kern="1200" dirty="0" err="1">
                <a:solidFill>
                  <a:schemeClr val="tx1"/>
                </a:solidFill>
                <a:effectLst/>
                <a:latin typeface="+mn-lt"/>
                <a:ea typeface="+mn-ea"/>
                <a:cs typeface="+mn-cs"/>
              </a:rPr>
              <a:t>Cohen's</a:t>
            </a:r>
            <a:r>
              <a:rPr lang="de-DE" sz="1200" b="0" i="0" kern="1200" dirty="0">
                <a:solidFill>
                  <a:schemeClr val="tx1"/>
                </a:solidFill>
                <a:effectLst/>
                <a:latin typeface="+mn-lt"/>
                <a:ea typeface="+mn-ea"/>
                <a:cs typeface="+mn-cs"/>
              </a:rPr>
              <a:t> Kappa, Ziel über 0,85. Bei Konflikten entscheidet ein dritter </a:t>
            </a:r>
            <a:r>
              <a:rPr lang="de-DE" sz="1200" b="0" i="0" kern="1200" dirty="0" err="1">
                <a:solidFill>
                  <a:schemeClr val="tx1"/>
                </a:solidFill>
                <a:effectLst/>
                <a:latin typeface="+mn-lt"/>
                <a:ea typeface="+mn-ea"/>
                <a:cs typeface="+mn-cs"/>
              </a:rPr>
              <a:t>Annotator</a:t>
            </a:r>
            <a:r>
              <a:rPr lang="de-DE" sz="1200" b="0" i="0" kern="1200" dirty="0">
                <a:solidFill>
                  <a:schemeClr val="tx1"/>
                </a:solidFill>
                <a:effectLst/>
                <a:latin typeface="+mn-lt"/>
                <a:ea typeface="+mn-ea"/>
                <a:cs typeface="+mn-cs"/>
              </a:rPr>
              <a:t> oder die Praat-F0-Kontur als objektiver Schiedsrichter. Aufwand: 20 bis 40 Stunden, 150 bis 500 Euro.</a:t>
            </a:r>
            <a:endParaRPr lang="de-DE" dirty="0"/>
          </a:p>
        </p:txBody>
      </p:sp>
      <p:sp>
        <p:nvSpPr>
          <p:cNvPr id="4" name="Slide Number Placeholder 3"/>
          <p:cNvSpPr>
            <a:spLocks noGrp="1"/>
          </p:cNvSpPr>
          <p:nvPr>
            <p:ph type="sldNum" sz="quarter" idx="5"/>
          </p:nvPr>
        </p:nvSpPr>
        <p:spPr/>
        <p:txBody>
          <a:bodyPr/>
          <a:lstStyle/>
          <a:p>
            <a:fld id="{35C0B671-25EF-47C3-BD31-46E7FB9E6220}" type="slidenum">
              <a:rPr lang="de-DE" smtClean="0"/>
              <a:t>91</a:t>
            </a:fld>
            <a:endParaRPr lang="de-DE"/>
          </a:p>
        </p:txBody>
      </p:sp>
    </p:spTree>
    <p:extLst>
      <p:ext uri="{BB962C8B-B14F-4D97-AF65-F5344CB8AC3E}">
        <p14:creationId xmlns:p14="http://schemas.microsoft.com/office/powerpoint/2010/main" val="2000544325"/>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sz="1200" b="0" i="0" kern="1200" dirty="0">
                <a:solidFill>
                  <a:schemeClr val="tx1"/>
                </a:solidFill>
                <a:effectLst/>
                <a:latin typeface="+mn-lt"/>
                <a:ea typeface="+mn-ea"/>
                <a:cs typeface="+mn-cs"/>
              </a:rPr>
              <a:t>Sechs Metriken. </a:t>
            </a:r>
            <a:r>
              <a:rPr lang="de-DE" sz="1200" b="0" i="0" kern="1200" dirty="0" err="1">
                <a:solidFill>
                  <a:schemeClr val="tx1"/>
                </a:solidFill>
                <a:effectLst/>
                <a:latin typeface="+mn-lt"/>
                <a:ea typeface="+mn-ea"/>
                <a:cs typeface="+mn-cs"/>
              </a:rPr>
              <a:t>Syllable</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Accuracy</a:t>
            </a:r>
            <a:r>
              <a:rPr lang="de-DE" sz="1200" b="0" i="0" kern="1200" dirty="0">
                <a:solidFill>
                  <a:schemeClr val="tx1"/>
                </a:solidFill>
                <a:effectLst/>
                <a:latin typeface="+mn-lt"/>
                <a:ea typeface="+mn-ea"/>
                <a:cs typeface="+mn-cs"/>
              </a:rPr>
              <a:t> und Tone </a:t>
            </a:r>
            <a:r>
              <a:rPr lang="de-DE" sz="1200" b="0" i="0" kern="1200" dirty="0" err="1">
                <a:solidFill>
                  <a:schemeClr val="tx1"/>
                </a:solidFill>
                <a:effectLst/>
                <a:latin typeface="+mn-lt"/>
                <a:ea typeface="+mn-ea"/>
                <a:cs typeface="+mn-cs"/>
              </a:rPr>
              <a:t>Accuracy</a:t>
            </a:r>
            <a:r>
              <a:rPr lang="de-DE" sz="1200" b="0" i="0" kern="1200" dirty="0">
                <a:solidFill>
                  <a:schemeClr val="tx1"/>
                </a:solidFill>
                <a:effectLst/>
                <a:latin typeface="+mn-lt"/>
                <a:ea typeface="+mn-ea"/>
                <a:cs typeface="+mn-cs"/>
              </a:rPr>
              <a:t> werden getrennt gemessen — das ist wichtig, weil ein Modell die Silbe richtig haben kann, aber den Ton falsch. </a:t>
            </a:r>
            <a:r>
              <a:rPr lang="de-DE" sz="1200" b="0" i="0" kern="1200" dirty="0" err="1">
                <a:solidFill>
                  <a:schemeClr val="tx1"/>
                </a:solidFill>
                <a:effectLst/>
                <a:latin typeface="+mn-lt"/>
                <a:ea typeface="+mn-ea"/>
                <a:cs typeface="+mn-cs"/>
              </a:rPr>
              <a:t>Combined</a:t>
            </a:r>
            <a:r>
              <a:rPr lang="de-DE" sz="1200" b="0" i="0" kern="1200" dirty="0">
                <a:solidFill>
                  <a:schemeClr val="tx1"/>
                </a:solidFill>
                <a:effectLst/>
                <a:latin typeface="+mn-lt"/>
                <a:ea typeface="+mn-ea"/>
                <a:cs typeface="+mn-cs"/>
              </a:rPr>
              <a:t> </a:t>
            </a:r>
            <a:r>
              <a:rPr lang="de-DE" sz="1200" b="0" i="0" kern="1200" dirty="0" err="1">
                <a:solidFill>
                  <a:schemeClr val="tx1"/>
                </a:solidFill>
                <a:effectLst/>
                <a:latin typeface="+mn-lt"/>
                <a:ea typeface="+mn-ea"/>
                <a:cs typeface="+mn-cs"/>
              </a:rPr>
              <a:t>Accuracy</a:t>
            </a:r>
            <a:r>
              <a:rPr lang="de-DE" sz="1200" b="0" i="0" kern="1200" dirty="0">
                <a:solidFill>
                  <a:schemeClr val="tx1"/>
                </a:solidFill>
                <a:effectLst/>
                <a:latin typeface="+mn-lt"/>
                <a:ea typeface="+mn-ea"/>
                <a:cs typeface="+mn-cs"/>
              </a:rPr>
              <a:t> fordert beides. TER, die Tone Error Rate, ist unser Kernbeitrag — das hat in der bestehenden Literatur noch niemand systematisch auf LLMs angewandt. PFER nutzt </a:t>
            </a:r>
            <a:r>
              <a:rPr lang="de-DE" sz="1200" b="0" i="0" kern="1200" dirty="0" err="1">
                <a:solidFill>
                  <a:schemeClr val="tx1"/>
                </a:solidFill>
                <a:effectLst/>
                <a:latin typeface="+mn-lt"/>
                <a:ea typeface="+mn-ea"/>
                <a:cs typeface="+mn-cs"/>
              </a:rPr>
              <a:t>PanPhon</a:t>
            </a:r>
            <a:r>
              <a:rPr lang="de-DE" sz="1200" b="0" i="0" kern="1200" dirty="0">
                <a:solidFill>
                  <a:schemeClr val="tx1"/>
                </a:solidFill>
                <a:effectLst/>
                <a:latin typeface="+mn-lt"/>
                <a:ea typeface="+mn-ea"/>
                <a:cs typeface="+mn-cs"/>
              </a:rPr>
              <a:t> mit 21 artikulatorischen Features, um Segmentfehler graduell zu bewerten — ein falsches Retroflexes ‚</a:t>
            </a:r>
            <a:r>
              <a:rPr lang="de-DE" sz="1200" b="0" i="0" kern="1200" dirty="0" err="1">
                <a:solidFill>
                  <a:schemeClr val="tx1"/>
                </a:solidFill>
                <a:effectLst/>
                <a:latin typeface="+mn-lt"/>
                <a:ea typeface="+mn-ea"/>
                <a:cs typeface="+mn-cs"/>
              </a:rPr>
              <a:t>zh</a:t>
            </a:r>
            <a:r>
              <a:rPr lang="de-DE" sz="1200" b="0" i="0" kern="1200" dirty="0">
                <a:solidFill>
                  <a:schemeClr val="tx1"/>
                </a:solidFill>
                <a:effectLst/>
                <a:latin typeface="+mn-lt"/>
                <a:ea typeface="+mn-ea"/>
                <a:cs typeface="+mn-cs"/>
              </a:rPr>
              <a:t>' statt ‚z' wiegt weniger als ein komplett falscher Konsonant. CER rechnen wir nur, damit unsere Ergebnisse mit den 15+ Papers vergleichbar sind, die AISHELL als Benchmark nutzen. Und die Tone </a:t>
            </a:r>
            <a:r>
              <a:rPr lang="de-DE" sz="1200" b="0" i="0" kern="1200" dirty="0" err="1">
                <a:solidFill>
                  <a:schemeClr val="tx1"/>
                </a:solidFill>
                <a:effectLst/>
                <a:latin typeface="+mn-lt"/>
                <a:ea typeface="+mn-ea"/>
                <a:cs typeface="+mn-cs"/>
              </a:rPr>
              <a:t>Confusion</a:t>
            </a:r>
            <a:r>
              <a:rPr lang="de-DE" sz="1200" b="0" i="0" kern="1200" dirty="0">
                <a:solidFill>
                  <a:schemeClr val="tx1"/>
                </a:solidFill>
                <a:effectLst/>
                <a:latin typeface="+mn-lt"/>
                <a:ea typeface="+mn-ea"/>
                <a:cs typeface="+mn-cs"/>
              </a:rPr>
              <a:t> Matrix zeigt, welche Töne verwechselt werden — wir erwarten T2 versus T3 als häufigstes Muster.</a:t>
            </a:r>
            <a:endParaRPr lang="de-DE" dirty="0"/>
          </a:p>
        </p:txBody>
      </p:sp>
      <p:sp>
        <p:nvSpPr>
          <p:cNvPr id="4" name="Slide Number Placeholder 3"/>
          <p:cNvSpPr>
            <a:spLocks noGrp="1"/>
          </p:cNvSpPr>
          <p:nvPr>
            <p:ph type="sldNum" sz="quarter" idx="5"/>
          </p:nvPr>
        </p:nvSpPr>
        <p:spPr/>
        <p:txBody>
          <a:bodyPr/>
          <a:lstStyle/>
          <a:p>
            <a:fld id="{35C0B671-25EF-47C3-BD31-46E7FB9E6220}" type="slidenum">
              <a:rPr lang="de-DE" smtClean="0"/>
              <a:t>92</a:t>
            </a:fld>
            <a:endParaRPr lang="de-DE"/>
          </a:p>
        </p:txBody>
      </p:sp>
    </p:spTree>
    <p:extLst>
      <p:ext uri="{BB962C8B-B14F-4D97-AF65-F5344CB8AC3E}">
        <p14:creationId xmlns:p14="http://schemas.microsoft.com/office/powerpoint/2010/main" val="162550954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sz="1200" b="0" i="0" kern="1200" dirty="0">
                <a:solidFill>
                  <a:schemeClr val="tx1"/>
                </a:solidFill>
                <a:effectLst/>
                <a:latin typeface="+mn-lt"/>
                <a:ea typeface="+mn-ea"/>
                <a:cs typeface="+mn-cs"/>
              </a:rPr>
              <a:t>Zwölf Wochen, davon acht für den Pflicht-Kern. Woche 1 ist Setup: Korpora runterladen, APIs testen, Eval-Skripte schreiben. Woche 2 der Pipeline-Pilot — bevor wir Geld ausgeben, muss der ganze Ablauf einmal durchlaufen. Woche 3 und 4 laufen die günstigen und mittleren Modelle auf dem vollen Korpus. Woche 5 kommt GPT-5.5 auf dem Sub-Sample plus die Text-</a:t>
            </a:r>
            <a:r>
              <a:rPr lang="de-DE" sz="1200" b="0" i="0" kern="1200" dirty="0" err="1">
                <a:solidFill>
                  <a:schemeClr val="tx1"/>
                </a:solidFill>
                <a:effectLst/>
                <a:latin typeface="+mn-lt"/>
                <a:ea typeface="+mn-ea"/>
                <a:cs typeface="+mn-cs"/>
              </a:rPr>
              <a:t>only</a:t>
            </a:r>
            <a:r>
              <a:rPr lang="de-DE" sz="1200" b="0" i="0" kern="1200" dirty="0">
                <a:solidFill>
                  <a:schemeClr val="tx1"/>
                </a:solidFill>
                <a:effectLst/>
                <a:latin typeface="+mn-lt"/>
                <a:ea typeface="+mn-ea"/>
                <a:cs typeface="+mn-cs"/>
              </a:rPr>
              <a:t>-Modelle. Woche 6 und 7 ist Auswertung: Konfusionsmatrizen, Vergleichstabellen. Woche 8 verschriftlichen. Und Wochen 9 bis 12 sind Puffer plus Kür — in der Prioritätsreihenfolge: eigener Korpus, dann Format-Pilot, dann </a:t>
            </a:r>
            <a:r>
              <a:rPr lang="de-DE" sz="1200" b="0" i="0" kern="1200" dirty="0" err="1">
                <a:solidFill>
                  <a:schemeClr val="tx1"/>
                </a:solidFill>
                <a:effectLst/>
                <a:latin typeface="+mn-lt"/>
                <a:ea typeface="+mn-ea"/>
                <a:cs typeface="+mn-cs"/>
              </a:rPr>
              <a:t>iCALL</a:t>
            </a:r>
            <a:r>
              <a:rPr lang="de-DE" sz="1200" b="0" i="0" kern="1200" dirty="0">
                <a:solidFill>
                  <a:schemeClr val="tx1"/>
                </a:solidFill>
                <a:effectLst/>
                <a:latin typeface="+mn-lt"/>
                <a:ea typeface="+mn-ea"/>
                <a:cs typeface="+mn-cs"/>
              </a:rPr>
              <a:t>-Kontakt.</a:t>
            </a:r>
            <a:endParaRPr lang="de-DE" dirty="0"/>
          </a:p>
        </p:txBody>
      </p:sp>
      <p:sp>
        <p:nvSpPr>
          <p:cNvPr id="4" name="Slide Number Placeholder 3"/>
          <p:cNvSpPr>
            <a:spLocks noGrp="1"/>
          </p:cNvSpPr>
          <p:nvPr>
            <p:ph type="sldNum" sz="quarter" idx="5"/>
          </p:nvPr>
        </p:nvSpPr>
        <p:spPr/>
        <p:txBody>
          <a:bodyPr/>
          <a:lstStyle/>
          <a:p>
            <a:fld id="{35C0B671-25EF-47C3-BD31-46E7FB9E6220}" type="slidenum">
              <a:rPr lang="de-DE" smtClean="0"/>
              <a:t>93</a:t>
            </a:fld>
            <a:endParaRPr lang="de-DE"/>
          </a:p>
        </p:txBody>
      </p:sp>
    </p:spTree>
    <p:extLst>
      <p:ext uri="{BB962C8B-B14F-4D97-AF65-F5344CB8AC3E}">
        <p14:creationId xmlns:p14="http://schemas.microsoft.com/office/powerpoint/2010/main" val="1352993202"/>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de-DE" sz="1200" b="0" i="0" kern="1200" dirty="0">
                <a:solidFill>
                  <a:schemeClr val="tx1"/>
                </a:solidFill>
                <a:effectLst/>
                <a:latin typeface="+mn-lt"/>
                <a:ea typeface="+mn-ea"/>
                <a:cs typeface="+mn-cs"/>
              </a:rPr>
              <a:t>Zusammenfassung: 7 Experimente, davon 5 Pflicht. 14 Modelle aus 3 Märkten. Kontrollierte Korpora mit echtem Ton-Ground-Truth statt großen Korpora ohne Tonlabels. Drei Metriken statt nur CER — das ist der methodische Beitrag. Budget unter 30 Euro für den Pflicht-Kern. Und ein klarer Zeitplan mit 8 Wochen Pflicht und 4 Wochen Puffer. Die Entscheidungsregel ist einfach: Erst wenn der Pflicht-Kern sauber steht, wird Kür angefasst.</a:t>
            </a:r>
            <a:endParaRPr lang="de-DE" dirty="0"/>
          </a:p>
        </p:txBody>
      </p:sp>
      <p:sp>
        <p:nvSpPr>
          <p:cNvPr id="4" name="Slide Number Placeholder 3"/>
          <p:cNvSpPr>
            <a:spLocks noGrp="1"/>
          </p:cNvSpPr>
          <p:nvPr>
            <p:ph type="sldNum" sz="quarter" idx="5"/>
          </p:nvPr>
        </p:nvSpPr>
        <p:spPr/>
        <p:txBody>
          <a:bodyPr/>
          <a:lstStyle/>
          <a:p>
            <a:fld id="{35C0B671-25EF-47C3-BD31-46E7FB9E6220}" type="slidenum">
              <a:rPr lang="de-DE" smtClean="0"/>
              <a:t>94</a:t>
            </a:fld>
            <a:endParaRPr lang="de-DE"/>
          </a:p>
        </p:txBody>
      </p:sp>
    </p:spTree>
    <p:extLst>
      <p:ext uri="{BB962C8B-B14F-4D97-AF65-F5344CB8AC3E}">
        <p14:creationId xmlns:p14="http://schemas.microsoft.com/office/powerpoint/2010/main" val="328804121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1967F4-99FE-5E7F-DE50-3556AD45D35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de-DE"/>
          </a:p>
        </p:txBody>
      </p:sp>
      <p:sp>
        <p:nvSpPr>
          <p:cNvPr id="3" name="Subtitle 2">
            <a:extLst>
              <a:ext uri="{FF2B5EF4-FFF2-40B4-BE49-F238E27FC236}">
                <a16:creationId xmlns:a16="http://schemas.microsoft.com/office/drawing/2014/main" id="{5C1953A6-467C-D2E7-9689-C5D03064B86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de-DE"/>
          </a:p>
        </p:txBody>
      </p:sp>
      <p:sp>
        <p:nvSpPr>
          <p:cNvPr id="4" name="Date Placeholder 3">
            <a:extLst>
              <a:ext uri="{FF2B5EF4-FFF2-40B4-BE49-F238E27FC236}">
                <a16:creationId xmlns:a16="http://schemas.microsoft.com/office/drawing/2014/main" id="{09EA23B4-53B0-282C-0D5A-0F66F8CD424A}"/>
              </a:ext>
            </a:extLst>
          </p:cNvPr>
          <p:cNvSpPr>
            <a:spLocks noGrp="1"/>
          </p:cNvSpPr>
          <p:nvPr>
            <p:ph type="dt" sz="half" idx="10"/>
          </p:nvPr>
        </p:nvSpPr>
        <p:spPr/>
        <p:txBody>
          <a:bodyPr/>
          <a:lstStyle/>
          <a:p>
            <a:fld id="{5B93D0D0-FBD9-4F77-8251-EFD61A744B43}" type="datetimeFigureOut">
              <a:rPr lang="de-DE" smtClean="0"/>
              <a:t>29.06.2026</a:t>
            </a:fld>
            <a:endParaRPr lang="de-DE"/>
          </a:p>
        </p:txBody>
      </p:sp>
      <p:sp>
        <p:nvSpPr>
          <p:cNvPr id="5" name="Footer Placeholder 4">
            <a:extLst>
              <a:ext uri="{FF2B5EF4-FFF2-40B4-BE49-F238E27FC236}">
                <a16:creationId xmlns:a16="http://schemas.microsoft.com/office/drawing/2014/main" id="{C8ED898A-93DB-C743-0232-A731D5C5F209}"/>
              </a:ext>
            </a:extLst>
          </p:cNvPr>
          <p:cNvSpPr>
            <a:spLocks noGrp="1"/>
          </p:cNvSpPr>
          <p:nvPr>
            <p:ph type="ftr" sz="quarter" idx="11"/>
          </p:nvPr>
        </p:nvSpPr>
        <p:spPr/>
        <p:txBody>
          <a:bodyPr/>
          <a:lstStyle/>
          <a:p>
            <a:endParaRPr lang="de-DE"/>
          </a:p>
        </p:txBody>
      </p:sp>
      <p:sp>
        <p:nvSpPr>
          <p:cNvPr id="6" name="Slide Number Placeholder 5">
            <a:extLst>
              <a:ext uri="{FF2B5EF4-FFF2-40B4-BE49-F238E27FC236}">
                <a16:creationId xmlns:a16="http://schemas.microsoft.com/office/drawing/2014/main" id="{FDFC1B6C-8094-6856-3928-B75863751F65}"/>
              </a:ext>
            </a:extLst>
          </p:cNvPr>
          <p:cNvSpPr>
            <a:spLocks noGrp="1"/>
          </p:cNvSpPr>
          <p:nvPr>
            <p:ph type="sldNum" sz="quarter" idx="12"/>
          </p:nvPr>
        </p:nvSpPr>
        <p:spPr/>
        <p:txBody>
          <a:bodyPr/>
          <a:lstStyle/>
          <a:p>
            <a:fld id="{450BCB7B-DE44-47DB-ADDF-DD1917DE7398}" type="slidenum">
              <a:rPr lang="de-DE" smtClean="0"/>
              <a:t>‹#›</a:t>
            </a:fld>
            <a:endParaRPr lang="de-DE"/>
          </a:p>
        </p:txBody>
      </p:sp>
    </p:spTree>
    <p:extLst>
      <p:ext uri="{BB962C8B-B14F-4D97-AF65-F5344CB8AC3E}">
        <p14:creationId xmlns:p14="http://schemas.microsoft.com/office/powerpoint/2010/main" val="386742669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B3E7C1-5007-1774-562A-07DBF27E120E}"/>
              </a:ext>
            </a:extLst>
          </p:cNvPr>
          <p:cNvSpPr>
            <a:spLocks noGrp="1"/>
          </p:cNvSpPr>
          <p:nvPr>
            <p:ph type="title"/>
          </p:nvPr>
        </p:nvSpPr>
        <p:spPr/>
        <p:txBody>
          <a:bodyPr/>
          <a:lstStyle/>
          <a:p>
            <a:r>
              <a:rPr lang="en-US"/>
              <a:t>Click to edit Master title style</a:t>
            </a:r>
            <a:endParaRPr lang="de-DE"/>
          </a:p>
        </p:txBody>
      </p:sp>
      <p:sp>
        <p:nvSpPr>
          <p:cNvPr id="3" name="Content Placeholder 2">
            <a:extLst>
              <a:ext uri="{FF2B5EF4-FFF2-40B4-BE49-F238E27FC236}">
                <a16:creationId xmlns:a16="http://schemas.microsoft.com/office/drawing/2014/main" id="{7C2A66EE-82A1-5AE7-D225-7C74FC1C2E3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Date Placeholder 3">
            <a:extLst>
              <a:ext uri="{FF2B5EF4-FFF2-40B4-BE49-F238E27FC236}">
                <a16:creationId xmlns:a16="http://schemas.microsoft.com/office/drawing/2014/main" id="{A171061D-615B-BB1C-9009-F8F0F802DA95}"/>
              </a:ext>
            </a:extLst>
          </p:cNvPr>
          <p:cNvSpPr>
            <a:spLocks noGrp="1"/>
          </p:cNvSpPr>
          <p:nvPr>
            <p:ph type="dt" sz="half" idx="10"/>
          </p:nvPr>
        </p:nvSpPr>
        <p:spPr/>
        <p:txBody>
          <a:bodyPr/>
          <a:lstStyle/>
          <a:p>
            <a:fld id="{5B93D0D0-FBD9-4F77-8251-EFD61A744B43}" type="datetimeFigureOut">
              <a:rPr lang="de-DE" smtClean="0"/>
              <a:t>29.06.2026</a:t>
            </a:fld>
            <a:endParaRPr lang="de-DE"/>
          </a:p>
        </p:txBody>
      </p:sp>
      <p:sp>
        <p:nvSpPr>
          <p:cNvPr id="5" name="Footer Placeholder 4">
            <a:extLst>
              <a:ext uri="{FF2B5EF4-FFF2-40B4-BE49-F238E27FC236}">
                <a16:creationId xmlns:a16="http://schemas.microsoft.com/office/drawing/2014/main" id="{CF1F9AF8-A2FD-EAB0-9675-8B7056262CD1}"/>
              </a:ext>
            </a:extLst>
          </p:cNvPr>
          <p:cNvSpPr>
            <a:spLocks noGrp="1"/>
          </p:cNvSpPr>
          <p:nvPr>
            <p:ph type="ftr" sz="quarter" idx="11"/>
          </p:nvPr>
        </p:nvSpPr>
        <p:spPr/>
        <p:txBody>
          <a:bodyPr/>
          <a:lstStyle/>
          <a:p>
            <a:endParaRPr lang="de-DE"/>
          </a:p>
        </p:txBody>
      </p:sp>
      <p:sp>
        <p:nvSpPr>
          <p:cNvPr id="6" name="Slide Number Placeholder 5">
            <a:extLst>
              <a:ext uri="{FF2B5EF4-FFF2-40B4-BE49-F238E27FC236}">
                <a16:creationId xmlns:a16="http://schemas.microsoft.com/office/drawing/2014/main" id="{C6E93320-A2DA-80C6-3CC3-34F7C5364EC8}"/>
              </a:ext>
            </a:extLst>
          </p:cNvPr>
          <p:cNvSpPr>
            <a:spLocks noGrp="1"/>
          </p:cNvSpPr>
          <p:nvPr>
            <p:ph type="sldNum" sz="quarter" idx="12"/>
          </p:nvPr>
        </p:nvSpPr>
        <p:spPr/>
        <p:txBody>
          <a:bodyPr/>
          <a:lstStyle/>
          <a:p>
            <a:fld id="{450BCB7B-DE44-47DB-ADDF-DD1917DE7398}" type="slidenum">
              <a:rPr lang="de-DE" smtClean="0"/>
              <a:t>‹#›</a:t>
            </a:fld>
            <a:endParaRPr lang="de-DE"/>
          </a:p>
        </p:txBody>
      </p:sp>
    </p:spTree>
    <p:extLst>
      <p:ext uri="{BB962C8B-B14F-4D97-AF65-F5344CB8AC3E}">
        <p14:creationId xmlns:p14="http://schemas.microsoft.com/office/powerpoint/2010/main" val="41810274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0ED35-A076-918D-ED60-92A3922E067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de-DE"/>
          </a:p>
        </p:txBody>
      </p:sp>
      <p:sp>
        <p:nvSpPr>
          <p:cNvPr id="3" name="Text Placeholder 2">
            <a:extLst>
              <a:ext uri="{FF2B5EF4-FFF2-40B4-BE49-F238E27FC236}">
                <a16:creationId xmlns:a16="http://schemas.microsoft.com/office/drawing/2014/main" id="{30EBA91E-E32C-9CB4-FF1B-C52D4D450B8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4596A98-F7BA-BA39-C38B-2C201C47C030}"/>
              </a:ext>
            </a:extLst>
          </p:cNvPr>
          <p:cNvSpPr>
            <a:spLocks noGrp="1"/>
          </p:cNvSpPr>
          <p:nvPr>
            <p:ph type="dt" sz="half" idx="10"/>
          </p:nvPr>
        </p:nvSpPr>
        <p:spPr/>
        <p:txBody>
          <a:bodyPr/>
          <a:lstStyle/>
          <a:p>
            <a:fld id="{5B93D0D0-FBD9-4F77-8251-EFD61A744B43}" type="datetimeFigureOut">
              <a:rPr lang="de-DE" smtClean="0"/>
              <a:t>29.06.2026</a:t>
            </a:fld>
            <a:endParaRPr lang="de-DE"/>
          </a:p>
        </p:txBody>
      </p:sp>
      <p:sp>
        <p:nvSpPr>
          <p:cNvPr id="5" name="Footer Placeholder 4">
            <a:extLst>
              <a:ext uri="{FF2B5EF4-FFF2-40B4-BE49-F238E27FC236}">
                <a16:creationId xmlns:a16="http://schemas.microsoft.com/office/drawing/2014/main" id="{EE3561FF-B90F-CBEE-B700-0A2D8E0D39F8}"/>
              </a:ext>
            </a:extLst>
          </p:cNvPr>
          <p:cNvSpPr>
            <a:spLocks noGrp="1"/>
          </p:cNvSpPr>
          <p:nvPr>
            <p:ph type="ftr" sz="quarter" idx="11"/>
          </p:nvPr>
        </p:nvSpPr>
        <p:spPr/>
        <p:txBody>
          <a:bodyPr/>
          <a:lstStyle/>
          <a:p>
            <a:endParaRPr lang="de-DE"/>
          </a:p>
        </p:txBody>
      </p:sp>
      <p:sp>
        <p:nvSpPr>
          <p:cNvPr id="6" name="Slide Number Placeholder 5">
            <a:extLst>
              <a:ext uri="{FF2B5EF4-FFF2-40B4-BE49-F238E27FC236}">
                <a16:creationId xmlns:a16="http://schemas.microsoft.com/office/drawing/2014/main" id="{E2D3FDD9-2828-C141-01CD-28ED26D73D51}"/>
              </a:ext>
            </a:extLst>
          </p:cNvPr>
          <p:cNvSpPr>
            <a:spLocks noGrp="1"/>
          </p:cNvSpPr>
          <p:nvPr>
            <p:ph type="sldNum" sz="quarter" idx="12"/>
          </p:nvPr>
        </p:nvSpPr>
        <p:spPr/>
        <p:txBody>
          <a:bodyPr/>
          <a:lstStyle/>
          <a:p>
            <a:fld id="{450BCB7B-DE44-47DB-ADDF-DD1917DE7398}" type="slidenum">
              <a:rPr lang="de-DE" smtClean="0"/>
              <a:t>‹#›</a:t>
            </a:fld>
            <a:endParaRPr lang="de-DE"/>
          </a:p>
        </p:txBody>
      </p:sp>
    </p:spTree>
    <p:extLst>
      <p:ext uri="{BB962C8B-B14F-4D97-AF65-F5344CB8AC3E}">
        <p14:creationId xmlns:p14="http://schemas.microsoft.com/office/powerpoint/2010/main" val="14412573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3D0FE5-9233-1C91-3887-238C23222C43}"/>
              </a:ext>
            </a:extLst>
          </p:cNvPr>
          <p:cNvSpPr>
            <a:spLocks noGrp="1"/>
          </p:cNvSpPr>
          <p:nvPr>
            <p:ph type="title"/>
          </p:nvPr>
        </p:nvSpPr>
        <p:spPr/>
        <p:txBody>
          <a:bodyPr/>
          <a:lstStyle/>
          <a:p>
            <a:r>
              <a:rPr lang="en-US"/>
              <a:t>Click to edit Master title style</a:t>
            </a:r>
            <a:endParaRPr lang="de-DE"/>
          </a:p>
        </p:txBody>
      </p:sp>
      <p:sp>
        <p:nvSpPr>
          <p:cNvPr id="3" name="Content Placeholder 2">
            <a:extLst>
              <a:ext uri="{FF2B5EF4-FFF2-40B4-BE49-F238E27FC236}">
                <a16:creationId xmlns:a16="http://schemas.microsoft.com/office/drawing/2014/main" id="{FC6A5B62-308A-ECB8-9403-58CF05D4DFD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Content Placeholder 3">
            <a:extLst>
              <a:ext uri="{FF2B5EF4-FFF2-40B4-BE49-F238E27FC236}">
                <a16:creationId xmlns:a16="http://schemas.microsoft.com/office/drawing/2014/main" id="{4A916EF4-9190-50AA-2F73-7283A2B56AF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5" name="Date Placeholder 4">
            <a:extLst>
              <a:ext uri="{FF2B5EF4-FFF2-40B4-BE49-F238E27FC236}">
                <a16:creationId xmlns:a16="http://schemas.microsoft.com/office/drawing/2014/main" id="{2C922D91-4607-ED7D-2479-0A659A2FFF02}"/>
              </a:ext>
            </a:extLst>
          </p:cNvPr>
          <p:cNvSpPr>
            <a:spLocks noGrp="1"/>
          </p:cNvSpPr>
          <p:nvPr>
            <p:ph type="dt" sz="half" idx="10"/>
          </p:nvPr>
        </p:nvSpPr>
        <p:spPr/>
        <p:txBody>
          <a:bodyPr/>
          <a:lstStyle/>
          <a:p>
            <a:fld id="{5B93D0D0-FBD9-4F77-8251-EFD61A744B43}" type="datetimeFigureOut">
              <a:rPr lang="de-DE" smtClean="0"/>
              <a:t>29.06.2026</a:t>
            </a:fld>
            <a:endParaRPr lang="de-DE"/>
          </a:p>
        </p:txBody>
      </p:sp>
      <p:sp>
        <p:nvSpPr>
          <p:cNvPr id="6" name="Footer Placeholder 5">
            <a:extLst>
              <a:ext uri="{FF2B5EF4-FFF2-40B4-BE49-F238E27FC236}">
                <a16:creationId xmlns:a16="http://schemas.microsoft.com/office/drawing/2014/main" id="{03F538E3-A333-1168-36BF-160F083DE924}"/>
              </a:ext>
            </a:extLst>
          </p:cNvPr>
          <p:cNvSpPr>
            <a:spLocks noGrp="1"/>
          </p:cNvSpPr>
          <p:nvPr>
            <p:ph type="ftr" sz="quarter" idx="11"/>
          </p:nvPr>
        </p:nvSpPr>
        <p:spPr/>
        <p:txBody>
          <a:bodyPr/>
          <a:lstStyle/>
          <a:p>
            <a:endParaRPr lang="de-DE"/>
          </a:p>
        </p:txBody>
      </p:sp>
      <p:sp>
        <p:nvSpPr>
          <p:cNvPr id="7" name="Slide Number Placeholder 6">
            <a:extLst>
              <a:ext uri="{FF2B5EF4-FFF2-40B4-BE49-F238E27FC236}">
                <a16:creationId xmlns:a16="http://schemas.microsoft.com/office/drawing/2014/main" id="{0D2E2A38-0665-B67F-F3B4-AB863B01A2BE}"/>
              </a:ext>
            </a:extLst>
          </p:cNvPr>
          <p:cNvSpPr>
            <a:spLocks noGrp="1"/>
          </p:cNvSpPr>
          <p:nvPr>
            <p:ph type="sldNum" sz="quarter" idx="12"/>
          </p:nvPr>
        </p:nvSpPr>
        <p:spPr/>
        <p:txBody>
          <a:bodyPr/>
          <a:lstStyle/>
          <a:p>
            <a:fld id="{450BCB7B-DE44-47DB-ADDF-DD1917DE7398}" type="slidenum">
              <a:rPr lang="de-DE" smtClean="0"/>
              <a:t>‹#›</a:t>
            </a:fld>
            <a:endParaRPr lang="de-DE"/>
          </a:p>
        </p:txBody>
      </p:sp>
    </p:spTree>
    <p:extLst>
      <p:ext uri="{BB962C8B-B14F-4D97-AF65-F5344CB8AC3E}">
        <p14:creationId xmlns:p14="http://schemas.microsoft.com/office/powerpoint/2010/main" val="16023969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45B9AA-B9D4-7B85-F14D-8501410B24F2}"/>
              </a:ext>
            </a:extLst>
          </p:cNvPr>
          <p:cNvSpPr>
            <a:spLocks noGrp="1"/>
          </p:cNvSpPr>
          <p:nvPr>
            <p:ph type="title"/>
          </p:nvPr>
        </p:nvSpPr>
        <p:spPr>
          <a:xfrm>
            <a:off x="839788" y="365125"/>
            <a:ext cx="10515600" cy="1325563"/>
          </a:xfrm>
        </p:spPr>
        <p:txBody>
          <a:bodyPr/>
          <a:lstStyle/>
          <a:p>
            <a:r>
              <a:rPr lang="en-US"/>
              <a:t>Click to edit Master title style</a:t>
            </a:r>
            <a:endParaRPr lang="de-DE"/>
          </a:p>
        </p:txBody>
      </p:sp>
      <p:sp>
        <p:nvSpPr>
          <p:cNvPr id="3" name="Text Placeholder 2">
            <a:extLst>
              <a:ext uri="{FF2B5EF4-FFF2-40B4-BE49-F238E27FC236}">
                <a16:creationId xmlns:a16="http://schemas.microsoft.com/office/drawing/2014/main" id="{A1C4CAC1-AA49-3980-03D2-13F329280E3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564677F-8AF1-DFF1-E9CE-7F0A43A0C90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5" name="Text Placeholder 4">
            <a:extLst>
              <a:ext uri="{FF2B5EF4-FFF2-40B4-BE49-F238E27FC236}">
                <a16:creationId xmlns:a16="http://schemas.microsoft.com/office/drawing/2014/main" id="{2280FF16-7415-E86F-AAF8-7A4E0BC5CEF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ECF2B25-7A65-DE52-2923-8968C7A8EFB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7" name="Date Placeholder 6">
            <a:extLst>
              <a:ext uri="{FF2B5EF4-FFF2-40B4-BE49-F238E27FC236}">
                <a16:creationId xmlns:a16="http://schemas.microsoft.com/office/drawing/2014/main" id="{D4E04F8E-75E1-CE17-24C1-B86FBD829C93}"/>
              </a:ext>
            </a:extLst>
          </p:cNvPr>
          <p:cNvSpPr>
            <a:spLocks noGrp="1"/>
          </p:cNvSpPr>
          <p:nvPr>
            <p:ph type="dt" sz="half" idx="10"/>
          </p:nvPr>
        </p:nvSpPr>
        <p:spPr/>
        <p:txBody>
          <a:bodyPr/>
          <a:lstStyle/>
          <a:p>
            <a:fld id="{5B93D0D0-FBD9-4F77-8251-EFD61A744B43}" type="datetimeFigureOut">
              <a:rPr lang="de-DE" smtClean="0"/>
              <a:t>29.06.2026</a:t>
            </a:fld>
            <a:endParaRPr lang="de-DE"/>
          </a:p>
        </p:txBody>
      </p:sp>
      <p:sp>
        <p:nvSpPr>
          <p:cNvPr id="8" name="Footer Placeholder 7">
            <a:extLst>
              <a:ext uri="{FF2B5EF4-FFF2-40B4-BE49-F238E27FC236}">
                <a16:creationId xmlns:a16="http://schemas.microsoft.com/office/drawing/2014/main" id="{6FD85894-1FCA-1FEF-EEBB-6E976DF9FABC}"/>
              </a:ext>
            </a:extLst>
          </p:cNvPr>
          <p:cNvSpPr>
            <a:spLocks noGrp="1"/>
          </p:cNvSpPr>
          <p:nvPr>
            <p:ph type="ftr" sz="quarter" idx="11"/>
          </p:nvPr>
        </p:nvSpPr>
        <p:spPr/>
        <p:txBody>
          <a:bodyPr/>
          <a:lstStyle/>
          <a:p>
            <a:endParaRPr lang="de-DE"/>
          </a:p>
        </p:txBody>
      </p:sp>
      <p:sp>
        <p:nvSpPr>
          <p:cNvPr id="9" name="Slide Number Placeholder 8">
            <a:extLst>
              <a:ext uri="{FF2B5EF4-FFF2-40B4-BE49-F238E27FC236}">
                <a16:creationId xmlns:a16="http://schemas.microsoft.com/office/drawing/2014/main" id="{E4BD83FA-591E-5130-1B11-5BAB3EB281CC}"/>
              </a:ext>
            </a:extLst>
          </p:cNvPr>
          <p:cNvSpPr>
            <a:spLocks noGrp="1"/>
          </p:cNvSpPr>
          <p:nvPr>
            <p:ph type="sldNum" sz="quarter" idx="12"/>
          </p:nvPr>
        </p:nvSpPr>
        <p:spPr/>
        <p:txBody>
          <a:bodyPr/>
          <a:lstStyle/>
          <a:p>
            <a:fld id="{450BCB7B-DE44-47DB-ADDF-DD1917DE7398}" type="slidenum">
              <a:rPr lang="de-DE" smtClean="0"/>
              <a:t>‹#›</a:t>
            </a:fld>
            <a:endParaRPr lang="de-DE"/>
          </a:p>
        </p:txBody>
      </p:sp>
    </p:spTree>
    <p:extLst>
      <p:ext uri="{BB962C8B-B14F-4D97-AF65-F5344CB8AC3E}">
        <p14:creationId xmlns:p14="http://schemas.microsoft.com/office/powerpoint/2010/main" val="90721124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688798-E764-CFA4-1242-2FBC59A36833}"/>
              </a:ext>
            </a:extLst>
          </p:cNvPr>
          <p:cNvSpPr>
            <a:spLocks noGrp="1"/>
          </p:cNvSpPr>
          <p:nvPr>
            <p:ph type="title"/>
          </p:nvPr>
        </p:nvSpPr>
        <p:spPr/>
        <p:txBody>
          <a:bodyPr/>
          <a:lstStyle/>
          <a:p>
            <a:r>
              <a:rPr lang="en-US"/>
              <a:t>Click to edit Master title style</a:t>
            </a:r>
            <a:endParaRPr lang="de-DE"/>
          </a:p>
        </p:txBody>
      </p:sp>
      <p:sp>
        <p:nvSpPr>
          <p:cNvPr id="3" name="Date Placeholder 2">
            <a:extLst>
              <a:ext uri="{FF2B5EF4-FFF2-40B4-BE49-F238E27FC236}">
                <a16:creationId xmlns:a16="http://schemas.microsoft.com/office/drawing/2014/main" id="{2861CDF8-4F2F-CC70-4A44-86110BAEE43B}"/>
              </a:ext>
            </a:extLst>
          </p:cNvPr>
          <p:cNvSpPr>
            <a:spLocks noGrp="1"/>
          </p:cNvSpPr>
          <p:nvPr>
            <p:ph type="dt" sz="half" idx="10"/>
          </p:nvPr>
        </p:nvSpPr>
        <p:spPr/>
        <p:txBody>
          <a:bodyPr/>
          <a:lstStyle/>
          <a:p>
            <a:fld id="{5B93D0D0-FBD9-4F77-8251-EFD61A744B43}" type="datetimeFigureOut">
              <a:rPr lang="de-DE" smtClean="0"/>
              <a:t>29.06.2026</a:t>
            </a:fld>
            <a:endParaRPr lang="de-DE"/>
          </a:p>
        </p:txBody>
      </p:sp>
      <p:sp>
        <p:nvSpPr>
          <p:cNvPr id="4" name="Footer Placeholder 3">
            <a:extLst>
              <a:ext uri="{FF2B5EF4-FFF2-40B4-BE49-F238E27FC236}">
                <a16:creationId xmlns:a16="http://schemas.microsoft.com/office/drawing/2014/main" id="{917BDF96-5ED5-CE69-A645-81B011F20DDD}"/>
              </a:ext>
            </a:extLst>
          </p:cNvPr>
          <p:cNvSpPr>
            <a:spLocks noGrp="1"/>
          </p:cNvSpPr>
          <p:nvPr>
            <p:ph type="ftr" sz="quarter" idx="11"/>
          </p:nvPr>
        </p:nvSpPr>
        <p:spPr/>
        <p:txBody>
          <a:bodyPr/>
          <a:lstStyle/>
          <a:p>
            <a:endParaRPr lang="de-DE"/>
          </a:p>
        </p:txBody>
      </p:sp>
      <p:sp>
        <p:nvSpPr>
          <p:cNvPr id="5" name="Slide Number Placeholder 4">
            <a:extLst>
              <a:ext uri="{FF2B5EF4-FFF2-40B4-BE49-F238E27FC236}">
                <a16:creationId xmlns:a16="http://schemas.microsoft.com/office/drawing/2014/main" id="{791D0209-1356-6E06-A4AA-D0EC95E771B9}"/>
              </a:ext>
            </a:extLst>
          </p:cNvPr>
          <p:cNvSpPr>
            <a:spLocks noGrp="1"/>
          </p:cNvSpPr>
          <p:nvPr>
            <p:ph type="sldNum" sz="quarter" idx="12"/>
          </p:nvPr>
        </p:nvSpPr>
        <p:spPr/>
        <p:txBody>
          <a:bodyPr/>
          <a:lstStyle/>
          <a:p>
            <a:fld id="{450BCB7B-DE44-47DB-ADDF-DD1917DE7398}" type="slidenum">
              <a:rPr lang="de-DE" smtClean="0"/>
              <a:t>‹#›</a:t>
            </a:fld>
            <a:endParaRPr lang="de-DE"/>
          </a:p>
        </p:txBody>
      </p:sp>
    </p:spTree>
    <p:extLst>
      <p:ext uri="{BB962C8B-B14F-4D97-AF65-F5344CB8AC3E}">
        <p14:creationId xmlns:p14="http://schemas.microsoft.com/office/powerpoint/2010/main" val="5781161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DFE1FBC-786F-B04B-F165-E43A8F4F7F5D}"/>
              </a:ext>
            </a:extLst>
          </p:cNvPr>
          <p:cNvSpPr>
            <a:spLocks noGrp="1"/>
          </p:cNvSpPr>
          <p:nvPr>
            <p:ph type="dt" sz="half" idx="10"/>
          </p:nvPr>
        </p:nvSpPr>
        <p:spPr/>
        <p:txBody>
          <a:bodyPr/>
          <a:lstStyle/>
          <a:p>
            <a:fld id="{5B93D0D0-FBD9-4F77-8251-EFD61A744B43}" type="datetimeFigureOut">
              <a:rPr lang="de-DE" smtClean="0"/>
              <a:t>29.06.2026</a:t>
            </a:fld>
            <a:endParaRPr lang="de-DE"/>
          </a:p>
        </p:txBody>
      </p:sp>
      <p:sp>
        <p:nvSpPr>
          <p:cNvPr id="3" name="Footer Placeholder 2">
            <a:extLst>
              <a:ext uri="{FF2B5EF4-FFF2-40B4-BE49-F238E27FC236}">
                <a16:creationId xmlns:a16="http://schemas.microsoft.com/office/drawing/2014/main" id="{86057C23-06C2-9420-B528-563F573862ED}"/>
              </a:ext>
            </a:extLst>
          </p:cNvPr>
          <p:cNvSpPr>
            <a:spLocks noGrp="1"/>
          </p:cNvSpPr>
          <p:nvPr>
            <p:ph type="ftr" sz="quarter" idx="11"/>
          </p:nvPr>
        </p:nvSpPr>
        <p:spPr/>
        <p:txBody>
          <a:bodyPr/>
          <a:lstStyle/>
          <a:p>
            <a:endParaRPr lang="de-DE"/>
          </a:p>
        </p:txBody>
      </p:sp>
      <p:sp>
        <p:nvSpPr>
          <p:cNvPr id="4" name="Slide Number Placeholder 3">
            <a:extLst>
              <a:ext uri="{FF2B5EF4-FFF2-40B4-BE49-F238E27FC236}">
                <a16:creationId xmlns:a16="http://schemas.microsoft.com/office/drawing/2014/main" id="{B1EDC2A9-0AFF-8199-8340-06912B7B541C}"/>
              </a:ext>
            </a:extLst>
          </p:cNvPr>
          <p:cNvSpPr>
            <a:spLocks noGrp="1"/>
          </p:cNvSpPr>
          <p:nvPr>
            <p:ph type="sldNum" sz="quarter" idx="12"/>
          </p:nvPr>
        </p:nvSpPr>
        <p:spPr/>
        <p:txBody>
          <a:bodyPr/>
          <a:lstStyle/>
          <a:p>
            <a:fld id="{450BCB7B-DE44-47DB-ADDF-DD1917DE7398}" type="slidenum">
              <a:rPr lang="de-DE" smtClean="0"/>
              <a:t>‹#›</a:t>
            </a:fld>
            <a:endParaRPr lang="de-DE"/>
          </a:p>
        </p:txBody>
      </p:sp>
    </p:spTree>
    <p:extLst>
      <p:ext uri="{BB962C8B-B14F-4D97-AF65-F5344CB8AC3E}">
        <p14:creationId xmlns:p14="http://schemas.microsoft.com/office/powerpoint/2010/main" val="40321458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F9F823-8396-C173-9854-BB1E8B7F230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de-DE"/>
          </a:p>
        </p:txBody>
      </p:sp>
      <p:sp>
        <p:nvSpPr>
          <p:cNvPr id="3" name="Content Placeholder 2">
            <a:extLst>
              <a:ext uri="{FF2B5EF4-FFF2-40B4-BE49-F238E27FC236}">
                <a16:creationId xmlns:a16="http://schemas.microsoft.com/office/drawing/2014/main" id="{7E5438DA-E9DD-2E35-3BC4-013C1B4850D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Text Placeholder 3">
            <a:extLst>
              <a:ext uri="{FF2B5EF4-FFF2-40B4-BE49-F238E27FC236}">
                <a16:creationId xmlns:a16="http://schemas.microsoft.com/office/drawing/2014/main" id="{5AE46FCD-7FC2-5A52-A1AC-86008C03CE8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56F0F8-3E3D-4425-985F-49C933BBB16E}"/>
              </a:ext>
            </a:extLst>
          </p:cNvPr>
          <p:cNvSpPr>
            <a:spLocks noGrp="1"/>
          </p:cNvSpPr>
          <p:nvPr>
            <p:ph type="dt" sz="half" idx="10"/>
          </p:nvPr>
        </p:nvSpPr>
        <p:spPr/>
        <p:txBody>
          <a:bodyPr/>
          <a:lstStyle/>
          <a:p>
            <a:fld id="{5B93D0D0-FBD9-4F77-8251-EFD61A744B43}" type="datetimeFigureOut">
              <a:rPr lang="de-DE" smtClean="0"/>
              <a:t>29.06.2026</a:t>
            </a:fld>
            <a:endParaRPr lang="de-DE"/>
          </a:p>
        </p:txBody>
      </p:sp>
      <p:sp>
        <p:nvSpPr>
          <p:cNvPr id="6" name="Footer Placeholder 5">
            <a:extLst>
              <a:ext uri="{FF2B5EF4-FFF2-40B4-BE49-F238E27FC236}">
                <a16:creationId xmlns:a16="http://schemas.microsoft.com/office/drawing/2014/main" id="{165FE61E-02DE-BBA6-712D-50A9DE783F3A}"/>
              </a:ext>
            </a:extLst>
          </p:cNvPr>
          <p:cNvSpPr>
            <a:spLocks noGrp="1"/>
          </p:cNvSpPr>
          <p:nvPr>
            <p:ph type="ftr" sz="quarter" idx="11"/>
          </p:nvPr>
        </p:nvSpPr>
        <p:spPr/>
        <p:txBody>
          <a:bodyPr/>
          <a:lstStyle/>
          <a:p>
            <a:endParaRPr lang="de-DE"/>
          </a:p>
        </p:txBody>
      </p:sp>
      <p:sp>
        <p:nvSpPr>
          <p:cNvPr id="7" name="Slide Number Placeholder 6">
            <a:extLst>
              <a:ext uri="{FF2B5EF4-FFF2-40B4-BE49-F238E27FC236}">
                <a16:creationId xmlns:a16="http://schemas.microsoft.com/office/drawing/2014/main" id="{6137E957-A61B-AEA5-A547-0D04D1D41667}"/>
              </a:ext>
            </a:extLst>
          </p:cNvPr>
          <p:cNvSpPr>
            <a:spLocks noGrp="1"/>
          </p:cNvSpPr>
          <p:nvPr>
            <p:ph type="sldNum" sz="quarter" idx="12"/>
          </p:nvPr>
        </p:nvSpPr>
        <p:spPr/>
        <p:txBody>
          <a:bodyPr/>
          <a:lstStyle/>
          <a:p>
            <a:fld id="{450BCB7B-DE44-47DB-ADDF-DD1917DE7398}" type="slidenum">
              <a:rPr lang="de-DE" smtClean="0"/>
              <a:t>‹#›</a:t>
            </a:fld>
            <a:endParaRPr lang="de-DE"/>
          </a:p>
        </p:txBody>
      </p:sp>
    </p:spTree>
    <p:extLst>
      <p:ext uri="{BB962C8B-B14F-4D97-AF65-F5344CB8AC3E}">
        <p14:creationId xmlns:p14="http://schemas.microsoft.com/office/powerpoint/2010/main" val="18071267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C08A63-13B6-6BDA-4943-34C51CF5425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de-DE"/>
          </a:p>
        </p:txBody>
      </p:sp>
      <p:sp>
        <p:nvSpPr>
          <p:cNvPr id="3" name="Picture Placeholder 2">
            <a:extLst>
              <a:ext uri="{FF2B5EF4-FFF2-40B4-BE49-F238E27FC236}">
                <a16:creationId xmlns:a16="http://schemas.microsoft.com/office/drawing/2014/main" id="{E5A603BB-8575-0F3E-CFDE-B704835605C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 Placeholder 3">
            <a:extLst>
              <a:ext uri="{FF2B5EF4-FFF2-40B4-BE49-F238E27FC236}">
                <a16:creationId xmlns:a16="http://schemas.microsoft.com/office/drawing/2014/main" id="{0D262B47-C830-42CE-BDAF-A8914A26702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8B2E658-E44A-9A0A-8474-C44DFD63E6EF}"/>
              </a:ext>
            </a:extLst>
          </p:cNvPr>
          <p:cNvSpPr>
            <a:spLocks noGrp="1"/>
          </p:cNvSpPr>
          <p:nvPr>
            <p:ph type="dt" sz="half" idx="10"/>
          </p:nvPr>
        </p:nvSpPr>
        <p:spPr/>
        <p:txBody>
          <a:bodyPr/>
          <a:lstStyle/>
          <a:p>
            <a:fld id="{5B93D0D0-FBD9-4F77-8251-EFD61A744B43}" type="datetimeFigureOut">
              <a:rPr lang="de-DE" smtClean="0"/>
              <a:t>29.06.2026</a:t>
            </a:fld>
            <a:endParaRPr lang="de-DE"/>
          </a:p>
        </p:txBody>
      </p:sp>
      <p:sp>
        <p:nvSpPr>
          <p:cNvPr id="6" name="Footer Placeholder 5">
            <a:extLst>
              <a:ext uri="{FF2B5EF4-FFF2-40B4-BE49-F238E27FC236}">
                <a16:creationId xmlns:a16="http://schemas.microsoft.com/office/drawing/2014/main" id="{5A2211A5-B5E3-ACBA-45D4-88E29D9F1AC6}"/>
              </a:ext>
            </a:extLst>
          </p:cNvPr>
          <p:cNvSpPr>
            <a:spLocks noGrp="1"/>
          </p:cNvSpPr>
          <p:nvPr>
            <p:ph type="ftr" sz="quarter" idx="11"/>
          </p:nvPr>
        </p:nvSpPr>
        <p:spPr/>
        <p:txBody>
          <a:bodyPr/>
          <a:lstStyle/>
          <a:p>
            <a:endParaRPr lang="de-DE"/>
          </a:p>
        </p:txBody>
      </p:sp>
      <p:sp>
        <p:nvSpPr>
          <p:cNvPr id="7" name="Slide Number Placeholder 6">
            <a:extLst>
              <a:ext uri="{FF2B5EF4-FFF2-40B4-BE49-F238E27FC236}">
                <a16:creationId xmlns:a16="http://schemas.microsoft.com/office/drawing/2014/main" id="{24DEA1EA-F2DE-E2A6-42CC-06DE4537688F}"/>
              </a:ext>
            </a:extLst>
          </p:cNvPr>
          <p:cNvSpPr>
            <a:spLocks noGrp="1"/>
          </p:cNvSpPr>
          <p:nvPr>
            <p:ph type="sldNum" sz="quarter" idx="12"/>
          </p:nvPr>
        </p:nvSpPr>
        <p:spPr/>
        <p:txBody>
          <a:bodyPr/>
          <a:lstStyle/>
          <a:p>
            <a:fld id="{450BCB7B-DE44-47DB-ADDF-DD1917DE7398}" type="slidenum">
              <a:rPr lang="de-DE" smtClean="0"/>
              <a:t>‹#›</a:t>
            </a:fld>
            <a:endParaRPr lang="de-DE"/>
          </a:p>
        </p:txBody>
      </p:sp>
    </p:spTree>
    <p:extLst>
      <p:ext uri="{BB962C8B-B14F-4D97-AF65-F5344CB8AC3E}">
        <p14:creationId xmlns:p14="http://schemas.microsoft.com/office/powerpoint/2010/main" val="207258581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A746A-831C-A9ED-0AFD-3329E98F4116}"/>
              </a:ext>
            </a:extLst>
          </p:cNvPr>
          <p:cNvSpPr>
            <a:spLocks noGrp="1"/>
          </p:cNvSpPr>
          <p:nvPr>
            <p:ph type="title"/>
          </p:nvPr>
        </p:nvSpPr>
        <p:spPr/>
        <p:txBody>
          <a:bodyPr/>
          <a:lstStyle/>
          <a:p>
            <a:r>
              <a:rPr lang="en-US"/>
              <a:t>Click to edit Master title style</a:t>
            </a:r>
            <a:endParaRPr lang="de-DE"/>
          </a:p>
        </p:txBody>
      </p:sp>
      <p:sp>
        <p:nvSpPr>
          <p:cNvPr id="3" name="Vertical Text Placeholder 2">
            <a:extLst>
              <a:ext uri="{FF2B5EF4-FFF2-40B4-BE49-F238E27FC236}">
                <a16:creationId xmlns:a16="http://schemas.microsoft.com/office/drawing/2014/main" id="{12A542FC-FC7C-2700-0A66-500B4E0C03D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Date Placeholder 3">
            <a:extLst>
              <a:ext uri="{FF2B5EF4-FFF2-40B4-BE49-F238E27FC236}">
                <a16:creationId xmlns:a16="http://schemas.microsoft.com/office/drawing/2014/main" id="{A4A024A0-CDF5-C37C-08D4-326FFB49FDCC}"/>
              </a:ext>
            </a:extLst>
          </p:cNvPr>
          <p:cNvSpPr>
            <a:spLocks noGrp="1"/>
          </p:cNvSpPr>
          <p:nvPr>
            <p:ph type="dt" sz="half" idx="10"/>
          </p:nvPr>
        </p:nvSpPr>
        <p:spPr/>
        <p:txBody>
          <a:bodyPr/>
          <a:lstStyle/>
          <a:p>
            <a:fld id="{5B93D0D0-FBD9-4F77-8251-EFD61A744B43}" type="datetimeFigureOut">
              <a:rPr lang="de-DE" smtClean="0"/>
              <a:t>29.06.2026</a:t>
            </a:fld>
            <a:endParaRPr lang="de-DE"/>
          </a:p>
        </p:txBody>
      </p:sp>
      <p:sp>
        <p:nvSpPr>
          <p:cNvPr id="5" name="Footer Placeholder 4">
            <a:extLst>
              <a:ext uri="{FF2B5EF4-FFF2-40B4-BE49-F238E27FC236}">
                <a16:creationId xmlns:a16="http://schemas.microsoft.com/office/drawing/2014/main" id="{801BF740-4F11-3850-C4AD-1D0420BC7CBE}"/>
              </a:ext>
            </a:extLst>
          </p:cNvPr>
          <p:cNvSpPr>
            <a:spLocks noGrp="1"/>
          </p:cNvSpPr>
          <p:nvPr>
            <p:ph type="ftr" sz="quarter" idx="11"/>
          </p:nvPr>
        </p:nvSpPr>
        <p:spPr/>
        <p:txBody>
          <a:bodyPr/>
          <a:lstStyle/>
          <a:p>
            <a:endParaRPr lang="de-DE"/>
          </a:p>
        </p:txBody>
      </p:sp>
      <p:sp>
        <p:nvSpPr>
          <p:cNvPr id="6" name="Slide Number Placeholder 5">
            <a:extLst>
              <a:ext uri="{FF2B5EF4-FFF2-40B4-BE49-F238E27FC236}">
                <a16:creationId xmlns:a16="http://schemas.microsoft.com/office/drawing/2014/main" id="{9E71A0D0-9E54-F46A-5F2B-AEC1C76E5EE3}"/>
              </a:ext>
            </a:extLst>
          </p:cNvPr>
          <p:cNvSpPr>
            <a:spLocks noGrp="1"/>
          </p:cNvSpPr>
          <p:nvPr>
            <p:ph type="sldNum" sz="quarter" idx="12"/>
          </p:nvPr>
        </p:nvSpPr>
        <p:spPr/>
        <p:txBody>
          <a:bodyPr/>
          <a:lstStyle/>
          <a:p>
            <a:fld id="{450BCB7B-DE44-47DB-ADDF-DD1917DE7398}" type="slidenum">
              <a:rPr lang="de-DE" smtClean="0"/>
              <a:t>‹#›</a:t>
            </a:fld>
            <a:endParaRPr lang="de-DE"/>
          </a:p>
        </p:txBody>
      </p:sp>
    </p:spTree>
    <p:extLst>
      <p:ext uri="{BB962C8B-B14F-4D97-AF65-F5344CB8AC3E}">
        <p14:creationId xmlns:p14="http://schemas.microsoft.com/office/powerpoint/2010/main" val="196258348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9A28940-3286-C48C-36DF-3485194A904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de-DE"/>
          </a:p>
        </p:txBody>
      </p:sp>
      <p:sp>
        <p:nvSpPr>
          <p:cNvPr id="3" name="Vertical Text Placeholder 2">
            <a:extLst>
              <a:ext uri="{FF2B5EF4-FFF2-40B4-BE49-F238E27FC236}">
                <a16:creationId xmlns:a16="http://schemas.microsoft.com/office/drawing/2014/main" id="{30713E8D-BB91-DB9D-134C-B8775DBDA95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Date Placeholder 3">
            <a:extLst>
              <a:ext uri="{FF2B5EF4-FFF2-40B4-BE49-F238E27FC236}">
                <a16:creationId xmlns:a16="http://schemas.microsoft.com/office/drawing/2014/main" id="{EB606BEE-4673-60F1-9322-8D0DE061FEB1}"/>
              </a:ext>
            </a:extLst>
          </p:cNvPr>
          <p:cNvSpPr>
            <a:spLocks noGrp="1"/>
          </p:cNvSpPr>
          <p:nvPr>
            <p:ph type="dt" sz="half" idx="10"/>
          </p:nvPr>
        </p:nvSpPr>
        <p:spPr/>
        <p:txBody>
          <a:bodyPr/>
          <a:lstStyle/>
          <a:p>
            <a:fld id="{5B93D0D0-FBD9-4F77-8251-EFD61A744B43}" type="datetimeFigureOut">
              <a:rPr lang="de-DE" smtClean="0"/>
              <a:t>29.06.2026</a:t>
            </a:fld>
            <a:endParaRPr lang="de-DE"/>
          </a:p>
        </p:txBody>
      </p:sp>
      <p:sp>
        <p:nvSpPr>
          <p:cNvPr id="5" name="Footer Placeholder 4">
            <a:extLst>
              <a:ext uri="{FF2B5EF4-FFF2-40B4-BE49-F238E27FC236}">
                <a16:creationId xmlns:a16="http://schemas.microsoft.com/office/drawing/2014/main" id="{7D044EC7-A86C-53D4-C693-A1AFE4BB43E7}"/>
              </a:ext>
            </a:extLst>
          </p:cNvPr>
          <p:cNvSpPr>
            <a:spLocks noGrp="1"/>
          </p:cNvSpPr>
          <p:nvPr>
            <p:ph type="ftr" sz="quarter" idx="11"/>
          </p:nvPr>
        </p:nvSpPr>
        <p:spPr/>
        <p:txBody>
          <a:bodyPr/>
          <a:lstStyle/>
          <a:p>
            <a:endParaRPr lang="de-DE"/>
          </a:p>
        </p:txBody>
      </p:sp>
      <p:sp>
        <p:nvSpPr>
          <p:cNvPr id="6" name="Slide Number Placeholder 5">
            <a:extLst>
              <a:ext uri="{FF2B5EF4-FFF2-40B4-BE49-F238E27FC236}">
                <a16:creationId xmlns:a16="http://schemas.microsoft.com/office/drawing/2014/main" id="{3C9DC7CE-EE37-338B-F435-43ADC529C87D}"/>
              </a:ext>
            </a:extLst>
          </p:cNvPr>
          <p:cNvSpPr>
            <a:spLocks noGrp="1"/>
          </p:cNvSpPr>
          <p:nvPr>
            <p:ph type="sldNum" sz="quarter" idx="12"/>
          </p:nvPr>
        </p:nvSpPr>
        <p:spPr/>
        <p:txBody>
          <a:bodyPr/>
          <a:lstStyle/>
          <a:p>
            <a:fld id="{450BCB7B-DE44-47DB-ADDF-DD1917DE7398}" type="slidenum">
              <a:rPr lang="de-DE" smtClean="0"/>
              <a:t>‹#›</a:t>
            </a:fld>
            <a:endParaRPr lang="de-DE"/>
          </a:p>
        </p:txBody>
      </p:sp>
    </p:spTree>
    <p:extLst>
      <p:ext uri="{BB962C8B-B14F-4D97-AF65-F5344CB8AC3E}">
        <p14:creationId xmlns:p14="http://schemas.microsoft.com/office/powerpoint/2010/main" val="382604618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EA13553-7D21-B1FA-93D3-87E5B7774F0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de-DE"/>
          </a:p>
        </p:txBody>
      </p:sp>
      <p:sp>
        <p:nvSpPr>
          <p:cNvPr id="3" name="Text Placeholder 2">
            <a:extLst>
              <a:ext uri="{FF2B5EF4-FFF2-40B4-BE49-F238E27FC236}">
                <a16:creationId xmlns:a16="http://schemas.microsoft.com/office/drawing/2014/main" id="{6C1EDFED-9149-A387-ED41-9940B5782A4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de-DE"/>
          </a:p>
        </p:txBody>
      </p:sp>
      <p:sp>
        <p:nvSpPr>
          <p:cNvPr id="4" name="Date Placeholder 3">
            <a:extLst>
              <a:ext uri="{FF2B5EF4-FFF2-40B4-BE49-F238E27FC236}">
                <a16:creationId xmlns:a16="http://schemas.microsoft.com/office/drawing/2014/main" id="{9C0AE8E6-A5FE-1751-762A-6EFC3B6EB49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B93D0D0-FBD9-4F77-8251-EFD61A744B43}" type="datetimeFigureOut">
              <a:rPr lang="de-DE" smtClean="0"/>
              <a:t>29.06.2026</a:t>
            </a:fld>
            <a:endParaRPr lang="de-DE"/>
          </a:p>
        </p:txBody>
      </p:sp>
      <p:sp>
        <p:nvSpPr>
          <p:cNvPr id="5" name="Footer Placeholder 4">
            <a:extLst>
              <a:ext uri="{FF2B5EF4-FFF2-40B4-BE49-F238E27FC236}">
                <a16:creationId xmlns:a16="http://schemas.microsoft.com/office/drawing/2014/main" id="{4940565B-DFAC-5A35-B1DC-A6CB228A52A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de-DE"/>
          </a:p>
        </p:txBody>
      </p:sp>
      <p:sp>
        <p:nvSpPr>
          <p:cNvPr id="6" name="Slide Number Placeholder 5">
            <a:extLst>
              <a:ext uri="{FF2B5EF4-FFF2-40B4-BE49-F238E27FC236}">
                <a16:creationId xmlns:a16="http://schemas.microsoft.com/office/drawing/2014/main" id="{F53A9322-1F8E-7E82-D9B4-C9294147A9A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50BCB7B-DE44-47DB-ADDF-DD1917DE7398}" type="slidenum">
              <a:rPr lang="de-DE" smtClean="0"/>
              <a:t>‹#›</a:t>
            </a:fld>
            <a:endParaRPr lang="de-DE"/>
          </a:p>
        </p:txBody>
      </p:sp>
    </p:spTree>
    <p:extLst>
      <p:ext uri="{BB962C8B-B14F-4D97-AF65-F5344CB8AC3E}">
        <p14:creationId xmlns:p14="http://schemas.microsoft.com/office/powerpoint/2010/main" val="277693479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2.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46.xml"/><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9.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53.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0.xml"/><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84.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61.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62.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64.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5.xml"/><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71.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3" Type="http://schemas.openxmlformats.org/officeDocument/2006/relationships/hyperlink" Target="https://www.emergentmind.com/topics/large-audio-language-models-lams" TargetMode="External"/><Relationship Id="rId2" Type="http://schemas.openxmlformats.org/officeDocument/2006/relationships/hyperlink" Target="https://cloud.google.com/discover/what-are-foundation-models" TargetMode="External"/><Relationship Id="rId1" Type="http://schemas.openxmlformats.org/officeDocument/2006/relationships/slideLayout" Target="../slideLayouts/slideLayout2.xml"/><Relationship Id="rId5" Type="http://schemas.openxmlformats.org/officeDocument/2006/relationships/hyperlink" Target="https://www.emergentmind.com/topics/spoken-language-models-slms" TargetMode="External"/><Relationship Id="rId4" Type="http://schemas.openxmlformats.org/officeDocument/2006/relationships/hyperlink" Target="https://aclanthology.org/2025.findings-acl.56.pdf" TargetMode="Externa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hyperlink" Target="https://arxiv.org/pdf/2407.01909" TargetMode="External"/><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hyperlink" Target="https://de.wikipedia.org/wiki/T%C3%B6ne_des_Hochchinesischen" TargetMode="External"/><Relationship Id="rId2" Type="http://schemas.microsoft.com/office/2018/10/relationships/comments" Target="../comments/modernComment_110_11A93BDB.xml"/><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8" Type="http://schemas.openxmlformats.org/officeDocument/2006/relationships/hyperlink" Target="https://hai.stanford.edu/ai-index/2026-ai-index-report/technical-performance" TargetMode="External"/><Relationship Id="rId3" Type="http://schemas.openxmlformats.org/officeDocument/2006/relationships/hyperlink" Target="https://arxiv.org/abs/2410.18908" TargetMode="External"/><Relationship Id="rId7" Type="http://schemas.openxmlformats.org/officeDocument/2006/relationships/hyperlink" Target="https://arxiv.org/abs/2402.12025" TargetMode="External"/><Relationship Id="rId2" Type="http://schemas.openxmlformats.org/officeDocument/2006/relationships/hyperlink" Target="https://arxiv.org/abs/2605.20266" TargetMode="External"/><Relationship Id="rId1" Type="http://schemas.openxmlformats.org/officeDocument/2006/relationships/slideLayout" Target="../slideLayouts/slideLayout2.xml"/><Relationship Id="rId6" Type="http://schemas.openxmlformats.org/officeDocument/2006/relationships/hyperlink" Target="https://arxiv.org/abs/2410.03751" TargetMode="External"/><Relationship Id="rId5" Type="http://schemas.openxmlformats.org/officeDocument/2006/relationships/hyperlink" Target="https://arxiv.org/abs/2308.12792" TargetMode="External"/><Relationship Id="rId4" Type="http://schemas.openxmlformats.org/officeDocument/2006/relationships/hyperlink" Target="https://arxiv.org/html/2504.08528v1" TargetMode="External"/></Relationships>
</file>

<file path=ppt/slides/_rels/slide103.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hyperlink" Target="https://hai.stanford.edu/ai-index/2026-ai-index-report/technical-performance" TargetMode="External"/><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8" Type="http://schemas.openxmlformats.org/officeDocument/2006/relationships/hyperlink" Target="https://arxiv.org/html/2501.04962" TargetMode="External"/><Relationship Id="rId3" Type="http://schemas.openxmlformats.org/officeDocument/2006/relationships/hyperlink" Target="https://arxiv.org/pdf/2505.15957" TargetMode="External"/><Relationship Id="rId7" Type="http://schemas.openxmlformats.org/officeDocument/2006/relationships/hyperlink" Target="https://arxiv.org/html/2506.21875v1" TargetMode="External"/><Relationship Id="rId2" Type="http://schemas.openxmlformats.org/officeDocument/2006/relationships/hyperlink" Target="https://aclanthology.org/2025.findings-acl.1041.pdf" TargetMode="External"/><Relationship Id="rId1" Type="http://schemas.openxmlformats.org/officeDocument/2006/relationships/slideLayout" Target="../slideLayouts/slideLayout2.xml"/><Relationship Id="rId6" Type="http://schemas.openxmlformats.org/officeDocument/2006/relationships/hyperlink" Target="https://arxiv.org/pdf/2410.19168" TargetMode="External"/><Relationship Id="rId5" Type="http://schemas.openxmlformats.org/officeDocument/2006/relationships/hyperlink" Target="https://arxiv.org/html/2411.05361v1" TargetMode="External"/><Relationship Id="rId4" Type="http://schemas.openxmlformats.org/officeDocument/2006/relationships/hyperlink" Target="https://arxiv.org/pdf/2406.16020" TargetMode="Externa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8" Type="http://schemas.openxmlformats.org/officeDocument/2006/relationships/hyperlink" Target="https://arxiv.org/pdf/2603.10420" TargetMode="External"/><Relationship Id="rId3" Type="http://schemas.openxmlformats.org/officeDocument/2006/relationships/hyperlink" Target="https://arxiv.org/html/2501.14350v1" TargetMode="External"/><Relationship Id="rId7" Type="http://schemas.openxmlformats.org/officeDocument/2006/relationships/hyperlink" Target="https://arxiv.org/pdf/2410.18908" TargetMode="External"/><Relationship Id="rId2" Type="http://schemas.openxmlformats.org/officeDocument/2006/relationships/hyperlink" Target="https://doi.org/10.48550/arXiv.2507.05727" TargetMode="External"/><Relationship Id="rId1" Type="http://schemas.openxmlformats.org/officeDocument/2006/relationships/slideLayout" Target="../slideLayouts/slideLayout2.xml"/><Relationship Id="rId6" Type="http://schemas.openxmlformats.org/officeDocument/2006/relationships/hyperlink" Target="https://arxiv.org/html/2601.21337v1" TargetMode="External"/><Relationship Id="rId5" Type="http://schemas.openxmlformats.org/officeDocument/2006/relationships/hyperlink" Target="https://doi.org/10.48550/arXiv.2507.16632" TargetMode="External"/><Relationship Id="rId10" Type="http://schemas.openxmlformats.org/officeDocument/2006/relationships/hyperlink" Target="https://arxiv.org/abs/2504.18425" TargetMode="External"/><Relationship Id="rId4" Type="http://schemas.openxmlformats.org/officeDocument/2006/relationships/hyperlink" Target="https://doi.org/10.48550/arXiv.2412.03075" TargetMode="External"/><Relationship Id="rId9" Type="http://schemas.openxmlformats.org/officeDocument/2006/relationships/hyperlink" Target="https://arxiv.org/pdf/2407.04675" TargetMode="External"/></Relationships>
</file>

<file path=ppt/slides/_rels/slide109.xml.rels><?xml version="1.0" encoding="UTF-8" standalone="yes"?>
<Relationships xmlns="http://schemas.openxmlformats.org/package/2006/relationships"><Relationship Id="rId3" Type="http://schemas.openxmlformats.org/officeDocument/2006/relationships/hyperlink" Target="https://www.preprints.org/manuscript/202510.2478" TargetMode="External"/><Relationship Id="rId2" Type="http://schemas.openxmlformats.org/officeDocument/2006/relationships/hyperlink" Target="https://doi.org/10.1371/journal.pone.0324048" TargetMode="External"/><Relationship Id="rId1" Type="http://schemas.openxmlformats.org/officeDocument/2006/relationships/slideLayout" Target="../slideLayouts/slideLayout2.xml"/><Relationship Id="rId4" Type="http://schemas.openxmlformats.org/officeDocument/2006/relationships/hyperlink" Target="https://arxiv.org/html/2511.08230v1" TargetMode="External"/></Relationships>
</file>

<file path=ppt/slides/_rels/slide110.xml.rels><?xml version="1.0" encoding="UTF-8" standalone="yes"?>
<Relationships xmlns="http://schemas.openxmlformats.org/package/2006/relationships"><Relationship Id="rId8" Type="http://schemas.openxmlformats.org/officeDocument/2006/relationships/hyperlink" Target="https://www.nature.com/articles/s41598-025-08544-8" TargetMode="External"/><Relationship Id="rId3" Type="http://schemas.openxmlformats.org/officeDocument/2006/relationships/hyperlink" Target="https://arxiv.org/pdf/2412.03230" TargetMode="External"/><Relationship Id="rId7" Type="http://schemas.openxmlformats.org/officeDocument/2006/relationships/hyperlink" Target="https://www.isca-archive.org/speechprosody_2024/wu24_speechprosody.pdf" TargetMode="External"/><Relationship Id="rId2" Type="http://schemas.openxmlformats.org/officeDocument/2006/relationships/hyperlink" Target="https://www.isca-archive.org/interspeech_2025/zhengjie25_interspeech.pdf" TargetMode="External"/><Relationship Id="rId1" Type="http://schemas.openxmlformats.org/officeDocument/2006/relationships/slideLayout" Target="../slideLayouts/slideLayout2.xml"/><Relationship Id="rId6" Type="http://schemas.openxmlformats.org/officeDocument/2006/relationships/hyperlink" Target="https://www.sciencedirect.com/science/article/pii/S2666307424000573" TargetMode="External"/><Relationship Id="rId11" Type="http://schemas.openxmlformats.org/officeDocument/2006/relationships/hyperlink" Target="https://arxiv.org/pdf/2507.18061" TargetMode="External"/><Relationship Id="rId5" Type="http://schemas.openxmlformats.org/officeDocument/2006/relationships/hyperlink" Target="https://arxiv.org/abs/2409.13262" TargetMode="External"/><Relationship Id="rId10" Type="http://schemas.openxmlformats.org/officeDocument/2006/relationships/hyperlink" Target="https://link.springer.com/article/10.1007/s11831-020-09414-4" TargetMode="External"/><Relationship Id="rId4" Type="http://schemas.openxmlformats.org/officeDocument/2006/relationships/hyperlink" Target="https://arxiv.org/pdf/2406.04595" TargetMode="External"/><Relationship Id="rId9" Type="http://schemas.openxmlformats.org/officeDocument/2006/relationships/hyperlink" Target="https://www.mdpi.com/2227-7390/14/1/145" TargetMode="External"/></Relationships>
</file>

<file path=ppt/slides/_rels/slide111.xml.rels><?xml version="1.0" encoding="UTF-8" standalone="yes"?>
<Relationships xmlns="http://schemas.openxmlformats.org/package/2006/relationships"><Relationship Id="rId8" Type="http://schemas.openxmlformats.org/officeDocument/2006/relationships/hyperlink" Target="https://doi.org/10.1016/j.csl.2026.101942" TargetMode="External"/><Relationship Id="rId3" Type="http://schemas.openxmlformats.org/officeDocument/2006/relationships/hyperlink" Target="https://github.com/SpeechColab/Leaderboard" TargetMode="External"/><Relationship Id="rId7" Type="http://schemas.openxmlformats.org/officeDocument/2006/relationships/hyperlink" Target="https://arxiv.org/html/2505.23170v1" TargetMode="External"/><Relationship Id="rId2" Type="http://schemas.openxmlformats.org/officeDocument/2006/relationships/hyperlink" Target="https://journals.plos.org/plosone/article?id=10.1371/journal.pone.0325045" TargetMode="External"/><Relationship Id="rId1" Type="http://schemas.openxmlformats.org/officeDocument/2006/relationships/slideLayout" Target="../slideLayouts/slideLayout2.xml"/><Relationship Id="rId6" Type="http://schemas.openxmlformats.org/officeDocument/2006/relationships/hyperlink" Target="https://www.isca-archive.org/interspeech_2025/wang25v_interspeech.pdf" TargetMode="External"/><Relationship Id="rId5" Type="http://schemas.openxmlformats.org/officeDocument/2006/relationships/hyperlink" Target="https://aclanthology.org/2025.computel-main.20.pdf" TargetMode="External"/><Relationship Id="rId4" Type="http://schemas.openxmlformats.org/officeDocument/2006/relationships/hyperlink" Target="https://www.sciencedirect.com/science/article/pii/S016763932400092X" TargetMode="Externa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A06EF-7D40-8910-91C2-5A18160EE1E8}"/>
              </a:ext>
            </a:extLst>
          </p:cNvPr>
          <p:cNvSpPr>
            <a:spLocks noGrp="1"/>
          </p:cNvSpPr>
          <p:nvPr>
            <p:ph type="ctrTitle"/>
          </p:nvPr>
        </p:nvSpPr>
        <p:spPr/>
        <p:txBody>
          <a:bodyPr/>
          <a:lstStyle/>
          <a:p>
            <a:r>
              <a:rPr lang="de-DE" dirty="0"/>
              <a:t>Thema</a:t>
            </a:r>
          </a:p>
        </p:txBody>
      </p:sp>
      <p:sp>
        <p:nvSpPr>
          <p:cNvPr id="3" name="Subtitle 2">
            <a:extLst>
              <a:ext uri="{FF2B5EF4-FFF2-40B4-BE49-F238E27FC236}">
                <a16:creationId xmlns:a16="http://schemas.microsoft.com/office/drawing/2014/main" id="{1F6F7023-F6F4-0FC3-22CD-11545DFE3401}"/>
              </a:ext>
            </a:extLst>
          </p:cNvPr>
          <p:cNvSpPr>
            <a:spLocks noGrp="1"/>
          </p:cNvSpPr>
          <p:nvPr>
            <p:ph type="subTitle" idx="1"/>
          </p:nvPr>
        </p:nvSpPr>
        <p:spPr/>
        <p:txBody>
          <a:bodyPr>
            <a:normAutofit fontScale="92500" lnSpcReduction="20000"/>
          </a:bodyPr>
          <a:lstStyle/>
          <a:p>
            <a:r>
              <a:rPr lang="de-DE" dirty="0"/>
              <a:t>Wie gut können multimodale LLMs uns helfen Mandarin Lernenden Feedback im Hinblick auf die Aussprache zu geben?</a:t>
            </a:r>
          </a:p>
          <a:p>
            <a:r>
              <a:rPr lang="de-DE" dirty="0"/>
              <a:t>(Und wie gut bei Mandarin Lernenden?)</a:t>
            </a:r>
          </a:p>
          <a:p>
            <a:r>
              <a:rPr lang="de-DE" dirty="0"/>
              <a:t>Wie gut erkennt er die </a:t>
            </a:r>
            <a:r>
              <a:rPr lang="de-DE" dirty="0" err="1"/>
              <a:t>Phonemfolge</a:t>
            </a:r>
            <a:r>
              <a:rPr lang="de-DE" dirty="0"/>
              <a:t> und die Töne bzw. Vokabelverwechslung?</a:t>
            </a:r>
          </a:p>
        </p:txBody>
      </p:sp>
    </p:spTree>
    <p:extLst>
      <p:ext uri="{BB962C8B-B14F-4D97-AF65-F5344CB8AC3E}">
        <p14:creationId xmlns:p14="http://schemas.microsoft.com/office/powerpoint/2010/main" val="21768817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C82880-A82E-1A1E-B67A-4D1EE55AEC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506701B-A8B4-A0CC-C08C-5580A98B9676}"/>
              </a:ext>
            </a:extLst>
          </p:cNvPr>
          <p:cNvSpPr>
            <a:spLocks noGrp="1"/>
          </p:cNvSpPr>
          <p:nvPr>
            <p:ph type="title"/>
          </p:nvPr>
        </p:nvSpPr>
        <p:spPr/>
        <p:txBody>
          <a:bodyPr/>
          <a:lstStyle/>
          <a:p>
            <a:r>
              <a:rPr lang="de-DE" dirty="0"/>
              <a:t>Agenda</a:t>
            </a:r>
          </a:p>
        </p:txBody>
      </p:sp>
      <p:sp>
        <p:nvSpPr>
          <p:cNvPr id="3" name="Content Placeholder 2">
            <a:extLst>
              <a:ext uri="{FF2B5EF4-FFF2-40B4-BE49-F238E27FC236}">
                <a16:creationId xmlns:a16="http://schemas.microsoft.com/office/drawing/2014/main" id="{DE6545CD-E051-04A4-579B-C76BCD9FB96C}"/>
              </a:ext>
            </a:extLst>
          </p:cNvPr>
          <p:cNvSpPr>
            <a:spLocks noGrp="1"/>
          </p:cNvSpPr>
          <p:nvPr>
            <p:ph idx="1"/>
          </p:nvPr>
        </p:nvSpPr>
        <p:spPr/>
        <p:txBody>
          <a:bodyPr>
            <a:normAutofit fontScale="77500" lnSpcReduction="20000"/>
          </a:bodyPr>
          <a:lstStyle/>
          <a:p>
            <a:r>
              <a:rPr lang="de-DE" dirty="0"/>
              <a:t>Motivation: Storytelling</a:t>
            </a:r>
          </a:p>
          <a:p>
            <a:r>
              <a:rPr lang="de-DE" dirty="0"/>
              <a:t>Schlüsselworte: Wichtig für die Suche</a:t>
            </a:r>
          </a:p>
          <a:p>
            <a:r>
              <a:rPr lang="de-DE" dirty="0"/>
              <a:t>Begriffsabgrenzung: Wichtig für die Suche</a:t>
            </a:r>
          </a:p>
          <a:p>
            <a:r>
              <a:rPr lang="de-DE" dirty="0"/>
              <a:t>Probleme bei Chinesischer ASR, Töne: Hintergrundinformationen</a:t>
            </a:r>
          </a:p>
          <a:p>
            <a:r>
              <a:rPr lang="de-DE" dirty="0"/>
              <a:t>State-</a:t>
            </a:r>
            <a:r>
              <a:rPr lang="de-DE" dirty="0" err="1"/>
              <a:t>Of</a:t>
            </a:r>
            <a:r>
              <a:rPr lang="de-DE" dirty="0"/>
              <a:t>-The-Art Multimodale Modelle: Welche sollte ich testen?</a:t>
            </a:r>
          </a:p>
          <a:p>
            <a:r>
              <a:rPr lang="de-DE" dirty="0"/>
              <a:t>Benchmark Paper ASR generell: Wie bauen andere ähnliche Experimente auf (auch andere Sprachen)?</a:t>
            </a:r>
          </a:p>
          <a:p>
            <a:r>
              <a:rPr lang="de-DE" dirty="0"/>
              <a:t>Vergleich Frontiermodellen Chinesisch (Satzebene): Wie bauen andere Forscher Experimente in Chinesisch auf?</a:t>
            </a:r>
          </a:p>
          <a:p>
            <a:r>
              <a:rPr lang="de-DE" dirty="0"/>
              <a:t>Vergleich Chinesisch Phonem Ebene: Was ist bei der Phonem Ebene anders?</a:t>
            </a:r>
          </a:p>
          <a:p>
            <a:r>
              <a:rPr lang="de-DE" dirty="0"/>
              <a:t>Andere interessant Studien: Studien, die in die Richtung gehen, aber nicht ganz die Forschungsfrage treffen.</a:t>
            </a:r>
          </a:p>
          <a:p>
            <a:r>
              <a:rPr lang="de-DE" dirty="0"/>
              <a:t>Transkriptionsformen: Wie kann ich Aussprache überhaupt darstellen?</a:t>
            </a:r>
          </a:p>
          <a:p>
            <a:endParaRPr lang="de-DE" dirty="0"/>
          </a:p>
          <a:p>
            <a:endParaRPr lang="de-DE" dirty="0"/>
          </a:p>
          <a:p>
            <a:endParaRPr lang="de-DE" dirty="0"/>
          </a:p>
          <a:p>
            <a:endParaRPr lang="de-DE" dirty="0"/>
          </a:p>
          <a:p>
            <a:endParaRPr lang="de-DE" dirty="0"/>
          </a:p>
          <a:p>
            <a:pPr lvl="1"/>
            <a:endParaRPr lang="de-DE" dirty="0"/>
          </a:p>
        </p:txBody>
      </p:sp>
    </p:spTree>
    <p:extLst>
      <p:ext uri="{BB962C8B-B14F-4D97-AF65-F5344CB8AC3E}">
        <p14:creationId xmlns:p14="http://schemas.microsoft.com/office/powerpoint/2010/main" val="11319971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00A2C9-817E-1DE9-A472-0DD391935A91}"/>
              </a:ext>
            </a:extLst>
          </p:cNvPr>
          <p:cNvSpPr>
            <a:spLocks noGrp="1"/>
          </p:cNvSpPr>
          <p:nvPr>
            <p:ph type="title"/>
          </p:nvPr>
        </p:nvSpPr>
        <p:spPr/>
        <p:txBody>
          <a:bodyPr/>
          <a:lstStyle/>
          <a:p>
            <a:r>
              <a:rPr lang="de-DE" dirty="0"/>
              <a:t>Motivation, Story </a:t>
            </a:r>
            <a:r>
              <a:rPr lang="de-DE" dirty="0" err="1"/>
              <a:t>telling</a:t>
            </a:r>
            <a:endParaRPr lang="de-DE" dirty="0"/>
          </a:p>
        </p:txBody>
      </p:sp>
      <p:sp>
        <p:nvSpPr>
          <p:cNvPr id="3" name="Content Placeholder 2">
            <a:extLst>
              <a:ext uri="{FF2B5EF4-FFF2-40B4-BE49-F238E27FC236}">
                <a16:creationId xmlns:a16="http://schemas.microsoft.com/office/drawing/2014/main" id="{DEAD5543-F1DC-8B1F-6E9C-8EB212F5EA64}"/>
              </a:ext>
            </a:extLst>
          </p:cNvPr>
          <p:cNvSpPr>
            <a:spLocks noGrp="1"/>
          </p:cNvSpPr>
          <p:nvPr>
            <p:ph idx="1"/>
          </p:nvPr>
        </p:nvSpPr>
        <p:spPr/>
        <p:txBody>
          <a:bodyPr>
            <a:normAutofit/>
          </a:bodyPr>
          <a:lstStyle/>
          <a:p>
            <a:r>
              <a:rPr lang="de-DE" dirty="0"/>
              <a:t>Ist es möglich mit multimodalen LLMs einen Vokabeltrainer für Mandarin zu bauen? </a:t>
            </a:r>
          </a:p>
          <a:p>
            <a:pPr lvl="1"/>
            <a:r>
              <a:rPr lang="de-DE" dirty="0"/>
              <a:t>Jeder kann ohne technisches Vorwissen einen Vokabeltrainer mit LLMs bauen.</a:t>
            </a:r>
          </a:p>
          <a:p>
            <a:pPr lvl="1"/>
            <a:r>
              <a:rPr lang="de-DE" dirty="0"/>
              <a:t>Kann ein LLM Aussprachen eines Lernenden erkennen/transkribieren (</a:t>
            </a:r>
            <a:r>
              <a:rPr lang="de-DE" dirty="0" err="1"/>
              <a:t>Phonemebene</a:t>
            </a:r>
            <a:r>
              <a:rPr lang="de-DE" dirty="0"/>
              <a:t>, </a:t>
            </a:r>
            <a:r>
              <a:rPr lang="de-DE" dirty="0" err="1"/>
              <a:t>Tonebene</a:t>
            </a:r>
            <a:r>
              <a:rPr lang="de-DE" dirty="0"/>
              <a:t>, Wortebene)? – Viele Arbeiten </a:t>
            </a:r>
            <a:r>
              <a:rPr lang="de-DE" dirty="0" err="1"/>
              <a:t>fokusieren</a:t>
            </a:r>
            <a:r>
              <a:rPr lang="de-DE" dirty="0"/>
              <a:t> sich eher auf die Wortebene als auf </a:t>
            </a:r>
            <a:r>
              <a:rPr lang="de-DE" dirty="0" err="1"/>
              <a:t>Phonemebene</a:t>
            </a:r>
            <a:r>
              <a:rPr lang="de-DE" dirty="0"/>
              <a:t>/</a:t>
            </a:r>
            <a:r>
              <a:rPr lang="de-DE" dirty="0" err="1"/>
              <a:t>Tonebene</a:t>
            </a:r>
            <a:r>
              <a:rPr lang="de-DE" dirty="0"/>
              <a:t>.</a:t>
            </a:r>
          </a:p>
          <a:p>
            <a:pPr lvl="1"/>
            <a:r>
              <a:rPr lang="de-DE" dirty="0"/>
              <a:t>Wenn es erkannt wird, kann es einfach mit Referenzaussprache abgeglichen werden. </a:t>
            </a:r>
          </a:p>
          <a:p>
            <a:pPr lvl="1"/>
            <a:r>
              <a:rPr lang="de-DE" dirty="0"/>
              <a:t>Dadurch ist Fehleranalyse und Tipps für die Verbesserung möglich. </a:t>
            </a:r>
          </a:p>
          <a:p>
            <a:pPr marL="457200" lvl="1" indent="0">
              <a:buNone/>
            </a:pPr>
            <a:endParaRPr lang="de-DE" dirty="0"/>
          </a:p>
        </p:txBody>
      </p:sp>
    </p:spTree>
    <p:extLst>
      <p:ext uri="{BB962C8B-B14F-4D97-AF65-F5344CB8AC3E}">
        <p14:creationId xmlns:p14="http://schemas.microsoft.com/office/powerpoint/2010/main" val="205159315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A7A6F4-FA93-382E-EF53-C4958D59F35B}"/>
              </a:ext>
            </a:extLst>
          </p:cNvPr>
          <p:cNvSpPr>
            <a:spLocks noGrp="1"/>
          </p:cNvSpPr>
          <p:nvPr>
            <p:ph type="title"/>
          </p:nvPr>
        </p:nvSpPr>
        <p:spPr/>
        <p:txBody>
          <a:bodyPr>
            <a:normAutofit fontScale="90000"/>
          </a:bodyPr>
          <a:lstStyle/>
          <a:p>
            <a:r>
              <a:rPr lang="de-DE" dirty="0"/>
              <a:t>Können multimodale </a:t>
            </a:r>
            <a:r>
              <a:rPr lang="de-DE" dirty="0" err="1"/>
              <a:t>Foundation</a:t>
            </a:r>
            <a:r>
              <a:rPr lang="de-DE" dirty="0"/>
              <a:t> Models Mandarin phonetisch </a:t>
            </a:r>
            <a:r>
              <a:rPr lang="de-DE" i="1" dirty="0"/>
              <a:t>und</a:t>
            </a:r>
            <a:r>
              <a:rPr lang="de-DE" dirty="0"/>
              <a:t> tonal transkribieren?</a:t>
            </a:r>
          </a:p>
        </p:txBody>
      </p:sp>
      <p:sp>
        <p:nvSpPr>
          <p:cNvPr id="3" name="Content Placeholder 2">
            <a:extLst>
              <a:ext uri="{FF2B5EF4-FFF2-40B4-BE49-F238E27FC236}">
                <a16:creationId xmlns:a16="http://schemas.microsoft.com/office/drawing/2014/main" id="{E2F5284D-7089-23BB-7A27-D7F14A7684C8}"/>
              </a:ext>
            </a:extLst>
          </p:cNvPr>
          <p:cNvSpPr>
            <a:spLocks noGrp="1"/>
          </p:cNvSpPr>
          <p:nvPr>
            <p:ph idx="1"/>
          </p:nvPr>
        </p:nvSpPr>
        <p:spPr/>
        <p:txBody>
          <a:bodyPr/>
          <a:lstStyle/>
          <a:p>
            <a:r>
              <a:rPr lang="de-DE" dirty="0"/>
              <a:t>Forschungsgegenstand: die </a:t>
            </a:r>
            <a:r>
              <a:rPr lang="de-DE" b="1" dirty="0"/>
              <a:t>Transkriptionsleistung selbst</a:t>
            </a:r>
            <a:r>
              <a:rPr lang="de-DE" dirty="0"/>
              <a:t> — auf drei Ebenen: Wort/Silbe, Phonem, </a:t>
            </a:r>
            <a:r>
              <a:rPr lang="de-DE" b="1" dirty="0"/>
              <a:t>Ton</a:t>
            </a:r>
            <a:endParaRPr lang="de-DE" dirty="0"/>
          </a:p>
          <a:p>
            <a:r>
              <a:rPr lang="de-DE" dirty="0"/>
              <a:t>Off-</a:t>
            </a:r>
            <a:r>
              <a:rPr lang="de-DE" dirty="0" err="1"/>
              <a:t>the</a:t>
            </a:r>
            <a:r>
              <a:rPr lang="de-DE" dirty="0"/>
              <a:t>-</a:t>
            </a:r>
            <a:r>
              <a:rPr lang="de-DE" dirty="0" err="1"/>
              <a:t>shelf</a:t>
            </a:r>
            <a:r>
              <a:rPr lang="de-DE" dirty="0"/>
              <a:t>-Perspektive: Wie gut sind aktuelle Modelle </a:t>
            </a:r>
            <a:r>
              <a:rPr lang="de-DE" i="1" dirty="0"/>
              <a:t>ohne</a:t>
            </a:r>
            <a:r>
              <a:rPr lang="de-DE" dirty="0"/>
              <a:t> Finetuning, </a:t>
            </a:r>
            <a:r>
              <a:rPr lang="de-DE" i="1" dirty="0"/>
              <a:t>ohne</a:t>
            </a:r>
            <a:r>
              <a:rPr lang="de-DE" dirty="0"/>
              <a:t> Modelloperation?</a:t>
            </a:r>
          </a:p>
          <a:p>
            <a:r>
              <a:rPr lang="de-DE" dirty="0"/>
              <a:t>Motivation (nicht Ziel): belastbares Aussprache-Feedback für Mandarin-Lernende setzt zuverlässige tonale Transkription voraus</a:t>
            </a:r>
          </a:p>
          <a:p>
            <a:endParaRPr lang="de-DE" dirty="0"/>
          </a:p>
        </p:txBody>
      </p:sp>
    </p:spTree>
    <p:extLst>
      <p:ext uri="{BB962C8B-B14F-4D97-AF65-F5344CB8AC3E}">
        <p14:creationId xmlns:p14="http://schemas.microsoft.com/office/powerpoint/2010/main" val="17319766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A85475-13E8-D848-5D60-B3B6D1F256C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A483A6-B04F-69DC-62F5-DCED025BFE3E}"/>
              </a:ext>
            </a:extLst>
          </p:cNvPr>
          <p:cNvSpPr>
            <a:spLocks noGrp="1"/>
          </p:cNvSpPr>
          <p:nvPr>
            <p:ph type="title"/>
          </p:nvPr>
        </p:nvSpPr>
        <p:spPr/>
        <p:txBody>
          <a:bodyPr/>
          <a:lstStyle/>
          <a:p>
            <a:r>
              <a:rPr lang="de-DE" dirty="0"/>
              <a:t>Detailfragen</a:t>
            </a:r>
          </a:p>
        </p:txBody>
      </p:sp>
      <p:sp>
        <p:nvSpPr>
          <p:cNvPr id="3" name="Content Placeholder 2">
            <a:extLst>
              <a:ext uri="{FF2B5EF4-FFF2-40B4-BE49-F238E27FC236}">
                <a16:creationId xmlns:a16="http://schemas.microsoft.com/office/drawing/2014/main" id="{EFA2A57E-8871-3F35-38E5-A7AFE84CB38C}"/>
              </a:ext>
            </a:extLst>
          </p:cNvPr>
          <p:cNvSpPr>
            <a:spLocks noGrp="1"/>
          </p:cNvSpPr>
          <p:nvPr>
            <p:ph idx="1"/>
          </p:nvPr>
        </p:nvSpPr>
        <p:spPr>
          <a:xfrm>
            <a:off x="838199" y="1465545"/>
            <a:ext cx="10811005" cy="4711418"/>
          </a:xfrm>
        </p:spPr>
        <p:txBody>
          <a:bodyPr>
            <a:normAutofit fontScale="77500" lnSpcReduction="20000"/>
          </a:bodyPr>
          <a:lstStyle/>
          <a:p>
            <a:pPr marL="0" indent="0">
              <a:buNone/>
            </a:pPr>
            <a:r>
              <a:rPr lang="en-US" dirty="0"/>
              <a:t>1. </a:t>
            </a:r>
            <a:r>
              <a:rPr lang="en-US" dirty="0" err="1"/>
              <a:t>Chinesische</a:t>
            </a:r>
            <a:r>
              <a:rPr lang="en-US" dirty="0"/>
              <a:t> </a:t>
            </a:r>
            <a:r>
              <a:rPr lang="en-US" dirty="0" err="1"/>
              <a:t>Zeichen</a:t>
            </a:r>
            <a:r>
              <a:rPr lang="en-US" dirty="0"/>
              <a:t> </a:t>
            </a:r>
            <a:r>
              <a:rPr lang="en-US" dirty="0" err="1"/>
              <a:t>zu</a:t>
            </a:r>
            <a:r>
              <a:rPr lang="en-US" dirty="0"/>
              <a:t> </a:t>
            </a:r>
            <a:r>
              <a:rPr lang="en-US" dirty="0" err="1"/>
              <a:t>Lautschrift</a:t>
            </a:r>
            <a:r>
              <a:rPr lang="en-US" dirty="0"/>
              <a:t> (</a:t>
            </a:r>
            <a:r>
              <a:rPr lang="en-US" dirty="0" err="1"/>
              <a:t>Vergleich</a:t>
            </a:r>
            <a:r>
              <a:rPr lang="en-US" dirty="0"/>
              <a:t> </a:t>
            </a:r>
            <a:r>
              <a:rPr lang="en-US" dirty="0" err="1"/>
              <a:t>verschiedener</a:t>
            </a:r>
            <a:r>
              <a:rPr lang="en-US" dirty="0"/>
              <a:t> SOTA LLMs)</a:t>
            </a:r>
          </a:p>
          <a:p>
            <a:pPr marL="0" indent="0">
              <a:buNone/>
            </a:pPr>
            <a:r>
              <a:rPr lang="en-US" dirty="0"/>
              <a:t>1.1 Kann </a:t>
            </a:r>
            <a:r>
              <a:rPr lang="en-US" dirty="0" err="1"/>
              <a:t>ein</a:t>
            </a:r>
            <a:r>
              <a:rPr lang="en-US" dirty="0"/>
              <a:t> LLM </a:t>
            </a:r>
            <a:r>
              <a:rPr lang="en-US" dirty="0" err="1"/>
              <a:t>Zeichen</a:t>
            </a:r>
            <a:r>
              <a:rPr lang="en-US" dirty="0"/>
              <a:t> in Pinyin </a:t>
            </a:r>
            <a:r>
              <a:rPr lang="en-US" dirty="0" err="1"/>
              <a:t>ohne</a:t>
            </a:r>
            <a:r>
              <a:rPr lang="en-US" dirty="0"/>
              <a:t> </a:t>
            </a:r>
            <a:r>
              <a:rPr lang="en-US" dirty="0" err="1"/>
              <a:t>Töne</a:t>
            </a:r>
            <a:r>
              <a:rPr lang="en-US" dirty="0"/>
              <a:t> </a:t>
            </a:r>
            <a:r>
              <a:rPr lang="en-US" dirty="0" err="1"/>
              <a:t>umwandeln</a:t>
            </a:r>
            <a:r>
              <a:rPr lang="en-US" dirty="0"/>
              <a:t>?</a:t>
            </a:r>
          </a:p>
          <a:p>
            <a:pPr marL="0" indent="0">
              <a:buNone/>
            </a:pPr>
            <a:r>
              <a:rPr lang="en-US" dirty="0"/>
              <a:t>1.2 Kann </a:t>
            </a:r>
            <a:r>
              <a:rPr lang="en-US" dirty="0" err="1"/>
              <a:t>ein</a:t>
            </a:r>
            <a:r>
              <a:rPr lang="en-US" dirty="0"/>
              <a:t> LLM </a:t>
            </a:r>
            <a:r>
              <a:rPr lang="en-US" dirty="0" err="1"/>
              <a:t>Zeichen</a:t>
            </a:r>
            <a:r>
              <a:rPr lang="en-US" dirty="0"/>
              <a:t> in Pinyin </a:t>
            </a:r>
            <a:r>
              <a:rPr lang="en-US" dirty="0" err="1"/>
              <a:t>mit</a:t>
            </a:r>
            <a:r>
              <a:rPr lang="en-US" dirty="0"/>
              <a:t> </a:t>
            </a:r>
            <a:r>
              <a:rPr lang="en-US" dirty="0" err="1"/>
              <a:t>Tönen</a:t>
            </a:r>
            <a:r>
              <a:rPr lang="en-US" dirty="0"/>
              <a:t> </a:t>
            </a:r>
            <a:r>
              <a:rPr lang="en-US" dirty="0" err="1"/>
              <a:t>umwandeln</a:t>
            </a:r>
            <a:r>
              <a:rPr lang="en-US" dirty="0"/>
              <a:t>?</a:t>
            </a:r>
          </a:p>
          <a:p>
            <a:pPr marL="0" indent="0">
              <a:buNone/>
            </a:pPr>
            <a:endParaRPr lang="en-US" dirty="0"/>
          </a:p>
          <a:p>
            <a:pPr marL="0" indent="0">
              <a:buNone/>
            </a:pPr>
            <a:r>
              <a:rPr lang="en-US" dirty="0"/>
              <a:t>2. </a:t>
            </a:r>
            <a:r>
              <a:rPr lang="en-US" dirty="0" err="1"/>
              <a:t>Muttersprachler</a:t>
            </a:r>
            <a:r>
              <a:rPr lang="en-US" dirty="0"/>
              <a:t> (</a:t>
            </a:r>
            <a:r>
              <a:rPr lang="en-US" dirty="0" err="1"/>
              <a:t>Vergleich</a:t>
            </a:r>
            <a:r>
              <a:rPr lang="en-US" dirty="0"/>
              <a:t> </a:t>
            </a:r>
            <a:r>
              <a:rPr lang="en-US" dirty="0" err="1"/>
              <a:t>verschiedener</a:t>
            </a:r>
            <a:r>
              <a:rPr lang="en-US" dirty="0"/>
              <a:t> SOTA LLMs)</a:t>
            </a:r>
          </a:p>
          <a:p>
            <a:pPr marL="0" indent="0">
              <a:buNone/>
            </a:pPr>
            <a:r>
              <a:rPr lang="de-DE" dirty="0"/>
              <a:t>2.1 Kann ein LLM Sprache von Muttersprachlern in Pinyin ohne Töne umwandeln</a:t>
            </a:r>
            <a:r>
              <a:rPr lang="en-US" dirty="0"/>
              <a:t>?</a:t>
            </a:r>
            <a:endParaRPr lang="de-DE" dirty="0"/>
          </a:p>
          <a:p>
            <a:pPr marL="0" indent="0">
              <a:buNone/>
            </a:pPr>
            <a:r>
              <a:rPr lang="de-DE" dirty="0"/>
              <a:t>2.2 Kann ein LLM Sprache von Muttersprachlern in Pinyin mit Töne umwandeln</a:t>
            </a:r>
            <a:r>
              <a:rPr lang="en-US" dirty="0"/>
              <a:t> ?</a:t>
            </a:r>
            <a:endParaRPr lang="de-DE" dirty="0"/>
          </a:p>
          <a:p>
            <a:pPr marL="0" indent="0">
              <a:buNone/>
            </a:pPr>
            <a:r>
              <a:rPr lang="de-DE" dirty="0"/>
              <a:t>2.3 Kann ein LLM Sprache von Muttersprachlern in Wörter (Zeichen) umwandeln</a:t>
            </a:r>
            <a:r>
              <a:rPr lang="en-US" dirty="0"/>
              <a:t>?</a:t>
            </a:r>
            <a:endParaRPr lang="de-DE" dirty="0"/>
          </a:p>
          <a:p>
            <a:pPr marL="0" indent="0">
              <a:buNone/>
            </a:pPr>
            <a:endParaRPr lang="de-DE" dirty="0"/>
          </a:p>
          <a:p>
            <a:pPr marL="0" indent="0">
              <a:buNone/>
            </a:pPr>
            <a:r>
              <a:rPr lang="de-DE" dirty="0"/>
              <a:t>3. Fremdsprachler </a:t>
            </a:r>
            <a:r>
              <a:rPr lang="en-US" dirty="0"/>
              <a:t>(</a:t>
            </a:r>
            <a:r>
              <a:rPr lang="en-US" dirty="0" err="1"/>
              <a:t>Vergleich</a:t>
            </a:r>
            <a:r>
              <a:rPr lang="en-US" dirty="0"/>
              <a:t> </a:t>
            </a:r>
            <a:r>
              <a:rPr lang="en-US" dirty="0" err="1"/>
              <a:t>verschiedener</a:t>
            </a:r>
            <a:r>
              <a:rPr lang="en-US" dirty="0"/>
              <a:t> SOTA LLMs)</a:t>
            </a:r>
            <a:endParaRPr lang="de-DE" dirty="0"/>
          </a:p>
          <a:p>
            <a:pPr marL="0" indent="0">
              <a:buNone/>
            </a:pPr>
            <a:r>
              <a:rPr lang="de-DE" dirty="0"/>
              <a:t>3.1 Kann ein LLM Sprache von Nichtmuttersprachlern in Pinyin ohne Töne umwandeln</a:t>
            </a:r>
            <a:r>
              <a:rPr lang="en-US" dirty="0"/>
              <a:t>?</a:t>
            </a:r>
            <a:endParaRPr lang="de-DE" dirty="0"/>
          </a:p>
          <a:p>
            <a:pPr marL="0" indent="0">
              <a:buNone/>
            </a:pPr>
            <a:r>
              <a:rPr lang="de-DE" dirty="0"/>
              <a:t>3.2 Kann ein LLM Sprache von Nichtmuttersprachlern in Pinyin mit Töne umwandeln?</a:t>
            </a:r>
          </a:p>
          <a:p>
            <a:pPr marL="0" indent="0">
              <a:buNone/>
            </a:pPr>
            <a:r>
              <a:rPr lang="de-DE" dirty="0"/>
              <a:t>3.3 Kann ein LLM Sprache von Nichtmuttersprachlern in Wörter (Zeichen) umwandeln?</a:t>
            </a:r>
          </a:p>
        </p:txBody>
      </p:sp>
    </p:spTree>
    <p:extLst>
      <p:ext uri="{BB962C8B-B14F-4D97-AF65-F5344CB8AC3E}">
        <p14:creationId xmlns:p14="http://schemas.microsoft.com/office/powerpoint/2010/main" val="2603733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6983E-C87B-3B95-4971-667E6CDA2519}"/>
              </a:ext>
            </a:extLst>
          </p:cNvPr>
          <p:cNvSpPr>
            <a:spLocks noGrp="1"/>
          </p:cNvSpPr>
          <p:nvPr>
            <p:ph type="title"/>
          </p:nvPr>
        </p:nvSpPr>
        <p:spPr/>
        <p:txBody>
          <a:bodyPr/>
          <a:lstStyle/>
          <a:p>
            <a:r>
              <a:rPr lang="de-DE" dirty="0"/>
              <a:t>Zusatzfragen</a:t>
            </a:r>
          </a:p>
        </p:txBody>
      </p:sp>
      <p:sp>
        <p:nvSpPr>
          <p:cNvPr id="3" name="Content Placeholder 2">
            <a:extLst>
              <a:ext uri="{FF2B5EF4-FFF2-40B4-BE49-F238E27FC236}">
                <a16:creationId xmlns:a16="http://schemas.microsoft.com/office/drawing/2014/main" id="{21702D38-1717-614A-F7BD-BCCF912A4872}"/>
              </a:ext>
            </a:extLst>
          </p:cNvPr>
          <p:cNvSpPr>
            <a:spLocks noGrp="1"/>
          </p:cNvSpPr>
          <p:nvPr>
            <p:ph idx="1"/>
          </p:nvPr>
        </p:nvSpPr>
        <p:spPr/>
        <p:txBody>
          <a:bodyPr/>
          <a:lstStyle/>
          <a:p>
            <a:pPr marL="514350" indent="-514350">
              <a:buAutoNum type="arabicPeriod"/>
            </a:pPr>
            <a:r>
              <a:rPr lang="de-DE" dirty="0"/>
              <a:t>Welches </a:t>
            </a:r>
            <a:r>
              <a:rPr lang="de-DE" dirty="0" err="1"/>
              <a:t>Transskribierungssystem</a:t>
            </a:r>
            <a:r>
              <a:rPr lang="de-DE" dirty="0"/>
              <a:t> ist das beste?</a:t>
            </a:r>
          </a:p>
          <a:p>
            <a:pPr marL="514350" indent="-514350">
              <a:buAutoNum type="arabicPeriod"/>
            </a:pPr>
            <a:r>
              <a:rPr lang="de-DE" dirty="0"/>
              <a:t>Vergleich mit traditionellen Verfahren.</a:t>
            </a:r>
          </a:p>
          <a:p>
            <a:pPr marL="514350" indent="-514350">
              <a:buAutoNum type="arabicPeriod"/>
            </a:pPr>
            <a:r>
              <a:rPr lang="de-DE" dirty="0"/>
              <a:t>Fehleranalyse</a:t>
            </a:r>
          </a:p>
          <a:p>
            <a:pPr marL="514350" indent="-514350">
              <a:buAutoNum type="arabicPeriod"/>
            </a:pPr>
            <a:endParaRPr lang="de-DE" dirty="0"/>
          </a:p>
          <a:p>
            <a:pPr marL="514350" indent="-514350">
              <a:buAutoNum type="arabicPeriod"/>
            </a:pPr>
            <a:endParaRPr lang="de-DE" dirty="0"/>
          </a:p>
          <a:p>
            <a:pPr marL="514350" indent="-514350">
              <a:buAutoNum type="arabicPeriod"/>
            </a:pPr>
            <a:endParaRPr lang="de-DE" dirty="0"/>
          </a:p>
        </p:txBody>
      </p:sp>
    </p:spTree>
    <p:extLst>
      <p:ext uri="{BB962C8B-B14F-4D97-AF65-F5344CB8AC3E}">
        <p14:creationId xmlns:p14="http://schemas.microsoft.com/office/powerpoint/2010/main" val="39343980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631553-B590-D062-A535-685BDF458773}"/>
              </a:ext>
            </a:extLst>
          </p:cNvPr>
          <p:cNvSpPr>
            <a:spLocks noGrp="1"/>
          </p:cNvSpPr>
          <p:nvPr>
            <p:ph type="title"/>
          </p:nvPr>
        </p:nvSpPr>
        <p:spPr/>
        <p:txBody>
          <a:bodyPr/>
          <a:lstStyle/>
          <a:p>
            <a:endParaRPr lang="de-DE"/>
          </a:p>
        </p:txBody>
      </p:sp>
      <p:sp>
        <p:nvSpPr>
          <p:cNvPr id="3" name="Content Placeholder 2">
            <a:extLst>
              <a:ext uri="{FF2B5EF4-FFF2-40B4-BE49-F238E27FC236}">
                <a16:creationId xmlns:a16="http://schemas.microsoft.com/office/drawing/2014/main" id="{4D837E5E-277C-87E4-4994-5EDB7BA6F546}"/>
              </a:ext>
            </a:extLst>
          </p:cNvPr>
          <p:cNvSpPr>
            <a:spLocks noGrp="1"/>
          </p:cNvSpPr>
          <p:nvPr>
            <p:ph idx="1"/>
          </p:nvPr>
        </p:nvSpPr>
        <p:spPr/>
        <p:txBody>
          <a:bodyPr/>
          <a:lstStyle/>
          <a:p>
            <a:endParaRPr lang="de-DE"/>
          </a:p>
        </p:txBody>
      </p:sp>
    </p:spTree>
    <p:extLst>
      <p:ext uri="{BB962C8B-B14F-4D97-AF65-F5344CB8AC3E}">
        <p14:creationId xmlns:p14="http://schemas.microsoft.com/office/powerpoint/2010/main" val="35425437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B895EE-BFDB-408F-6A1C-25C33946AAD4}"/>
              </a:ext>
            </a:extLst>
          </p:cNvPr>
          <p:cNvSpPr>
            <a:spLocks noGrp="1"/>
          </p:cNvSpPr>
          <p:nvPr>
            <p:ph type="title"/>
          </p:nvPr>
        </p:nvSpPr>
        <p:spPr/>
        <p:txBody>
          <a:bodyPr/>
          <a:lstStyle/>
          <a:p>
            <a:r>
              <a:rPr lang="de-DE" dirty="0"/>
              <a:t>Was lernen wir aus den </a:t>
            </a:r>
            <a:r>
              <a:rPr lang="de-DE" dirty="0" err="1"/>
              <a:t>Papern</a:t>
            </a:r>
            <a:r>
              <a:rPr lang="de-DE" dirty="0"/>
              <a:t>?</a:t>
            </a:r>
          </a:p>
        </p:txBody>
      </p:sp>
      <p:sp>
        <p:nvSpPr>
          <p:cNvPr id="3" name="Content Placeholder 2">
            <a:extLst>
              <a:ext uri="{FF2B5EF4-FFF2-40B4-BE49-F238E27FC236}">
                <a16:creationId xmlns:a16="http://schemas.microsoft.com/office/drawing/2014/main" id="{77C91C53-40B0-A034-FC3E-85ADCE527CDC}"/>
              </a:ext>
            </a:extLst>
          </p:cNvPr>
          <p:cNvSpPr>
            <a:spLocks noGrp="1"/>
          </p:cNvSpPr>
          <p:nvPr>
            <p:ph idx="1"/>
          </p:nvPr>
        </p:nvSpPr>
        <p:spPr/>
        <p:txBody>
          <a:bodyPr/>
          <a:lstStyle/>
          <a:p>
            <a:endParaRPr lang="de-DE"/>
          </a:p>
        </p:txBody>
      </p:sp>
    </p:spTree>
    <p:extLst>
      <p:ext uri="{BB962C8B-B14F-4D97-AF65-F5344CB8AC3E}">
        <p14:creationId xmlns:p14="http://schemas.microsoft.com/office/powerpoint/2010/main" val="18304337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2C997-D564-3595-1EAE-CAE9F012F392}"/>
              </a:ext>
            </a:extLst>
          </p:cNvPr>
          <p:cNvSpPr>
            <a:spLocks noGrp="1"/>
          </p:cNvSpPr>
          <p:nvPr>
            <p:ph type="title"/>
          </p:nvPr>
        </p:nvSpPr>
        <p:spPr/>
        <p:txBody>
          <a:bodyPr/>
          <a:lstStyle/>
          <a:p>
            <a:r>
              <a:rPr lang="de-DE" dirty="0"/>
              <a:t>42 Papers, vier Analysekriterien</a:t>
            </a:r>
          </a:p>
        </p:txBody>
      </p:sp>
      <p:sp>
        <p:nvSpPr>
          <p:cNvPr id="3" name="Content Placeholder 2">
            <a:extLst>
              <a:ext uri="{FF2B5EF4-FFF2-40B4-BE49-F238E27FC236}">
                <a16:creationId xmlns:a16="http://schemas.microsoft.com/office/drawing/2014/main" id="{9C1AC407-6DD5-D070-4D0B-5D493E277AC1}"/>
              </a:ext>
            </a:extLst>
          </p:cNvPr>
          <p:cNvSpPr>
            <a:spLocks noGrp="1"/>
          </p:cNvSpPr>
          <p:nvPr>
            <p:ph idx="1"/>
          </p:nvPr>
        </p:nvSpPr>
        <p:spPr/>
        <p:txBody>
          <a:bodyPr/>
          <a:lstStyle/>
          <a:p>
            <a:r>
              <a:rPr lang="de-DE" dirty="0"/>
              <a:t>6 Cluster: Speech LLMs (7) · Mandarin-Ton/Pinyin (7) · </a:t>
            </a:r>
            <a:r>
              <a:rPr lang="de-DE" dirty="0" err="1"/>
              <a:t>Pronunciation</a:t>
            </a:r>
            <a:r>
              <a:rPr lang="de-DE" dirty="0"/>
              <a:t>/MDD (7) · Benchmarks (9) · Surveys (10) · zentrale Datensätze (2) </a:t>
            </a:r>
            <a:r>
              <a:rPr lang="de-DE" dirty="0">
                <a:solidFill>
                  <a:srgbClr val="FF0000"/>
                </a:solidFill>
              </a:rPr>
              <a:t>HAB ICH WIRKLCH SO GRUPPIERT?</a:t>
            </a:r>
          </a:p>
          <a:p>
            <a:r>
              <a:rPr lang="de-DE" dirty="0"/>
              <a:t>Jedes Paper nach 4 Kriterien geprüft: </a:t>
            </a:r>
            <a:r>
              <a:rPr lang="de-DE" b="1" dirty="0"/>
              <a:t>(1) Kernaussage · (2) konkret verwendbar · (3) explizite Lücke · (4) implizite Lücke für unsere Arbeit</a:t>
            </a:r>
            <a:endParaRPr lang="de-DE" dirty="0"/>
          </a:p>
          <a:p>
            <a:r>
              <a:rPr lang="de-DE" dirty="0"/>
              <a:t>Belegprinzip: jede Aussage mit wörtlichem Zitat + Fundstelle hinterlegt</a:t>
            </a:r>
          </a:p>
          <a:p>
            <a:endParaRPr lang="de-DE" dirty="0"/>
          </a:p>
        </p:txBody>
      </p:sp>
    </p:spTree>
    <p:extLst>
      <p:ext uri="{BB962C8B-B14F-4D97-AF65-F5344CB8AC3E}">
        <p14:creationId xmlns:p14="http://schemas.microsoft.com/office/powerpoint/2010/main" val="33809182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B4DB0A-0DE8-33DC-D191-5867B9F79C1A}"/>
              </a:ext>
            </a:extLst>
          </p:cNvPr>
          <p:cNvSpPr>
            <a:spLocks noGrp="1"/>
          </p:cNvSpPr>
          <p:nvPr>
            <p:ph type="title"/>
          </p:nvPr>
        </p:nvSpPr>
        <p:spPr/>
        <p:txBody>
          <a:bodyPr/>
          <a:lstStyle/>
          <a:p>
            <a:r>
              <a:rPr lang="de-DE" dirty="0"/>
              <a:t>Wie sich die Papers ins </a:t>
            </a:r>
            <a:r>
              <a:rPr lang="de-DE" dirty="0" err="1"/>
              <a:t>Related</a:t>
            </a:r>
            <a:r>
              <a:rPr lang="de-DE" dirty="0"/>
              <a:t>-Work-Kapitel einfügen</a:t>
            </a:r>
          </a:p>
        </p:txBody>
      </p:sp>
      <p:graphicFrame>
        <p:nvGraphicFramePr>
          <p:cNvPr id="4" name="Content Placeholder 3">
            <a:extLst>
              <a:ext uri="{FF2B5EF4-FFF2-40B4-BE49-F238E27FC236}">
                <a16:creationId xmlns:a16="http://schemas.microsoft.com/office/drawing/2014/main" id="{6A5FDCC6-BE7F-125E-5671-5A81EB12F4F2}"/>
              </a:ext>
            </a:extLst>
          </p:cNvPr>
          <p:cNvGraphicFramePr>
            <a:graphicFrameLocks noGrp="1"/>
          </p:cNvGraphicFramePr>
          <p:nvPr>
            <p:ph idx="1"/>
            <p:extLst>
              <p:ext uri="{D42A27DB-BD31-4B8C-83A1-F6EECF244321}">
                <p14:modId xmlns:p14="http://schemas.microsoft.com/office/powerpoint/2010/main" val="3951686449"/>
              </p:ext>
            </p:extLst>
          </p:nvPr>
        </p:nvGraphicFramePr>
        <p:xfrm>
          <a:off x="838200" y="2016690"/>
          <a:ext cx="11023948" cy="4303230"/>
        </p:xfrm>
        <a:graphic>
          <a:graphicData uri="http://schemas.openxmlformats.org/drawingml/2006/table">
            <a:tbl>
              <a:tblPr/>
              <a:tblGrid>
                <a:gridCol w="5511974">
                  <a:extLst>
                    <a:ext uri="{9D8B030D-6E8A-4147-A177-3AD203B41FA5}">
                      <a16:colId xmlns:a16="http://schemas.microsoft.com/office/drawing/2014/main" val="1671082827"/>
                    </a:ext>
                  </a:extLst>
                </a:gridCol>
                <a:gridCol w="5511974">
                  <a:extLst>
                    <a:ext uri="{9D8B030D-6E8A-4147-A177-3AD203B41FA5}">
                      <a16:colId xmlns:a16="http://schemas.microsoft.com/office/drawing/2014/main" val="12534736"/>
                    </a:ext>
                  </a:extLst>
                </a:gridCol>
              </a:tblGrid>
              <a:tr h="531462">
                <a:tc>
                  <a:txBody>
                    <a:bodyPr/>
                    <a:lstStyle/>
                    <a:p>
                      <a:pPr algn="l">
                        <a:spcAft>
                          <a:spcPts val="1200"/>
                        </a:spcAft>
                        <a:buNone/>
                      </a:pPr>
                      <a:r>
                        <a:rPr lang="de-DE" sz="2400" b="1" i="0" dirty="0">
                          <a:solidFill>
                            <a:srgbClr val="1F2328"/>
                          </a:solidFill>
                          <a:effectLst/>
                          <a:latin typeface="Mona Sans VF"/>
                        </a:rPr>
                        <a:t>Thesis-Abschnitt</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2400" b="1" i="0">
                          <a:solidFill>
                            <a:srgbClr val="1F2328"/>
                          </a:solidFill>
                          <a:effectLst/>
                          <a:latin typeface="Mona Sans VF"/>
                        </a:rPr>
                        <a:t>Cluster / Schlüssel-Papers</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786615361"/>
                  </a:ext>
                </a:extLst>
              </a:tr>
              <a:tr h="531462">
                <a:tc>
                  <a:txBody>
                    <a:bodyPr/>
                    <a:lstStyle/>
                    <a:p>
                      <a:pPr algn="l">
                        <a:spcAft>
                          <a:spcPts val="1200"/>
                        </a:spcAft>
                        <a:buNone/>
                      </a:pPr>
                      <a:r>
                        <a:rPr lang="de-DE" sz="2400" b="0" i="0" dirty="0">
                          <a:solidFill>
                            <a:srgbClr val="1F2328"/>
                          </a:solidFill>
                          <a:effectLst/>
                          <a:latin typeface="Mona Sans VF"/>
                        </a:rPr>
                        <a:t>§2.2 Traditionelle Methoden</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2400" b="0" i="0">
                          <a:solidFill>
                            <a:srgbClr val="1F2328"/>
                          </a:solidFill>
                          <a:effectLst/>
                          <a:latin typeface="Mona Sans VF"/>
                        </a:rPr>
                        <a:t>Du, Wang MDD, Bu, Kang, Chirkova</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1332597931"/>
                  </a:ext>
                </a:extLst>
              </a:tr>
              <a:tr h="531462">
                <a:tc>
                  <a:txBody>
                    <a:bodyPr/>
                    <a:lstStyle/>
                    <a:p>
                      <a:pPr algn="l">
                        <a:spcAft>
                          <a:spcPts val="1200"/>
                        </a:spcAft>
                        <a:buNone/>
                      </a:pPr>
                      <a:r>
                        <a:rPr lang="de-DE" sz="2400" b="0" i="0" dirty="0">
                          <a:solidFill>
                            <a:srgbClr val="1F2328"/>
                          </a:solidFill>
                          <a:effectLst/>
                          <a:latin typeface="Mona Sans VF"/>
                        </a:rPr>
                        <a:t>§2.3 LLMs im Sprachenlernen</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2400" b="0" i="0">
                          <a:solidFill>
                            <a:srgbClr val="1F2328"/>
                          </a:solidFill>
                          <a:effectLst/>
                          <a:latin typeface="Mona Sans VF"/>
                        </a:rPr>
                        <a:t>Li PY-GEC, Liang PERL</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3071501076"/>
                  </a:ext>
                </a:extLst>
              </a:tr>
              <a:tr h="531462">
                <a:tc>
                  <a:txBody>
                    <a:bodyPr/>
                    <a:lstStyle/>
                    <a:p>
                      <a:pPr algn="l">
                        <a:spcAft>
                          <a:spcPts val="1200"/>
                        </a:spcAft>
                        <a:buNone/>
                      </a:pPr>
                      <a:r>
                        <a:rPr lang="de-DE" sz="2400" b="0" i="0">
                          <a:solidFill>
                            <a:srgbClr val="1F2328"/>
                          </a:solidFill>
                          <a:effectLst/>
                          <a:latin typeface="Mona Sans VF"/>
                        </a:rPr>
                        <a:t>§2.4 LLMs für chinesische Sprachverarbeitung</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2400" b="0" i="0">
                          <a:solidFill>
                            <a:srgbClr val="1F2328"/>
                          </a:solidFill>
                          <a:effectLst/>
                          <a:latin typeface="Mona Sans VF"/>
                        </a:rPr>
                        <a:t>Seed-ASR, FireRedASR(2S), Kimi-Audio, Qwen3-ASR, </a:t>
                      </a:r>
                      <a:r>
                        <a:rPr lang="de-DE" sz="2400" b="1" i="0">
                          <a:solidFill>
                            <a:srgbClr val="1F2328"/>
                          </a:solidFill>
                          <a:effectLst/>
                          <a:latin typeface="Mona Sans VF"/>
                        </a:rPr>
                        <a:t>Zhengjie PYG</a:t>
                      </a:r>
                      <a:r>
                        <a:rPr lang="de-DE" sz="2400" b="0" i="0">
                          <a:solidFill>
                            <a:srgbClr val="1F2328"/>
                          </a:solidFill>
                          <a:effectLst/>
                          <a:latin typeface="Mona Sans VF"/>
                        </a:rPr>
                        <a:t>, Chen</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3536326666"/>
                  </a:ext>
                </a:extLst>
              </a:tr>
              <a:tr h="531462">
                <a:tc>
                  <a:txBody>
                    <a:bodyPr/>
                    <a:lstStyle/>
                    <a:p>
                      <a:pPr algn="l">
                        <a:spcAft>
                          <a:spcPts val="1200"/>
                        </a:spcAft>
                        <a:buNone/>
                      </a:pPr>
                      <a:r>
                        <a:rPr lang="de-DE" sz="2400" b="0" i="0">
                          <a:solidFill>
                            <a:srgbClr val="1F2328"/>
                          </a:solidFill>
                          <a:effectLst/>
                          <a:latin typeface="Mona Sans VF"/>
                        </a:rPr>
                        <a:t>§2.5 Evaluation von Aussprache &amp; Ton</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2400" b="0" i="0">
                          <a:solidFill>
                            <a:srgbClr val="1F2328"/>
                          </a:solidFill>
                          <a:effectLst/>
                          <a:latin typeface="Mona Sans VF"/>
                        </a:rPr>
                        <a:t>Wu, Huang Review, Zou Review, Kaur Survey, </a:t>
                      </a:r>
                      <a:r>
                        <a:rPr lang="de-DE" sz="2400" b="1" i="0">
                          <a:solidFill>
                            <a:srgbClr val="1F2328"/>
                          </a:solidFill>
                          <a:effectLst/>
                          <a:latin typeface="Mona Sans VF"/>
                        </a:rPr>
                        <a:t>MSPB</a:t>
                      </a:r>
                      <a:endParaRPr lang="de-DE" sz="2400" b="0" i="0">
                        <a:solidFill>
                          <a:srgbClr val="1F2328"/>
                        </a:solidFill>
                        <a:effectLst/>
                        <a:latin typeface="Mona Sans VF"/>
                      </a:endParaRP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3202698885"/>
                  </a:ext>
                </a:extLst>
              </a:tr>
              <a:tr h="531462">
                <a:tc>
                  <a:txBody>
                    <a:bodyPr/>
                    <a:lstStyle/>
                    <a:p>
                      <a:pPr algn="l">
                        <a:spcAft>
                          <a:spcPts val="1200"/>
                        </a:spcAft>
                        <a:buNone/>
                      </a:pPr>
                      <a:r>
                        <a:rPr lang="de-DE" sz="2400" b="0" i="0">
                          <a:solidFill>
                            <a:srgbClr val="1F2328"/>
                          </a:solidFill>
                          <a:effectLst/>
                          <a:latin typeface="Mona Sans VF"/>
                        </a:rPr>
                        <a:t>§2.6 Korpora</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2400" b="1" i="0">
                          <a:solidFill>
                            <a:srgbClr val="1F2328"/>
                          </a:solidFill>
                          <a:effectLst/>
                          <a:latin typeface="Mona Sans VF"/>
                        </a:rPr>
                        <a:t>Tone Perfect</a:t>
                      </a:r>
                      <a:r>
                        <a:rPr lang="de-DE" sz="2400" b="0" i="0">
                          <a:solidFill>
                            <a:srgbClr val="1F2328"/>
                          </a:solidFill>
                          <a:effectLst/>
                          <a:latin typeface="Mona Sans VF"/>
                        </a:rPr>
                        <a:t>, ZIPA, AISHELL-1</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3089703332"/>
                  </a:ext>
                </a:extLst>
              </a:tr>
              <a:tr h="531462">
                <a:tc>
                  <a:txBody>
                    <a:bodyPr/>
                    <a:lstStyle/>
                    <a:p>
                      <a:pPr algn="l">
                        <a:spcAft>
                          <a:spcPts val="1200"/>
                        </a:spcAft>
                        <a:buNone/>
                      </a:pPr>
                      <a:r>
                        <a:rPr lang="de-DE" sz="2400" b="0" i="0">
                          <a:solidFill>
                            <a:srgbClr val="1F2328"/>
                          </a:solidFill>
                          <a:effectLst/>
                          <a:latin typeface="Mona Sans VF"/>
                        </a:rPr>
                        <a:t>§2.7 Learnings &amp; Forschungslücken</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2400" b="1" i="0" dirty="0">
                          <a:solidFill>
                            <a:srgbClr val="1F2328"/>
                          </a:solidFill>
                          <a:effectLst/>
                          <a:latin typeface="Mona Sans VF"/>
                        </a:rPr>
                        <a:t>SITA</a:t>
                      </a:r>
                      <a:r>
                        <a:rPr lang="de-DE" sz="2400" b="0" i="0" dirty="0">
                          <a:solidFill>
                            <a:srgbClr val="1F2328"/>
                          </a:solidFill>
                          <a:effectLst/>
                          <a:latin typeface="Mona Sans VF"/>
                        </a:rPr>
                        <a:t>, Gaido, Peng Survey, alle Surveys</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934701254"/>
                  </a:ext>
                </a:extLst>
              </a:tr>
            </a:tbl>
          </a:graphicData>
        </a:graphic>
      </p:graphicFrame>
    </p:spTree>
    <p:extLst>
      <p:ext uri="{BB962C8B-B14F-4D97-AF65-F5344CB8AC3E}">
        <p14:creationId xmlns:p14="http://schemas.microsoft.com/office/powerpoint/2010/main" val="4355326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E5280F-247D-E534-38FA-D52962DA0023}"/>
              </a:ext>
            </a:extLst>
          </p:cNvPr>
          <p:cNvSpPr>
            <a:spLocks noGrp="1"/>
          </p:cNvSpPr>
          <p:nvPr>
            <p:ph type="title"/>
          </p:nvPr>
        </p:nvSpPr>
        <p:spPr/>
        <p:txBody>
          <a:bodyPr/>
          <a:lstStyle/>
          <a:p>
            <a:r>
              <a:rPr lang="de-DE" dirty="0"/>
              <a:t>Learning 1 — SOTA bei Mandarin-ASR, aber Evaluation endet auf der Zeichenebene</a:t>
            </a:r>
          </a:p>
        </p:txBody>
      </p:sp>
      <p:graphicFrame>
        <p:nvGraphicFramePr>
          <p:cNvPr id="4" name="Content Placeholder 3">
            <a:extLst>
              <a:ext uri="{FF2B5EF4-FFF2-40B4-BE49-F238E27FC236}">
                <a16:creationId xmlns:a16="http://schemas.microsoft.com/office/drawing/2014/main" id="{566B108D-2AB2-5682-33E0-70545B42139F}"/>
              </a:ext>
            </a:extLst>
          </p:cNvPr>
          <p:cNvGraphicFramePr>
            <a:graphicFrameLocks noGrp="1"/>
          </p:cNvGraphicFramePr>
          <p:nvPr>
            <p:ph idx="1"/>
            <p:extLst>
              <p:ext uri="{D42A27DB-BD31-4B8C-83A1-F6EECF244321}">
                <p14:modId xmlns:p14="http://schemas.microsoft.com/office/powerpoint/2010/main" val="2294994699"/>
              </p:ext>
            </p:extLst>
          </p:nvPr>
        </p:nvGraphicFramePr>
        <p:xfrm>
          <a:off x="838200" y="2116898"/>
          <a:ext cx="10515600" cy="3529292"/>
        </p:xfrm>
        <a:graphic>
          <a:graphicData uri="http://schemas.openxmlformats.org/drawingml/2006/table">
            <a:tbl>
              <a:tblPr/>
              <a:tblGrid>
                <a:gridCol w="3505200">
                  <a:extLst>
                    <a:ext uri="{9D8B030D-6E8A-4147-A177-3AD203B41FA5}">
                      <a16:colId xmlns:a16="http://schemas.microsoft.com/office/drawing/2014/main" val="895614516"/>
                    </a:ext>
                  </a:extLst>
                </a:gridCol>
                <a:gridCol w="3505200">
                  <a:extLst>
                    <a:ext uri="{9D8B030D-6E8A-4147-A177-3AD203B41FA5}">
                      <a16:colId xmlns:a16="http://schemas.microsoft.com/office/drawing/2014/main" val="1974280833"/>
                    </a:ext>
                  </a:extLst>
                </a:gridCol>
                <a:gridCol w="3505200">
                  <a:extLst>
                    <a:ext uri="{9D8B030D-6E8A-4147-A177-3AD203B41FA5}">
                      <a16:colId xmlns:a16="http://schemas.microsoft.com/office/drawing/2014/main" val="1240934875"/>
                    </a:ext>
                  </a:extLst>
                </a:gridCol>
              </a:tblGrid>
              <a:tr h="646103">
                <a:tc>
                  <a:txBody>
                    <a:bodyPr/>
                    <a:lstStyle/>
                    <a:p>
                      <a:pPr algn="l">
                        <a:spcAft>
                          <a:spcPts val="1200"/>
                        </a:spcAft>
                        <a:buNone/>
                      </a:pPr>
                      <a:r>
                        <a:rPr lang="de-DE" sz="2800" b="1" i="0" dirty="0">
                          <a:solidFill>
                            <a:srgbClr val="1F2328"/>
                          </a:solidFill>
                          <a:effectLst/>
                          <a:latin typeface="Mona Sans VF"/>
                        </a:rPr>
                        <a:t>Modell</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2800" b="1" i="0">
                          <a:solidFill>
                            <a:srgbClr val="1F2328"/>
                          </a:solidFill>
                          <a:effectLst/>
                          <a:latin typeface="Mona Sans VF"/>
                        </a:rPr>
                        <a:t>Mandarin-Leistung</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2800" b="1" i="0">
                          <a:solidFill>
                            <a:srgbClr val="1F2328"/>
                          </a:solidFill>
                          <a:effectLst/>
                          <a:latin typeface="Mona Sans VF"/>
                        </a:rPr>
                        <a:t>Ton-Evaluation?</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2716202249"/>
                  </a:ext>
                </a:extLst>
              </a:tr>
              <a:tr h="646103">
                <a:tc>
                  <a:txBody>
                    <a:bodyPr/>
                    <a:lstStyle/>
                    <a:p>
                      <a:pPr algn="l">
                        <a:spcAft>
                          <a:spcPts val="1200"/>
                        </a:spcAft>
                        <a:buNone/>
                      </a:pPr>
                      <a:r>
                        <a:rPr lang="de-DE" sz="2800" b="0" i="0">
                          <a:solidFill>
                            <a:srgbClr val="1F2328"/>
                          </a:solidFill>
                          <a:effectLst/>
                          <a:latin typeface="Mona Sans VF"/>
                        </a:rPr>
                        <a:t>Seed-ASR (2024)</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2800" b="0" i="0">
                          <a:solidFill>
                            <a:srgbClr val="1F2328"/>
                          </a:solidFill>
                          <a:effectLst/>
                          <a:latin typeface="Mona Sans VF"/>
                        </a:rPr>
                        <a:t>2,98 % CER</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2800" b="0" i="0">
                          <a:solidFill>
                            <a:srgbClr val="1F2328"/>
                          </a:solidFill>
                          <a:effectLst/>
                          <a:latin typeface="Mona Sans VF"/>
                        </a:rPr>
                        <a:t>nein</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1964930648"/>
                  </a:ext>
                </a:extLst>
              </a:tr>
              <a:tr h="646103">
                <a:tc>
                  <a:txBody>
                    <a:bodyPr/>
                    <a:lstStyle/>
                    <a:p>
                      <a:pPr algn="l">
                        <a:spcAft>
                          <a:spcPts val="1200"/>
                        </a:spcAft>
                        <a:buNone/>
                      </a:pPr>
                      <a:r>
                        <a:rPr lang="de-DE" sz="2800" b="0" i="0">
                          <a:solidFill>
                            <a:srgbClr val="1F2328"/>
                          </a:solidFill>
                          <a:effectLst/>
                          <a:latin typeface="Mona Sans VF"/>
                        </a:rPr>
                        <a:t>FireRedASR (2025)</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2800" b="0" i="0">
                          <a:solidFill>
                            <a:srgbClr val="1F2328"/>
                          </a:solidFill>
                          <a:effectLst/>
                          <a:latin typeface="Mona Sans VF"/>
                        </a:rPr>
                        <a:t>3,05 % CER</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2800" b="0" i="0">
                          <a:solidFill>
                            <a:srgbClr val="1F2328"/>
                          </a:solidFill>
                          <a:effectLst/>
                          <a:latin typeface="Mona Sans VF"/>
                        </a:rPr>
                        <a:t>nein</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3457537928"/>
                  </a:ext>
                </a:extLst>
              </a:tr>
              <a:tr h="747511">
                <a:tc>
                  <a:txBody>
                    <a:bodyPr/>
                    <a:lstStyle/>
                    <a:p>
                      <a:pPr algn="l">
                        <a:spcAft>
                          <a:spcPts val="1200"/>
                        </a:spcAft>
                        <a:buNone/>
                      </a:pPr>
                      <a:r>
                        <a:rPr lang="de-DE" sz="2800" b="0" i="0" dirty="0">
                          <a:solidFill>
                            <a:srgbClr val="1F2328"/>
                          </a:solidFill>
                          <a:effectLst/>
                          <a:latin typeface="Mona Sans VF"/>
                        </a:rPr>
                        <a:t>Kimi-Audio (2025)</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2800" b="0" i="0">
                          <a:solidFill>
                            <a:srgbClr val="1F2328"/>
                          </a:solidFill>
                          <a:effectLst/>
                          <a:latin typeface="Mona Sans VF"/>
                        </a:rPr>
                        <a:t>0,60 % CER (AISHELL-1)</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2800" b="0" i="0">
                          <a:solidFill>
                            <a:srgbClr val="1F2328"/>
                          </a:solidFill>
                          <a:effectLst/>
                          <a:latin typeface="Mona Sans VF"/>
                        </a:rPr>
                        <a:t>nein</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4252881536"/>
                  </a:ext>
                </a:extLst>
              </a:tr>
              <a:tr h="646103">
                <a:tc>
                  <a:txBody>
                    <a:bodyPr/>
                    <a:lstStyle/>
                    <a:p>
                      <a:pPr algn="l">
                        <a:spcAft>
                          <a:spcPts val="1200"/>
                        </a:spcAft>
                        <a:buNone/>
                      </a:pPr>
                      <a:r>
                        <a:rPr lang="de-DE" sz="2800" b="0" i="0">
                          <a:solidFill>
                            <a:srgbClr val="1F2328"/>
                          </a:solidFill>
                          <a:effectLst/>
                          <a:latin typeface="Mona Sans VF"/>
                        </a:rPr>
                        <a:t>Qwen3-ASR (2026)</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2800" b="0" i="0">
                          <a:solidFill>
                            <a:srgbClr val="1F2328"/>
                          </a:solidFill>
                          <a:effectLst/>
                          <a:latin typeface="Mona Sans VF"/>
                        </a:rPr>
                        <a:t>~2 % CER</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2800" b="0" i="0" dirty="0">
                          <a:solidFill>
                            <a:srgbClr val="1F2328"/>
                          </a:solidFill>
                          <a:effectLst/>
                          <a:latin typeface="Mona Sans VF"/>
                        </a:rPr>
                        <a:t>nein</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1143006421"/>
                  </a:ext>
                </a:extLst>
              </a:tr>
            </a:tbl>
          </a:graphicData>
        </a:graphic>
      </p:graphicFrame>
      <p:sp>
        <p:nvSpPr>
          <p:cNvPr id="6" name="TextBox 5">
            <a:extLst>
              <a:ext uri="{FF2B5EF4-FFF2-40B4-BE49-F238E27FC236}">
                <a16:creationId xmlns:a16="http://schemas.microsoft.com/office/drawing/2014/main" id="{0AB5BB54-81A8-6124-87D2-6037A19A0541}"/>
              </a:ext>
            </a:extLst>
          </p:cNvPr>
          <p:cNvSpPr txBox="1"/>
          <p:nvPr/>
        </p:nvSpPr>
        <p:spPr>
          <a:xfrm>
            <a:off x="838199" y="5813874"/>
            <a:ext cx="10515599" cy="646331"/>
          </a:xfrm>
          <a:prstGeom prst="rect">
            <a:avLst/>
          </a:prstGeom>
          <a:noFill/>
        </p:spPr>
        <p:txBody>
          <a:bodyPr wrap="square">
            <a:spAutoFit/>
          </a:bodyPr>
          <a:lstStyle/>
          <a:p>
            <a:r>
              <a:rPr lang="de-DE" sz="1800" b="0" i="0" kern="1200" dirty="0">
                <a:solidFill>
                  <a:schemeClr val="tx1"/>
                </a:solidFill>
                <a:effectLst/>
                <a:latin typeface="+mn-lt"/>
                <a:ea typeface="+mn-ea"/>
                <a:cs typeface="+mn-cs"/>
              </a:rPr>
              <a:t>„…</a:t>
            </a:r>
            <a:r>
              <a:rPr lang="de-DE" sz="1800" b="0" i="0" kern="1200" dirty="0" err="1">
                <a:solidFill>
                  <a:schemeClr val="tx1"/>
                </a:solidFill>
                <a:effectLst/>
                <a:latin typeface="+mn-lt"/>
                <a:ea typeface="+mn-ea"/>
                <a:cs typeface="+mn-cs"/>
              </a:rPr>
              <a:t>neglecting</a:t>
            </a:r>
            <a:r>
              <a:rPr lang="de-DE" sz="1800" b="0" i="0" kern="1200" dirty="0">
                <a:solidFill>
                  <a:schemeClr val="tx1"/>
                </a:solidFill>
                <a:effectLst/>
                <a:latin typeface="+mn-lt"/>
                <a:ea typeface="+mn-ea"/>
                <a:cs typeface="+mn-cs"/>
              </a:rPr>
              <a:t> </a:t>
            </a:r>
            <a:r>
              <a:rPr lang="de-DE" sz="1800" b="0" i="0" kern="1200" dirty="0" err="1">
                <a:solidFill>
                  <a:schemeClr val="tx1"/>
                </a:solidFill>
                <a:effectLst/>
                <a:latin typeface="+mn-lt"/>
                <a:ea typeface="+mn-ea"/>
                <a:cs typeface="+mn-cs"/>
              </a:rPr>
              <a:t>important</a:t>
            </a:r>
            <a:r>
              <a:rPr lang="de-DE" sz="1800" b="0" i="0" kern="1200" dirty="0">
                <a:solidFill>
                  <a:schemeClr val="tx1"/>
                </a:solidFill>
                <a:effectLst/>
                <a:latin typeface="+mn-lt"/>
                <a:ea typeface="+mn-ea"/>
                <a:cs typeface="+mn-cs"/>
              </a:rPr>
              <a:t> </a:t>
            </a:r>
            <a:r>
              <a:rPr lang="de-DE" sz="1800" b="0" i="0" kern="1200" dirty="0" err="1">
                <a:solidFill>
                  <a:schemeClr val="tx1"/>
                </a:solidFill>
                <a:effectLst/>
                <a:latin typeface="+mn-lt"/>
                <a:ea typeface="+mn-ea"/>
                <a:cs typeface="+mn-cs"/>
              </a:rPr>
              <a:t>information</a:t>
            </a:r>
            <a:r>
              <a:rPr lang="de-DE" sz="1800" b="0" i="0" kern="1200" dirty="0">
                <a:solidFill>
                  <a:schemeClr val="tx1"/>
                </a:solidFill>
                <a:effectLst/>
                <a:latin typeface="+mn-lt"/>
                <a:ea typeface="+mn-ea"/>
                <a:cs typeface="+mn-cs"/>
              </a:rPr>
              <a:t> in </a:t>
            </a:r>
            <a:r>
              <a:rPr lang="de-DE" sz="1800" b="0" i="0" kern="1200" dirty="0" err="1">
                <a:solidFill>
                  <a:schemeClr val="tx1"/>
                </a:solidFill>
                <a:effectLst/>
                <a:latin typeface="+mn-lt"/>
                <a:ea typeface="+mn-ea"/>
                <a:cs typeface="+mn-cs"/>
              </a:rPr>
              <a:t>audio</a:t>
            </a:r>
            <a:r>
              <a:rPr lang="de-DE" sz="1800" b="0" i="0" kern="1200" dirty="0">
                <a:solidFill>
                  <a:schemeClr val="tx1"/>
                </a:solidFill>
                <a:effectLst/>
                <a:latin typeface="+mn-lt"/>
                <a:ea typeface="+mn-ea"/>
                <a:cs typeface="+mn-cs"/>
              </a:rPr>
              <a:t>, such </a:t>
            </a:r>
            <a:r>
              <a:rPr lang="de-DE" sz="1800" b="0" i="0" kern="1200" dirty="0" err="1">
                <a:solidFill>
                  <a:schemeClr val="tx1"/>
                </a:solidFill>
                <a:effectLst/>
                <a:latin typeface="+mn-lt"/>
                <a:ea typeface="+mn-ea"/>
                <a:cs typeface="+mn-cs"/>
              </a:rPr>
              <a:t>as</a:t>
            </a:r>
            <a:r>
              <a:rPr lang="de-DE" sz="1800" b="0" i="0" kern="1200" dirty="0">
                <a:solidFill>
                  <a:schemeClr val="tx1"/>
                </a:solidFill>
                <a:effectLst/>
                <a:latin typeface="+mn-lt"/>
                <a:ea typeface="+mn-ea"/>
                <a:cs typeface="+mn-cs"/>
              </a:rPr>
              <a:t> </a:t>
            </a:r>
            <a:r>
              <a:rPr lang="de-DE" sz="1800" b="0" i="0" kern="1200" dirty="0" err="1">
                <a:solidFill>
                  <a:schemeClr val="tx1"/>
                </a:solidFill>
                <a:effectLst/>
                <a:latin typeface="+mn-lt"/>
                <a:ea typeface="+mn-ea"/>
                <a:cs typeface="+mn-cs"/>
              </a:rPr>
              <a:t>paralanguage</a:t>
            </a:r>
            <a:r>
              <a:rPr lang="de-DE" sz="1800" b="0" i="0" kern="1200" dirty="0">
                <a:solidFill>
                  <a:schemeClr val="tx1"/>
                </a:solidFill>
                <a:effectLst/>
                <a:latin typeface="+mn-lt"/>
                <a:ea typeface="+mn-ea"/>
                <a:cs typeface="+mn-cs"/>
              </a:rPr>
              <a:t> </a:t>
            </a:r>
            <a:r>
              <a:rPr lang="de-DE" sz="1800" b="0" i="0" kern="1200" dirty="0" err="1">
                <a:solidFill>
                  <a:schemeClr val="tx1"/>
                </a:solidFill>
                <a:effectLst/>
                <a:latin typeface="+mn-lt"/>
                <a:ea typeface="+mn-ea"/>
                <a:cs typeface="+mn-cs"/>
              </a:rPr>
              <a:t>information</a:t>
            </a:r>
            <a:r>
              <a:rPr lang="de-DE" sz="1800" b="0" i="0" kern="1200" dirty="0">
                <a:solidFill>
                  <a:schemeClr val="tx1"/>
                </a:solidFill>
                <a:effectLst/>
                <a:latin typeface="+mn-lt"/>
                <a:ea typeface="+mn-ea"/>
                <a:cs typeface="+mn-cs"/>
              </a:rPr>
              <a:t> (e.g., </a:t>
            </a:r>
            <a:r>
              <a:rPr lang="de-DE" sz="1800" b="0" i="0" kern="1200" dirty="0" err="1">
                <a:solidFill>
                  <a:schemeClr val="tx1"/>
                </a:solidFill>
                <a:effectLst/>
                <a:latin typeface="+mn-lt"/>
                <a:ea typeface="+mn-ea"/>
                <a:cs typeface="+mn-cs"/>
              </a:rPr>
              <a:t>emotion</a:t>
            </a:r>
            <a:r>
              <a:rPr lang="de-DE" sz="1800" b="0" i="0" kern="1200" dirty="0">
                <a:solidFill>
                  <a:schemeClr val="tx1"/>
                </a:solidFill>
                <a:effectLst/>
                <a:latin typeface="+mn-lt"/>
                <a:ea typeface="+mn-ea"/>
                <a:cs typeface="+mn-cs"/>
              </a:rPr>
              <a:t>, style, </a:t>
            </a:r>
            <a:r>
              <a:rPr lang="de-DE" sz="1800" b="0" i="0" kern="1200" dirty="0" err="1">
                <a:solidFill>
                  <a:schemeClr val="tx1"/>
                </a:solidFill>
                <a:effectLst/>
                <a:latin typeface="+mn-lt"/>
                <a:ea typeface="+mn-ea"/>
                <a:cs typeface="+mn-cs"/>
              </a:rPr>
              <a:t>timbre</a:t>
            </a:r>
            <a:r>
              <a:rPr lang="de-DE" sz="1800" b="0" i="0" kern="1200" dirty="0">
                <a:solidFill>
                  <a:schemeClr val="tx1"/>
                </a:solidFill>
                <a:effectLst/>
                <a:latin typeface="+mn-lt"/>
                <a:ea typeface="+mn-ea"/>
                <a:cs typeface="+mn-cs"/>
              </a:rPr>
              <a:t>, </a:t>
            </a:r>
            <a:r>
              <a:rPr lang="de-DE" sz="1800" b="1" i="0" kern="1200" dirty="0">
                <a:solidFill>
                  <a:schemeClr val="tx1"/>
                </a:solidFill>
                <a:effectLst/>
                <a:latin typeface="+mn-lt"/>
                <a:ea typeface="+mn-ea"/>
                <a:cs typeface="+mn-cs"/>
              </a:rPr>
              <a:t>tone</a:t>
            </a:r>
            <a:r>
              <a:rPr lang="de-DE" sz="1800" b="0" i="0" kern="1200" dirty="0">
                <a:solidFill>
                  <a:schemeClr val="tx1"/>
                </a:solidFill>
                <a:effectLst/>
                <a:latin typeface="+mn-lt"/>
                <a:ea typeface="+mn-ea"/>
                <a:cs typeface="+mn-cs"/>
              </a:rPr>
              <a:t>)…" — Kimi-Audio (2025), Sec. 8, S. 21</a:t>
            </a:r>
          </a:p>
        </p:txBody>
      </p:sp>
    </p:spTree>
    <p:extLst>
      <p:ext uri="{BB962C8B-B14F-4D97-AF65-F5344CB8AC3E}">
        <p14:creationId xmlns:p14="http://schemas.microsoft.com/office/powerpoint/2010/main" val="196311422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3E5FBA-DE72-61F5-AF15-AE627C4D84FE}"/>
              </a:ext>
            </a:extLst>
          </p:cNvPr>
          <p:cNvSpPr>
            <a:spLocks noGrp="1"/>
          </p:cNvSpPr>
          <p:nvPr>
            <p:ph type="title"/>
          </p:nvPr>
        </p:nvSpPr>
        <p:spPr/>
        <p:txBody>
          <a:bodyPr/>
          <a:lstStyle/>
          <a:p>
            <a:r>
              <a:rPr lang="de-DE" dirty="0"/>
              <a:t>Learning 2 — Audio → LLM → Pinyin funktioniert, aber ohne Tonmarker</a:t>
            </a:r>
          </a:p>
        </p:txBody>
      </p:sp>
      <p:sp>
        <p:nvSpPr>
          <p:cNvPr id="3" name="Content Placeholder 2">
            <a:extLst>
              <a:ext uri="{FF2B5EF4-FFF2-40B4-BE49-F238E27FC236}">
                <a16:creationId xmlns:a16="http://schemas.microsoft.com/office/drawing/2014/main" id="{3CC3D8D6-CDB8-03C2-4C30-6C9236217E4D}"/>
              </a:ext>
            </a:extLst>
          </p:cNvPr>
          <p:cNvSpPr>
            <a:spLocks noGrp="1"/>
          </p:cNvSpPr>
          <p:nvPr>
            <p:ph idx="1"/>
          </p:nvPr>
        </p:nvSpPr>
        <p:spPr/>
        <p:txBody>
          <a:bodyPr>
            <a:normAutofit fontScale="92500"/>
          </a:bodyPr>
          <a:lstStyle/>
          <a:p>
            <a:r>
              <a:rPr lang="de-DE" b="1" dirty="0" err="1"/>
              <a:t>Zhengjie</a:t>
            </a:r>
            <a:r>
              <a:rPr lang="de-DE" b="1" dirty="0"/>
              <a:t> &amp; Cheng PYG-ASR (2025)</a:t>
            </a:r>
            <a:r>
              <a:rPr lang="de-DE" dirty="0"/>
              <a:t> — zentralstes Paper: </a:t>
            </a:r>
            <a:r>
              <a:rPr lang="de-DE" dirty="0" err="1"/>
              <a:t>HuBERT</a:t>
            </a:r>
            <a:r>
              <a:rPr lang="de-DE" dirty="0"/>
              <a:t> → Qwen2-7B erzeugt Pinyin </a:t>
            </a:r>
            <a:r>
              <a:rPr lang="de-DE" i="1" dirty="0"/>
              <a:t>und</a:t>
            </a:r>
            <a:r>
              <a:rPr lang="de-DE" dirty="0"/>
              <a:t> Zeichen; Pinyin Error Rate nur </a:t>
            </a:r>
            <a:r>
              <a:rPr lang="de-DE" b="1" dirty="0"/>
              <a:t>1,9 %</a:t>
            </a:r>
            <a:endParaRPr lang="de-DE" dirty="0"/>
          </a:p>
          <a:p>
            <a:r>
              <a:rPr lang="de-DE" b="1" dirty="0"/>
              <a:t>aber:</a:t>
            </a:r>
            <a:r>
              <a:rPr lang="de-DE" dirty="0"/>
              <a:t> Pinyin </a:t>
            </a:r>
            <a:r>
              <a:rPr lang="de-DE" b="1" dirty="0"/>
              <a:t>ohne Tonnummern</a:t>
            </a:r>
            <a:r>
              <a:rPr lang="de-DE" dirty="0"/>
              <a:t> — „</a:t>
            </a:r>
            <a:r>
              <a:rPr lang="de-DE" dirty="0" err="1"/>
              <a:t>ma</a:t>
            </a:r>
            <a:r>
              <a:rPr lang="de-DE" dirty="0"/>
              <a:t>" statt „ma1"; derselbe Mangel bei Chen SCCM (2025)</a:t>
            </a:r>
          </a:p>
          <a:p>
            <a:r>
              <a:rPr lang="de-DE" dirty="0"/>
              <a:t>Die technische Pipeline steht — es fehlt der letzte Schritt: </a:t>
            </a:r>
            <a:r>
              <a:rPr lang="de-DE" b="1" dirty="0"/>
              <a:t>Töne mittranskribieren</a:t>
            </a:r>
          </a:p>
          <a:p>
            <a:endParaRPr lang="de-DE" b="1" dirty="0"/>
          </a:p>
          <a:p>
            <a:pPr marL="0" indent="0">
              <a:buNone/>
            </a:pPr>
            <a:r>
              <a:rPr lang="de-DE" dirty="0"/>
              <a:t>„</a:t>
            </a:r>
            <a:r>
              <a:rPr lang="de-DE" dirty="0" err="1"/>
              <a:t>there</a:t>
            </a:r>
            <a:r>
              <a:rPr lang="de-DE" dirty="0"/>
              <a:t> </a:t>
            </a:r>
            <a:r>
              <a:rPr lang="de-DE" dirty="0" err="1"/>
              <a:t>is</a:t>
            </a:r>
            <a:r>
              <a:rPr lang="de-DE" dirty="0"/>
              <a:t> </a:t>
            </a:r>
            <a:r>
              <a:rPr lang="de-DE" dirty="0" err="1"/>
              <a:t>no</a:t>
            </a:r>
            <a:r>
              <a:rPr lang="de-DE" dirty="0"/>
              <a:t> </a:t>
            </a:r>
            <a:r>
              <a:rPr lang="de-DE" dirty="0" err="1"/>
              <a:t>direct</a:t>
            </a:r>
            <a:r>
              <a:rPr lang="de-DE" dirty="0"/>
              <a:t> </a:t>
            </a:r>
            <a:r>
              <a:rPr lang="de-DE" dirty="0" err="1"/>
              <a:t>correspondence</a:t>
            </a:r>
            <a:r>
              <a:rPr lang="de-DE" dirty="0"/>
              <a:t> </a:t>
            </a:r>
            <a:r>
              <a:rPr lang="de-DE" dirty="0" err="1"/>
              <a:t>between</a:t>
            </a:r>
            <a:r>
              <a:rPr lang="de-DE" dirty="0"/>
              <a:t> </a:t>
            </a:r>
            <a:r>
              <a:rPr lang="de-DE" dirty="0" err="1"/>
              <a:t>the</a:t>
            </a:r>
            <a:r>
              <a:rPr lang="de-DE" dirty="0"/>
              <a:t> </a:t>
            </a:r>
            <a:r>
              <a:rPr lang="de-DE" dirty="0" err="1"/>
              <a:t>pronunciation</a:t>
            </a:r>
            <a:r>
              <a:rPr lang="de-DE" dirty="0"/>
              <a:t> and </a:t>
            </a:r>
            <a:r>
              <a:rPr lang="de-DE" dirty="0" err="1"/>
              <a:t>the</a:t>
            </a:r>
            <a:r>
              <a:rPr lang="de-DE" dirty="0"/>
              <a:t> </a:t>
            </a:r>
            <a:r>
              <a:rPr lang="de-DE" dirty="0" err="1"/>
              <a:t>written</a:t>
            </a:r>
            <a:r>
              <a:rPr lang="de-DE" dirty="0"/>
              <a:t> form </a:t>
            </a:r>
            <a:r>
              <a:rPr lang="de-DE" dirty="0" err="1"/>
              <a:t>of</a:t>
            </a:r>
            <a:r>
              <a:rPr lang="de-DE" dirty="0"/>
              <a:t> Chinese </a:t>
            </a:r>
            <a:r>
              <a:rPr lang="de-DE" dirty="0" err="1"/>
              <a:t>characters</a:t>
            </a:r>
            <a:r>
              <a:rPr lang="de-DE" dirty="0"/>
              <a:t>." — </a:t>
            </a:r>
            <a:r>
              <a:rPr lang="de-DE" dirty="0" err="1"/>
              <a:t>Zhengjie</a:t>
            </a:r>
            <a:r>
              <a:rPr lang="de-DE" dirty="0"/>
              <a:t> &amp; Cheng (2025), S. 1</a:t>
            </a:r>
          </a:p>
          <a:p>
            <a:endParaRPr lang="de-DE" dirty="0"/>
          </a:p>
        </p:txBody>
      </p:sp>
    </p:spTree>
    <p:extLst>
      <p:ext uri="{BB962C8B-B14F-4D97-AF65-F5344CB8AC3E}">
        <p14:creationId xmlns:p14="http://schemas.microsoft.com/office/powerpoint/2010/main" val="123724528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34AD97-EAA2-E3DB-DA1D-2D9401687245}"/>
              </a:ext>
            </a:extLst>
          </p:cNvPr>
          <p:cNvSpPr>
            <a:spLocks noGrp="1"/>
          </p:cNvSpPr>
          <p:nvPr>
            <p:ph type="title"/>
          </p:nvPr>
        </p:nvSpPr>
        <p:spPr>
          <a:xfrm>
            <a:off x="838200" y="365125"/>
            <a:ext cx="10515600" cy="1714196"/>
          </a:xfrm>
        </p:spPr>
        <p:txBody>
          <a:bodyPr>
            <a:normAutofit fontScale="90000"/>
          </a:bodyPr>
          <a:lstStyle/>
          <a:p>
            <a:r>
              <a:rPr lang="de-DE" dirty="0"/>
              <a:t>Learning 3 — Tonerkennung ist ein aktives Feld, getragen von dedizierten Modellen; sogar Whisper „kollabiert"</a:t>
            </a:r>
          </a:p>
        </p:txBody>
      </p:sp>
      <p:sp>
        <p:nvSpPr>
          <p:cNvPr id="3" name="Content Placeholder 2">
            <a:extLst>
              <a:ext uri="{FF2B5EF4-FFF2-40B4-BE49-F238E27FC236}">
                <a16:creationId xmlns:a16="http://schemas.microsoft.com/office/drawing/2014/main" id="{6A6654ED-3D44-5A1F-45E8-FB65B38099FA}"/>
              </a:ext>
            </a:extLst>
          </p:cNvPr>
          <p:cNvSpPr>
            <a:spLocks noGrp="1"/>
          </p:cNvSpPr>
          <p:nvPr>
            <p:ph idx="1"/>
          </p:nvPr>
        </p:nvSpPr>
        <p:spPr>
          <a:xfrm>
            <a:off x="838200" y="2167003"/>
            <a:ext cx="10515600" cy="4009960"/>
          </a:xfrm>
        </p:spPr>
        <p:txBody>
          <a:bodyPr>
            <a:normAutofit lnSpcReduction="10000"/>
          </a:bodyPr>
          <a:lstStyle/>
          <a:p>
            <a:r>
              <a:rPr lang="de-DE" dirty="0"/>
              <a:t>Klassische Ansätze stark: Deep Learning 88,8 % vs. traditionell 83,1 % Ton-</a:t>
            </a:r>
            <a:r>
              <a:rPr lang="de-DE" dirty="0" err="1"/>
              <a:t>Accuracy</a:t>
            </a:r>
            <a:r>
              <a:rPr lang="de-DE" dirty="0"/>
              <a:t> (Zou Review, 61 Studien)</a:t>
            </a:r>
          </a:p>
          <a:p>
            <a:r>
              <a:rPr lang="de-DE" dirty="0"/>
              <a:t>Bekannte Schwierigkeiten: </a:t>
            </a:r>
            <a:r>
              <a:rPr lang="de-DE" b="1" dirty="0"/>
              <a:t>T2↔T3</a:t>
            </a:r>
            <a:r>
              <a:rPr lang="de-DE" dirty="0"/>
              <a:t> chronisch verwechselt; L2-Sprecher nur 53–73 % (Kaur)</a:t>
            </a:r>
          </a:p>
          <a:p>
            <a:r>
              <a:rPr lang="de-DE" b="1" dirty="0"/>
              <a:t>Tone </a:t>
            </a:r>
            <a:r>
              <a:rPr lang="de-DE" b="1" dirty="0" err="1"/>
              <a:t>Collapse</a:t>
            </a:r>
            <a:r>
              <a:rPr lang="de-DE" b="1" dirty="0"/>
              <a:t>:</a:t>
            </a:r>
            <a:r>
              <a:rPr lang="de-DE" dirty="0"/>
              <a:t> Whisper-</a:t>
            </a:r>
            <a:r>
              <a:rPr lang="de-DE" dirty="0" err="1"/>
              <a:t>Embeddings</a:t>
            </a:r>
            <a:r>
              <a:rPr lang="de-DE" dirty="0"/>
              <a:t> verschiedener Töne überlappen (SITA, 2026)</a:t>
            </a:r>
          </a:p>
          <a:p>
            <a:r>
              <a:rPr lang="de-DE" dirty="0"/>
              <a:t>aber: </a:t>
            </a:r>
            <a:r>
              <a:rPr lang="de-DE" b="1" dirty="0"/>
              <a:t>kein einziges</a:t>
            </a:r>
            <a:r>
              <a:rPr lang="de-DE" dirty="0"/>
              <a:t> dieser Papers nutzt ein multimodales LLM</a:t>
            </a:r>
          </a:p>
          <a:p>
            <a:pPr marL="0" indent="0">
              <a:buNone/>
            </a:pPr>
            <a:r>
              <a:rPr lang="de-DE" dirty="0"/>
              <a:t>„Whisper </a:t>
            </a:r>
            <a:r>
              <a:rPr lang="de-DE" dirty="0" err="1"/>
              <a:t>embeddings</a:t>
            </a:r>
            <a:r>
              <a:rPr lang="de-DE" dirty="0"/>
              <a:t> </a:t>
            </a:r>
            <a:r>
              <a:rPr lang="de-DE" dirty="0" err="1"/>
              <a:t>largely</a:t>
            </a:r>
            <a:r>
              <a:rPr lang="de-DE" dirty="0"/>
              <a:t> </a:t>
            </a:r>
            <a:r>
              <a:rPr lang="de-DE" dirty="0" err="1"/>
              <a:t>collapse</a:t>
            </a:r>
            <a:r>
              <a:rPr lang="de-DE" dirty="0"/>
              <a:t> </a:t>
            </a:r>
            <a:r>
              <a:rPr lang="de-DE" dirty="0" err="1"/>
              <a:t>into</a:t>
            </a:r>
            <a:r>
              <a:rPr lang="de-DE" dirty="0"/>
              <a:t> </a:t>
            </a:r>
            <a:r>
              <a:rPr lang="de-DE" dirty="0" err="1"/>
              <a:t>overlapping</a:t>
            </a:r>
            <a:r>
              <a:rPr lang="de-DE" dirty="0"/>
              <a:t> </a:t>
            </a:r>
            <a:r>
              <a:rPr lang="de-DE" dirty="0" err="1"/>
              <a:t>clusters</a:t>
            </a:r>
            <a:r>
              <a:rPr lang="de-DE" dirty="0"/>
              <a:t>." — Xu et al., SITA (2026), Sec. 5.1</a:t>
            </a:r>
          </a:p>
        </p:txBody>
      </p:sp>
    </p:spTree>
    <p:extLst>
      <p:ext uri="{BB962C8B-B14F-4D97-AF65-F5344CB8AC3E}">
        <p14:creationId xmlns:p14="http://schemas.microsoft.com/office/powerpoint/2010/main" val="260917171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E17FDB-A4FB-841A-EC0E-0F75C3899F5A}"/>
              </a:ext>
            </a:extLst>
          </p:cNvPr>
          <p:cNvSpPr>
            <a:spLocks noGrp="1"/>
          </p:cNvSpPr>
          <p:nvPr>
            <p:ph type="title"/>
          </p:nvPr>
        </p:nvSpPr>
        <p:spPr/>
        <p:txBody>
          <a:bodyPr/>
          <a:lstStyle/>
          <a:p>
            <a:r>
              <a:rPr lang="de-DE" dirty="0"/>
              <a:t>Learning 4 — Mandarin-Benchmarks existieren; Tongenauigkeit misst keiner</a:t>
            </a:r>
          </a:p>
        </p:txBody>
      </p:sp>
      <p:sp>
        <p:nvSpPr>
          <p:cNvPr id="3" name="Content Placeholder 2">
            <a:extLst>
              <a:ext uri="{FF2B5EF4-FFF2-40B4-BE49-F238E27FC236}">
                <a16:creationId xmlns:a16="http://schemas.microsoft.com/office/drawing/2014/main" id="{BE071A83-3F6C-23AE-C1A5-950A627CF4C0}"/>
              </a:ext>
            </a:extLst>
          </p:cNvPr>
          <p:cNvSpPr>
            <a:spLocks noGrp="1"/>
          </p:cNvSpPr>
          <p:nvPr>
            <p:ph idx="1"/>
          </p:nvPr>
        </p:nvSpPr>
        <p:spPr/>
        <p:txBody>
          <a:bodyPr/>
          <a:lstStyle/>
          <a:p>
            <a:r>
              <a:rPr lang="de-DE" dirty="0"/>
              <a:t>9+ Audio-LLM-Benchmarks analysiert; mehrere mit Mandarin (MSPB, </a:t>
            </a:r>
            <a:r>
              <a:rPr lang="de-DE" dirty="0" err="1"/>
              <a:t>VocalBench-zh</a:t>
            </a:r>
            <a:r>
              <a:rPr lang="de-DE" dirty="0"/>
              <a:t>, TELEVAL, </a:t>
            </a:r>
            <a:r>
              <a:rPr lang="de-DE" dirty="0" err="1"/>
              <a:t>ContextASR</a:t>
            </a:r>
            <a:r>
              <a:rPr lang="de-DE" dirty="0"/>
              <a:t>)</a:t>
            </a:r>
          </a:p>
          <a:p>
            <a:r>
              <a:rPr lang="de-DE" b="1" dirty="0"/>
              <a:t>Keiner</a:t>
            </a:r>
            <a:r>
              <a:rPr lang="de-DE" dirty="0"/>
              <a:t> misst lexikalische Tongenauigkeit; MSPB testet nur </a:t>
            </a:r>
            <a:r>
              <a:rPr lang="de-DE" b="1" dirty="0"/>
              <a:t>Satz</a:t>
            </a:r>
            <a:r>
              <a:rPr lang="de-DE" dirty="0"/>
              <a:t>prosodie — GPT-4o erreicht dort nur 59,7 %</a:t>
            </a:r>
          </a:p>
          <a:p>
            <a:r>
              <a:rPr lang="de-DE" b="1" dirty="0"/>
              <a:t>TER (Tone Error Rate)</a:t>
            </a:r>
            <a:r>
              <a:rPr lang="de-DE" dirty="0"/>
              <a:t> wird empfohlen (Zou) — aber in </a:t>
            </a:r>
            <a:r>
              <a:rPr lang="de-DE" b="1" dirty="0"/>
              <a:t>0 von 42</a:t>
            </a:r>
            <a:r>
              <a:rPr lang="de-DE" dirty="0"/>
              <a:t> Papers angewandt</a:t>
            </a:r>
          </a:p>
          <a:p>
            <a:pPr marL="0" indent="0">
              <a:buNone/>
            </a:pPr>
            <a:endParaRPr lang="de-DE" dirty="0"/>
          </a:p>
          <a:p>
            <a:pPr marL="0" indent="0">
              <a:buNone/>
            </a:pPr>
            <a:r>
              <a:rPr lang="de-DE" dirty="0"/>
              <a:t>„</a:t>
            </a:r>
            <a:r>
              <a:rPr lang="de-DE" dirty="0" err="1"/>
              <a:t>they</a:t>
            </a:r>
            <a:r>
              <a:rPr lang="de-DE" dirty="0"/>
              <a:t> </a:t>
            </a:r>
            <a:r>
              <a:rPr lang="de-DE" dirty="0" err="1"/>
              <a:t>generally</a:t>
            </a:r>
            <a:r>
              <a:rPr lang="de-DE" dirty="0"/>
              <a:t> </a:t>
            </a:r>
            <a:r>
              <a:rPr lang="de-DE" dirty="0" err="1"/>
              <a:t>struggled</a:t>
            </a:r>
            <a:r>
              <a:rPr lang="de-DE" dirty="0"/>
              <a:t> </a:t>
            </a:r>
            <a:r>
              <a:rPr lang="de-DE" dirty="0" err="1"/>
              <a:t>with</a:t>
            </a:r>
            <a:r>
              <a:rPr lang="de-DE" dirty="0"/>
              <a:t> </a:t>
            </a:r>
            <a:r>
              <a:rPr lang="de-DE" dirty="0" err="1"/>
              <a:t>tasks</a:t>
            </a:r>
            <a:r>
              <a:rPr lang="de-DE" dirty="0"/>
              <a:t> </a:t>
            </a:r>
            <a:r>
              <a:rPr lang="de-DE" dirty="0" err="1"/>
              <a:t>relying</a:t>
            </a:r>
            <a:r>
              <a:rPr lang="de-DE" dirty="0"/>
              <a:t> </a:t>
            </a:r>
            <a:r>
              <a:rPr lang="de-DE" dirty="0" err="1"/>
              <a:t>heavily</a:t>
            </a:r>
            <a:r>
              <a:rPr lang="de-DE" dirty="0"/>
              <a:t> on </a:t>
            </a:r>
            <a:r>
              <a:rPr lang="de-DE" dirty="0" err="1"/>
              <a:t>subtle</a:t>
            </a:r>
            <a:r>
              <a:rPr lang="de-DE" dirty="0"/>
              <a:t> </a:t>
            </a:r>
            <a:r>
              <a:rPr lang="de-DE" dirty="0" err="1"/>
              <a:t>speech</a:t>
            </a:r>
            <a:r>
              <a:rPr lang="de-DE" dirty="0"/>
              <a:t> </a:t>
            </a:r>
            <a:r>
              <a:rPr lang="de-DE" dirty="0" err="1"/>
              <a:t>prosody</a:t>
            </a:r>
            <a:r>
              <a:rPr lang="de-DE" dirty="0"/>
              <a:t> </a:t>
            </a:r>
            <a:r>
              <a:rPr lang="de-DE" dirty="0" err="1"/>
              <a:t>variations</a:t>
            </a:r>
            <a:r>
              <a:rPr lang="de-DE" dirty="0"/>
              <a:t>…" — Wang et al., MSPB (2025)</a:t>
            </a:r>
          </a:p>
        </p:txBody>
      </p:sp>
    </p:spTree>
    <p:extLst>
      <p:ext uri="{BB962C8B-B14F-4D97-AF65-F5344CB8AC3E}">
        <p14:creationId xmlns:p14="http://schemas.microsoft.com/office/powerpoint/2010/main" val="290406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350FCB-0019-B1B9-975E-142BCAA5F22B}"/>
              </a:ext>
            </a:extLst>
          </p:cNvPr>
          <p:cNvSpPr>
            <a:spLocks noGrp="1"/>
          </p:cNvSpPr>
          <p:nvPr>
            <p:ph type="title"/>
          </p:nvPr>
        </p:nvSpPr>
        <p:spPr/>
        <p:txBody>
          <a:bodyPr/>
          <a:lstStyle/>
          <a:p>
            <a:r>
              <a:rPr lang="de-DE" dirty="0"/>
              <a:t>Was wir aus der Literatur konkret übernehmen</a:t>
            </a:r>
          </a:p>
        </p:txBody>
      </p:sp>
      <p:graphicFrame>
        <p:nvGraphicFramePr>
          <p:cNvPr id="4" name="Content Placeholder 3">
            <a:extLst>
              <a:ext uri="{FF2B5EF4-FFF2-40B4-BE49-F238E27FC236}">
                <a16:creationId xmlns:a16="http://schemas.microsoft.com/office/drawing/2014/main" id="{E0A47CB1-F28A-12C5-52C9-7A3B4FC3091F}"/>
              </a:ext>
            </a:extLst>
          </p:cNvPr>
          <p:cNvGraphicFramePr>
            <a:graphicFrameLocks noGrp="1"/>
          </p:cNvGraphicFramePr>
          <p:nvPr>
            <p:ph idx="1"/>
            <p:extLst>
              <p:ext uri="{D42A27DB-BD31-4B8C-83A1-F6EECF244321}">
                <p14:modId xmlns:p14="http://schemas.microsoft.com/office/powerpoint/2010/main" val="463182072"/>
              </p:ext>
            </p:extLst>
          </p:nvPr>
        </p:nvGraphicFramePr>
        <p:xfrm>
          <a:off x="838200" y="1690687"/>
          <a:ext cx="10515600" cy="4259178"/>
        </p:xfrm>
        <a:graphic>
          <a:graphicData uri="http://schemas.openxmlformats.org/drawingml/2006/table">
            <a:tbl>
              <a:tblPr/>
              <a:tblGrid>
                <a:gridCol w="3505200">
                  <a:extLst>
                    <a:ext uri="{9D8B030D-6E8A-4147-A177-3AD203B41FA5}">
                      <a16:colId xmlns:a16="http://schemas.microsoft.com/office/drawing/2014/main" val="2312851052"/>
                    </a:ext>
                  </a:extLst>
                </a:gridCol>
                <a:gridCol w="3505200">
                  <a:extLst>
                    <a:ext uri="{9D8B030D-6E8A-4147-A177-3AD203B41FA5}">
                      <a16:colId xmlns:a16="http://schemas.microsoft.com/office/drawing/2014/main" val="1565791767"/>
                    </a:ext>
                  </a:extLst>
                </a:gridCol>
                <a:gridCol w="3505200">
                  <a:extLst>
                    <a:ext uri="{9D8B030D-6E8A-4147-A177-3AD203B41FA5}">
                      <a16:colId xmlns:a16="http://schemas.microsoft.com/office/drawing/2014/main" val="1139161390"/>
                    </a:ext>
                  </a:extLst>
                </a:gridCol>
              </a:tblGrid>
              <a:tr h="709863">
                <a:tc>
                  <a:txBody>
                    <a:bodyPr/>
                    <a:lstStyle/>
                    <a:p>
                      <a:pPr algn="l">
                        <a:spcAft>
                          <a:spcPts val="1200"/>
                        </a:spcAft>
                        <a:buNone/>
                      </a:pPr>
                      <a:r>
                        <a:rPr lang="de-DE" sz="2000" b="1" i="0">
                          <a:solidFill>
                            <a:srgbClr val="1F2328"/>
                          </a:solidFill>
                          <a:effectLst/>
                          <a:latin typeface="Mona Sans VF"/>
                        </a:rPr>
                        <a:t>Baustein</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2000" b="1" i="0">
                          <a:solidFill>
                            <a:srgbClr val="1F2328"/>
                          </a:solidFill>
                          <a:effectLst/>
                          <a:latin typeface="Mona Sans VF"/>
                        </a:rPr>
                        <a:t>Quelle</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2000" b="1" i="0">
                          <a:solidFill>
                            <a:srgbClr val="1F2328"/>
                          </a:solidFill>
                          <a:effectLst/>
                          <a:latin typeface="Mona Sans VF"/>
                        </a:rPr>
                        <a:t>Verwendung in unserer Arbeit</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1580051992"/>
                  </a:ext>
                </a:extLst>
              </a:tr>
              <a:tr h="709863">
                <a:tc>
                  <a:txBody>
                    <a:bodyPr/>
                    <a:lstStyle/>
                    <a:p>
                      <a:pPr algn="l">
                        <a:spcAft>
                          <a:spcPts val="1200"/>
                        </a:spcAft>
                        <a:buNone/>
                      </a:pPr>
                      <a:r>
                        <a:rPr lang="de-DE" sz="2000" b="1" i="0">
                          <a:solidFill>
                            <a:srgbClr val="1F2328"/>
                          </a:solidFill>
                          <a:effectLst/>
                          <a:latin typeface="Mona Sans VF"/>
                        </a:rPr>
                        <a:t>Datensatz</a:t>
                      </a:r>
                      <a:endParaRPr lang="de-DE" sz="2000" b="0" i="0">
                        <a:solidFill>
                          <a:srgbClr val="1F2328"/>
                        </a:solidFill>
                        <a:effectLst/>
                        <a:latin typeface="Mona Sans VF"/>
                      </a:endParaRP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2000" b="0" i="0">
                          <a:solidFill>
                            <a:srgbClr val="1F2328"/>
                          </a:solidFill>
                          <a:effectLst/>
                          <a:latin typeface="Mona Sans VF"/>
                        </a:rPr>
                        <a:t>Tone Perfect (Ryu 2021)</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2000" b="0" i="0">
                          <a:solidFill>
                            <a:srgbClr val="1F2328"/>
                          </a:solidFill>
                          <a:effectLst/>
                          <a:latin typeface="Mona Sans VF"/>
                        </a:rPr>
                        <a:t>Evaluations-Spine: 9.840 Silben, alle 4 Töne (RQ2)</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4245010598"/>
                  </a:ext>
                </a:extLst>
              </a:tr>
              <a:tr h="709863">
                <a:tc>
                  <a:txBody>
                    <a:bodyPr/>
                    <a:lstStyle/>
                    <a:p>
                      <a:pPr algn="l">
                        <a:spcAft>
                          <a:spcPts val="1200"/>
                        </a:spcAft>
                        <a:buNone/>
                      </a:pPr>
                      <a:r>
                        <a:rPr lang="de-DE" sz="2000" b="1" i="0">
                          <a:solidFill>
                            <a:srgbClr val="1F2328"/>
                          </a:solidFill>
                          <a:effectLst/>
                          <a:latin typeface="Mona Sans VF"/>
                        </a:rPr>
                        <a:t>Architektur-Vorbild</a:t>
                      </a:r>
                      <a:endParaRPr lang="de-DE" sz="2000" b="0" i="0">
                        <a:solidFill>
                          <a:srgbClr val="1F2328"/>
                        </a:solidFill>
                        <a:effectLst/>
                        <a:latin typeface="Mona Sans VF"/>
                      </a:endParaRP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2000" b="0" i="0">
                          <a:solidFill>
                            <a:srgbClr val="1F2328"/>
                          </a:solidFill>
                          <a:effectLst/>
                          <a:latin typeface="Mona Sans VF"/>
                        </a:rPr>
                        <a:t>Zhengjie PYG-ASR (2025)</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2000" b="0" i="0">
                          <a:solidFill>
                            <a:srgbClr val="1F2328"/>
                          </a:solidFill>
                          <a:effectLst/>
                          <a:latin typeface="Mona Sans VF"/>
                        </a:rPr>
                        <a:t>Audio→LLM→Pinyin-Pipeline, erweitert um Töne</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2817435870"/>
                  </a:ext>
                </a:extLst>
              </a:tr>
              <a:tr h="709863">
                <a:tc>
                  <a:txBody>
                    <a:bodyPr/>
                    <a:lstStyle/>
                    <a:p>
                      <a:pPr algn="l">
                        <a:spcAft>
                          <a:spcPts val="1200"/>
                        </a:spcAft>
                        <a:buNone/>
                      </a:pPr>
                      <a:r>
                        <a:rPr lang="de-DE" sz="2000" b="1" i="0">
                          <a:solidFill>
                            <a:srgbClr val="1F2328"/>
                          </a:solidFill>
                          <a:effectLst/>
                          <a:latin typeface="Mona Sans VF"/>
                        </a:rPr>
                        <a:t>Methodik-Vorbild</a:t>
                      </a:r>
                      <a:endParaRPr lang="de-DE" sz="2000" b="0" i="0">
                        <a:solidFill>
                          <a:srgbClr val="1F2328"/>
                        </a:solidFill>
                        <a:effectLst/>
                        <a:latin typeface="Mona Sans VF"/>
                      </a:endParaRP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2000" b="0" i="0">
                          <a:solidFill>
                            <a:srgbClr val="1F2328"/>
                          </a:solidFill>
                          <a:effectLst/>
                          <a:latin typeface="Mona Sans VF"/>
                        </a:rPr>
                        <a:t>MSPB (2025)</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2000" b="0" i="0">
                          <a:solidFill>
                            <a:srgbClr val="1F2328"/>
                          </a:solidFill>
                          <a:effectLst/>
                          <a:latin typeface="Mona Sans VF"/>
                        </a:rPr>
                        <a:t>Head-to-Head-LLM-Vergleich als Versuchsdesign</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3858604038"/>
                  </a:ext>
                </a:extLst>
              </a:tr>
              <a:tr h="709863">
                <a:tc>
                  <a:txBody>
                    <a:bodyPr/>
                    <a:lstStyle/>
                    <a:p>
                      <a:pPr algn="l">
                        <a:spcAft>
                          <a:spcPts val="1200"/>
                        </a:spcAft>
                        <a:buNone/>
                      </a:pPr>
                      <a:r>
                        <a:rPr lang="de-DE" sz="2000" b="1" i="0">
                          <a:solidFill>
                            <a:srgbClr val="1F2328"/>
                          </a:solidFill>
                          <a:effectLst/>
                          <a:latin typeface="Mona Sans VF"/>
                        </a:rPr>
                        <a:t>Obere Referenz / Baseline</a:t>
                      </a:r>
                      <a:endParaRPr lang="de-DE" sz="2000" b="0" i="0">
                        <a:solidFill>
                          <a:srgbClr val="1F2328"/>
                        </a:solidFill>
                        <a:effectLst/>
                        <a:latin typeface="Mona Sans VF"/>
                      </a:endParaRP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2000" b="0" i="0" dirty="0">
                          <a:solidFill>
                            <a:srgbClr val="1F2328"/>
                          </a:solidFill>
                          <a:effectLst/>
                          <a:latin typeface="Mona Sans VF"/>
                        </a:rPr>
                        <a:t>SITA (2026), Whisper</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2000" b="0" i="0">
                          <a:solidFill>
                            <a:srgbClr val="1F2328"/>
                          </a:solidFill>
                          <a:effectLst/>
                          <a:latin typeface="Mona Sans VF"/>
                        </a:rPr>
                        <a:t>dediziertes System als Vergleichsanker (RQ4)</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3578926026"/>
                  </a:ext>
                </a:extLst>
              </a:tr>
              <a:tr h="709863">
                <a:tc>
                  <a:txBody>
                    <a:bodyPr/>
                    <a:lstStyle/>
                    <a:p>
                      <a:pPr algn="l">
                        <a:spcAft>
                          <a:spcPts val="1200"/>
                        </a:spcAft>
                        <a:buNone/>
                      </a:pPr>
                      <a:r>
                        <a:rPr lang="de-DE" sz="2000" b="1" i="0">
                          <a:solidFill>
                            <a:srgbClr val="1F2328"/>
                          </a:solidFill>
                          <a:effectLst/>
                          <a:latin typeface="Mona Sans VF"/>
                        </a:rPr>
                        <a:t>Metriken</a:t>
                      </a:r>
                      <a:endParaRPr lang="de-DE" sz="2000" b="0" i="0">
                        <a:solidFill>
                          <a:srgbClr val="1F2328"/>
                        </a:solidFill>
                        <a:effectLst/>
                        <a:latin typeface="Mona Sans VF"/>
                      </a:endParaRP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2000" b="0" i="0">
                          <a:solidFill>
                            <a:srgbClr val="1F2328"/>
                          </a:solidFill>
                          <a:effectLst/>
                          <a:latin typeface="Mona Sans VF"/>
                        </a:rPr>
                        <a:t>Zou (TER), Wang MDD (PER)</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2000" b="0" i="0" dirty="0">
                          <a:solidFill>
                            <a:srgbClr val="1F2328"/>
                          </a:solidFill>
                          <a:effectLst/>
                          <a:latin typeface="Mona Sans VF"/>
                        </a:rPr>
                        <a:t>TER + PER + per-Ton-F1 (RQ5)</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1009947458"/>
                  </a:ext>
                </a:extLst>
              </a:tr>
            </a:tbl>
          </a:graphicData>
        </a:graphic>
      </p:graphicFrame>
    </p:spTree>
    <p:extLst>
      <p:ext uri="{BB962C8B-B14F-4D97-AF65-F5344CB8AC3E}">
        <p14:creationId xmlns:p14="http://schemas.microsoft.com/office/powerpoint/2010/main" val="34378887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F16302-3C11-A543-3625-803DFDDFC416}"/>
              </a:ext>
            </a:extLst>
          </p:cNvPr>
          <p:cNvSpPr>
            <a:spLocks noGrp="1"/>
          </p:cNvSpPr>
          <p:nvPr>
            <p:ph type="title"/>
          </p:nvPr>
        </p:nvSpPr>
        <p:spPr/>
        <p:txBody>
          <a:bodyPr/>
          <a:lstStyle/>
          <a:p>
            <a:r>
              <a:rPr lang="de-DE" dirty="0"/>
              <a:t>Vier Lücken, die die Literatur offen lässt</a:t>
            </a:r>
          </a:p>
        </p:txBody>
      </p:sp>
      <p:graphicFrame>
        <p:nvGraphicFramePr>
          <p:cNvPr id="4" name="Content Placeholder 3">
            <a:extLst>
              <a:ext uri="{FF2B5EF4-FFF2-40B4-BE49-F238E27FC236}">
                <a16:creationId xmlns:a16="http://schemas.microsoft.com/office/drawing/2014/main" id="{20302269-6506-4C5C-679A-0BD881A5090B}"/>
              </a:ext>
            </a:extLst>
          </p:cNvPr>
          <p:cNvGraphicFramePr>
            <a:graphicFrameLocks noGrp="1"/>
          </p:cNvGraphicFramePr>
          <p:nvPr>
            <p:ph idx="1"/>
            <p:extLst>
              <p:ext uri="{D42A27DB-BD31-4B8C-83A1-F6EECF244321}">
                <p14:modId xmlns:p14="http://schemas.microsoft.com/office/powerpoint/2010/main" val="3223724392"/>
              </p:ext>
            </p:extLst>
          </p:nvPr>
        </p:nvGraphicFramePr>
        <p:xfrm>
          <a:off x="838200" y="1690688"/>
          <a:ext cx="10515600" cy="4297680"/>
        </p:xfrm>
        <a:graphic>
          <a:graphicData uri="http://schemas.openxmlformats.org/drawingml/2006/table">
            <a:tbl>
              <a:tblPr/>
              <a:tblGrid>
                <a:gridCol w="1378907">
                  <a:extLst>
                    <a:ext uri="{9D8B030D-6E8A-4147-A177-3AD203B41FA5}">
                      <a16:colId xmlns:a16="http://schemas.microsoft.com/office/drawing/2014/main" val="196089156"/>
                    </a:ext>
                  </a:extLst>
                </a:gridCol>
                <a:gridCol w="5631493">
                  <a:extLst>
                    <a:ext uri="{9D8B030D-6E8A-4147-A177-3AD203B41FA5}">
                      <a16:colId xmlns:a16="http://schemas.microsoft.com/office/drawing/2014/main" val="3666093022"/>
                    </a:ext>
                  </a:extLst>
                </a:gridCol>
                <a:gridCol w="3505200">
                  <a:extLst>
                    <a:ext uri="{9D8B030D-6E8A-4147-A177-3AD203B41FA5}">
                      <a16:colId xmlns:a16="http://schemas.microsoft.com/office/drawing/2014/main" val="711516005"/>
                    </a:ext>
                  </a:extLst>
                </a:gridCol>
              </a:tblGrid>
              <a:tr h="0">
                <a:tc>
                  <a:txBody>
                    <a:bodyPr/>
                    <a:lstStyle/>
                    <a:p>
                      <a:pPr algn="l">
                        <a:spcAft>
                          <a:spcPts val="1200"/>
                        </a:spcAft>
                        <a:buNone/>
                      </a:pPr>
                      <a:r>
                        <a:rPr lang="de-DE" sz="2800" b="1" i="0">
                          <a:solidFill>
                            <a:srgbClr val="1F2328"/>
                          </a:solidFill>
                          <a:effectLst/>
                          <a:latin typeface="Mona Sans VF"/>
                        </a:rPr>
                        <a:t>#</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2800" b="1" i="0">
                          <a:solidFill>
                            <a:srgbClr val="1F2328"/>
                          </a:solidFill>
                          <a:effectLst/>
                          <a:latin typeface="Mona Sans VF"/>
                        </a:rPr>
                        <a:t>Lücke</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2800" b="1" i="0">
                          <a:solidFill>
                            <a:srgbClr val="1F2328"/>
                          </a:solidFill>
                          <a:effectLst/>
                          <a:latin typeface="Mona Sans VF"/>
                        </a:rPr>
                        <a:t>Beleg</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3311399495"/>
                  </a:ext>
                </a:extLst>
              </a:tr>
              <a:tr h="0">
                <a:tc>
                  <a:txBody>
                    <a:bodyPr/>
                    <a:lstStyle/>
                    <a:p>
                      <a:pPr algn="l">
                        <a:spcAft>
                          <a:spcPts val="1200"/>
                        </a:spcAft>
                        <a:buNone/>
                      </a:pPr>
                      <a:r>
                        <a:rPr lang="de-DE" sz="2800" b="0" i="0">
                          <a:solidFill>
                            <a:srgbClr val="1F2328"/>
                          </a:solidFill>
                          <a:effectLst/>
                          <a:latin typeface="Mona Sans VF"/>
                        </a:rPr>
                        <a:t>L1</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2800" b="0" i="0">
                          <a:solidFill>
                            <a:srgbClr val="1F2328"/>
                          </a:solidFill>
                          <a:effectLst/>
                          <a:latin typeface="Mona Sans VF"/>
                        </a:rPr>
                        <a:t>LLMs nur auf Wort/Zeichen (CER/WER) evaluiert, nicht Phonem/Ton</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2800" b="0" i="0">
                          <a:solidFill>
                            <a:srgbClr val="1F2328"/>
                          </a:solidFill>
                          <a:effectLst/>
                          <a:latin typeface="Mona Sans VF"/>
                        </a:rPr>
                        <a:t>alle 7 Speech LLMs</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638594789"/>
                  </a:ext>
                </a:extLst>
              </a:tr>
              <a:tr h="0">
                <a:tc>
                  <a:txBody>
                    <a:bodyPr/>
                    <a:lstStyle/>
                    <a:p>
                      <a:pPr algn="l">
                        <a:spcAft>
                          <a:spcPts val="1200"/>
                        </a:spcAft>
                        <a:buNone/>
                      </a:pPr>
                      <a:r>
                        <a:rPr lang="de-DE" sz="2800" b="0" i="0">
                          <a:solidFill>
                            <a:srgbClr val="1F2328"/>
                          </a:solidFill>
                          <a:effectLst/>
                          <a:latin typeface="Mona Sans VF"/>
                        </a:rPr>
                        <a:t>L2</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2800" b="0" i="0">
                          <a:solidFill>
                            <a:srgbClr val="1F2328"/>
                          </a:solidFill>
                          <a:effectLst/>
                          <a:latin typeface="Mona Sans VF"/>
                        </a:rPr>
                        <a:t>Töne selten als </a:t>
                      </a:r>
                      <a:r>
                        <a:rPr lang="de-DE" sz="2800" b="1" i="0">
                          <a:solidFill>
                            <a:srgbClr val="1F2328"/>
                          </a:solidFill>
                          <a:effectLst/>
                          <a:latin typeface="Mona Sans VF"/>
                        </a:rPr>
                        <a:t>separate</a:t>
                      </a:r>
                      <a:r>
                        <a:rPr lang="de-DE" sz="2800" b="0" i="0">
                          <a:solidFill>
                            <a:srgbClr val="1F2328"/>
                          </a:solidFill>
                          <a:effectLst/>
                          <a:latin typeface="Mona Sans VF"/>
                        </a:rPr>
                        <a:t> Evaluationsachse</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2800" b="0" i="0">
                          <a:solidFill>
                            <a:srgbClr val="1F2328"/>
                          </a:solidFill>
                          <a:effectLst/>
                          <a:latin typeface="Mona Sans VF"/>
                        </a:rPr>
                        <a:t>Zhengjie: Pinyin ohne Ton</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187602317"/>
                  </a:ext>
                </a:extLst>
              </a:tr>
              <a:tr h="0">
                <a:tc>
                  <a:txBody>
                    <a:bodyPr/>
                    <a:lstStyle/>
                    <a:p>
                      <a:pPr algn="l">
                        <a:spcAft>
                          <a:spcPts val="1200"/>
                        </a:spcAft>
                        <a:buNone/>
                      </a:pPr>
                      <a:r>
                        <a:rPr lang="de-DE" sz="2800" b="0" i="0">
                          <a:solidFill>
                            <a:srgbClr val="1F2328"/>
                          </a:solidFill>
                          <a:effectLst/>
                          <a:latin typeface="Mona Sans VF"/>
                        </a:rPr>
                        <a:t>L3</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2800" b="0" i="0">
                          <a:solidFill>
                            <a:srgbClr val="1F2328"/>
                          </a:solidFill>
                          <a:effectLst/>
                          <a:latin typeface="Mona Sans VF"/>
                        </a:rPr>
                        <a:t>Sehr wenige L2-Lerner-Studien</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2800" b="0" i="0">
                          <a:solidFill>
                            <a:srgbClr val="1F2328"/>
                          </a:solidFill>
                          <a:effectLst/>
                          <a:latin typeface="Mona Sans VF"/>
                        </a:rPr>
                        <a:t>Zou Review</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3395063195"/>
                  </a:ext>
                </a:extLst>
              </a:tr>
              <a:tr h="0">
                <a:tc>
                  <a:txBody>
                    <a:bodyPr/>
                    <a:lstStyle/>
                    <a:p>
                      <a:pPr algn="l">
                        <a:spcAft>
                          <a:spcPts val="1200"/>
                        </a:spcAft>
                        <a:buNone/>
                      </a:pPr>
                      <a:r>
                        <a:rPr lang="de-DE" sz="2800" b="0" i="0">
                          <a:solidFill>
                            <a:srgbClr val="1F2328"/>
                          </a:solidFill>
                          <a:effectLst/>
                          <a:latin typeface="Mona Sans VF"/>
                        </a:rPr>
                        <a:t>L4</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2800" b="0" i="0">
                          <a:solidFill>
                            <a:srgbClr val="1F2328"/>
                          </a:solidFill>
                          <a:effectLst/>
                          <a:latin typeface="Mona Sans VF"/>
                        </a:rPr>
                        <a:t>Kein systematischer LLM-vs.-dediziert-Vergleich</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2800" b="0" i="0" dirty="0">
                          <a:solidFill>
                            <a:srgbClr val="1F2328"/>
                          </a:solidFill>
                          <a:effectLst/>
                          <a:latin typeface="Mona Sans VF"/>
                        </a:rPr>
                        <a:t>Gaido (2024)</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2104251031"/>
                  </a:ext>
                </a:extLst>
              </a:tr>
            </a:tbl>
          </a:graphicData>
        </a:graphic>
      </p:graphicFrame>
      <p:sp>
        <p:nvSpPr>
          <p:cNvPr id="6" name="TextBox 5">
            <a:extLst>
              <a:ext uri="{FF2B5EF4-FFF2-40B4-BE49-F238E27FC236}">
                <a16:creationId xmlns:a16="http://schemas.microsoft.com/office/drawing/2014/main" id="{870BA440-E17B-5598-B36D-02C49F99E864}"/>
              </a:ext>
            </a:extLst>
          </p:cNvPr>
          <p:cNvSpPr txBox="1"/>
          <p:nvPr/>
        </p:nvSpPr>
        <p:spPr>
          <a:xfrm>
            <a:off x="838200" y="5988368"/>
            <a:ext cx="10786997" cy="646331"/>
          </a:xfrm>
          <a:prstGeom prst="rect">
            <a:avLst/>
          </a:prstGeom>
          <a:noFill/>
        </p:spPr>
        <p:txBody>
          <a:bodyPr wrap="square">
            <a:spAutoFit/>
          </a:bodyPr>
          <a:lstStyle/>
          <a:p>
            <a:r>
              <a:rPr lang="de-DE" sz="1800" b="0" i="0" dirty="0">
                <a:solidFill>
                  <a:srgbClr val="59636E"/>
                </a:solidFill>
                <a:effectLst/>
                <a:latin typeface="Mona Sans VF"/>
              </a:rPr>
              <a:t>„</a:t>
            </a:r>
            <a:r>
              <a:rPr lang="de-DE" sz="1800" b="0" i="0" dirty="0" err="1">
                <a:solidFill>
                  <a:srgbClr val="59636E"/>
                </a:solidFill>
                <a:effectLst/>
                <a:latin typeface="Mona Sans VF"/>
              </a:rPr>
              <a:t>no</a:t>
            </a:r>
            <a:r>
              <a:rPr lang="de-DE" sz="1800" b="0" i="0" dirty="0">
                <a:solidFill>
                  <a:srgbClr val="59636E"/>
                </a:solidFill>
                <a:effectLst/>
                <a:latin typeface="Mona Sans VF"/>
              </a:rPr>
              <a:t> </a:t>
            </a:r>
            <a:r>
              <a:rPr lang="de-DE" sz="1800" b="0" i="0" dirty="0" err="1">
                <a:solidFill>
                  <a:srgbClr val="59636E"/>
                </a:solidFill>
                <a:effectLst/>
                <a:latin typeface="Mona Sans VF"/>
              </a:rPr>
              <a:t>work</a:t>
            </a:r>
            <a:r>
              <a:rPr lang="de-DE" sz="1800" b="0" i="0" dirty="0">
                <a:solidFill>
                  <a:srgbClr val="59636E"/>
                </a:solidFill>
                <a:effectLst/>
                <a:latin typeface="Mona Sans VF"/>
              </a:rPr>
              <a:t> </a:t>
            </a:r>
            <a:r>
              <a:rPr lang="de-DE" sz="1800" b="0" i="0" dirty="0" err="1">
                <a:solidFill>
                  <a:srgbClr val="59636E"/>
                </a:solidFill>
                <a:effectLst/>
                <a:latin typeface="Mona Sans VF"/>
              </a:rPr>
              <a:t>has</a:t>
            </a:r>
            <a:r>
              <a:rPr lang="de-DE" sz="1800" b="0" i="0" dirty="0">
                <a:solidFill>
                  <a:srgbClr val="59636E"/>
                </a:solidFill>
                <a:effectLst/>
                <a:latin typeface="Mona Sans VF"/>
              </a:rPr>
              <a:t> </a:t>
            </a:r>
            <a:r>
              <a:rPr lang="de-DE" sz="1800" b="0" i="0" dirty="0" err="1">
                <a:solidFill>
                  <a:srgbClr val="59636E"/>
                </a:solidFill>
                <a:effectLst/>
                <a:latin typeface="Mona Sans VF"/>
              </a:rPr>
              <a:t>addressed</a:t>
            </a:r>
            <a:r>
              <a:rPr lang="de-DE" sz="1800" b="0" i="0" dirty="0">
                <a:solidFill>
                  <a:srgbClr val="59636E"/>
                </a:solidFill>
                <a:effectLst/>
                <a:latin typeface="Mona Sans VF"/>
              </a:rPr>
              <a:t> </a:t>
            </a:r>
            <a:r>
              <a:rPr lang="de-DE" sz="1800" b="0" i="0" dirty="0" err="1">
                <a:solidFill>
                  <a:srgbClr val="59636E"/>
                </a:solidFill>
                <a:effectLst/>
                <a:latin typeface="Mona Sans VF"/>
              </a:rPr>
              <a:t>the</a:t>
            </a:r>
            <a:r>
              <a:rPr lang="de-DE" sz="1800" b="0" i="0" dirty="0">
                <a:solidFill>
                  <a:srgbClr val="59636E"/>
                </a:solidFill>
                <a:effectLst/>
                <a:latin typeface="Mona Sans VF"/>
              </a:rPr>
              <a:t> </a:t>
            </a:r>
            <a:r>
              <a:rPr lang="de-DE" sz="1800" b="0" i="0" dirty="0" err="1">
                <a:solidFill>
                  <a:srgbClr val="59636E"/>
                </a:solidFill>
                <a:effectLst/>
                <a:latin typeface="Mona Sans VF"/>
              </a:rPr>
              <a:t>comparative</a:t>
            </a:r>
            <a:r>
              <a:rPr lang="de-DE" sz="1800" b="0" i="0" dirty="0">
                <a:solidFill>
                  <a:srgbClr val="59636E"/>
                </a:solidFill>
                <a:effectLst/>
                <a:latin typeface="Mona Sans VF"/>
              </a:rPr>
              <a:t> </a:t>
            </a:r>
            <a:r>
              <a:rPr lang="de-DE" sz="1800" b="0" i="0" dirty="0" err="1">
                <a:solidFill>
                  <a:srgbClr val="59636E"/>
                </a:solidFill>
                <a:effectLst/>
                <a:latin typeface="Mona Sans VF"/>
              </a:rPr>
              <a:t>assessment</a:t>
            </a:r>
            <a:r>
              <a:rPr lang="de-DE" sz="1800" b="0" i="0" dirty="0">
                <a:solidFill>
                  <a:srgbClr val="59636E"/>
                </a:solidFill>
                <a:effectLst/>
                <a:latin typeface="Mona Sans VF"/>
              </a:rPr>
              <a:t> </a:t>
            </a:r>
            <a:r>
              <a:rPr lang="de-DE" sz="1800" b="0" i="0" dirty="0" err="1">
                <a:solidFill>
                  <a:srgbClr val="59636E"/>
                </a:solidFill>
                <a:effectLst/>
                <a:latin typeface="Mona Sans VF"/>
              </a:rPr>
              <a:t>of</a:t>
            </a:r>
            <a:r>
              <a:rPr lang="de-DE" sz="1800" b="0" i="0" dirty="0">
                <a:solidFill>
                  <a:srgbClr val="59636E"/>
                </a:solidFill>
                <a:effectLst/>
                <a:latin typeface="Mona Sans VF"/>
              </a:rPr>
              <a:t> different SFMs </a:t>
            </a:r>
            <a:r>
              <a:rPr lang="de-DE" sz="1800" b="0" i="0" dirty="0" err="1">
                <a:solidFill>
                  <a:srgbClr val="59636E"/>
                </a:solidFill>
                <a:effectLst/>
                <a:latin typeface="Mona Sans VF"/>
              </a:rPr>
              <a:t>under</a:t>
            </a:r>
            <a:r>
              <a:rPr lang="de-DE" sz="1800" b="0" i="0" dirty="0">
                <a:solidFill>
                  <a:srgbClr val="59636E"/>
                </a:solidFill>
                <a:effectLst/>
                <a:latin typeface="Mona Sans VF"/>
              </a:rPr>
              <a:t> </a:t>
            </a:r>
            <a:r>
              <a:rPr lang="de-DE" sz="1800" b="0" i="0" dirty="0" err="1">
                <a:solidFill>
                  <a:srgbClr val="59636E"/>
                </a:solidFill>
                <a:effectLst/>
                <a:latin typeface="Mona Sans VF"/>
              </a:rPr>
              <a:t>controlled</a:t>
            </a:r>
            <a:r>
              <a:rPr lang="de-DE" sz="1800" b="0" i="0" dirty="0">
                <a:solidFill>
                  <a:srgbClr val="59636E"/>
                </a:solidFill>
                <a:effectLst/>
                <a:latin typeface="Mona Sans VF"/>
              </a:rPr>
              <a:t> </a:t>
            </a:r>
            <a:r>
              <a:rPr lang="de-DE" sz="1800" b="0" i="0" dirty="0" err="1">
                <a:solidFill>
                  <a:srgbClr val="59636E"/>
                </a:solidFill>
                <a:effectLst/>
                <a:latin typeface="Mona Sans VF"/>
              </a:rPr>
              <a:t>conditions</a:t>
            </a:r>
            <a:r>
              <a:rPr lang="de-DE" sz="1800" b="0" i="0" dirty="0">
                <a:solidFill>
                  <a:srgbClr val="59636E"/>
                </a:solidFill>
                <a:effectLst/>
                <a:latin typeface="Mona Sans VF"/>
              </a:rPr>
              <a:t> </a:t>
            </a:r>
            <a:r>
              <a:rPr lang="de-DE" sz="1800" b="0" i="0" dirty="0" err="1">
                <a:solidFill>
                  <a:srgbClr val="59636E"/>
                </a:solidFill>
                <a:effectLst/>
                <a:latin typeface="Mona Sans VF"/>
              </a:rPr>
              <a:t>within</a:t>
            </a:r>
            <a:r>
              <a:rPr lang="de-DE" sz="1800" b="0" i="0" dirty="0">
                <a:solidFill>
                  <a:srgbClr val="59636E"/>
                </a:solidFill>
                <a:effectLst/>
                <a:latin typeface="Mona Sans VF"/>
              </a:rPr>
              <a:t> </a:t>
            </a:r>
            <a:r>
              <a:rPr lang="de-DE" sz="1800" b="0" i="0" dirty="0" err="1">
                <a:solidFill>
                  <a:srgbClr val="59636E"/>
                </a:solidFill>
                <a:effectLst/>
                <a:latin typeface="Mona Sans VF"/>
              </a:rPr>
              <a:t>the</a:t>
            </a:r>
            <a:r>
              <a:rPr lang="de-DE" sz="1800" b="0" i="0" dirty="0">
                <a:solidFill>
                  <a:srgbClr val="59636E"/>
                </a:solidFill>
                <a:effectLst/>
                <a:latin typeface="Mona Sans VF"/>
              </a:rPr>
              <a:t> same </a:t>
            </a:r>
            <a:r>
              <a:rPr lang="de-DE" sz="1800" b="0" i="0" dirty="0" err="1">
                <a:solidFill>
                  <a:srgbClr val="59636E"/>
                </a:solidFill>
                <a:effectLst/>
                <a:latin typeface="Mona Sans VF"/>
              </a:rPr>
              <a:t>framework</a:t>
            </a:r>
            <a:r>
              <a:rPr lang="de-DE" sz="1800" b="0" i="0" dirty="0">
                <a:solidFill>
                  <a:srgbClr val="59636E"/>
                </a:solidFill>
                <a:effectLst/>
                <a:latin typeface="Mona Sans VF"/>
              </a:rPr>
              <a:t>." — Gaido et al. (2024)</a:t>
            </a:r>
            <a:endParaRPr lang="de-DE" dirty="0"/>
          </a:p>
        </p:txBody>
      </p:sp>
    </p:spTree>
    <p:extLst>
      <p:ext uri="{BB962C8B-B14F-4D97-AF65-F5344CB8AC3E}">
        <p14:creationId xmlns:p14="http://schemas.microsoft.com/office/powerpoint/2010/main" val="1328981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B27247-546F-F35E-C540-FBB988C36C06}"/>
              </a:ext>
            </a:extLst>
          </p:cNvPr>
          <p:cNvSpPr>
            <a:spLocks noGrp="1"/>
          </p:cNvSpPr>
          <p:nvPr>
            <p:ph type="title"/>
          </p:nvPr>
        </p:nvSpPr>
        <p:spPr/>
        <p:txBody>
          <a:bodyPr/>
          <a:lstStyle/>
          <a:p>
            <a:r>
              <a:rPr lang="de-DE" dirty="0"/>
              <a:t>Welche Lücken diese Arbeit schließt — Mapping auf die Forschungsfragen</a:t>
            </a:r>
          </a:p>
        </p:txBody>
      </p:sp>
      <p:graphicFrame>
        <p:nvGraphicFramePr>
          <p:cNvPr id="4" name="Content Placeholder 3">
            <a:extLst>
              <a:ext uri="{FF2B5EF4-FFF2-40B4-BE49-F238E27FC236}">
                <a16:creationId xmlns:a16="http://schemas.microsoft.com/office/drawing/2014/main" id="{5B9DBDBF-3205-2BBB-9036-95F35D1D9B27}"/>
              </a:ext>
            </a:extLst>
          </p:cNvPr>
          <p:cNvGraphicFramePr>
            <a:graphicFrameLocks noGrp="1"/>
          </p:cNvGraphicFramePr>
          <p:nvPr>
            <p:ph idx="1"/>
            <p:extLst>
              <p:ext uri="{D42A27DB-BD31-4B8C-83A1-F6EECF244321}">
                <p14:modId xmlns:p14="http://schemas.microsoft.com/office/powerpoint/2010/main" val="1025162099"/>
              </p:ext>
            </p:extLst>
          </p:nvPr>
        </p:nvGraphicFramePr>
        <p:xfrm>
          <a:off x="838200" y="1866377"/>
          <a:ext cx="10515600" cy="4782129"/>
        </p:xfrm>
        <a:graphic>
          <a:graphicData uri="http://schemas.openxmlformats.org/drawingml/2006/table">
            <a:tbl>
              <a:tblPr/>
              <a:tblGrid>
                <a:gridCol w="3505200">
                  <a:extLst>
                    <a:ext uri="{9D8B030D-6E8A-4147-A177-3AD203B41FA5}">
                      <a16:colId xmlns:a16="http://schemas.microsoft.com/office/drawing/2014/main" val="757842257"/>
                    </a:ext>
                  </a:extLst>
                </a:gridCol>
                <a:gridCol w="1556359">
                  <a:extLst>
                    <a:ext uri="{9D8B030D-6E8A-4147-A177-3AD203B41FA5}">
                      <a16:colId xmlns:a16="http://schemas.microsoft.com/office/drawing/2014/main" val="1532774712"/>
                    </a:ext>
                  </a:extLst>
                </a:gridCol>
                <a:gridCol w="5454041">
                  <a:extLst>
                    <a:ext uri="{9D8B030D-6E8A-4147-A177-3AD203B41FA5}">
                      <a16:colId xmlns:a16="http://schemas.microsoft.com/office/drawing/2014/main" val="3297375095"/>
                    </a:ext>
                  </a:extLst>
                </a:gridCol>
              </a:tblGrid>
              <a:tr h="771083">
                <a:tc>
                  <a:txBody>
                    <a:bodyPr/>
                    <a:lstStyle/>
                    <a:p>
                      <a:pPr algn="l">
                        <a:spcAft>
                          <a:spcPts val="1200"/>
                        </a:spcAft>
                        <a:buNone/>
                      </a:pPr>
                      <a:r>
                        <a:rPr lang="de-DE" sz="2400" b="1" i="0" dirty="0">
                          <a:solidFill>
                            <a:srgbClr val="1F2328"/>
                          </a:solidFill>
                          <a:effectLst/>
                          <a:latin typeface="Mona Sans VF"/>
                        </a:rPr>
                        <a:t>RQ</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2400" b="1" i="0" dirty="0">
                          <a:solidFill>
                            <a:srgbClr val="1F2328"/>
                          </a:solidFill>
                          <a:effectLst/>
                          <a:latin typeface="Mona Sans VF"/>
                        </a:rPr>
                        <a:t>Schließt Lücke</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2400" b="1" i="0">
                          <a:solidFill>
                            <a:srgbClr val="1F2328"/>
                          </a:solidFill>
                          <a:effectLst/>
                          <a:latin typeface="Mona Sans VF"/>
                        </a:rPr>
                        <a:t>Beitrag</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1029483921"/>
                  </a:ext>
                </a:extLst>
              </a:tr>
              <a:tr h="771083">
                <a:tc>
                  <a:txBody>
                    <a:bodyPr/>
                    <a:lstStyle/>
                    <a:p>
                      <a:pPr algn="l">
                        <a:spcAft>
                          <a:spcPts val="1200"/>
                        </a:spcAft>
                        <a:buNone/>
                      </a:pPr>
                      <a:r>
                        <a:rPr lang="de-DE" sz="2400" b="1" i="0">
                          <a:solidFill>
                            <a:srgbClr val="1F2328"/>
                          </a:solidFill>
                          <a:effectLst/>
                          <a:latin typeface="Mona Sans VF"/>
                        </a:rPr>
                        <a:t>RQ1</a:t>
                      </a:r>
                      <a:r>
                        <a:rPr lang="de-DE" sz="2400" b="0" i="0">
                          <a:solidFill>
                            <a:srgbClr val="1F2328"/>
                          </a:solidFill>
                          <a:effectLst/>
                          <a:latin typeface="Mona Sans VF"/>
                        </a:rPr>
                        <a:t> Text→Pinyin (±Ton)</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2400" b="0" i="0" dirty="0">
                          <a:solidFill>
                            <a:srgbClr val="1F2328"/>
                          </a:solidFill>
                          <a:effectLst/>
                          <a:latin typeface="Mona Sans VF"/>
                        </a:rPr>
                        <a:t>L1</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2400" b="0" i="0" dirty="0">
                          <a:solidFill>
                            <a:srgbClr val="1F2328"/>
                          </a:solidFill>
                          <a:effectLst/>
                          <a:latin typeface="Mona Sans VF"/>
                        </a:rPr>
                        <a:t>isolierte Sprachwissens-Baseline</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2250072859"/>
                  </a:ext>
                </a:extLst>
              </a:tr>
              <a:tr h="771083">
                <a:tc>
                  <a:txBody>
                    <a:bodyPr/>
                    <a:lstStyle/>
                    <a:p>
                      <a:pPr algn="l">
                        <a:spcAft>
                          <a:spcPts val="1200"/>
                        </a:spcAft>
                        <a:buNone/>
                      </a:pPr>
                      <a:r>
                        <a:rPr lang="de-DE" sz="2400" b="1" i="0">
                          <a:solidFill>
                            <a:srgbClr val="1F2328"/>
                          </a:solidFill>
                          <a:effectLst/>
                          <a:latin typeface="Mona Sans VF"/>
                        </a:rPr>
                        <a:t>RQ2</a:t>
                      </a:r>
                      <a:r>
                        <a:rPr lang="de-DE" sz="2400" b="0" i="0">
                          <a:solidFill>
                            <a:srgbClr val="1F2328"/>
                          </a:solidFill>
                          <a:effectLst/>
                          <a:latin typeface="Mona Sans VF"/>
                        </a:rPr>
                        <a:t> Native-Speech (Wort/Phonem/</a:t>
                      </a:r>
                      <a:r>
                        <a:rPr lang="de-DE" sz="2400" b="1" i="0">
                          <a:solidFill>
                            <a:srgbClr val="1F2328"/>
                          </a:solidFill>
                          <a:effectLst/>
                          <a:latin typeface="Mona Sans VF"/>
                        </a:rPr>
                        <a:t>Ton</a:t>
                      </a:r>
                      <a:r>
                        <a:rPr lang="de-DE" sz="2400" b="0" i="0">
                          <a:solidFill>
                            <a:srgbClr val="1F2328"/>
                          </a:solidFill>
                          <a:effectLst/>
                          <a:latin typeface="Mona Sans VF"/>
                        </a:rPr>
                        <a:t>)</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2400" b="0" i="0">
                          <a:solidFill>
                            <a:srgbClr val="1F2328"/>
                          </a:solidFill>
                          <a:effectLst/>
                          <a:latin typeface="Mona Sans VF"/>
                        </a:rPr>
                        <a:t>L1, L2</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2400" b="0" i="0" dirty="0">
                          <a:solidFill>
                            <a:srgbClr val="1F2328"/>
                          </a:solidFill>
                          <a:effectLst/>
                          <a:latin typeface="Mona Sans VF"/>
                        </a:rPr>
                        <a:t>erste tonale Transkriptionsgüte für LLMs</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1868185044"/>
                  </a:ext>
                </a:extLst>
              </a:tr>
              <a:tr h="771083">
                <a:tc>
                  <a:txBody>
                    <a:bodyPr/>
                    <a:lstStyle/>
                    <a:p>
                      <a:pPr algn="l">
                        <a:spcAft>
                          <a:spcPts val="1200"/>
                        </a:spcAft>
                        <a:buNone/>
                      </a:pPr>
                      <a:r>
                        <a:rPr lang="de-DE" sz="2400" b="1" i="0">
                          <a:solidFill>
                            <a:srgbClr val="1F2328"/>
                          </a:solidFill>
                          <a:effectLst/>
                          <a:latin typeface="Mona Sans VF"/>
                        </a:rPr>
                        <a:t>RQ3</a:t>
                      </a:r>
                      <a:r>
                        <a:rPr lang="de-DE" sz="2400" b="0" i="0">
                          <a:solidFill>
                            <a:srgbClr val="1F2328"/>
                          </a:solidFill>
                          <a:effectLst/>
                          <a:latin typeface="Mona Sans VF"/>
                        </a:rPr>
                        <a:t> L2-Speech </a:t>
                      </a:r>
                      <a:r>
                        <a:rPr lang="de-DE" sz="2400" b="0" i="1">
                          <a:solidFill>
                            <a:srgbClr val="1F2328"/>
                          </a:solidFill>
                          <a:effectLst/>
                          <a:latin typeface="Mona Sans VF"/>
                        </a:rPr>
                        <a:t>(stretch)</a:t>
                      </a:r>
                      <a:endParaRPr lang="de-DE" sz="2400" b="0" i="0">
                        <a:solidFill>
                          <a:srgbClr val="1F2328"/>
                        </a:solidFill>
                        <a:effectLst/>
                        <a:latin typeface="Mona Sans VF"/>
                      </a:endParaRP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2400" b="0" i="0">
                          <a:solidFill>
                            <a:srgbClr val="1F2328"/>
                          </a:solidFill>
                          <a:effectLst/>
                          <a:latin typeface="Mona Sans VF"/>
                        </a:rPr>
                        <a:t>L3</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2400" b="0" i="0" dirty="0">
                          <a:solidFill>
                            <a:srgbClr val="1F2328"/>
                          </a:solidFill>
                          <a:effectLst/>
                          <a:latin typeface="Mona Sans VF"/>
                        </a:rPr>
                        <a:t>feedback-relevanter Fall, neu für LLMs</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3100767500"/>
                  </a:ext>
                </a:extLst>
              </a:tr>
              <a:tr h="771083">
                <a:tc>
                  <a:txBody>
                    <a:bodyPr/>
                    <a:lstStyle/>
                    <a:p>
                      <a:pPr algn="l">
                        <a:spcAft>
                          <a:spcPts val="1200"/>
                        </a:spcAft>
                        <a:buNone/>
                      </a:pPr>
                      <a:r>
                        <a:rPr lang="de-DE" sz="2400" b="1" i="0">
                          <a:solidFill>
                            <a:srgbClr val="1F2328"/>
                          </a:solidFill>
                          <a:effectLst/>
                          <a:latin typeface="Mona Sans VF"/>
                        </a:rPr>
                        <a:t>RQ4</a:t>
                      </a:r>
                      <a:r>
                        <a:rPr lang="de-DE" sz="2400" b="0" i="0">
                          <a:solidFill>
                            <a:srgbClr val="1F2328"/>
                          </a:solidFill>
                          <a:effectLst/>
                          <a:latin typeface="Mona Sans VF"/>
                        </a:rPr>
                        <a:t> vs. Whisper/dediziert</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2400" b="0" i="0">
                          <a:solidFill>
                            <a:srgbClr val="1F2328"/>
                          </a:solidFill>
                          <a:effectLst/>
                          <a:latin typeface="Mona Sans VF"/>
                        </a:rPr>
                        <a:t>L4</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2400" b="0" i="0" dirty="0">
                          <a:solidFill>
                            <a:srgbClr val="1F2328"/>
                          </a:solidFill>
                          <a:effectLst/>
                          <a:latin typeface="Mona Sans VF"/>
                        </a:rPr>
                        <a:t>kontrollierter Head-</a:t>
                      </a:r>
                      <a:r>
                        <a:rPr lang="de-DE" sz="2400" b="0" i="0" dirty="0" err="1">
                          <a:solidFill>
                            <a:srgbClr val="1F2328"/>
                          </a:solidFill>
                          <a:effectLst/>
                          <a:latin typeface="Mona Sans VF"/>
                        </a:rPr>
                        <a:t>to</a:t>
                      </a:r>
                      <a:r>
                        <a:rPr lang="de-DE" sz="2400" b="0" i="0" dirty="0">
                          <a:solidFill>
                            <a:srgbClr val="1F2328"/>
                          </a:solidFill>
                          <a:effectLst/>
                          <a:latin typeface="Mona Sans VF"/>
                        </a:rPr>
                        <a:t>-Head</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2208158528"/>
                  </a:ext>
                </a:extLst>
              </a:tr>
              <a:tr h="771083">
                <a:tc>
                  <a:txBody>
                    <a:bodyPr/>
                    <a:lstStyle/>
                    <a:p>
                      <a:pPr algn="l">
                        <a:spcAft>
                          <a:spcPts val="1200"/>
                        </a:spcAft>
                        <a:buNone/>
                      </a:pPr>
                      <a:r>
                        <a:rPr lang="de-DE" sz="2400" b="1" i="0">
                          <a:solidFill>
                            <a:srgbClr val="1F2328"/>
                          </a:solidFill>
                          <a:effectLst/>
                          <a:latin typeface="Mona Sans VF"/>
                        </a:rPr>
                        <a:t>RQ5</a:t>
                      </a:r>
                      <a:r>
                        <a:rPr lang="de-DE" sz="2400" b="0" i="0">
                          <a:solidFill>
                            <a:srgbClr val="1F2328"/>
                          </a:solidFill>
                          <a:effectLst/>
                          <a:latin typeface="Mona Sans VF"/>
                        </a:rPr>
                        <a:t> Fehlerstruktur</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2400" b="0" i="0" dirty="0">
                          <a:solidFill>
                            <a:srgbClr val="1F2328"/>
                          </a:solidFill>
                          <a:effectLst/>
                          <a:latin typeface="Mona Sans VF"/>
                        </a:rPr>
                        <a:t>L2</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2400" b="0" i="0" dirty="0">
                          <a:solidFill>
                            <a:srgbClr val="1F2328"/>
                          </a:solidFill>
                          <a:effectLst/>
                          <a:latin typeface="Mona Sans VF"/>
                        </a:rPr>
                        <a:t>per-Ton-/Kontrast-Konfusionsanalyse (TER)</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975705988"/>
                  </a:ext>
                </a:extLst>
              </a:tr>
            </a:tbl>
          </a:graphicData>
        </a:graphic>
      </p:graphicFrame>
    </p:spTree>
    <p:extLst>
      <p:ext uri="{BB962C8B-B14F-4D97-AF65-F5344CB8AC3E}">
        <p14:creationId xmlns:p14="http://schemas.microsoft.com/office/powerpoint/2010/main" val="118481303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3CF917-DA22-1D66-923F-1D604D5CC600}"/>
              </a:ext>
            </a:extLst>
          </p:cNvPr>
          <p:cNvSpPr>
            <a:spLocks noGrp="1"/>
          </p:cNvSpPr>
          <p:nvPr>
            <p:ph type="title"/>
          </p:nvPr>
        </p:nvSpPr>
        <p:spPr/>
        <p:txBody>
          <a:bodyPr/>
          <a:lstStyle/>
          <a:p>
            <a:r>
              <a:rPr lang="de-DE" dirty="0"/>
              <a:t>Die Lücke in einem Bild: niemand verbindet LLM + Audio + Töne</a:t>
            </a:r>
          </a:p>
        </p:txBody>
      </p:sp>
      <p:graphicFrame>
        <p:nvGraphicFramePr>
          <p:cNvPr id="4" name="Content Placeholder 3">
            <a:extLst>
              <a:ext uri="{FF2B5EF4-FFF2-40B4-BE49-F238E27FC236}">
                <a16:creationId xmlns:a16="http://schemas.microsoft.com/office/drawing/2014/main" id="{4F39E525-422E-52E0-3FCD-E2EFA7BB80C9}"/>
              </a:ext>
            </a:extLst>
          </p:cNvPr>
          <p:cNvGraphicFramePr>
            <a:graphicFrameLocks noGrp="1"/>
          </p:cNvGraphicFramePr>
          <p:nvPr>
            <p:ph idx="1"/>
            <p:extLst>
              <p:ext uri="{D42A27DB-BD31-4B8C-83A1-F6EECF244321}">
                <p14:modId xmlns:p14="http://schemas.microsoft.com/office/powerpoint/2010/main" val="1601014871"/>
              </p:ext>
            </p:extLst>
          </p:nvPr>
        </p:nvGraphicFramePr>
        <p:xfrm>
          <a:off x="838200" y="1916482"/>
          <a:ext cx="10515600" cy="3990486"/>
        </p:xfrm>
        <a:graphic>
          <a:graphicData uri="http://schemas.openxmlformats.org/drawingml/2006/table">
            <a:tbl>
              <a:tblPr/>
              <a:tblGrid>
                <a:gridCol w="2628900">
                  <a:extLst>
                    <a:ext uri="{9D8B030D-6E8A-4147-A177-3AD203B41FA5}">
                      <a16:colId xmlns:a16="http://schemas.microsoft.com/office/drawing/2014/main" val="2602591822"/>
                    </a:ext>
                  </a:extLst>
                </a:gridCol>
                <a:gridCol w="2628900">
                  <a:extLst>
                    <a:ext uri="{9D8B030D-6E8A-4147-A177-3AD203B41FA5}">
                      <a16:colId xmlns:a16="http://schemas.microsoft.com/office/drawing/2014/main" val="4178203447"/>
                    </a:ext>
                  </a:extLst>
                </a:gridCol>
                <a:gridCol w="2628900">
                  <a:extLst>
                    <a:ext uri="{9D8B030D-6E8A-4147-A177-3AD203B41FA5}">
                      <a16:colId xmlns:a16="http://schemas.microsoft.com/office/drawing/2014/main" val="1640015050"/>
                    </a:ext>
                  </a:extLst>
                </a:gridCol>
                <a:gridCol w="2628900">
                  <a:extLst>
                    <a:ext uri="{9D8B030D-6E8A-4147-A177-3AD203B41FA5}">
                      <a16:colId xmlns:a16="http://schemas.microsoft.com/office/drawing/2014/main" val="741356883"/>
                    </a:ext>
                  </a:extLst>
                </a:gridCol>
              </a:tblGrid>
              <a:tr h="822361">
                <a:tc>
                  <a:txBody>
                    <a:bodyPr/>
                    <a:lstStyle/>
                    <a:p>
                      <a:pPr algn="ctr">
                        <a:spcAft>
                          <a:spcPts val="1200"/>
                        </a:spcAft>
                        <a:buNone/>
                      </a:pPr>
                      <a:endParaRPr lang="de-DE" sz="2000" b="1" i="0" dirty="0">
                        <a:solidFill>
                          <a:srgbClr val="1F2328"/>
                        </a:solidFill>
                        <a:effectLst/>
                        <a:latin typeface="Mona Sans VF"/>
                      </a:endParaRP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ctr">
                        <a:spcAft>
                          <a:spcPts val="1200"/>
                        </a:spcAft>
                        <a:buNone/>
                      </a:pPr>
                      <a:br>
                        <a:rPr lang="de-DE" sz="2000" b="1" i="0" dirty="0">
                          <a:solidFill>
                            <a:srgbClr val="1F2328"/>
                          </a:solidFill>
                          <a:effectLst/>
                          <a:latin typeface="Mona Sans VF"/>
                        </a:rPr>
                      </a:br>
                      <a:r>
                        <a:rPr lang="de-DE" sz="2000" b="1" i="0" dirty="0">
                          <a:solidFill>
                            <a:srgbClr val="1F2328"/>
                          </a:solidFill>
                          <a:effectLst/>
                          <a:latin typeface="Mona Sans VF"/>
                        </a:rPr>
                        <a:t>Töne evaluiert</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ctr">
                        <a:spcAft>
                          <a:spcPts val="1200"/>
                        </a:spcAft>
                        <a:buNone/>
                      </a:pPr>
                      <a:r>
                        <a:rPr lang="de-DE" sz="2000" b="1" i="0" dirty="0">
                          <a:solidFill>
                            <a:srgbClr val="1F2328"/>
                          </a:solidFill>
                          <a:effectLst/>
                          <a:latin typeface="Mona Sans VF"/>
                        </a:rPr>
                        <a:t>LLM genutzt</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ctr">
                        <a:spcAft>
                          <a:spcPts val="1200"/>
                        </a:spcAft>
                        <a:buNone/>
                      </a:pPr>
                      <a:r>
                        <a:rPr lang="de-DE" sz="2000" b="1" i="0" dirty="0">
                          <a:solidFill>
                            <a:srgbClr val="1F2328"/>
                          </a:solidFill>
                          <a:effectLst/>
                          <a:latin typeface="Mona Sans VF"/>
                        </a:rPr>
                        <a:t>Audio-Input</a:t>
                      </a:r>
                    </a:p>
                  </a:txBody>
                  <a:tcPr marL="99060" marR="99060" anchor="ctr">
                    <a:lnL w="7620" cap="flat" cmpd="sng" algn="ctr">
                      <a:solidFill>
                        <a:srgbClr val="D1D9E0"/>
                      </a:solidFill>
                      <a:prstDash val="solid"/>
                      <a:round/>
                      <a:headEnd type="none" w="med" len="med"/>
                      <a:tailEnd type="none" w="med" len="med"/>
                    </a:lnL>
                    <a:lnB w="7620" cap="flat" cmpd="sng" algn="ctr">
                      <a:solidFill>
                        <a:srgbClr val="D1D9E0"/>
                      </a:solidFill>
                      <a:prstDash val="solid"/>
                      <a:round/>
                      <a:headEnd type="none" w="med" len="med"/>
                      <a:tailEnd type="none" w="med" len="med"/>
                    </a:lnB>
                  </a:tcPr>
                </a:tc>
                <a:extLst>
                  <a:ext uri="{0D108BD9-81ED-4DB2-BD59-A6C34878D82A}">
                    <a16:rowId xmlns:a16="http://schemas.microsoft.com/office/drawing/2014/main" val="810983317"/>
                  </a:ext>
                </a:extLst>
              </a:tr>
              <a:tr h="493417">
                <a:tc>
                  <a:txBody>
                    <a:bodyPr/>
                    <a:lstStyle/>
                    <a:p>
                      <a:pPr algn="l">
                        <a:spcAft>
                          <a:spcPts val="1200"/>
                        </a:spcAft>
                        <a:buNone/>
                      </a:pPr>
                      <a:r>
                        <a:rPr lang="de-DE" sz="2000" b="0" i="0">
                          <a:solidFill>
                            <a:srgbClr val="1F2328"/>
                          </a:solidFill>
                          <a:effectLst/>
                          <a:latin typeface="Mona Sans VF"/>
                        </a:rPr>
                        <a:t>Zou, Huang (Reviews)</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ctr">
                        <a:spcAft>
                          <a:spcPts val="1200"/>
                        </a:spcAft>
                        <a:buNone/>
                      </a:pPr>
                      <a:r>
                        <a:rPr lang="de-DE" sz="2000" b="0" i="0">
                          <a:solidFill>
                            <a:srgbClr val="1F2328"/>
                          </a:solidFill>
                          <a:effectLst/>
                          <a:latin typeface="Mona Sans VF"/>
                        </a:rPr>
                        <a:t>✓</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ctr">
                        <a:spcAft>
                          <a:spcPts val="1200"/>
                        </a:spcAft>
                        <a:buNone/>
                      </a:pPr>
                      <a:r>
                        <a:rPr lang="de-DE" sz="2000" b="0" i="0">
                          <a:solidFill>
                            <a:srgbClr val="1F2328"/>
                          </a:solidFill>
                          <a:effectLst/>
                          <a:latin typeface="Mona Sans VF"/>
                        </a:rPr>
                        <a:t>✗</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ctr">
                        <a:spcAft>
                          <a:spcPts val="1200"/>
                        </a:spcAft>
                        <a:buNone/>
                      </a:pPr>
                      <a:r>
                        <a:rPr lang="de-DE" sz="2000" b="0" i="0">
                          <a:solidFill>
                            <a:srgbClr val="1F2328"/>
                          </a:solidFill>
                          <a:effectLst/>
                          <a:latin typeface="Mona Sans VF"/>
                        </a:rPr>
                        <a:t>✗/✓</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2999304879"/>
                  </a:ext>
                </a:extLst>
              </a:tr>
              <a:tr h="493417">
                <a:tc>
                  <a:txBody>
                    <a:bodyPr/>
                    <a:lstStyle/>
                    <a:p>
                      <a:pPr algn="l">
                        <a:spcAft>
                          <a:spcPts val="1200"/>
                        </a:spcAft>
                        <a:buNone/>
                      </a:pPr>
                      <a:r>
                        <a:rPr lang="de-DE" sz="2000" b="0" i="0">
                          <a:solidFill>
                            <a:srgbClr val="1F2328"/>
                          </a:solidFill>
                          <a:effectLst/>
                          <a:latin typeface="Mona Sans VF"/>
                        </a:rPr>
                        <a:t>Wang MDD, Bu (dediziert)</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ctr">
                        <a:spcAft>
                          <a:spcPts val="1200"/>
                        </a:spcAft>
                        <a:buNone/>
                      </a:pPr>
                      <a:r>
                        <a:rPr lang="de-DE" sz="2000" b="0" i="0">
                          <a:solidFill>
                            <a:srgbClr val="1F2328"/>
                          </a:solidFill>
                          <a:effectLst/>
                          <a:latin typeface="Mona Sans VF"/>
                        </a:rPr>
                        <a:t>✓</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ctr">
                        <a:spcAft>
                          <a:spcPts val="1200"/>
                        </a:spcAft>
                        <a:buNone/>
                      </a:pPr>
                      <a:r>
                        <a:rPr lang="de-DE" sz="2000" b="0" i="0">
                          <a:solidFill>
                            <a:srgbClr val="1F2328"/>
                          </a:solidFill>
                          <a:effectLst/>
                          <a:latin typeface="Mona Sans VF"/>
                        </a:rPr>
                        <a:t>✗</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ctr">
                        <a:spcAft>
                          <a:spcPts val="1200"/>
                        </a:spcAft>
                        <a:buNone/>
                      </a:pPr>
                      <a:r>
                        <a:rPr lang="de-DE" sz="2000" b="0" i="0">
                          <a:solidFill>
                            <a:srgbClr val="1F2328"/>
                          </a:solidFill>
                          <a:effectLst/>
                          <a:latin typeface="Mona Sans VF"/>
                        </a:rPr>
                        <a:t>✓</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2470551089"/>
                  </a:ext>
                </a:extLst>
              </a:tr>
              <a:tr h="493417">
                <a:tc>
                  <a:txBody>
                    <a:bodyPr/>
                    <a:lstStyle/>
                    <a:p>
                      <a:pPr algn="l">
                        <a:spcAft>
                          <a:spcPts val="1200"/>
                        </a:spcAft>
                        <a:buNone/>
                      </a:pPr>
                      <a:r>
                        <a:rPr lang="de-DE" sz="2000" b="0" i="0" dirty="0" err="1">
                          <a:solidFill>
                            <a:srgbClr val="1F2328"/>
                          </a:solidFill>
                          <a:effectLst/>
                          <a:latin typeface="Mona Sans VF"/>
                        </a:rPr>
                        <a:t>Zhengjie</a:t>
                      </a:r>
                      <a:r>
                        <a:rPr lang="de-DE" sz="2000" b="0" i="0" dirty="0">
                          <a:solidFill>
                            <a:srgbClr val="1F2328"/>
                          </a:solidFill>
                          <a:effectLst/>
                          <a:latin typeface="Mona Sans VF"/>
                        </a:rPr>
                        <a:t> PYG-ASR</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ctr">
                        <a:spcAft>
                          <a:spcPts val="1200"/>
                        </a:spcAft>
                        <a:buNone/>
                      </a:pPr>
                      <a:r>
                        <a:rPr lang="de-DE" sz="2000" b="0" i="0">
                          <a:solidFill>
                            <a:srgbClr val="1F2328"/>
                          </a:solidFill>
                          <a:effectLst/>
                          <a:latin typeface="Mona Sans VF"/>
                        </a:rPr>
                        <a:t>✗ (Pinyin ohne Ton)</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ctr">
                        <a:spcAft>
                          <a:spcPts val="1200"/>
                        </a:spcAft>
                        <a:buNone/>
                      </a:pPr>
                      <a:r>
                        <a:rPr lang="de-DE" sz="2000" b="0" i="0">
                          <a:solidFill>
                            <a:srgbClr val="1F2328"/>
                          </a:solidFill>
                          <a:effectLst/>
                          <a:latin typeface="Mona Sans VF"/>
                        </a:rPr>
                        <a:t>✓</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ctr">
                        <a:spcAft>
                          <a:spcPts val="1200"/>
                        </a:spcAft>
                        <a:buNone/>
                      </a:pPr>
                      <a:r>
                        <a:rPr lang="de-DE" sz="2000" b="0" i="0">
                          <a:solidFill>
                            <a:srgbClr val="1F2328"/>
                          </a:solidFill>
                          <a:effectLst/>
                          <a:latin typeface="Mona Sans VF"/>
                        </a:rPr>
                        <a:t>✓</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1733902937"/>
                  </a:ext>
                </a:extLst>
              </a:tr>
              <a:tr h="493417">
                <a:tc>
                  <a:txBody>
                    <a:bodyPr/>
                    <a:lstStyle/>
                    <a:p>
                      <a:pPr algn="l">
                        <a:spcAft>
                          <a:spcPts val="1200"/>
                        </a:spcAft>
                        <a:buNone/>
                      </a:pPr>
                      <a:r>
                        <a:rPr lang="de-DE" sz="2000" b="0" i="0">
                          <a:solidFill>
                            <a:srgbClr val="1F2328"/>
                          </a:solidFill>
                          <a:effectLst/>
                          <a:latin typeface="Mona Sans VF"/>
                        </a:rPr>
                        <a:t>Wang MSPB</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ctr">
                        <a:spcAft>
                          <a:spcPts val="1200"/>
                        </a:spcAft>
                        <a:buNone/>
                      </a:pPr>
                      <a:r>
                        <a:rPr lang="de-DE" sz="2000" b="0" i="0">
                          <a:solidFill>
                            <a:srgbClr val="1F2328"/>
                          </a:solidFill>
                          <a:effectLst/>
                          <a:latin typeface="Mona Sans VF"/>
                        </a:rPr>
                        <a:t>~ (nur Satzprosodie)</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ctr">
                        <a:spcAft>
                          <a:spcPts val="1200"/>
                        </a:spcAft>
                        <a:buNone/>
                      </a:pPr>
                      <a:r>
                        <a:rPr lang="de-DE" sz="2000" b="0" i="0">
                          <a:solidFill>
                            <a:srgbClr val="1F2328"/>
                          </a:solidFill>
                          <a:effectLst/>
                          <a:latin typeface="Mona Sans VF"/>
                        </a:rPr>
                        <a:t>✓</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ctr">
                        <a:spcAft>
                          <a:spcPts val="1200"/>
                        </a:spcAft>
                        <a:buNone/>
                      </a:pPr>
                      <a:r>
                        <a:rPr lang="de-DE" sz="2000" b="0" i="0">
                          <a:solidFill>
                            <a:srgbClr val="1F2328"/>
                          </a:solidFill>
                          <a:effectLst/>
                          <a:latin typeface="Mona Sans VF"/>
                        </a:rPr>
                        <a:t>✓</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3834391071"/>
                  </a:ext>
                </a:extLst>
              </a:tr>
              <a:tr h="493417">
                <a:tc>
                  <a:txBody>
                    <a:bodyPr/>
                    <a:lstStyle/>
                    <a:p>
                      <a:pPr algn="l">
                        <a:spcAft>
                          <a:spcPts val="1200"/>
                        </a:spcAft>
                        <a:buNone/>
                      </a:pPr>
                      <a:r>
                        <a:rPr lang="de-DE" sz="2000" b="0" i="0">
                          <a:solidFill>
                            <a:srgbClr val="1F2328"/>
                          </a:solidFill>
                          <a:effectLst/>
                          <a:latin typeface="Mona Sans VF"/>
                        </a:rPr>
                        <a:t>Seed-ASR, Kimi-Audio</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ctr">
                        <a:spcAft>
                          <a:spcPts val="1200"/>
                        </a:spcAft>
                        <a:buNone/>
                      </a:pPr>
                      <a:r>
                        <a:rPr lang="de-DE" sz="2000" b="0" i="0">
                          <a:solidFill>
                            <a:srgbClr val="1F2328"/>
                          </a:solidFill>
                          <a:effectLst/>
                          <a:latin typeface="Mona Sans VF"/>
                        </a:rPr>
                        <a:t>✗</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ctr">
                        <a:spcAft>
                          <a:spcPts val="1200"/>
                        </a:spcAft>
                        <a:buNone/>
                      </a:pPr>
                      <a:r>
                        <a:rPr lang="de-DE" sz="2000" b="0" i="0">
                          <a:solidFill>
                            <a:srgbClr val="1F2328"/>
                          </a:solidFill>
                          <a:effectLst/>
                          <a:latin typeface="Mona Sans VF"/>
                        </a:rPr>
                        <a:t>✓</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ctr">
                        <a:spcAft>
                          <a:spcPts val="1200"/>
                        </a:spcAft>
                        <a:buNone/>
                      </a:pPr>
                      <a:r>
                        <a:rPr lang="de-DE" sz="2000" b="0" i="0">
                          <a:solidFill>
                            <a:srgbClr val="1F2328"/>
                          </a:solidFill>
                          <a:effectLst/>
                          <a:latin typeface="Mona Sans VF"/>
                        </a:rPr>
                        <a:t>✓</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418945090"/>
                  </a:ext>
                </a:extLst>
              </a:tr>
              <a:tr h="493417">
                <a:tc>
                  <a:txBody>
                    <a:bodyPr/>
                    <a:lstStyle/>
                    <a:p>
                      <a:pPr algn="l">
                        <a:spcAft>
                          <a:spcPts val="1200"/>
                        </a:spcAft>
                        <a:buNone/>
                      </a:pPr>
                      <a:r>
                        <a:rPr lang="de-DE" sz="2000" b="1" i="0">
                          <a:solidFill>
                            <a:srgbClr val="1F2328"/>
                          </a:solidFill>
                          <a:effectLst/>
                          <a:latin typeface="Mona Sans VF"/>
                        </a:rPr>
                        <a:t>Diese Arbeit</a:t>
                      </a:r>
                      <a:endParaRPr lang="de-DE" sz="2000" b="0" i="0">
                        <a:solidFill>
                          <a:srgbClr val="1F2328"/>
                        </a:solidFill>
                        <a:effectLst/>
                        <a:latin typeface="Mona Sans VF"/>
                      </a:endParaRP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ctr">
                        <a:spcAft>
                          <a:spcPts val="1200"/>
                        </a:spcAft>
                        <a:buNone/>
                      </a:pPr>
                      <a:r>
                        <a:rPr lang="de-DE" sz="2000" b="1" i="0">
                          <a:solidFill>
                            <a:srgbClr val="1F2328"/>
                          </a:solidFill>
                          <a:effectLst/>
                          <a:latin typeface="Mona Sans VF"/>
                        </a:rPr>
                        <a:t>✓</a:t>
                      </a:r>
                      <a:endParaRPr lang="de-DE" sz="2000" b="0" i="0">
                        <a:solidFill>
                          <a:srgbClr val="1F2328"/>
                        </a:solidFill>
                        <a:effectLst/>
                        <a:latin typeface="Mona Sans VF"/>
                      </a:endParaRP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ctr">
                        <a:spcAft>
                          <a:spcPts val="1200"/>
                        </a:spcAft>
                        <a:buNone/>
                      </a:pPr>
                      <a:r>
                        <a:rPr lang="de-DE" sz="2000" b="1" i="0">
                          <a:solidFill>
                            <a:srgbClr val="1F2328"/>
                          </a:solidFill>
                          <a:effectLst/>
                          <a:latin typeface="Mona Sans VF"/>
                        </a:rPr>
                        <a:t>✓</a:t>
                      </a:r>
                      <a:endParaRPr lang="de-DE" sz="2000" b="0" i="0">
                        <a:solidFill>
                          <a:srgbClr val="1F2328"/>
                        </a:solidFill>
                        <a:effectLst/>
                        <a:latin typeface="Mona Sans VF"/>
                      </a:endParaRP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ctr">
                        <a:spcAft>
                          <a:spcPts val="1200"/>
                        </a:spcAft>
                        <a:buNone/>
                      </a:pPr>
                      <a:r>
                        <a:rPr lang="de-DE" sz="2000" b="1" i="0" dirty="0">
                          <a:solidFill>
                            <a:srgbClr val="1F2328"/>
                          </a:solidFill>
                          <a:effectLst/>
                          <a:latin typeface="Mona Sans VF"/>
                        </a:rPr>
                        <a:t>✓</a:t>
                      </a:r>
                      <a:endParaRPr lang="de-DE" sz="2000" b="0" i="0" dirty="0">
                        <a:solidFill>
                          <a:srgbClr val="1F2328"/>
                        </a:solidFill>
                        <a:effectLst/>
                        <a:latin typeface="Mona Sans VF"/>
                      </a:endParaRP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2878407137"/>
                  </a:ext>
                </a:extLst>
              </a:tr>
            </a:tbl>
          </a:graphicData>
        </a:graphic>
      </p:graphicFrame>
      <p:sp>
        <p:nvSpPr>
          <p:cNvPr id="6" name="TextBox 5">
            <a:extLst>
              <a:ext uri="{FF2B5EF4-FFF2-40B4-BE49-F238E27FC236}">
                <a16:creationId xmlns:a16="http://schemas.microsoft.com/office/drawing/2014/main" id="{60DD3669-D3E6-BE6C-A0B0-EAE0BF5637FF}"/>
              </a:ext>
            </a:extLst>
          </p:cNvPr>
          <p:cNvSpPr txBox="1"/>
          <p:nvPr/>
        </p:nvSpPr>
        <p:spPr>
          <a:xfrm>
            <a:off x="838199" y="6132762"/>
            <a:ext cx="10515599" cy="646331"/>
          </a:xfrm>
          <a:prstGeom prst="rect">
            <a:avLst/>
          </a:prstGeom>
          <a:noFill/>
        </p:spPr>
        <p:txBody>
          <a:bodyPr wrap="square">
            <a:spAutoFit/>
          </a:bodyPr>
          <a:lstStyle/>
          <a:p>
            <a:r>
              <a:rPr lang="de-DE" sz="1800" b="0" i="0" dirty="0">
                <a:solidFill>
                  <a:srgbClr val="59636E"/>
                </a:solidFill>
                <a:effectLst/>
                <a:latin typeface="Mona Sans VF"/>
              </a:rPr>
              <a:t>„…</a:t>
            </a:r>
            <a:r>
              <a:rPr lang="de-DE" sz="1800" b="0" i="0" dirty="0" err="1">
                <a:solidFill>
                  <a:srgbClr val="59636E"/>
                </a:solidFill>
                <a:effectLst/>
                <a:latin typeface="Mona Sans VF"/>
              </a:rPr>
              <a:t>their</a:t>
            </a:r>
            <a:r>
              <a:rPr lang="de-DE" sz="1800" b="0" i="0" dirty="0">
                <a:solidFill>
                  <a:srgbClr val="59636E"/>
                </a:solidFill>
                <a:effectLst/>
                <a:latin typeface="Mona Sans VF"/>
              </a:rPr>
              <a:t> </a:t>
            </a:r>
            <a:r>
              <a:rPr lang="de-DE" sz="1800" b="0" i="0" dirty="0" err="1">
                <a:solidFill>
                  <a:srgbClr val="59636E"/>
                </a:solidFill>
                <a:effectLst/>
                <a:latin typeface="Mona Sans VF"/>
              </a:rPr>
              <a:t>ability</a:t>
            </a:r>
            <a:r>
              <a:rPr lang="de-DE" sz="1800" b="0" i="0" dirty="0">
                <a:solidFill>
                  <a:srgbClr val="59636E"/>
                </a:solidFill>
                <a:effectLst/>
                <a:latin typeface="Mona Sans VF"/>
              </a:rPr>
              <a:t> </a:t>
            </a:r>
            <a:r>
              <a:rPr lang="de-DE" sz="1800" b="0" i="0" dirty="0" err="1">
                <a:solidFill>
                  <a:srgbClr val="59636E"/>
                </a:solidFill>
                <a:effectLst/>
                <a:latin typeface="Mona Sans VF"/>
              </a:rPr>
              <a:t>to</a:t>
            </a:r>
            <a:r>
              <a:rPr lang="de-DE" sz="1800" b="0" i="0" dirty="0">
                <a:solidFill>
                  <a:srgbClr val="59636E"/>
                </a:solidFill>
                <a:effectLst/>
                <a:latin typeface="Mona Sans VF"/>
              </a:rPr>
              <a:t> </a:t>
            </a:r>
            <a:r>
              <a:rPr lang="de-DE" sz="1800" b="0" i="0" dirty="0" err="1">
                <a:solidFill>
                  <a:srgbClr val="59636E"/>
                </a:solidFill>
                <a:effectLst/>
                <a:latin typeface="Mona Sans VF"/>
              </a:rPr>
              <a:t>capture</a:t>
            </a:r>
            <a:r>
              <a:rPr lang="de-DE" sz="1800" b="0" i="0" dirty="0">
                <a:solidFill>
                  <a:srgbClr val="59636E"/>
                </a:solidFill>
                <a:effectLst/>
                <a:latin typeface="Mona Sans VF"/>
              </a:rPr>
              <a:t> </a:t>
            </a:r>
            <a:r>
              <a:rPr lang="de-DE" sz="1800" b="0" i="0" dirty="0" err="1">
                <a:solidFill>
                  <a:srgbClr val="59636E"/>
                </a:solidFill>
                <a:effectLst/>
                <a:latin typeface="Mona Sans VF"/>
              </a:rPr>
              <a:t>the</a:t>
            </a:r>
            <a:r>
              <a:rPr lang="de-DE" sz="1800" b="0" i="0" dirty="0">
                <a:solidFill>
                  <a:srgbClr val="59636E"/>
                </a:solidFill>
                <a:effectLst/>
                <a:latin typeface="Mona Sans VF"/>
              </a:rPr>
              <a:t> </a:t>
            </a:r>
            <a:r>
              <a:rPr lang="de-DE" sz="1800" b="0" i="0" dirty="0" err="1">
                <a:solidFill>
                  <a:srgbClr val="59636E"/>
                </a:solidFill>
                <a:effectLst/>
                <a:latin typeface="Mona Sans VF"/>
              </a:rPr>
              <a:t>full</a:t>
            </a:r>
            <a:r>
              <a:rPr lang="de-DE" sz="1800" b="0" i="0" dirty="0">
                <a:solidFill>
                  <a:srgbClr val="59636E"/>
                </a:solidFill>
                <a:effectLst/>
                <a:latin typeface="Mona Sans VF"/>
              </a:rPr>
              <a:t> </a:t>
            </a:r>
            <a:r>
              <a:rPr lang="de-DE" sz="1800" b="0" i="0" dirty="0" err="1">
                <a:solidFill>
                  <a:srgbClr val="59636E"/>
                </a:solidFill>
                <a:effectLst/>
                <a:latin typeface="Mona Sans VF"/>
              </a:rPr>
              <a:t>range</a:t>
            </a:r>
            <a:r>
              <a:rPr lang="de-DE" sz="1800" b="0" i="0" dirty="0">
                <a:solidFill>
                  <a:srgbClr val="59636E"/>
                </a:solidFill>
                <a:effectLst/>
                <a:latin typeface="Mona Sans VF"/>
              </a:rPr>
              <a:t> </a:t>
            </a:r>
            <a:r>
              <a:rPr lang="de-DE" sz="1800" b="0" i="0" dirty="0" err="1">
                <a:solidFill>
                  <a:srgbClr val="59636E"/>
                </a:solidFill>
                <a:effectLst/>
                <a:latin typeface="Mona Sans VF"/>
              </a:rPr>
              <a:t>of</a:t>
            </a:r>
            <a:r>
              <a:rPr lang="de-DE" sz="1800" b="0" i="0" dirty="0">
                <a:solidFill>
                  <a:srgbClr val="59636E"/>
                </a:solidFill>
                <a:effectLst/>
                <a:latin typeface="Mona Sans VF"/>
              </a:rPr>
              <a:t> </a:t>
            </a:r>
            <a:r>
              <a:rPr lang="de-DE" sz="1800" b="0" i="0" dirty="0" err="1">
                <a:solidFill>
                  <a:srgbClr val="59636E"/>
                </a:solidFill>
                <a:effectLst/>
                <a:latin typeface="Mona Sans VF"/>
              </a:rPr>
              <a:t>acoustic</a:t>
            </a:r>
            <a:r>
              <a:rPr lang="de-DE" sz="1800" b="0" i="0" dirty="0">
                <a:solidFill>
                  <a:srgbClr val="59636E"/>
                </a:solidFill>
                <a:effectLst/>
                <a:latin typeface="Mona Sans VF"/>
              </a:rPr>
              <a:t> </a:t>
            </a:r>
            <a:r>
              <a:rPr lang="de-DE" sz="1800" b="0" i="0" dirty="0" err="1">
                <a:solidFill>
                  <a:srgbClr val="59636E"/>
                </a:solidFill>
                <a:effectLst/>
                <a:latin typeface="Mona Sans VF"/>
              </a:rPr>
              <a:t>cues</a:t>
            </a:r>
            <a:r>
              <a:rPr lang="de-DE" sz="1800" b="0" i="0" dirty="0">
                <a:solidFill>
                  <a:srgbClr val="59636E"/>
                </a:solidFill>
                <a:effectLst/>
                <a:latin typeface="Mona Sans VF"/>
              </a:rPr>
              <a:t> … </a:t>
            </a:r>
            <a:r>
              <a:rPr lang="de-DE" sz="1800" b="0" i="0" dirty="0" err="1">
                <a:solidFill>
                  <a:srgbClr val="59636E"/>
                </a:solidFill>
                <a:effectLst/>
                <a:latin typeface="Mona Sans VF"/>
              </a:rPr>
              <a:t>remains</a:t>
            </a:r>
            <a:r>
              <a:rPr lang="de-DE" sz="1800" b="0" i="0" dirty="0">
                <a:solidFill>
                  <a:srgbClr val="59636E"/>
                </a:solidFill>
                <a:effectLst/>
                <a:latin typeface="Mona Sans VF"/>
              </a:rPr>
              <a:t> limited." — Peng Survey (2025), Sec. IX, S. 25</a:t>
            </a:r>
            <a:endParaRPr lang="de-DE" dirty="0"/>
          </a:p>
        </p:txBody>
      </p:sp>
    </p:spTree>
    <p:extLst>
      <p:ext uri="{BB962C8B-B14F-4D97-AF65-F5344CB8AC3E}">
        <p14:creationId xmlns:p14="http://schemas.microsoft.com/office/powerpoint/2010/main" val="10107696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1D251-CD36-BCF1-87DC-91F9FC6640D3}"/>
              </a:ext>
            </a:extLst>
          </p:cNvPr>
          <p:cNvSpPr>
            <a:spLocks noGrp="1"/>
          </p:cNvSpPr>
          <p:nvPr>
            <p:ph type="title"/>
          </p:nvPr>
        </p:nvSpPr>
        <p:spPr/>
        <p:txBody>
          <a:bodyPr/>
          <a:lstStyle/>
          <a:p>
            <a:r>
              <a:rPr lang="de-DE" dirty="0"/>
              <a:t>Zitate</a:t>
            </a:r>
          </a:p>
        </p:txBody>
      </p:sp>
      <p:graphicFrame>
        <p:nvGraphicFramePr>
          <p:cNvPr id="4" name="Content Placeholder 3">
            <a:extLst>
              <a:ext uri="{FF2B5EF4-FFF2-40B4-BE49-F238E27FC236}">
                <a16:creationId xmlns:a16="http://schemas.microsoft.com/office/drawing/2014/main" id="{E1AEA76D-1D3B-B315-9D2F-7239374499C1}"/>
              </a:ext>
            </a:extLst>
          </p:cNvPr>
          <p:cNvGraphicFramePr>
            <a:graphicFrameLocks noGrp="1"/>
          </p:cNvGraphicFramePr>
          <p:nvPr>
            <p:ph idx="1"/>
            <p:extLst>
              <p:ext uri="{D42A27DB-BD31-4B8C-83A1-F6EECF244321}">
                <p14:modId xmlns:p14="http://schemas.microsoft.com/office/powerpoint/2010/main" val="123003335"/>
              </p:ext>
            </p:extLst>
          </p:nvPr>
        </p:nvGraphicFramePr>
        <p:xfrm>
          <a:off x="371606" y="1365011"/>
          <a:ext cx="11448788" cy="5317972"/>
        </p:xfrm>
        <a:graphic>
          <a:graphicData uri="http://schemas.openxmlformats.org/drawingml/2006/table">
            <a:tbl>
              <a:tblPr/>
              <a:tblGrid>
                <a:gridCol w="661045">
                  <a:extLst>
                    <a:ext uri="{9D8B030D-6E8A-4147-A177-3AD203B41FA5}">
                      <a16:colId xmlns:a16="http://schemas.microsoft.com/office/drawing/2014/main" val="653896956"/>
                    </a:ext>
                  </a:extLst>
                </a:gridCol>
                <a:gridCol w="7124490">
                  <a:extLst>
                    <a:ext uri="{9D8B030D-6E8A-4147-A177-3AD203B41FA5}">
                      <a16:colId xmlns:a16="http://schemas.microsoft.com/office/drawing/2014/main" val="2640065931"/>
                    </a:ext>
                  </a:extLst>
                </a:gridCol>
                <a:gridCol w="1494931">
                  <a:extLst>
                    <a:ext uri="{9D8B030D-6E8A-4147-A177-3AD203B41FA5}">
                      <a16:colId xmlns:a16="http://schemas.microsoft.com/office/drawing/2014/main" val="2098635997"/>
                    </a:ext>
                  </a:extLst>
                </a:gridCol>
                <a:gridCol w="1454528">
                  <a:extLst>
                    <a:ext uri="{9D8B030D-6E8A-4147-A177-3AD203B41FA5}">
                      <a16:colId xmlns:a16="http://schemas.microsoft.com/office/drawing/2014/main" val="1236360290"/>
                    </a:ext>
                  </a:extLst>
                </a:gridCol>
                <a:gridCol w="713794">
                  <a:extLst>
                    <a:ext uri="{9D8B030D-6E8A-4147-A177-3AD203B41FA5}">
                      <a16:colId xmlns:a16="http://schemas.microsoft.com/office/drawing/2014/main" val="3262795654"/>
                    </a:ext>
                  </a:extLst>
                </a:gridCol>
              </a:tblGrid>
              <a:tr h="97739">
                <a:tc>
                  <a:txBody>
                    <a:bodyPr/>
                    <a:lstStyle/>
                    <a:p>
                      <a:pPr algn="l">
                        <a:spcAft>
                          <a:spcPts val="1200"/>
                        </a:spcAft>
                        <a:buNone/>
                      </a:pPr>
                      <a:r>
                        <a:rPr lang="de-DE" sz="1200" b="1" i="0">
                          <a:solidFill>
                            <a:srgbClr val="1F2328"/>
                          </a:solidFill>
                          <a:effectLst/>
                          <a:latin typeface="Mona Sans VF"/>
                        </a:rPr>
                        <a:t>#</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a:solidFill>
                            <a:srgbClr val="1F2328"/>
                          </a:solidFill>
                          <a:effectLst/>
                          <a:latin typeface="Mona Sans VF"/>
                        </a:rPr>
                        <a:t>Zitat</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a:solidFill>
                            <a:srgbClr val="1F2328"/>
                          </a:solidFill>
                          <a:effectLst/>
                          <a:latin typeface="Mona Sans VF"/>
                        </a:rPr>
                        <a:t>Quelle</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a:solidFill>
                            <a:srgbClr val="1F2328"/>
                          </a:solidFill>
                          <a:effectLst/>
                          <a:latin typeface="Mona Sans VF"/>
                        </a:rPr>
                        <a:t>Fundstelle</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a:solidFill>
                            <a:srgbClr val="1F2328"/>
                          </a:solidFill>
                          <a:effectLst/>
                          <a:latin typeface="Mona Sans VF"/>
                        </a:rPr>
                        <a:t>Folie</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1905286226"/>
                  </a:ext>
                </a:extLst>
              </a:tr>
              <a:tr h="580418">
                <a:tc>
                  <a:txBody>
                    <a:bodyPr/>
                    <a:lstStyle/>
                    <a:p>
                      <a:pPr algn="l">
                        <a:spcAft>
                          <a:spcPts val="1200"/>
                        </a:spcAft>
                        <a:buNone/>
                      </a:pPr>
                      <a:r>
                        <a:rPr lang="de-DE" sz="1200" b="0" i="0">
                          <a:solidFill>
                            <a:srgbClr val="1F2328"/>
                          </a:solidFill>
                          <a:effectLst/>
                          <a:latin typeface="Mona Sans VF"/>
                        </a:rPr>
                        <a:t>0</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„text transcription focuses on the content of spoken words (what is said), neglecting important information in audio, such as paralanguage information (e.g., emotion, style, timbre, tone), acoustic scene, and non-linguistic sounds."</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Kimi-Audio</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dirty="0" err="1">
                          <a:solidFill>
                            <a:srgbClr val="1F2328"/>
                          </a:solidFill>
                          <a:effectLst/>
                          <a:latin typeface="Mona Sans VF"/>
                        </a:rPr>
                        <a:t>Section</a:t>
                      </a:r>
                      <a:r>
                        <a:rPr lang="de-DE" sz="1200" b="0" i="0" dirty="0">
                          <a:solidFill>
                            <a:srgbClr val="1F2328"/>
                          </a:solidFill>
                          <a:effectLst/>
                          <a:latin typeface="Mona Sans VF"/>
                        </a:rPr>
                        <a:t> 8, S. 21</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4</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1411660498"/>
                  </a:ext>
                </a:extLst>
              </a:tr>
              <a:tr h="336032">
                <a:tc>
                  <a:txBody>
                    <a:bodyPr/>
                    <a:lstStyle/>
                    <a:p>
                      <a:pPr algn="l">
                        <a:spcAft>
                          <a:spcPts val="1200"/>
                        </a:spcAft>
                        <a:buNone/>
                      </a:pPr>
                      <a:r>
                        <a:rPr lang="de-DE" sz="1200" b="0" i="0">
                          <a:solidFill>
                            <a:srgbClr val="1F2328"/>
                          </a:solidFill>
                          <a:effectLst/>
                          <a:latin typeface="Mona Sans VF"/>
                        </a:rPr>
                        <a:t>0b</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dirty="0">
                          <a:solidFill>
                            <a:srgbClr val="1F2328"/>
                          </a:solidFill>
                          <a:effectLst/>
                          <a:latin typeface="Mona Sans VF"/>
                        </a:rPr>
                        <a:t>„</a:t>
                      </a:r>
                      <a:r>
                        <a:rPr lang="de-DE" sz="1200" b="0" i="0" dirty="0" err="1">
                          <a:solidFill>
                            <a:srgbClr val="1F2328"/>
                          </a:solidFill>
                          <a:effectLst/>
                          <a:latin typeface="Mona Sans VF"/>
                        </a:rPr>
                        <a:t>there</a:t>
                      </a:r>
                      <a:r>
                        <a:rPr lang="de-DE" sz="1200" b="0" i="0" dirty="0">
                          <a:solidFill>
                            <a:srgbClr val="1F2328"/>
                          </a:solidFill>
                          <a:effectLst/>
                          <a:latin typeface="Mona Sans VF"/>
                        </a:rPr>
                        <a:t> </a:t>
                      </a:r>
                      <a:r>
                        <a:rPr lang="de-DE" sz="1200" b="0" i="0" dirty="0" err="1">
                          <a:solidFill>
                            <a:srgbClr val="1F2328"/>
                          </a:solidFill>
                          <a:effectLst/>
                          <a:latin typeface="Mona Sans VF"/>
                        </a:rPr>
                        <a:t>has</a:t>
                      </a:r>
                      <a:r>
                        <a:rPr lang="de-DE" sz="1200" b="0" i="0" dirty="0">
                          <a:solidFill>
                            <a:srgbClr val="1F2328"/>
                          </a:solidFill>
                          <a:effectLst/>
                          <a:latin typeface="Mona Sans VF"/>
                        </a:rPr>
                        <a:t> </a:t>
                      </a:r>
                      <a:r>
                        <a:rPr lang="de-DE" sz="1200" b="0" i="0" dirty="0" err="1">
                          <a:solidFill>
                            <a:srgbClr val="1F2328"/>
                          </a:solidFill>
                          <a:effectLst/>
                          <a:latin typeface="Mona Sans VF"/>
                        </a:rPr>
                        <a:t>been</a:t>
                      </a:r>
                      <a:r>
                        <a:rPr lang="de-DE" sz="1200" b="0" i="0" dirty="0">
                          <a:solidFill>
                            <a:srgbClr val="1F2328"/>
                          </a:solidFill>
                          <a:effectLst/>
                          <a:latin typeface="Mona Sans VF"/>
                        </a:rPr>
                        <a:t> </a:t>
                      </a:r>
                      <a:r>
                        <a:rPr lang="de-DE" sz="1200" b="0" i="0" dirty="0" err="1">
                          <a:solidFill>
                            <a:srgbClr val="1F2328"/>
                          </a:solidFill>
                          <a:effectLst/>
                          <a:latin typeface="Mona Sans VF"/>
                        </a:rPr>
                        <a:t>little</a:t>
                      </a:r>
                      <a:r>
                        <a:rPr lang="de-DE" sz="1200" b="0" i="0" dirty="0">
                          <a:solidFill>
                            <a:srgbClr val="1F2328"/>
                          </a:solidFill>
                          <a:effectLst/>
                          <a:latin typeface="Mona Sans VF"/>
                        </a:rPr>
                        <a:t> </a:t>
                      </a:r>
                      <a:r>
                        <a:rPr lang="de-DE" sz="1200" b="0" i="0" dirty="0" err="1">
                          <a:solidFill>
                            <a:srgbClr val="1F2328"/>
                          </a:solidFill>
                          <a:effectLst/>
                          <a:latin typeface="Mona Sans VF"/>
                        </a:rPr>
                        <a:t>exploration</a:t>
                      </a:r>
                      <a:r>
                        <a:rPr lang="de-DE" sz="1200" b="0" i="0" dirty="0">
                          <a:solidFill>
                            <a:srgbClr val="1F2328"/>
                          </a:solidFill>
                          <a:effectLst/>
                          <a:latin typeface="Mona Sans VF"/>
                        </a:rPr>
                        <a:t> </a:t>
                      </a:r>
                      <a:r>
                        <a:rPr lang="de-DE" sz="1200" b="0" i="0" dirty="0" err="1">
                          <a:solidFill>
                            <a:srgbClr val="1F2328"/>
                          </a:solidFill>
                          <a:effectLst/>
                          <a:latin typeface="Mona Sans VF"/>
                        </a:rPr>
                        <a:t>of</a:t>
                      </a:r>
                      <a:r>
                        <a:rPr lang="de-DE" sz="1200" b="0" i="0" dirty="0">
                          <a:solidFill>
                            <a:srgbClr val="1F2328"/>
                          </a:solidFill>
                          <a:effectLst/>
                          <a:latin typeface="Mona Sans VF"/>
                        </a:rPr>
                        <a:t> </a:t>
                      </a:r>
                      <a:r>
                        <a:rPr lang="de-DE" sz="1200" b="0" i="0" dirty="0" err="1">
                          <a:solidFill>
                            <a:srgbClr val="1F2328"/>
                          </a:solidFill>
                          <a:effectLst/>
                          <a:latin typeface="Mona Sans VF"/>
                        </a:rPr>
                        <a:t>how</a:t>
                      </a:r>
                      <a:r>
                        <a:rPr lang="de-DE" sz="1200" b="0" i="0" dirty="0">
                          <a:solidFill>
                            <a:srgbClr val="1F2328"/>
                          </a:solidFill>
                          <a:effectLst/>
                          <a:latin typeface="Mona Sans VF"/>
                        </a:rPr>
                        <a:t> </a:t>
                      </a:r>
                      <a:r>
                        <a:rPr lang="de-DE" sz="1200" b="0" i="0" dirty="0" err="1">
                          <a:solidFill>
                            <a:srgbClr val="1F2328"/>
                          </a:solidFill>
                          <a:effectLst/>
                          <a:latin typeface="Mona Sans VF"/>
                        </a:rPr>
                        <a:t>the</a:t>
                      </a:r>
                      <a:r>
                        <a:rPr lang="de-DE" sz="1200" b="0" i="0" dirty="0">
                          <a:solidFill>
                            <a:srgbClr val="1F2328"/>
                          </a:solidFill>
                          <a:effectLst/>
                          <a:latin typeface="Mona Sans VF"/>
                        </a:rPr>
                        <a:t> LLM-ASR </a:t>
                      </a:r>
                      <a:r>
                        <a:rPr lang="de-DE" sz="1200" b="0" i="0" dirty="0" err="1">
                          <a:solidFill>
                            <a:srgbClr val="1F2328"/>
                          </a:solidFill>
                          <a:effectLst/>
                          <a:latin typeface="Mona Sans VF"/>
                        </a:rPr>
                        <a:t>model</a:t>
                      </a:r>
                      <a:r>
                        <a:rPr lang="de-DE" sz="1200" b="0" i="0" dirty="0">
                          <a:solidFill>
                            <a:srgbClr val="1F2328"/>
                          </a:solidFill>
                          <a:effectLst/>
                          <a:latin typeface="Mona Sans VF"/>
                        </a:rPr>
                        <a:t> </a:t>
                      </a:r>
                      <a:r>
                        <a:rPr lang="de-DE" sz="1200" b="0" i="0" dirty="0" err="1">
                          <a:solidFill>
                            <a:srgbClr val="1F2328"/>
                          </a:solidFill>
                          <a:effectLst/>
                          <a:latin typeface="Mona Sans VF"/>
                        </a:rPr>
                        <a:t>can</a:t>
                      </a:r>
                      <a:r>
                        <a:rPr lang="de-DE" sz="1200" b="0" i="0" dirty="0">
                          <a:solidFill>
                            <a:srgbClr val="1F2328"/>
                          </a:solidFill>
                          <a:effectLst/>
                          <a:latin typeface="Mona Sans VF"/>
                        </a:rPr>
                        <a:t> </a:t>
                      </a:r>
                      <a:r>
                        <a:rPr lang="de-DE" sz="1200" b="0" i="0" dirty="0" err="1">
                          <a:solidFill>
                            <a:srgbClr val="1F2328"/>
                          </a:solidFill>
                          <a:effectLst/>
                          <a:latin typeface="Mona Sans VF"/>
                        </a:rPr>
                        <a:t>directly</a:t>
                      </a:r>
                      <a:r>
                        <a:rPr lang="de-DE" sz="1200" b="0" i="0" dirty="0">
                          <a:solidFill>
                            <a:srgbClr val="1F2328"/>
                          </a:solidFill>
                          <a:effectLst/>
                          <a:latin typeface="Mona Sans VF"/>
                        </a:rPr>
                        <a:t> </a:t>
                      </a:r>
                      <a:r>
                        <a:rPr lang="de-DE" sz="1200" b="0" i="0" dirty="0" err="1">
                          <a:solidFill>
                            <a:srgbClr val="1F2328"/>
                          </a:solidFill>
                          <a:effectLst/>
                          <a:latin typeface="Mona Sans VF"/>
                        </a:rPr>
                        <a:t>generate</a:t>
                      </a:r>
                      <a:r>
                        <a:rPr lang="de-DE" sz="1200" b="0" i="0" dirty="0">
                          <a:solidFill>
                            <a:srgbClr val="1F2328"/>
                          </a:solidFill>
                          <a:effectLst/>
                          <a:latin typeface="Mona Sans VF"/>
                        </a:rPr>
                        <a:t> Pinyin and Chinese </a:t>
                      </a:r>
                      <a:r>
                        <a:rPr lang="de-DE" sz="1200" b="0" i="0" dirty="0" err="1">
                          <a:solidFill>
                            <a:srgbClr val="1F2328"/>
                          </a:solidFill>
                          <a:effectLst/>
                          <a:latin typeface="Mona Sans VF"/>
                        </a:rPr>
                        <a:t>characters</a:t>
                      </a:r>
                      <a:r>
                        <a:rPr lang="de-DE" sz="1200" b="0" i="0" dirty="0">
                          <a:solidFill>
                            <a:srgbClr val="1F2328"/>
                          </a:solidFill>
                          <a:effectLst/>
                          <a:latin typeface="Mona Sans VF"/>
                        </a:rPr>
                        <a:t> </a:t>
                      </a:r>
                      <a:r>
                        <a:rPr lang="de-DE" sz="1200" b="0" i="0" dirty="0" err="1">
                          <a:solidFill>
                            <a:srgbClr val="1F2328"/>
                          </a:solidFill>
                          <a:effectLst/>
                          <a:latin typeface="Mona Sans VF"/>
                        </a:rPr>
                        <a:t>during</a:t>
                      </a:r>
                      <a:r>
                        <a:rPr lang="de-DE" sz="1200" b="0" i="0" dirty="0">
                          <a:solidFill>
                            <a:srgbClr val="1F2328"/>
                          </a:solidFill>
                          <a:effectLst/>
                          <a:latin typeface="Mona Sans VF"/>
                        </a:rPr>
                        <a:t> ASR"</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Zhengjie &amp; Cheng</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Introduction, S. 1</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5</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2317800075"/>
                  </a:ext>
                </a:extLst>
              </a:tr>
              <a:tr h="336032">
                <a:tc>
                  <a:txBody>
                    <a:bodyPr/>
                    <a:lstStyle/>
                    <a:p>
                      <a:pPr algn="l">
                        <a:spcAft>
                          <a:spcPts val="1200"/>
                        </a:spcAft>
                        <a:buNone/>
                      </a:pPr>
                      <a:r>
                        <a:rPr lang="de-DE" sz="1200" b="0" i="0">
                          <a:solidFill>
                            <a:srgbClr val="1F2328"/>
                          </a:solidFill>
                          <a:effectLst/>
                          <a:latin typeface="Mona Sans VF"/>
                        </a:rPr>
                        <a:t>1</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„Current practices suffer from inconsistent metric implementations (e.g., variations in Word Error Rate calculation…)"</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Kimi-Audio</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Section 6.1, S. 15</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4</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758474151"/>
                  </a:ext>
                </a:extLst>
              </a:tr>
              <a:tr h="152742">
                <a:tc>
                  <a:txBody>
                    <a:bodyPr/>
                    <a:lstStyle/>
                    <a:p>
                      <a:pPr algn="l">
                        <a:spcAft>
                          <a:spcPts val="1200"/>
                        </a:spcAft>
                        <a:buNone/>
                      </a:pPr>
                      <a:r>
                        <a:rPr lang="de-DE" sz="1200" b="0" i="0">
                          <a:solidFill>
                            <a:srgbClr val="1F2328"/>
                          </a:solidFill>
                          <a:effectLst/>
                          <a:latin typeface="Mona Sans VF"/>
                        </a:rPr>
                        <a:t>2</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„Kimi-Audio sets SOTA results on AISHELL-1 (0.60)…"</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Kimi-Audio</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Section 6.2, S. 18</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4</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2896455727"/>
                  </a:ext>
                </a:extLst>
              </a:tr>
              <a:tr h="274935">
                <a:tc>
                  <a:txBody>
                    <a:bodyPr/>
                    <a:lstStyle/>
                    <a:p>
                      <a:pPr algn="l">
                        <a:spcAft>
                          <a:spcPts val="1200"/>
                        </a:spcAft>
                        <a:buNone/>
                      </a:pPr>
                      <a:r>
                        <a:rPr lang="de-DE" sz="1200" b="0" i="0">
                          <a:solidFill>
                            <a:srgbClr val="1F2328"/>
                          </a:solidFill>
                          <a:effectLst/>
                          <a:latin typeface="Mona Sans VF"/>
                        </a:rPr>
                        <a:t>3</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„there is no direct correspondence between the pronunciation and the written form of Chinese characters."</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Zhengjie &amp; Cheng</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S. 1</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5</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3720358232"/>
                  </a:ext>
                </a:extLst>
              </a:tr>
              <a:tr h="397128">
                <a:tc>
                  <a:txBody>
                    <a:bodyPr/>
                    <a:lstStyle/>
                    <a:p>
                      <a:pPr algn="l">
                        <a:spcAft>
                          <a:spcPts val="1200"/>
                        </a:spcAft>
                        <a:buNone/>
                      </a:pPr>
                      <a:r>
                        <a:rPr lang="de-DE" sz="1200" b="0" i="0">
                          <a:solidFill>
                            <a:srgbClr val="1F2328"/>
                          </a:solidFill>
                          <a:effectLst/>
                          <a:latin typeface="Mona Sans VF"/>
                        </a:rPr>
                        <a:t>4</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„its implicit alignment often fails to capture phonetic relationships in Chinese, leading to pronunciation confusion and homophone errors."</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Zhengjie &amp; Cheng</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Abstract</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5</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3439958815"/>
                  </a:ext>
                </a:extLst>
              </a:tr>
              <a:tr h="213839">
                <a:tc>
                  <a:txBody>
                    <a:bodyPr/>
                    <a:lstStyle/>
                    <a:p>
                      <a:pPr algn="l">
                        <a:spcAft>
                          <a:spcPts val="1200"/>
                        </a:spcAft>
                        <a:buNone/>
                      </a:pPr>
                      <a:r>
                        <a:rPr lang="de-DE" sz="1200" b="0" i="0">
                          <a:solidFill>
                            <a:srgbClr val="1F2328"/>
                          </a:solidFill>
                          <a:effectLst/>
                          <a:latin typeface="Mona Sans VF"/>
                        </a:rPr>
                        <a:t>5</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„The PYG-ASR1 model achieved a Pinyin error rate of 1.6%/1.9%"</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Zhengjie &amp; Cheng</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S. 4</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5</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3558815213"/>
                  </a:ext>
                </a:extLst>
              </a:tr>
              <a:tr h="213839">
                <a:tc>
                  <a:txBody>
                    <a:bodyPr/>
                    <a:lstStyle/>
                    <a:p>
                      <a:pPr algn="l">
                        <a:spcAft>
                          <a:spcPts val="1200"/>
                        </a:spcAft>
                        <a:buNone/>
                      </a:pPr>
                      <a:r>
                        <a:rPr lang="de-DE" sz="1200" b="0" i="0">
                          <a:solidFill>
                            <a:srgbClr val="1F2328"/>
                          </a:solidFill>
                          <a:effectLst/>
                          <a:latin typeface="Mona Sans VF"/>
                        </a:rPr>
                        <a:t>6</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„Whisper embeddings largely collapse into overlapping clusters"</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Xu et al. (SITA)</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Section 5.1</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6</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2392665698"/>
                  </a:ext>
                </a:extLst>
              </a:tr>
              <a:tr h="336032">
                <a:tc>
                  <a:txBody>
                    <a:bodyPr/>
                    <a:lstStyle/>
                    <a:p>
                      <a:pPr algn="l">
                        <a:spcAft>
                          <a:spcPts val="1200"/>
                        </a:spcAft>
                        <a:buNone/>
                      </a:pPr>
                      <a:r>
                        <a:rPr lang="de-DE" sz="1200" b="0" i="0">
                          <a:solidFill>
                            <a:srgbClr val="1F2328"/>
                          </a:solidFill>
                          <a:effectLst/>
                          <a:latin typeface="Mona Sans VF"/>
                        </a:rPr>
                        <a:t>7</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„…a tone-repulsive loss prevents tone collapse by explicitly separating same-word different-tone realizations"</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Xu et al. (SITA)</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Abstract</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6</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3377118417"/>
                  </a:ext>
                </a:extLst>
              </a:tr>
              <a:tr h="213839">
                <a:tc>
                  <a:txBody>
                    <a:bodyPr/>
                    <a:lstStyle/>
                    <a:p>
                      <a:pPr algn="l">
                        <a:spcAft>
                          <a:spcPts val="1200"/>
                        </a:spcAft>
                        <a:buNone/>
                      </a:pPr>
                      <a:r>
                        <a:rPr lang="de-DE" sz="1200" b="0" i="0">
                          <a:solidFill>
                            <a:srgbClr val="1F2328"/>
                          </a:solidFill>
                          <a:effectLst/>
                          <a:latin typeface="Mona Sans VF"/>
                        </a:rPr>
                        <a:t>8</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„SITA achieves near-ceiling…Top-1 accuracy of ~0.99"</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Xu et al. (SITA)</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Section 5.4</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6</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1806989766"/>
                  </a:ext>
                </a:extLst>
              </a:tr>
              <a:tr h="336032">
                <a:tc>
                  <a:txBody>
                    <a:bodyPr/>
                    <a:lstStyle/>
                    <a:p>
                      <a:pPr algn="l">
                        <a:spcAft>
                          <a:spcPts val="1200"/>
                        </a:spcAft>
                        <a:buNone/>
                      </a:pPr>
                      <a:r>
                        <a:rPr lang="de-DE" sz="1200" b="0" i="0">
                          <a:solidFill>
                            <a:srgbClr val="1F2328"/>
                          </a:solidFill>
                          <a:effectLst/>
                          <a:latin typeface="Mona Sans VF"/>
                        </a:rPr>
                        <a:t>9</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„they generally struggled with tasks relying heavily on subtle speech prosody variations (e.g., prosodic focus marking, scalar meaning)"</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Wang et al. (MSPB)</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S. 5378/5381</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7</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1068364038"/>
                  </a:ext>
                </a:extLst>
              </a:tr>
              <a:tr h="152742">
                <a:tc>
                  <a:txBody>
                    <a:bodyPr/>
                    <a:lstStyle/>
                    <a:p>
                      <a:pPr algn="l">
                        <a:spcAft>
                          <a:spcPts val="1200"/>
                        </a:spcAft>
                        <a:buNone/>
                      </a:pPr>
                      <a:r>
                        <a:rPr lang="de-DE" sz="1200" b="0" i="0">
                          <a:solidFill>
                            <a:srgbClr val="1F2328"/>
                          </a:solidFill>
                          <a:effectLst/>
                          <a:latin typeface="Mona Sans VF"/>
                        </a:rPr>
                        <a:t>10</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GPT-4o 59,70 % (bestes Speech LLM)</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Wang et al. (MSPB)</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Section 3.2.2, S. 5380</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7</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981354780"/>
                  </a:ext>
                </a:extLst>
              </a:tr>
              <a:tr h="274935">
                <a:tc>
                  <a:txBody>
                    <a:bodyPr/>
                    <a:lstStyle/>
                    <a:p>
                      <a:pPr algn="l">
                        <a:spcAft>
                          <a:spcPts val="1200"/>
                        </a:spcAft>
                        <a:buNone/>
                      </a:pPr>
                      <a:r>
                        <a:rPr lang="de-DE" sz="1200" b="0" i="0">
                          <a:solidFill>
                            <a:srgbClr val="1F2328"/>
                          </a:solidFill>
                          <a:effectLst/>
                          <a:latin typeface="Mona Sans VF"/>
                        </a:rPr>
                        <a:t>11</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„L2 corpora like iCALL (142 hours, 305 learners) exist but receive less attention than native-speaker datasets"</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Zou Review</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S. 10</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9</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2396822942"/>
                  </a:ext>
                </a:extLst>
              </a:tr>
              <a:tr h="336032">
                <a:tc>
                  <a:txBody>
                    <a:bodyPr/>
                    <a:lstStyle/>
                    <a:p>
                      <a:pPr algn="l">
                        <a:spcAft>
                          <a:spcPts val="1200"/>
                        </a:spcAft>
                        <a:buNone/>
                      </a:pPr>
                      <a:r>
                        <a:rPr lang="de-DE" sz="1200" b="0" i="0">
                          <a:solidFill>
                            <a:srgbClr val="1F2328"/>
                          </a:solidFill>
                          <a:effectLst/>
                          <a:latin typeface="Mona Sans VF"/>
                        </a:rPr>
                        <a:t>12</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„no work has addressed the comparative assessment of different SFMs under controlled conditions within the same framework"</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Gaido et al.</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Section 2.1</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9</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4264902294"/>
                  </a:ext>
                </a:extLst>
              </a:tr>
              <a:tr h="336032">
                <a:tc>
                  <a:txBody>
                    <a:bodyPr/>
                    <a:lstStyle/>
                    <a:p>
                      <a:pPr algn="l">
                        <a:spcAft>
                          <a:spcPts val="1200"/>
                        </a:spcAft>
                        <a:buNone/>
                      </a:pPr>
                      <a:r>
                        <a:rPr lang="de-DE" sz="1200" b="0" i="0">
                          <a:solidFill>
                            <a:srgbClr val="1F2328"/>
                          </a:solidFill>
                          <a:effectLst/>
                          <a:latin typeface="Mona Sans VF"/>
                        </a:rPr>
                        <a:t>13</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„Another critical avenue for future work lies in extracting richer and finer acoustic information from speech… remains limited."</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Peng Survey</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Section IX, S. 25</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11</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2627544432"/>
                  </a:ext>
                </a:extLst>
              </a:tr>
              <a:tr h="213839">
                <a:tc>
                  <a:txBody>
                    <a:bodyPr/>
                    <a:lstStyle/>
                    <a:p>
                      <a:pPr algn="l">
                        <a:spcAft>
                          <a:spcPts val="1200"/>
                        </a:spcAft>
                        <a:buNone/>
                      </a:pPr>
                      <a:r>
                        <a:rPr lang="de-DE" sz="1200" b="0" i="0">
                          <a:solidFill>
                            <a:srgbClr val="1F2328"/>
                          </a:solidFill>
                          <a:effectLst/>
                          <a:latin typeface="Mona Sans VF"/>
                        </a:rPr>
                        <a:t>14</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„complex tones remain the most difficult part of the phonology to transcribe"</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Chirkova</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Section 5, S. 178</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dirty="0">
                          <a:solidFill>
                            <a:srgbClr val="1F2328"/>
                          </a:solidFill>
                          <a:effectLst/>
                          <a:latin typeface="Mona Sans VF"/>
                        </a:rPr>
                        <a:t>Reserve</a:t>
                      </a:r>
                    </a:p>
                  </a:txBody>
                  <a:tcPr marL="30025" marR="30025" marT="13858" marB="13858"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2989219944"/>
                  </a:ext>
                </a:extLst>
              </a:tr>
            </a:tbl>
          </a:graphicData>
        </a:graphic>
      </p:graphicFrame>
    </p:spTree>
    <p:extLst>
      <p:ext uri="{BB962C8B-B14F-4D97-AF65-F5344CB8AC3E}">
        <p14:creationId xmlns:p14="http://schemas.microsoft.com/office/powerpoint/2010/main" val="33009883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C9F5E9-AEC3-EE9B-AE6B-B937D630637A}"/>
              </a:ext>
            </a:extLst>
          </p:cNvPr>
          <p:cNvSpPr>
            <a:spLocks noGrp="1"/>
          </p:cNvSpPr>
          <p:nvPr>
            <p:ph type="title"/>
          </p:nvPr>
        </p:nvSpPr>
        <p:spPr/>
        <p:txBody>
          <a:bodyPr/>
          <a:lstStyle/>
          <a:p>
            <a:endParaRPr lang="de-DE"/>
          </a:p>
        </p:txBody>
      </p:sp>
      <p:sp>
        <p:nvSpPr>
          <p:cNvPr id="3" name="Content Placeholder 2">
            <a:extLst>
              <a:ext uri="{FF2B5EF4-FFF2-40B4-BE49-F238E27FC236}">
                <a16:creationId xmlns:a16="http://schemas.microsoft.com/office/drawing/2014/main" id="{7E6FDF81-AC3C-834F-DB94-0F3AFFFED9E9}"/>
              </a:ext>
            </a:extLst>
          </p:cNvPr>
          <p:cNvSpPr>
            <a:spLocks noGrp="1"/>
          </p:cNvSpPr>
          <p:nvPr>
            <p:ph idx="1"/>
          </p:nvPr>
        </p:nvSpPr>
        <p:spPr/>
        <p:txBody>
          <a:bodyPr/>
          <a:lstStyle/>
          <a:p>
            <a:endParaRPr lang="de-DE"/>
          </a:p>
        </p:txBody>
      </p:sp>
    </p:spTree>
    <p:extLst>
      <p:ext uri="{BB962C8B-B14F-4D97-AF65-F5344CB8AC3E}">
        <p14:creationId xmlns:p14="http://schemas.microsoft.com/office/powerpoint/2010/main" val="8914090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CB9867-71B8-FEB4-4C38-53EE88661C3E}"/>
              </a:ext>
            </a:extLst>
          </p:cNvPr>
          <p:cNvSpPr>
            <a:spLocks noGrp="1"/>
          </p:cNvSpPr>
          <p:nvPr>
            <p:ph type="title"/>
          </p:nvPr>
        </p:nvSpPr>
        <p:spPr/>
        <p:txBody>
          <a:bodyPr/>
          <a:lstStyle/>
          <a:p>
            <a:r>
              <a:rPr lang="de-DE" dirty="0"/>
              <a:t>Benutzte Datasets</a:t>
            </a:r>
          </a:p>
        </p:txBody>
      </p:sp>
      <p:sp>
        <p:nvSpPr>
          <p:cNvPr id="3" name="Content Placeholder 2">
            <a:extLst>
              <a:ext uri="{FF2B5EF4-FFF2-40B4-BE49-F238E27FC236}">
                <a16:creationId xmlns:a16="http://schemas.microsoft.com/office/drawing/2014/main" id="{AFAE0136-FD2C-47B1-C580-B21118EFD97F}"/>
              </a:ext>
            </a:extLst>
          </p:cNvPr>
          <p:cNvSpPr>
            <a:spLocks noGrp="1"/>
          </p:cNvSpPr>
          <p:nvPr>
            <p:ph idx="1"/>
          </p:nvPr>
        </p:nvSpPr>
        <p:spPr/>
        <p:txBody>
          <a:bodyPr/>
          <a:lstStyle/>
          <a:p>
            <a:endParaRPr lang="de-DE"/>
          </a:p>
        </p:txBody>
      </p:sp>
    </p:spTree>
    <p:extLst>
      <p:ext uri="{BB962C8B-B14F-4D97-AF65-F5344CB8AC3E}">
        <p14:creationId xmlns:p14="http://schemas.microsoft.com/office/powerpoint/2010/main" val="8312850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2AF250-B0DA-6EC5-FF40-1B27A22C208C}"/>
              </a:ext>
            </a:extLst>
          </p:cNvPr>
          <p:cNvSpPr>
            <a:spLocks noGrp="1"/>
          </p:cNvSpPr>
          <p:nvPr>
            <p:ph type="title"/>
          </p:nvPr>
        </p:nvSpPr>
        <p:spPr/>
        <p:txBody>
          <a:bodyPr/>
          <a:lstStyle/>
          <a:p>
            <a:r>
              <a:rPr lang="de-DE" dirty="0"/>
              <a:t>Datasets </a:t>
            </a:r>
            <a:r>
              <a:rPr lang="de-DE" dirty="0" err="1"/>
              <a:t>Used</a:t>
            </a:r>
            <a:r>
              <a:rPr lang="de-DE" dirty="0"/>
              <a:t> in 42 Papers: Scale and Scope</a:t>
            </a:r>
            <a:br>
              <a:rPr lang="de-DE" b="1" dirty="0"/>
            </a:br>
            <a:endParaRPr lang="de-DE" dirty="0"/>
          </a:p>
        </p:txBody>
      </p:sp>
      <p:graphicFrame>
        <p:nvGraphicFramePr>
          <p:cNvPr id="4" name="Content Placeholder 3">
            <a:extLst>
              <a:ext uri="{FF2B5EF4-FFF2-40B4-BE49-F238E27FC236}">
                <a16:creationId xmlns:a16="http://schemas.microsoft.com/office/drawing/2014/main" id="{B0EB2E7E-3551-22C7-445E-856F6B77AE08}"/>
              </a:ext>
            </a:extLst>
          </p:cNvPr>
          <p:cNvGraphicFramePr>
            <a:graphicFrameLocks noGrp="1"/>
          </p:cNvGraphicFramePr>
          <p:nvPr>
            <p:ph idx="1"/>
            <p:extLst>
              <p:ext uri="{D42A27DB-BD31-4B8C-83A1-F6EECF244321}">
                <p14:modId xmlns:p14="http://schemas.microsoft.com/office/powerpoint/2010/main" val="215403406"/>
              </p:ext>
            </p:extLst>
          </p:nvPr>
        </p:nvGraphicFramePr>
        <p:xfrm>
          <a:off x="838200" y="1415441"/>
          <a:ext cx="10515600" cy="5375587"/>
        </p:xfrm>
        <a:graphic>
          <a:graphicData uri="http://schemas.openxmlformats.org/drawingml/2006/table">
            <a:tbl>
              <a:tblPr/>
              <a:tblGrid>
                <a:gridCol w="2103120">
                  <a:extLst>
                    <a:ext uri="{9D8B030D-6E8A-4147-A177-3AD203B41FA5}">
                      <a16:colId xmlns:a16="http://schemas.microsoft.com/office/drawing/2014/main" val="2166192839"/>
                    </a:ext>
                  </a:extLst>
                </a:gridCol>
                <a:gridCol w="2103120">
                  <a:extLst>
                    <a:ext uri="{9D8B030D-6E8A-4147-A177-3AD203B41FA5}">
                      <a16:colId xmlns:a16="http://schemas.microsoft.com/office/drawing/2014/main" val="2576985699"/>
                    </a:ext>
                  </a:extLst>
                </a:gridCol>
                <a:gridCol w="2103120">
                  <a:extLst>
                    <a:ext uri="{9D8B030D-6E8A-4147-A177-3AD203B41FA5}">
                      <a16:colId xmlns:a16="http://schemas.microsoft.com/office/drawing/2014/main" val="649014087"/>
                    </a:ext>
                  </a:extLst>
                </a:gridCol>
                <a:gridCol w="2103120">
                  <a:extLst>
                    <a:ext uri="{9D8B030D-6E8A-4147-A177-3AD203B41FA5}">
                      <a16:colId xmlns:a16="http://schemas.microsoft.com/office/drawing/2014/main" val="316292976"/>
                    </a:ext>
                  </a:extLst>
                </a:gridCol>
                <a:gridCol w="2103120">
                  <a:extLst>
                    <a:ext uri="{9D8B030D-6E8A-4147-A177-3AD203B41FA5}">
                      <a16:colId xmlns:a16="http://schemas.microsoft.com/office/drawing/2014/main" val="1820640027"/>
                    </a:ext>
                  </a:extLst>
                </a:gridCol>
              </a:tblGrid>
              <a:tr h="340824">
                <a:tc>
                  <a:txBody>
                    <a:bodyPr/>
                    <a:lstStyle/>
                    <a:p>
                      <a:pPr algn="l">
                        <a:spcAft>
                          <a:spcPts val="1200"/>
                        </a:spcAft>
                        <a:buNone/>
                      </a:pPr>
                      <a:r>
                        <a:rPr lang="de-DE" sz="1400" b="1" i="0">
                          <a:solidFill>
                            <a:srgbClr val="1F2328"/>
                          </a:solidFill>
                          <a:effectLst/>
                          <a:latin typeface="Mona Sans VF"/>
                        </a:rPr>
                        <a:t>Kategorie</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400" b="1" i="0">
                          <a:solidFill>
                            <a:srgbClr val="1F2328"/>
                          </a:solidFill>
                          <a:effectLst/>
                          <a:latin typeface="Mona Sans VF"/>
                        </a:rPr>
                        <a:t>Papers</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400" b="1" i="0">
                          <a:solidFill>
                            <a:srgbClr val="1F2328"/>
                          </a:solidFill>
                          <a:effectLst/>
                          <a:latin typeface="Mona Sans VF"/>
                        </a:rPr>
                        <a:t>Typische Datensätze</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400" b="1" i="0">
                          <a:solidFill>
                            <a:srgbClr val="1F2328"/>
                          </a:solidFill>
                          <a:effectLst/>
                          <a:latin typeface="Mona Sans VF"/>
                        </a:rPr>
                        <a:t>Stunden</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400" b="1" i="0">
                          <a:solidFill>
                            <a:srgbClr val="1F2328"/>
                          </a:solidFill>
                          <a:effectLst/>
                          <a:latin typeface="Mona Sans VF"/>
                        </a:rPr>
                        <a:t>Töne?</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3565893577"/>
                  </a:ext>
                </a:extLst>
              </a:tr>
              <a:tr h="1022473">
                <a:tc>
                  <a:txBody>
                    <a:bodyPr/>
                    <a:lstStyle/>
                    <a:p>
                      <a:pPr algn="l">
                        <a:spcAft>
                          <a:spcPts val="1200"/>
                        </a:spcAft>
                        <a:buNone/>
                      </a:pPr>
                      <a:r>
                        <a:rPr lang="de-DE" sz="1400" b="1" i="0">
                          <a:solidFill>
                            <a:srgbClr val="1F2328"/>
                          </a:solidFill>
                          <a:effectLst/>
                          <a:latin typeface="Mona Sans VF"/>
                        </a:rPr>
                        <a:t>Speech LLMs</a:t>
                      </a:r>
                      <a:r>
                        <a:rPr lang="de-DE" sz="1400" b="0" i="0">
                          <a:solidFill>
                            <a:srgbClr val="1F2328"/>
                          </a:solidFill>
                          <a:effectLst/>
                          <a:latin typeface="Mona Sans VF"/>
                        </a:rPr>
                        <a:t> (7)</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400" b="0" i="0">
                          <a:solidFill>
                            <a:srgbClr val="1F2328"/>
                          </a:solidFill>
                          <a:effectLst/>
                          <a:latin typeface="Mona Sans VF"/>
                        </a:rPr>
                        <a:t>Seed-ASR, FireRedASR, FireRedASR2S, Kimi-Audio, Qwen3-ASR, Step-Audio 2, Peng Survey</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400" b="0" i="0">
                          <a:solidFill>
                            <a:srgbClr val="1F2328"/>
                          </a:solidFill>
                          <a:effectLst/>
                          <a:latin typeface="Mona Sans VF"/>
                        </a:rPr>
                        <a:t>Proprietär + AISHELL-1/2, WenetSpeech, LibriSpeech, CommonVoice</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400" b="0" i="0">
                          <a:solidFill>
                            <a:srgbClr val="1F2328"/>
                          </a:solidFill>
                          <a:effectLst/>
                          <a:latin typeface="Mona Sans VF"/>
                        </a:rPr>
                        <a:t>70k–40M h</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400" b="0" i="0">
                          <a:solidFill>
                            <a:srgbClr val="1F2328"/>
                          </a:solidFill>
                          <a:effectLst/>
                          <a:latin typeface="Mona Sans VF"/>
                        </a:rPr>
                        <a:t>Nie getestet</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176828373"/>
                  </a:ext>
                </a:extLst>
              </a:tr>
              <a:tr h="795257">
                <a:tc>
                  <a:txBody>
                    <a:bodyPr/>
                    <a:lstStyle/>
                    <a:p>
                      <a:pPr algn="l">
                        <a:spcAft>
                          <a:spcPts val="1200"/>
                        </a:spcAft>
                        <a:buNone/>
                      </a:pPr>
                      <a:r>
                        <a:rPr lang="de-DE" sz="1400" b="1" i="0">
                          <a:solidFill>
                            <a:srgbClr val="1F2328"/>
                          </a:solidFill>
                          <a:effectLst/>
                          <a:latin typeface="Mona Sans VF"/>
                        </a:rPr>
                        <a:t>Pronunciation/MDD</a:t>
                      </a:r>
                      <a:r>
                        <a:rPr lang="de-DE" sz="1400" b="0" i="0">
                          <a:solidFill>
                            <a:srgbClr val="1F2328"/>
                          </a:solidFill>
                          <a:effectLst/>
                          <a:latin typeface="Mona Sans VF"/>
                        </a:rPr>
                        <a:t> (7)</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400" b="0" i="0">
                          <a:solidFill>
                            <a:srgbClr val="1F2328"/>
                          </a:solidFill>
                          <a:effectLst/>
                          <a:latin typeface="Mona Sans VF"/>
                        </a:rPr>
                        <a:t>Wang MDD, Wu L2, Huang Review, Zhu ZIPA, Kang, Wang MSPB, Chirkova</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400" b="0" i="0">
                          <a:solidFill>
                            <a:srgbClr val="1F2328"/>
                          </a:solidFill>
                          <a:effectLst/>
                          <a:latin typeface="Mona Sans VF"/>
                        </a:rPr>
                        <a:t>AISHELL-1, LATIC, Custom, IPAPACK++</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400" b="0" i="0">
                          <a:solidFill>
                            <a:srgbClr val="1F2328"/>
                          </a:solidFill>
                          <a:effectLst/>
                          <a:latin typeface="Mona Sans VF"/>
                        </a:rPr>
                        <a:t>3–17k h</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400" b="0" i="0">
                          <a:solidFill>
                            <a:srgbClr val="1F2328"/>
                          </a:solidFill>
                          <a:effectLst/>
                          <a:latin typeface="Mona Sans VF"/>
                        </a:rPr>
                        <a:t>Meist ja</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2658045456"/>
                  </a:ext>
                </a:extLst>
              </a:tr>
              <a:tr h="568041">
                <a:tc>
                  <a:txBody>
                    <a:bodyPr/>
                    <a:lstStyle/>
                    <a:p>
                      <a:pPr algn="l">
                        <a:spcAft>
                          <a:spcPts val="1200"/>
                        </a:spcAft>
                        <a:buNone/>
                      </a:pPr>
                      <a:r>
                        <a:rPr lang="de-DE" sz="1400" b="1" i="0">
                          <a:solidFill>
                            <a:srgbClr val="1F2328"/>
                          </a:solidFill>
                          <a:effectLst/>
                          <a:latin typeface="Mona Sans VF"/>
                        </a:rPr>
                        <a:t>ASR Error Correction</a:t>
                      </a:r>
                      <a:r>
                        <a:rPr lang="de-DE" sz="1400" b="0" i="0">
                          <a:solidFill>
                            <a:srgbClr val="1F2328"/>
                          </a:solidFill>
                          <a:effectLst/>
                          <a:latin typeface="Mona Sans VF"/>
                        </a:rPr>
                        <a:t> (4)</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400" b="0" i="0">
                          <a:solidFill>
                            <a:srgbClr val="1F2328"/>
                          </a:solidFill>
                          <a:effectLst/>
                          <a:latin typeface="Mona Sans VF"/>
                        </a:rPr>
                        <a:t>Li PY-GEC, Liang PERL, Zhengjie PYG, Chen SCCM</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400" b="0" i="0">
                          <a:solidFill>
                            <a:srgbClr val="1F2328"/>
                          </a:solidFill>
                          <a:effectLst/>
                          <a:latin typeface="Mona Sans VF"/>
                        </a:rPr>
                        <a:t>AISHELL-1, CommonVoice</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400" b="0" i="0">
                          <a:solidFill>
                            <a:srgbClr val="1F2328"/>
                          </a:solidFill>
                          <a:effectLst/>
                          <a:latin typeface="Mona Sans VF"/>
                        </a:rPr>
                        <a:t>170–200 h</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400" b="0" i="0">
                          <a:solidFill>
                            <a:srgbClr val="1F2328"/>
                          </a:solidFill>
                          <a:effectLst/>
                          <a:latin typeface="Mona Sans VF"/>
                        </a:rPr>
                        <a:t>Pinyin-Ebene</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2679157165"/>
                  </a:ext>
                </a:extLst>
              </a:tr>
              <a:tr h="1249689">
                <a:tc>
                  <a:txBody>
                    <a:bodyPr/>
                    <a:lstStyle/>
                    <a:p>
                      <a:pPr algn="l">
                        <a:spcAft>
                          <a:spcPts val="1200"/>
                        </a:spcAft>
                        <a:buNone/>
                      </a:pPr>
                      <a:r>
                        <a:rPr lang="de-DE" sz="1400" b="1" i="0">
                          <a:solidFill>
                            <a:srgbClr val="1F2328"/>
                          </a:solidFill>
                          <a:effectLst/>
                          <a:latin typeface="Mona Sans VF"/>
                        </a:rPr>
                        <a:t>Benchmarks</a:t>
                      </a:r>
                      <a:r>
                        <a:rPr lang="de-DE" sz="1400" b="0" i="0">
                          <a:solidFill>
                            <a:srgbClr val="1F2328"/>
                          </a:solidFill>
                          <a:effectLst/>
                          <a:latin typeface="Mona Sans VF"/>
                        </a:rPr>
                        <a:t> (9)</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400" b="0" i="0">
                          <a:solidFill>
                            <a:srgbClr val="1F2328"/>
                          </a:solidFill>
                          <a:effectLst/>
                          <a:latin typeface="Mona Sans VF"/>
                        </a:rPr>
                        <a:t>Wei ASR-EC, ContextASR, VocalBench-zh, TELEVAL, MMAU, Dynamic-SUPERB, VoxEval, AudioBench, WildSpeech</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400" b="0" i="0" dirty="0">
                          <a:solidFill>
                            <a:srgbClr val="1F2328"/>
                          </a:solidFill>
                          <a:effectLst/>
                          <a:latin typeface="Mona Sans VF"/>
                        </a:rPr>
                        <a:t>Eigen-konstruiert (TTS + real)</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400" b="0" i="0">
                          <a:solidFill>
                            <a:srgbClr val="1F2328"/>
                          </a:solidFill>
                          <a:effectLst/>
                          <a:latin typeface="Mona Sans VF"/>
                        </a:rPr>
                        <a:t>Variiert</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400" b="0" i="0">
                          <a:solidFill>
                            <a:srgbClr val="1F2328"/>
                          </a:solidFill>
                          <a:effectLst/>
                          <a:latin typeface="Mona Sans VF"/>
                        </a:rPr>
                        <a:t>Selten</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1552071301"/>
                  </a:ext>
                </a:extLst>
              </a:tr>
              <a:tr h="568041">
                <a:tc>
                  <a:txBody>
                    <a:bodyPr/>
                    <a:lstStyle/>
                    <a:p>
                      <a:pPr algn="l">
                        <a:spcAft>
                          <a:spcPts val="1200"/>
                        </a:spcAft>
                        <a:buNone/>
                      </a:pPr>
                      <a:r>
                        <a:rPr lang="de-DE" sz="1400" b="1" i="0">
                          <a:solidFill>
                            <a:srgbClr val="1F2328"/>
                          </a:solidFill>
                          <a:effectLst/>
                          <a:latin typeface="Mona Sans VF"/>
                        </a:rPr>
                        <a:t>Surveys</a:t>
                      </a:r>
                      <a:r>
                        <a:rPr lang="de-DE" sz="1400" b="0" i="0">
                          <a:solidFill>
                            <a:srgbClr val="1F2328"/>
                          </a:solidFill>
                          <a:effectLst/>
                          <a:latin typeface="Mona Sans VF"/>
                        </a:rPr>
                        <a:t> (10)</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400" b="0" i="0">
                          <a:solidFill>
                            <a:srgbClr val="1F2328"/>
                          </a:solidFill>
                          <a:effectLst/>
                          <a:latin typeface="Mona Sans VF"/>
                        </a:rPr>
                        <a:t>Latif, Gaido, Cui, Arora, Luo, AI Index, Ahlawat, Kaur, Yang×2</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400" b="0" i="0">
                          <a:solidFill>
                            <a:srgbClr val="1F2328"/>
                          </a:solidFill>
                          <a:effectLst/>
                          <a:latin typeface="Mona Sans VF"/>
                        </a:rPr>
                        <a:t>(Überblick)</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400" b="0" i="0">
                          <a:solidFill>
                            <a:srgbClr val="1F2328"/>
                          </a:solidFill>
                          <a:effectLst/>
                          <a:latin typeface="Mona Sans VF"/>
                        </a:rPr>
                        <a:t>—</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400" b="0" i="0">
                          <a:solidFill>
                            <a:srgbClr val="1F2328"/>
                          </a:solidFill>
                          <a:effectLst/>
                          <a:latin typeface="Mona Sans VF"/>
                        </a:rPr>
                        <a:t>Kaur: Fokus</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1130505115"/>
                  </a:ext>
                </a:extLst>
              </a:tr>
              <a:tr h="340824">
                <a:tc>
                  <a:txBody>
                    <a:bodyPr/>
                    <a:lstStyle/>
                    <a:p>
                      <a:pPr algn="l">
                        <a:spcAft>
                          <a:spcPts val="1200"/>
                        </a:spcAft>
                        <a:buNone/>
                      </a:pPr>
                      <a:r>
                        <a:rPr lang="de-DE" sz="1400" b="1" i="0">
                          <a:solidFill>
                            <a:srgbClr val="1F2328"/>
                          </a:solidFill>
                          <a:effectLst/>
                          <a:latin typeface="Mona Sans VF"/>
                        </a:rPr>
                        <a:t>Tone Perfect</a:t>
                      </a:r>
                      <a:r>
                        <a:rPr lang="de-DE" sz="1400" b="0" i="0">
                          <a:solidFill>
                            <a:srgbClr val="1F2328"/>
                          </a:solidFill>
                          <a:effectLst/>
                          <a:latin typeface="Mona Sans VF"/>
                        </a:rPr>
                        <a:t> (2)</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400" b="0" i="0">
                          <a:solidFill>
                            <a:srgbClr val="1F2328"/>
                          </a:solidFill>
                          <a:effectLst/>
                          <a:latin typeface="Mona Sans VF"/>
                        </a:rPr>
                        <a:t>Ryu (2021), Xu SITA (2026)</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400" b="1" i="0">
                          <a:solidFill>
                            <a:srgbClr val="1F2328"/>
                          </a:solidFill>
                          <a:effectLst/>
                          <a:latin typeface="Mona Sans VF"/>
                        </a:rPr>
                        <a:t>Tone Perfect</a:t>
                      </a:r>
                      <a:r>
                        <a:rPr lang="de-DE" sz="1400" b="0" i="0">
                          <a:solidFill>
                            <a:srgbClr val="1F2328"/>
                          </a:solidFill>
                          <a:effectLst/>
                          <a:latin typeface="Mona Sans VF"/>
                        </a:rPr>
                        <a:t> (9.840 Silben)</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400" b="0" i="0">
                          <a:solidFill>
                            <a:srgbClr val="1F2328"/>
                          </a:solidFill>
                          <a:effectLst/>
                          <a:latin typeface="Mona Sans VF"/>
                        </a:rPr>
                        <a:t>~2 h</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400" b="1" i="0" dirty="0">
                          <a:solidFill>
                            <a:srgbClr val="1F2328"/>
                          </a:solidFill>
                          <a:effectLst/>
                          <a:latin typeface="Mona Sans VF"/>
                        </a:rPr>
                        <a:t>Kern</a:t>
                      </a:r>
                      <a:endParaRPr lang="de-DE" sz="1400" b="0" i="0" dirty="0">
                        <a:solidFill>
                          <a:srgbClr val="1F2328"/>
                        </a:solidFill>
                        <a:effectLst/>
                        <a:latin typeface="Mona Sans VF"/>
                      </a:endParaRP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566138442"/>
                  </a:ext>
                </a:extLst>
              </a:tr>
            </a:tbl>
          </a:graphicData>
        </a:graphic>
      </p:graphicFrame>
    </p:spTree>
    <p:extLst>
      <p:ext uri="{BB962C8B-B14F-4D97-AF65-F5344CB8AC3E}">
        <p14:creationId xmlns:p14="http://schemas.microsoft.com/office/powerpoint/2010/main" val="26634629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EFA822-CA4C-3F2B-CA2A-AF4729F080B2}"/>
              </a:ext>
            </a:extLst>
          </p:cNvPr>
          <p:cNvSpPr>
            <a:spLocks noGrp="1"/>
          </p:cNvSpPr>
          <p:nvPr>
            <p:ph type="title"/>
          </p:nvPr>
        </p:nvSpPr>
        <p:spPr/>
        <p:txBody>
          <a:bodyPr/>
          <a:lstStyle/>
          <a:p>
            <a:r>
              <a:rPr lang="de-DE" dirty="0"/>
              <a:t>Training Data Scale: The Big Players</a:t>
            </a:r>
          </a:p>
        </p:txBody>
      </p:sp>
      <p:sp>
        <p:nvSpPr>
          <p:cNvPr id="3" name="Content Placeholder 2">
            <a:extLst>
              <a:ext uri="{FF2B5EF4-FFF2-40B4-BE49-F238E27FC236}">
                <a16:creationId xmlns:a16="http://schemas.microsoft.com/office/drawing/2014/main" id="{B2646F58-91A2-8AF3-7763-5E25E0B5C40A}"/>
              </a:ext>
            </a:extLst>
          </p:cNvPr>
          <p:cNvSpPr>
            <a:spLocks noGrp="1"/>
          </p:cNvSpPr>
          <p:nvPr>
            <p:ph idx="1"/>
          </p:nvPr>
        </p:nvSpPr>
        <p:spPr/>
        <p:txBody>
          <a:bodyPr>
            <a:noAutofit/>
          </a:bodyPr>
          <a:lstStyle/>
          <a:p>
            <a:pPr marL="0" indent="0">
              <a:buNone/>
            </a:pPr>
            <a:r>
              <a:rPr lang="de-DE" sz="1600" dirty="0"/>
              <a:t>Training Data (Hours, log </a:t>
            </a:r>
            <a:r>
              <a:rPr lang="de-DE" sz="1600" dirty="0" err="1"/>
              <a:t>scale</a:t>
            </a:r>
            <a:r>
              <a:rPr lang="de-DE" sz="1600" dirty="0"/>
              <a:t>)</a:t>
            </a:r>
          </a:p>
          <a:p>
            <a:endParaRPr lang="de-DE" sz="1600" dirty="0"/>
          </a:p>
          <a:p>
            <a:pPr marL="0" indent="0">
              <a:buNone/>
            </a:pPr>
            <a:r>
              <a:rPr lang="de-DE" sz="1600" dirty="0"/>
              <a:t>Qwen3-ASR            ████████████████████████████████████  40M h (pseudo-</a:t>
            </a:r>
            <a:r>
              <a:rPr lang="de-DE" sz="1600" dirty="0" err="1"/>
              <a:t>labeled</a:t>
            </a:r>
            <a:r>
              <a:rPr lang="de-DE" sz="1600" dirty="0"/>
              <a:t>)</a:t>
            </a:r>
          </a:p>
          <a:p>
            <a:pPr marL="0" indent="0">
              <a:buNone/>
            </a:pPr>
            <a:r>
              <a:rPr lang="de-DE" sz="1600" dirty="0"/>
              <a:t>Seed-ASR (SSL)    ██████████████████████████████████   20M h (</a:t>
            </a:r>
            <a:r>
              <a:rPr lang="de-DE" sz="1600" dirty="0" err="1"/>
              <a:t>unlabeled</a:t>
            </a:r>
            <a:r>
              <a:rPr lang="de-DE" sz="1600" dirty="0"/>
              <a:t>)</a:t>
            </a:r>
          </a:p>
          <a:p>
            <a:pPr marL="0" indent="0">
              <a:buNone/>
            </a:pPr>
            <a:r>
              <a:rPr lang="de-DE" sz="1600" dirty="0"/>
              <a:t>Kimi-Audio              ████████████████████████████████     13M h (</a:t>
            </a:r>
            <a:r>
              <a:rPr lang="de-DE" sz="1600" dirty="0" err="1"/>
              <a:t>pre</a:t>
            </a:r>
            <a:r>
              <a:rPr lang="de-DE" sz="1600" dirty="0"/>
              <a:t>-training)</a:t>
            </a:r>
          </a:p>
          <a:p>
            <a:pPr marL="0" indent="0">
              <a:buNone/>
            </a:pPr>
            <a:r>
              <a:rPr lang="de-DE" sz="1600" dirty="0" err="1"/>
              <a:t>Step</a:t>
            </a:r>
            <a:r>
              <a:rPr lang="de-DE" sz="1600" dirty="0"/>
              <a:t>-Audio 2          █████████████████████████            8M h (</a:t>
            </a:r>
            <a:r>
              <a:rPr lang="de-DE" sz="1600" dirty="0" err="1"/>
              <a:t>audio+synth</a:t>
            </a:r>
            <a:r>
              <a:rPr lang="de-DE" sz="1600" dirty="0"/>
              <a:t>)</a:t>
            </a:r>
          </a:p>
          <a:p>
            <a:pPr marL="0" indent="0">
              <a:buNone/>
            </a:pPr>
            <a:r>
              <a:rPr lang="de-DE" sz="1600" dirty="0"/>
              <a:t>Seed-ASR (SFT)    █████████████                        900k h (</a:t>
            </a:r>
            <a:r>
              <a:rPr lang="de-DE" sz="1600" dirty="0" err="1"/>
              <a:t>labeled</a:t>
            </a:r>
            <a:r>
              <a:rPr lang="de-DE" sz="1600" dirty="0"/>
              <a:t>)</a:t>
            </a:r>
          </a:p>
          <a:p>
            <a:pPr marL="0" indent="0">
              <a:buNone/>
            </a:pPr>
            <a:r>
              <a:rPr lang="de-DE" sz="1600" dirty="0"/>
              <a:t>Qwen3-ASR (SFT)███████████                         ~300k h</a:t>
            </a:r>
          </a:p>
          <a:p>
            <a:pPr marL="0" indent="0">
              <a:buNone/>
            </a:pPr>
            <a:r>
              <a:rPr lang="de-DE" sz="1600" dirty="0"/>
              <a:t>FireRedASR2S       ████████                             200k h</a:t>
            </a:r>
          </a:p>
          <a:p>
            <a:pPr marL="0" indent="0">
              <a:buNone/>
            </a:pPr>
            <a:r>
              <a:rPr lang="de-DE" sz="1600" dirty="0" err="1"/>
              <a:t>FireRedASR</a:t>
            </a:r>
            <a:r>
              <a:rPr lang="de-DE" sz="1600" dirty="0"/>
              <a:t>             █████                                70k h</a:t>
            </a:r>
          </a:p>
          <a:p>
            <a:pPr marL="0" indent="0">
              <a:buNone/>
            </a:pPr>
            <a:r>
              <a:rPr lang="de-DE" sz="1600" dirty="0"/>
              <a:t>AISHELL-1                ▌                                    170 h</a:t>
            </a:r>
          </a:p>
          <a:p>
            <a:pPr marL="0" indent="0">
              <a:buNone/>
            </a:pPr>
            <a:r>
              <a:rPr lang="de-DE" sz="1600" dirty="0"/>
              <a:t>Tone Perfect            ▏                                    ~2 h</a:t>
            </a:r>
          </a:p>
          <a:p>
            <a:endParaRPr lang="de-DE" sz="1600" dirty="0"/>
          </a:p>
          <a:p>
            <a:pPr marL="0" indent="0">
              <a:buNone/>
            </a:pPr>
            <a:r>
              <a:rPr lang="de-DE" sz="1600" b="1" dirty="0"/>
              <a:t>Kernaussage:</a:t>
            </a:r>
            <a:r>
              <a:rPr lang="de-DE" sz="1600" dirty="0"/>
              <a:t> </a:t>
            </a:r>
            <a:r>
              <a:rPr lang="de-DE" sz="1600" i="1" dirty="0"/>
              <a:t>Millionen Stunden Training — aber NIE auf </a:t>
            </a:r>
            <a:r>
              <a:rPr lang="de-DE" sz="1600" i="1" dirty="0" err="1"/>
              <a:t>Tonebene</a:t>
            </a:r>
            <a:r>
              <a:rPr lang="de-DE" sz="1600" i="1" dirty="0"/>
              <a:t> evaluiert.</a:t>
            </a:r>
            <a:endParaRPr lang="de-DE" sz="1600" dirty="0"/>
          </a:p>
        </p:txBody>
      </p:sp>
    </p:spTree>
    <p:extLst>
      <p:ext uri="{BB962C8B-B14F-4D97-AF65-F5344CB8AC3E}">
        <p14:creationId xmlns:p14="http://schemas.microsoft.com/office/powerpoint/2010/main" val="277780693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1B3722-459F-B822-4D04-BEDDE26D3F1D}"/>
              </a:ext>
            </a:extLst>
          </p:cNvPr>
          <p:cNvSpPr>
            <a:spLocks noGrp="1"/>
          </p:cNvSpPr>
          <p:nvPr>
            <p:ph type="title"/>
          </p:nvPr>
        </p:nvSpPr>
        <p:spPr/>
        <p:txBody>
          <a:bodyPr/>
          <a:lstStyle/>
          <a:p>
            <a:r>
              <a:rPr lang="de-DE" dirty="0"/>
              <a:t>Key Mandarin Datasets </a:t>
            </a:r>
            <a:r>
              <a:rPr lang="de-DE" dirty="0" err="1"/>
              <a:t>Across</a:t>
            </a:r>
            <a:r>
              <a:rPr lang="de-DE" dirty="0"/>
              <a:t> 42 Papers</a:t>
            </a:r>
          </a:p>
        </p:txBody>
      </p:sp>
      <p:graphicFrame>
        <p:nvGraphicFramePr>
          <p:cNvPr id="4" name="Content Placeholder 3">
            <a:extLst>
              <a:ext uri="{FF2B5EF4-FFF2-40B4-BE49-F238E27FC236}">
                <a16:creationId xmlns:a16="http://schemas.microsoft.com/office/drawing/2014/main" id="{BB8B7E8C-6969-3057-2495-99932E56BCBE}"/>
              </a:ext>
            </a:extLst>
          </p:cNvPr>
          <p:cNvGraphicFramePr>
            <a:graphicFrameLocks noGrp="1"/>
          </p:cNvGraphicFramePr>
          <p:nvPr>
            <p:ph idx="1"/>
            <p:extLst>
              <p:ext uri="{D42A27DB-BD31-4B8C-83A1-F6EECF244321}">
                <p14:modId xmlns:p14="http://schemas.microsoft.com/office/powerpoint/2010/main" val="1446340156"/>
              </p:ext>
            </p:extLst>
          </p:nvPr>
        </p:nvGraphicFramePr>
        <p:xfrm>
          <a:off x="739036" y="1377538"/>
          <a:ext cx="10809960" cy="5117931"/>
        </p:xfrm>
        <a:graphic>
          <a:graphicData uri="http://schemas.openxmlformats.org/drawingml/2006/table">
            <a:tbl>
              <a:tblPr/>
              <a:tblGrid>
                <a:gridCol w="1801660">
                  <a:extLst>
                    <a:ext uri="{9D8B030D-6E8A-4147-A177-3AD203B41FA5}">
                      <a16:colId xmlns:a16="http://schemas.microsoft.com/office/drawing/2014/main" val="3723764277"/>
                    </a:ext>
                  </a:extLst>
                </a:gridCol>
                <a:gridCol w="1257238">
                  <a:extLst>
                    <a:ext uri="{9D8B030D-6E8A-4147-A177-3AD203B41FA5}">
                      <a16:colId xmlns:a16="http://schemas.microsoft.com/office/drawing/2014/main" val="4142518028"/>
                    </a:ext>
                  </a:extLst>
                </a:gridCol>
                <a:gridCol w="1430776">
                  <a:extLst>
                    <a:ext uri="{9D8B030D-6E8A-4147-A177-3AD203B41FA5}">
                      <a16:colId xmlns:a16="http://schemas.microsoft.com/office/drawing/2014/main" val="1738076987"/>
                    </a:ext>
                  </a:extLst>
                </a:gridCol>
                <a:gridCol w="2716966">
                  <a:extLst>
                    <a:ext uri="{9D8B030D-6E8A-4147-A177-3AD203B41FA5}">
                      <a16:colId xmlns:a16="http://schemas.microsoft.com/office/drawing/2014/main" val="3464673636"/>
                    </a:ext>
                  </a:extLst>
                </a:gridCol>
                <a:gridCol w="1801660">
                  <a:extLst>
                    <a:ext uri="{9D8B030D-6E8A-4147-A177-3AD203B41FA5}">
                      <a16:colId xmlns:a16="http://schemas.microsoft.com/office/drawing/2014/main" val="1351352842"/>
                    </a:ext>
                  </a:extLst>
                </a:gridCol>
                <a:gridCol w="1801660">
                  <a:extLst>
                    <a:ext uri="{9D8B030D-6E8A-4147-A177-3AD203B41FA5}">
                      <a16:colId xmlns:a16="http://schemas.microsoft.com/office/drawing/2014/main" val="161335281"/>
                    </a:ext>
                  </a:extLst>
                </a:gridCol>
              </a:tblGrid>
              <a:tr h="359889">
                <a:tc>
                  <a:txBody>
                    <a:bodyPr/>
                    <a:lstStyle/>
                    <a:p>
                      <a:pPr algn="l">
                        <a:spcAft>
                          <a:spcPts val="1200"/>
                        </a:spcAft>
                        <a:buNone/>
                      </a:pPr>
                      <a:r>
                        <a:rPr lang="de-DE" sz="1600" b="1" i="0" dirty="0">
                          <a:solidFill>
                            <a:srgbClr val="1F2328"/>
                          </a:solidFill>
                          <a:effectLst/>
                          <a:latin typeface="Mona Sans VF"/>
                        </a:rPr>
                        <a:t>Datensatz</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1" i="0">
                          <a:solidFill>
                            <a:srgbClr val="1F2328"/>
                          </a:solidFill>
                          <a:effectLst/>
                          <a:latin typeface="Mona Sans VF"/>
                        </a:rPr>
                        <a:t>Stunden</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1" i="0">
                          <a:solidFill>
                            <a:srgbClr val="1F2328"/>
                          </a:solidFill>
                          <a:effectLst/>
                          <a:latin typeface="Mona Sans VF"/>
                        </a:rPr>
                        <a:t>Sprecher</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1" i="0">
                          <a:solidFill>
                            <a:srgbClr val="1F2328"/>
                          </a:solidFill>
                          <a:effectLst/>
                          <a:latin typeface="Mona Sans VF"/>
                        </a:rPr>
                        <a:t>Verwendet in</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1" i="0">
                          <a:solidFill>
                            <a:srgbClr val="1F2328"/>
                          </a:solidFill>
                          <a:effectLst/>
                          <a:latin typeface="Mona Sans VF"/>
                        </a:rPr>
                        <a:t>Töne?</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1" i="0">
                          <a:solidFill>
                            <a:srgbClr val="1F2328"/>
                          </a:solidFill>
                          <a:effectLst/>
                          <a:latin typeface="Mona Sans VF"/>
                        </a:rPr>
                        <a:t>Für uns?</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1972281380"/>
                  </a:ext>
                </a:extLst>
              </a:tr>
              <a:tr h="576524">
                <a:tc>
                  <a:txBody>
                    <a:bodyPr/>
                    <a:lstStyle/>
                    <a:p>
                      <a:pPr algn="l">
                        <a:spcAft>
                          <a:spcPts val="1200"/>
                        </a:spcAft>
                        <a:buNone/>
                      </a:pPr>
                      <a:r>
                        <a:rPr lang="de-DE" sz="1600" b="1" i="0">
                          <a:solidFill>
                            <a:srgbClr val="1F2328"/>
                          </a:solidFill>
                          <a:effectLst/>
                          <a:latin typeface="Mona Sans VF"/>
                        </a:rPr>
                        <a:t>AISHELL-1</a:t>
                      </a:r>
                      <a:endParaRPr lang="de-DE" sz="1600" b="0" i="0">
                        <a:solidFill>
                          <a:srgbClr val="1F2328"/>
                        </a:solidFill>
                        <a:effectLst/>
                        <a:latin typeface="Mona Sans VF"/>
                      </a:endParaRP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0" i="0">
                          <a:solidFill>
                            <a:srgbClr val="1F2328"/>
                          </a:solidFill>
                          <a:effectLst/>
                          <a:latin typeface="Mona Sans VF"/>
                        </a:rPr>
                        <a:t>170 h</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0" i="0">
                          <a:solidFill>
                            <a:srgbClr val="1F2328"/>
                          </a:solidFill>
                          <a:effectLst/>
                          <a:latin typeface="Mona Sans VF"/>
                        </a:rPr>
                        <a:t>400 Native</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0" i="0">
                          <a:solidFill>
                            <a:srgbClr val="1F2328"/>
                          </a:solidFill>
                          <a:effectLst/>
                          <a:latin typeface="Mona Sans VF"/>
                        </a:rPr>
                        <a:t>15+ Papers (fast alle)</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0" i="0">
                          <a:solidFill>
                            <a:srgbClr val="1F2328"/>
                          </a:solidFill>
                          <a:effectLst/>
                          <a:latin typeface="Mona Sans VF"/>
                        </a:rPr>
                        <a:t>Nein (CER only)</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0" i="0">
                          <a:solidFill>
                            <a:srgbClr val="1F2328"/>
                          </a:solidFill>
                          <a:effectLst/>
                          <a:latin typeface="Mona Sans VF"/>
                        </a:rPr>
                        <a:t>Vergleichs-Benchmark</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2456507079"/>
                  </a:ext>
                </a:extLst>
              </a:tr>
              <a:tr h="359889">
                <a:tc>
                  <a:txBody>
                    <a:bodyPr/>
                    <a:lstStyle/>
                    <a:p>
                      <a:pPr algn="l">
                        <a:spcAft>
                          <a:spcPts val="1200"/>
                        </a:spcAft>
                        <a:buNone/>
                      </a:pPr>
                      <a:r>
                        <a:rPr lang="de-DE" sz="1600" b="1" i="0">
                          <a:solidFill>
                            <a:srgbClr val="1F2328"/>
                          </a:solidFill>
                          <a:effectLst/>
                          <a:latin typeface="Mona Sans VF"/>
                        </a:rPr>
                        <a:t>AISHELL-2</a:t>
                      </a:r>
                      <a:endParaRPr lang="de-DE" sz="1600" b="0" i="0">
                        <a:solidFill>
                          <a:srgbClr val="1F2328"/>
                        </a:solidFill>
                        <a:effectLst/>
                        <a:latin typeface="Mona Sans VF"/>
                      </a:endParaRP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600" b="0" i="0">
                          <a:solidFill>
                            <a:srgbClr val="1F2328"/>
                          </a:solidFill>
                          <a:effectLst/>
                          <a:latin typeface="Mona Sans VF"/>
                        </a:rPr>
                        <a:t>1.000 h</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600" b="0" i="0">
                          <a:solidFill>
                            <a:srgbClr val="1F2328"/>
                          </a:solidFill>
                          <a:effectLst/>
                          <a:latin typeface="Mona Sans VF"/>
                        </a:rPr>
                        <a:t>—</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600" b="0" i="0">
                          <a:solidFill>
                            <a:srgbClr val="1F2328"/>
                          </a:solidFill>
                          <a:effectLst/>
                          <a:latin typeface="Mona Sans VF"/>
                        </a:rPr>
                        <a:t>8+ Papers</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600" b="0" i="0">
                          <a:solidFill>
                            <a:srgbClr val="1F2328"/>
                          </a:solidFill>
                          <a:effectLst/>
                          <a:latin typeface="Mona Sans VF"/>
                        </a:rPr>
                        <a:t>Nein</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600" b="0" i="0">
                          <a:solidFill>
                            <a:srgbClr val="1F2328"/>
                          </a:solidFill>
                          <a:effectLst/>
                          <a:latin typeface="Mona Sans VF"/>
                        </a:rPr>
                        <a:t>Vergleich</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2374691735"/>
                  </a:ext>
                </a:extLst>
              </a:tr>
              <a:tr h="576524">
                <a:tc>
                  <a:txBody>
                    <a:bodyPr/>
                    <a:lstStyle/>
                    <a:p>
                      <a:pPr algn="l">
                        <a:spcAft>
                          <a:spcPts val="1200"/>
                        </a:spcAft>
                        <a:buNone/>
                      </a:pPr>
                      <a:r>
                        <a:rPr lang="de-DE" sz="1600" b="1" i="0">
                          <a:solidFill>
                            <a:srgbClr val="1F2328"/>
                          </a:solidFill>
                          <a:effectLst/>
                          <a:latin typeface="Mona Sans VF"/>
                        </a:rPr>
                        <a:t>WenetSpeech</a:t>
                      </a:r>
                      <a:endParaRPr lang="de-DE" sz="1600" b="0" i="0">
                        <a:solidFill>
                          <a:srgbClr val="1F2328"/>
                        </a:solidFill>
                        <a:effectLst/>
                        <a:latin typeface="Mona Sans VF"/>
                      </a:endParaRP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0" i="0">
                          <a:solidFill>
                            <a:srgbClr val="1F2328"/>
                          </a:solidFill>
                          <a:effectLst/>
                          <a:latin typeface="Mona Sans VF"/>
                        </a:rPr>
                        <a:t>10.000+ h</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0" i="0">
                          <a:solidFill>
                            <a:srgbClr val="1F2328"/>
                          </a:solidFill>
                          <a:effectLst/>
                          <a:latin typeface="Mona Sans VF"/>
                        </a:rPr>
                        <a:t>—</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0" i="0">
                          <a:solidFill>
                            <a:srgbClr val="1F2328"/>
                          </a:solidFill>
                          <a:effectLst/>
                          <a:latin typeface="Mona Sans VF"/>
                        </a:rPr>
                        <a:t>6+ Papers (net/meeting)</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0" i="0">
                          <a:solidFill>
                            <a:srgbClr val="1F2328"/>
                          </a:solidFill>
                          <a:effectLst/>
                          <a:latin typeface="Mona Sans VF"/>
                        </a:rPr>
                        <a:t>Nein</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0" i="0">
                          <a:solidFill>
                            <a:srgbClr val="1F2328"/>
                          </a:solidFill>
                          <a:effectLst/>
                          <a:latin typeface="Mona Sans VF"/>
                        </a:rPr>
                        <a:t>Vergleich</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4045814623"/>
                  </a:ext>
                </a:extLst>
              </a:tr>
              <a:tr h="576524">
                <a:tc>
                  <a:txBody>
                    <a:bodyPr/>
                    <a:lstStyle/>
                    <a:p>
                      <a:pPr algn="l">
                        <a:spcAft>
                          <a:spcPts val="1200"/>
                        </a:spcAft>
                        <a:buNone/>
                      </a:pPr>
                      <a:r>
                        <a:rPr lang="de-DE" sz="1600" b="1" i="0">
                          <a:solidFill>
                            <a:srgbClr val="1F2328"/>
                          </a:solidFill>
                          <a:effectLst/>
                          <a:latin typeface="Mona Sans VF"/>
                        </a:rPr>
                        <a:t>CommonVoice ZH</a:t>
                      </a:r>
                      <a:endParaRPr lang="de-DE" sz="1600" b="0" i="0">
                        <a:solidFill>
                          <a:srgbClr val="1F2328"/>
                        </a:solidFill>
                        <a:effectLst/>
                        <a:latin typeface="Mona Sans VF"/>
                      </a:endParaRP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600" b="0" i="0">
                          <a:solidFill>
                            <a:srgbClr val="1F2328"/>
                          </a:solidFill>
                          <a:effectLst/>
                          <a:latin typeface="Mona Sans VF"/>
                        </a:rPr>
                        <a:t>100+ h</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600" b="0" i="0">
                          <a:solidFill>
                            <a:srgbClr val="1F2328"/>
                          </a:solidFill>
                          <a:effectLst/>
                          <a:latin typeface="Mona Sans VF"/>
                        </a:rPr>
                        <a:t>Crowd</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600" b="0" i="0">
                          <a:solidFill>
                            <a:srgbClr val="1F2328"/>
                          </a:solidFill>
                          <a:effectLst/>
                          <a:latin typeface="Mona Sans VF"/>
                        </a:rPr>
                        <a:t>4+ Papers</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600" b="0" i="0">
                          <a:solidFill>
                            <a:srgbClr val="1F2328"/>
                          </a:solidFill>
                          <a:effectLst/>
                          <a:latin typeface="Mona Sans VF"/>
                        </a:rPr>
                        <a:t>Nein</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600" b="0" i="0">
                          <a:solidFill>
                            <a:srgbClr val="1F2328"/>
                          </a:solidFill>
                          <a:effectLst/>
                          <a:latin typeface="Mona Sans VF"/>
                        </a:rPr>
                        <a:t>Vergleich</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1521113496"/>
                  </a:ext>
                </a:extLst>
              </a:tr>
              <a:tr h="576524">
                <a:tc>
                  <a:txBody>
                    <a:bodyPr/>
                    <a:lstStyle/>
                    <a:p>
                      <a:pPr algn="l">
                        <a:spcAft>
                          <a:spcPts val="1200"/>
                        </a:spcAft>
                        <a:buNone/>
                      </a:pPr>
                      <a:r>
                        <a:rPr lang="de-DE" sz="1600" b="1" i="0">
                          <a:solidFill>
                            <a:srgbClr val="1F2328"/>
                          </a:solidFill>
                          <a:effectLst/>
                          <a:latin typeface="Mona Sans VF"/>
                        </a:rPr>
                        <a:t>LATIC</a:t>
                      </a:r>
                      <a:endParaRPr lang="de-DE" sz="1600" b="0" i="0">
                        <a:solidFill>
                          <a:srgbClr val="1F2328"/>
                        </a:solidFill>
                        <a:effectLst/>
                        <a:latin typeface="Mona Sans VF"/>
                      </a:endParaRP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0" i="0">
                          <a:solidFill>
                            <a:srgbClr val="1F2328"/>
                          </a:solidFill>
                          <a:effectLst/>
                          <a:latin typeface="Mona Sans VF"/>
                        </a:rPr>
                        <a:t>4 h</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0" i="0">
                          <a:solidFill>
                            <a:srgbClr val="1F2328"/>
                          </a:solidFill>
                          <a:effectLst/>
                          <a:latin typeface="Mona Sans VF"/>
                        </a:rPr>
                        <a:t>4 L2</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0" i="0">
                          <a:solidFill>
                            <a:srgbClr val="1F2328"/>
                          </a:solidFill>
                          <a:effectLst/>
                          <a:latin typeface="Mona Sans VF"/>
                        </a:rPr>
                        <a:t>Wang MDD (1 Paper)</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0" i="0">
                          <a:solidFill>
                            <a:srgbClr val="1F2328"/>
                          </a:solidFill>
                          <a:effectLst/>
                          <a:latin typeface="Mona Sans VF"/>
                        </a:rPr>
                        <a:t>T1-T5</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0" i="0">
                          <a:solidFill>
                            <a:srgbClr val="1F2328"/>
                          </a:solidFill>
                          <a:effectLst/>
                          <a:latin typeface="Mona Sans VF"/>
                        </a:rPr>
                        <a:t>L2-Referenz</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2450989391"/>
                  </a:ext>
                </a:extLst>
              </a:tr>
              <a:tr h="359889">
                <a:tc>
                  <a:txBody>
                    <a:bodyPr/>
                    <a:lstStyle/>
                    <a:p>
                      <a:pPr algn="l">
                        <a:spcAft>
                          <a:spcPts val="1200"/>
                        </a:spcAft>
                        <a:buNone/>
                      </a:pPr>
                      <a:r>
                        <a:rPr lang="de-DE" sz="1600" b="1" i="0">
                          <a:solidFill>
                            <a:srgbClr val="1F2328"/>
                          </a:solidFill>
                          <a:effectLst/>
                          <a:latin typeface="Mona Sans VF"/>
                        </a:rPr>
                        <a:t>THCHS-30</a:t>
                      </a:r>
                      <a:endParaRPr lang="de-DE" sz="1600" b="0" i="0">
                        <a:solidFill>
                          <a:srgbClr val="1F2328"/>
                        </a:solidFill>
                        <a:effectLst/>
                        <a:latin typeface="Mona Sans VF"/>
                      </a:endParaRP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600" b="0" i="0">
                          <a:solidFill>
                            <a:srgbClr val="1F2328"/>
                          </a:solidFill>
                          <a:effectLst/>
                          <a:latin typeface="Mona Sans VF"/>
                        </a:rPr>
                        <a:t>30 h</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600" b="0" i="0" dirty="0">
                          <a:solidFill>
                            <a:srgbClr val="1F2328"/>
                          </a:solidFill>
                          <a:effectLst/>
                          <a:latin typeface="Mona Sans VF"/>
                        </a:rPr>
                        <a:t>—</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600" b="0" i="0">
                          <a:solidFill>
                            <a:srgbClr val="1F2328"/>
                          </a:solidFill>
                          <a:effectLst/>
                          <a:latin typeface="Mona Sans VF"/>
                        </a:rPr>
                        <a:t>2 Papers</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600" b="0" i="0">
                          <a:solidFill>
                            <a:srgbClr val="1F2328"/>
                          </a:solidFill>
                          <a:effectLst/>
                          <a:latin typeface="Mona Sans VF"/>
                        </a:rPr>
                        <a:t>Nein</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600" b="0" i="0">
                          <a:solidFill>
                            <a:srgbClr val="1F2328"/>
                          </a:solidFill>
                          <a:effectLst/>
                          <a:latin typeface="Mona Sans VF"/>
                        </a:rPr>
                        <a:t>—</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4065217600"/>
                  </a:ext>
                </a:extLst>
              </a:tr>
              <a:tr h="576524">
                <a:tc>
                  <a:txBody>
                    <a:bodyPr/>
                    <a:lstStyle/>
                    <a:p>
                      <a:pPr algn="l">
                        <a:spcAft>
                          <a:spcPts val="1200"/>
                        </a:spcAft>
                        <a:buNone/>
                      </a:pPr>
                      <a:r>
                        <a:rPr lang="de-DE" sz="1600" b="1" i="0">
                          <a:solidFill>
                            <a:srgbClr val="1F2328"/>
                          </a:solidFill>
                          <a:effectLst/>
                          <a:latin typeface="Mona Sans VF"/>
                        </a:rPr>
                        <a:t>★ Tone Perfect</a:t>
                      </a:r>
                      <a:endParaRPr lang="de-DE" sz="1600" b="0" i="0">
                        <a:solidFill>
                          <a:srgbClr val="1F2328"/>
                        </a:solidFill>
                        <a:effectLst/>
                        <a:latin typeface="Mona Sans VF"/>
                      </a:endParaRP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0" i="0">
                          <a:solidFill>
                            <a:srgbClr val="1F2328"/>
                          </a:solidFill>
                          <a:effectLst/>
                          <a:latin typeface="Mona Sans VF"/>
                        </a:rPr>
                        <a:t>~2 h</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0" i="0">
                          <a:solidFill>
                            <a:srgbClr val="1F2328"/>
                          </a:solidFill>
                          <a:effectLst/>
                          <a:latin typeface="Mona Sans VF"/>
                        </a:rPr>
                        <a:t>6 Native</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0" i="0">
                          <a:solidFill>
                            <a:srgbClr val="1F2328"/>
                          </a:solidFill>
                          <a:effectLst/>
                          <a:latin typeface="Mona Sans VF"/>
                        </a:rPr>
                        <a:t>2 Papers (Ryu, SITA)</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1" i="0">
                          <a:solidFill>
                            <a:srgbClr val="1F2328"/>
                          </a:solidFill>
                          <a:effectLst/>
                          <a:latin typeface="Mona Sans VF"/>
                        </a:rPr>
                        <a:t>T1-T4</a:t>
                      </a:r>
                      <a:endParaRPr lang="de-DE" sz="1600" b="0" i="0">
                        <a:solidFill>
                          <a:srgbClr val="1F2328"/>
                        </a:solidFill>
                        <a:effectLst/>
                        <a:latin typeface="Mona Sans VF"/>
                      </a:endParaRP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1" i="0">
                          <a:solidFill>
                            <a:srgbClr val="1F2328"/>
                          </a:solidFill>
                          <a:effectLst/>
                          <a:latin typeface="Mona Sans VF"/>
                        </a:rPr>
                        <a:t>Unser Korpus</a:t>
                      </a:r>
                      <a:endParaRPr lang="de-DE" sz="1600" b="0" i="0">
                        <a:solidFill>
                          <a:srgbClr val="1F2328"/>
                        </a:solidFill>
                        <a:effectLst/>
                        <a:latin typeface="Mona Sans VF"/>
                      </a:endParaRP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270201239"/>
                  </a:ext>
                </a:extLst>
              </a:tr>
              <a:tr h="576524">
                <a:tc>
                  <a:txBody>
                    <a:bodyPr/>
                    <a:lstStyle/>
                    <a:p>
                      <a:pPr algn="l">
                        <a:spcAft>
                          <a:spcPts val="1200"/>
                        </a:spcAft>
                        <a:buNone/>
                      </a:pPr>
                      <a:r>
                        <a:rPr lang="de-DE" sz="1600" b="1" i="0">
                          <a:solidFill>
                            <a:srgbClr val="1F2328"/>
                          </a:solidFill>
                          <a:effectLst/>
                          <a:latin typeface="Mona Sans VF"/>
                        </a:rPr>
                        <a:t>MSPB</a:t>
                      </a:r>
                      <a:endParaRPr lang="de-DE" sz="1600" b="0" i="0">
                        <a:solidFill>
                          <a:srgbClr val="1F2328"/>
                        </a:solidFill>
                        <a:effectLst/>
                        <a:latin typeface="Mona Sans VF"/>
                      </a:endParaRP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600" b="0" i="0">
                          <a:solidFill>
                            <a:srgbClr val="1F2328"/>
                          </a:solidFill>
                          <a:effectLst/>
                          <a:latin typeface="Mona Sans VF"/>
                        </a:rPr>
                        <a:t>—</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600" b="0" i="0">
                          <a:solidFill>
                            <a:srgbClr val="1F2328"/>
                          </a:solidFill>
                          <a:effectLst/>
                          <a:latin typeface="Mona Sans VF"/>
                        </a:rPr>
                        <a:t>1+27</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600" b="0" i="0">
                          <a:solidFill>
                            <a:srgbClr val="1F2328"/>
                          </a:solidFill>
                          <a:effectLst/>
                          <a:latin typeface="Mona Sans VF"/>
                        </a:rPr>
                        <a:t>Wang MSPB (1 Paper)</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600" b="0" i="0">
                          <a:solidFill>
                            <a:srgbClr val="1F2328"/>
                          </a:solidFill>
                          <a:effectLst/>
                          <a:latin typeface="Mona Sans VF"/>
                        </a:rPr>
                        <a:t>Prosodie</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600" b="0" i="0">
                          <a:solidFill>
                            <a:srgbClr val="1F2328"/>
                          </a:solidFill>
                          <a:effectLst/>
                          <a:latin typeface="Mona Sans VF"/>
                        </a:rPr>
                        <a:t>—</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810166982"/>
                  </a:ext>
                </a:extLst>
              </a:tr>
              <a:tr h="576524">
                <a:tc>
                  <a:txBody>
                    <a:bodyPr/>
                    <a:lstStyle/>
                    <a:p>
                      <a:pPr algn="l">
                        <a:spcAft>
                          <a:spcPts val="1200"/>
                        </a:spcAft>
                        <a:buNone/>
                      </a:pPr>
                      <a:r>
                        <a:rPr lang="de-DE" sz="1600" b="1" i="0">
                          <a:solidFill>
                            <a:srgbClr val="1F2328"/>
                          </a:solidFill>
                          <a:effectLst/>
                          <a:latin typeface="Mona Sans VF"/>
                        </a:rPr>
                        <a:t>Custom Baima</a:t>
                      </a:r>
                      <a:endParaRPr lang="de-DE" sz="1600" b="0" i="0">
                        <a:solidFill>
                          <a:srgbClr val="1F2328"/>
                        </a:solidFill>
                        <a:effectLst/>
                        <a:latin typeface="Mona Sans VF"/>
                      </a:endParaRP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0" i="0">
                          <a:solidFill>
                            <a:srgbClr val="1F2328"/>
                          </a:solidFill>
                          <a:effectLst/>
                          <a:latin typeface="Mona Sans VF"/>
                        </a:rPr>
                        <a:t>3,1 h</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0" i="0">
                          <a:solidFill>
                            <a:srgbClr val="1F2328"/>
                          </a:solidFill>
                          <a:effectLst/>
                          <a:latin typeface="Mona Sans VF"/>
                        </a:rPr>
                        <a:t>3</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0" i="0">
                          <a:solidFill>
                            <a:srgbClr val="1F2328"/>
                          </a:solidFill>
                          <a:effectLst/>
                          <a:latin typeface="Mona Sans VF"/>
                        </a:rPr>
                        <a:t>Chirkova (1 Paper)</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0" i="0">
                          <a:solidFill>
                            <a:srgbClr val="1F2328"/>
                          </a:solidFill>
                          <a:effectLst/>
                          <a:latin typeface="Mona Sans VF"/>
                        </a:rPr>
                        <a:t>6 Töne</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0" i="0" dirty="0">
                          <a:solidFill>
                            <a:srgbClr val="1F2328"/>
                          </a:solidFill>
                          <a:effectLst/>
                          <a:latin typeface="Mona Sans VF"/>
                        </a:rPr>
                        <a:t>IPA-Vergleich</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904622455"/>
                  </a:ext>
                </a:extLst>
              </a:tr>
            </a:tbl>
          </a:graphicData>
        </a:graphic>
      </p:graphicFrame>
    </p:spTree>
    <p:extLst>
      <p:ext uri="{BB962C8B-B14F-4D97-AF65-F5344CB8AC3E}">
        <p14:creationId xmlns:p14="http://schemas.microsoft.com/office/powerpoint/2010/main" val="7824525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88E39-6ADD-D396-87F2-634B80526207}"/>
              </a:ext>
            </a:extLst>
          </p:cNvPr>
          <p:cNvSpPr>
            <a:spLocks noGrp="1"/>
          </p:cNvSpPr>
          <p:nvPr>
            <p:ph type="title"/>
          </p:nvPr>
        </p:nvSpPr>
        <p:spPr/>
        <p:txBody>
          <a:bodyPr/>
          <a:lstStyle/>
          <a:p>
            <a:r>
              <a:rPr lang="de-DE" dirty="0"/>
              <a:t>Audio Processing: Who Takes Audio </a:t>
            </a:r>
            <a:r>
              <a:rPr lang="de-DE" dirty="0" err="1"/>
              <a:t>Directly</a:t>
            </a:r>
            <a:r>
              <a:rPr lang="de-DE" dirty="0"/>
              <a:t>?</a:t>
            </a:r>
          </a:p>
        </p:txBody>
      </p:sp>
      <p:graphicFrame>
        <p:nvGraphicFramePr>
          <p:cNvPr id="4" name="Content Placeholder 3">
            <a:extLst>
              <a:ext uri="{FF2B5EF4-FFF2-40B4-BE49-F238E27FC236}">
                <a16:creationId xmlns:a16="http://schemas.microsoft.com/office/drawing/2014/main" id="{FF9E59AF-60EA-1984-60A9-12CEBFBB5FCF}"/>
              </a:ext>
            </a:extLst>
          </p:cNvPr>
          <p:cNvGraphicFramePr>
            <a:graphicFrameLocks noGrp="1"/>
          </p:cNvGraphicFramePr>
          <p:nvPr>
            <p:ph idx="1"/>
            <p:extLst>
              <p:ext uri="{D42A27DB-BD31-4B8C-83A1-F6EECF244321}">
                <p14:modId xmlns:p14="http://schemas.microsoft.com/office/powerpoint/2010/main" val="975616806"/>
              </p:ext>
            </p:extLst>
          </p:nvPr>
        </p:nvGraphicFramePr>
        <p:xfrm>
          <a:off x="838200" y="1690688"/>
          <a:ext cx="10515600" cy="4751436"/>
        </p:xfrm>
        <a:graphic>
          <a:graphicData uri="http://schemas.openxmlformats.org/drawingml/2006/table">
            <a:tbl>
              <a:tblPr/>
              <a:tblGrid>
                <a:gridCol w="3505200">
                  <a:extLst>
                    <a:ext uri="{9D8B030D-6E8A-4147-A177-3AD203B41FA5}">
                      <a16:colId xmlns:a16="http://schemas.microsoft.com/office/drawing/2014/main" val="484012595"/>
                    </a:ext>
                  </a:extLst>
                </a:gridCol>
                <a:gridCol w="3505200">
                  <a:extLst>
                    <a:ext uri="{9D8B030D-6E8A-4147-A177-3AD203B41FA5}">
                      <a16:colId xmlns:a16="http://schemas.microsoft.com/office/drawing/2014/main" val="3402722895"/>
                    </a:ext>
                  </a:extLst>
                </a:gridCol>
                <a:gridCol w="3505200">
                  <a:extLst>
                    <a:ext uri="{9D8B030D-6E8A-4147-A177-3AD203B41FA5}">
                      <a16:colId xmlns:a16="http://schemas.microsoft.com/office/drawing/2014/main" val="3024616005"/>
                    </a:ext>
                  </a:extLst>
                </a:gridCol>
              </a:tblGrid>
              <a:tr h="411111">
                <a:tc>
                  <a:txBody>
                    <a:bodyPr/>
                    <a:lstStyle/>
                    <a:p>
                      <a:pPr algn="l">
                        <a:spcAft>
                          <a:spcPts val="1200"/>
                        </a:spcAft>
                        <a:buNone/>
                      </a:pPr>
                      <a:r>
                        <a:rPr lang="de-DE" sz="1800" b="1" i="0">
                          <a:solidFill>
                            <a:srgbClr val="1F2328"/>
                          </a:solidFill>
                          <a:effectLst/>
                          <a:latin typeface="Mona Sans VF"/>
                        </a:rPr>
                        <a:t>Pipeline-Typ</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800" b="1" i="0" dirty="0">
                          <a:solidFill>
                            <a:srgbClr val="1F2328"/>
                          </a:solidFill>
                          <a:effectLst/>
                          <a:latin typeface="Mona Sans VF"/>
                        </a:rPr>
                        <a:t>Modelle</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800" b="1" i="0">
                          <a:solidFill>
                            <a:srgbClr val="1F2328"/>
                          </a:solidFill>
                          <a:effectLst/>
                          <a:latin typeface="Mona Sans VF"/>
                        </a:rPr>
                        <a:t>Töne evaluiert?</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3287515830"/>
                  </a:ext>
                </a:extLst>
              </a:tr>
              <a:tr h="685185">
                <a:tc>
                  <a:txBody>
                    <a:bodyPr/>
                    <a:lstStyle/>
                    <a:p>
                      <a:pPr algn="l">
                        <a:spcAft>
                          <a:spcPts val="1200"/>
                        </a:spcAft>
                        <a:buNone/>
                      </a:pPr>
                      <a:r>
                        <a:rPr lang="de-DE" sz="1800" b="1" i="0">
                          <a:solidFill>
                            <a:srgbClr val="1F2328"/>
                          </a:solidFill>
                          <a:effectLst/>
                          <a:latin typeface="Mona Sans VF"/>
                        </a:rPr>
                        <a:t>Encoder→Adapter→LLM</a:t>
                      </a:r>
                      <a:r>
                        <a:rPr lang="de-DE" sz="1800" b="0" i="0">
                          <a:solidFill>
                            <a:srgbClr val="1F2328"/>
                          </a:solidFill>
                          <a:effectLst/>
                          <a:latin typeface="Mona Sans VF"/>
                        </a:rPr>
                        <a:t> (direkt)</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800" b="0" i="0">
                          <a:solidFill>
                            <a:srgbClr val="1F2328"/>
                          </a:solidFill>
                          <a:effectLst/>
                          <a:latin typeface="Mona Sans VF"/>
                        </a:rPr>
                        <a:t>Seed-ASR (MoE 10B+), FireRedASR (Qwen2-7B), FireRedASR2S, Qwen3-ASR (Qwen3-1.7B)</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800" b="0" i="0">
                          <a:solidFill>
                            <a:srgbClr val="1F2328"/>
                          </a:solidFill>
                          <a:effectLst/>
                          <a:latin typeface="Mona Sans VF"/>
                        </a:rPr>
                        <a:t>❌ Nie</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3942498082"/>
                  </a:ext>
                </a:extLst>
              </a:tr>
              <a:tr h="685185">
                <a:tc>
                  <a:txBody>
                    <a:bodyPr/>
                    <a:lstStyle/>
                    <a:p>
                      <a:pPr algn="l">
                        <a:spcAft>
                          <a:spcPts val="1200"/>
                        </a:spcAft>
                        <a:buNone/>
                      </a:pPr>
                      <a:r>
                        <a:rPr lang="de-DE" sz="1800" b="1" i="0">
                          <a:solidFill>
                            <a:srgbClr val="1F2328"/>
                          </a:solidFill>
                          <a:effectLst/>
                          <a:latin typeface="Mona Sans VF"/>
                        </a:rPr>
                        <a:t>Hybrid (diskret+kont.)→LLM</a:t>
                      </a:r>
                      <a:endParaRPr lang="de-DE" sz="1800" b="0" i="0">
                        <a:solidFill>
                          <a:srgbClr val="1F2328"/>
                        </a:solidFill>
                        <a:effectLst/>
                        <a:latin typeface="Mona Sans VF"/>
                      </a:endParaRP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800" b="0" i="0">
                          <a:solidFill>
                            <a:srgbClr val="1F2328"/>
                          </a:solidFill>
                          <a:effectLst/>
                          <a:latin typeface="Mona Sans VF"/>
                        </a:rPr>
                        <a:t>Kimi-Audio (Qwen2.5-7B), Step-Audio 2 (Custom 130B)</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800" b="0" i="0">
                          <a:solidFill>
                            <a:srgbClr val="1F2328"/>
                          </a:solidFill>
                          <a:effectLst/>
                          <a:latin typeface="Mona Sans VF"/>
                        </a:rPr>
                        <a:t>❌ Nie ("tone" erwähnt, nicht evaluiert)</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3601006198"/>
                  </a:ext>
                </a:extLst>
              </a:tr>
              <a:tr h="685185">
                <a:tc>
                  <a:txBody>
                    <a:bodyPr/>
                    <a:lstStyle/>
                    <a:p>
                      <a:pPr algn="l">
                        <a:spcAft>
                          <a:spcPts val="1200"/>
                        </a:spcAft>
                        <a:buNone/>
                      </a:pPr>
                      <a:r>
                        <a:rPr lang="de-DE" sz="1800" b="1" i="0">
                          <a:solidFill>
                            <a:srgbClr val="1F2328"/>
                          </a:solidFill>
                          <a:effectLst/>
                          <a:latin typeface="Mona Sans VF"/>
                        </a:rPr>
                        <a:t>Audio→Encoder→LLM→Pinyin+Text</a:t>
                      </a:r>
                      <a:endParaRPr lang="de-DE" sz="1800" b="0" i="0">
                        <a:solidFill>
                          <a:srgbClr val="1F2328"/>
                        </a:solidFill>
                        <a:effectLst/>
                        <a:latin typeface="Mona Sans VF"/>
                      </a:endParaRP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800" b="0" i="0">
                          <a:solidFill>
                            <a:srgbClr val="1F2328"/>
                          </a:solidFill>
                          <a:effectLst/>
                          <a:latin typeface="Mona Sans VF"/>
                        </a:rPr>
                        <a:t>Zhengjie PYG-ASR (HuBERT→Qwen2-7B)</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800" b="0" i="0">
                          <a:solidFill>
                            <a:srgbClr val="1F2328"/>
                          </a:solidFill>
                          <a:effectLst/>
                          <a:latin typeface="Mona Sans VF"/>
                        </a:rPr>
                        <a:t>⚠️ Pinyin-ERR (1,9%), aber OHNE separaten Ton-Test</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1467956740"/>
                  </a:ext>
                </a:extLst>
              </a:tr>
              <a:tr h="685185">
                <a:tc>
                  <a:txBody>
                    <a:bodyPr/>
                    <a:lstStyle/>
                    <a:p>
                      <a:pPr algn="l">
                        <a:spcAft>
                          <a:spcPts val="1200"/>
                        </a:spcAft>
                        <a:buNone/>
                      </a:pPr>
                      <a:r>
                        <a:rPr lang="de-DE" sz="1800" b="1" i="0">
                          <a:solidFill>
                            <a:srgbClr val="1F2328"/>
                          </a:solidFill>
                          <a:effectLst/>
                          <a:latin typeface="Mona Sans VF"/>
                        </a:rPr>
                        <a:t>Multimodal (Audio+Text Prompt)</a:t>
                      </a:r>
                      <a:endParaRPr lang="de-DE" sz="1800" b="0" i="0">
                        <a:solidFill>
                          <a:srgbClr val="1F2328"/>
                        </a:solidFill>
                        <a:effectLst/>
                        <a:latin typeface="Mona Sans VF"/>
                      </a:endParaRP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800" b="0" i="0">
                          <a:solidFill>
                            <a:srgbClr val="1F2328"/>
                          </a:solidFill>
                          <a:effectLst/>
                          <a:latin typeface="Mona Sans VF"/>
                        </a:rPr>
                        <a:t>Wang MSPB: GPT-4o, Gemini-1.5-Pro, Qwen2-Audio-7B</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800" b="0" i="0">
                          <a:solidFill>
                            <a:srgbClr val="1F2328"/>
                          </a:solidFill>
                          <a:effectLst/>
                          <a:latin typeface="Mona Sans VF"/>
                        </a:rPr>
                        <a:t>⚠️ Satzprosodie, nicht lexikalische Töne</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1987150825"/>
                  </a:ext>
                </a:extLst>
              </a:tr>
              <a:tr h="685185">
                <a:tc>
                  <a:txBody>
                    <a:bodyPr/>
                    <a:lstStyle/>
                    <a:p>
                      <a:pPr algn="l">
                        <a:spcAft>
                          <a:spcPts val="1200"/>
                        </a:spcAft>
                        <a:buNone/>
                      </a:pPr>
                      <a:r>
                        <a:rPr lang="de-DE" sz="1800" b="1" i="0">
                          <a:solidFill>
                            <a:srgbClr val="1F2328"/>
                          </a:solidFill>
                          <a:effectLst/>
                          <a:latin typeface="Mona Sans VF"/>
                        </a:rPr>
                        <a:t>ASR→Text→LLM</a:t>
                      </a:r>
                      <a:r>
                        <a:rPr lang="de-DE" sz="1800" b="0" i="0">
                          <a:solidFill>
                            <a:srgbClr val="1F2328"/>
                          </a:solidFill>
                          <a:effectLst/>
                          <a:latin typeface="Mona Sans VF"/>
                        </a:rPr>
                        <a:t> (kaskadiert)</a:t>
                      </a:r>
                      <a:endParaRPr lang="de-DE" sz="1800" b="0" i="0" dirty="0">
                        <a:solidFill>
                          <a:srgbClr val="1F2328"/>
                        </a:solidFill>
                        <a:effectLst/>
                        <a:latin typeface="Mona Sans VF"/>
                      </a:endParaRP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800" b="0" i="0">
                          <a:solidFill>
                            <a:srgbClr val="1F2328"/>
                          </a:solidFill>
                          <a:effectLst/>
                          <a:latin typeface="Mona Sans VF"/>
                        </a:rPr>
                        <a:t>Li PY-GEC (Whisper→LLaMA-3-8B), Liang PERL (Whisper→BERT)</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800" b="0" i="0">
                          <a:solidFill>
                            <a:srgbClr val="1F2328"/>
                          </a:solidFill>
                          <a:effectLst/>
                          <a:latin typeface="Mona Sans VF"/>
                        </a:rPr>
                        <a:t>❌ (Text-only)</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106285890"/>
                  </a:ext>
                </a:extLst>
              </a:tr>
              <a:tr h="685185">
                <a:tc>
                  <a:txBody>
                    <a:bodyPr/>
                    <a:lstStyle/>
                    <a:p>
                      <a:pPr algn="l">
                        <a:spcAft>
                          <a:spcPts val="1200"/>
                        </a:spcAft>
                        <a:buNone/>
                      </a:pPr>
                      <a:r>
                        <a:rPr lang="de-DE" sz="1800" b="1" i="0" dirty="0">
                          <a:solidFill>
                            <a:srgbClr val="1F2328"/>
                          </a:solidFill>
                          <a:effectLst/>
                          <a:latin typeface="Mona Sans VF"/>
                        </a:rPr>
                        <a:t>Klassisch (kein LLM)</a:t>
                      </a:r>
                      <a:endParaRPr lang="de-DE" sz="1800" b="0" i="0" dirty="0">
                        <a:solidFill>
                          <a:srgbClr val="1F2328"/>
                        </a:solidFill>
                        <a:effectLst/>
                        <a:latin typeface="Mona Sans VF"/>
                      </a:endParaRP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800" b="0" i="0">
                          <a:solidFill>
                            <a:srgbClr val="1F2328"/>
                          </a:solidFill>
                          <a:effectLst/>
                          <a:latin typeface="Mona Sans VF"/>
                        </a:rPr>
                        <a:t>Wang MDD (HuBERT), Chirkova (Wav2Vec2), Du (Zipformer)</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800" b="0" i="0" dirty="0">
                          <a:solidFill>
                            <a:srgbClr val="1F2328"/>
                          </a:solidFill>
                          <a:effectLst/>
                          <a:latin typeface="Mona Sans VF"/>
                        </a:rPr>
                        <a:t>✅ Aber kein LLM</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451002465"/>
                  </a:ext>
                </a:extLst>
              </a:tr>
            </a:tbl>
          </a:graphicData>
        </a:graphic>
      </p:graphicFrame>
      <p:sp>
        <p:nvSpPr>
          <p:cNvPr id="5" name="TextBox 4">
            <a:extLst>
              <a:ext uri="{FF2B5EF4-FFF2-40B4-BE49-F238E27FC236}">
                <a16:creationId xmlns:a16="http://schemas.microsoft.com/office/drawing/2014/main" id="{B250FC59-6A00-41EF-B055-04EFF1ED2BEE}"/>
              </a:ext>
            </a:extLst>
          </p:cNvPr>
          <p:cNvSpPr txBox="1"/>
          <p:nvPr/>
        </p:nvSpPr>
        <p:spPr>
          <a:xfrm>
            <a:off x="838200" y="6442124"/>
            <a:ext cx="11161582" cy="369332"/>
          </a:xfrm>
          <a:prstGeom prst="rect">
            <a:avLst/>
          </a:prstGeom>
          <a:noFill/>
        </p:spPr>
        <p:txBody>
          <a:bodyPr wrap="none" rtlCol="0">
            <a:spAutoFit/>
          </a:bodyPr>
          <a:lstStyle/>
          <a:p>
            <a:r>
              <a:rPr lang="de-DE" b="1" dirty="0"/>
              <a:t>Kernaussage:</a:t>
            </a:r>
            <a:r>
              <a:rPr lang="de-DE" dirty="0"/>
              <a:t> </a:t>
            </a:r>
            <a:r>
              <a:rPr lang="de-DE" i="1" dirty="0"/>
              <a:t>Viele Modelle können Audio direkt verarbeiten — aber KEINES wird auf Tontranskription evaluiert.</a:t>
            </a:r>
            <a:endParaRPr lang="de-DE" dirty="0"/>
          </a:p>
        </p:txBody>
      </p:sp>
    </p:spTree>
    <p:extLst>
      <p:ext uri="{BB962C8B-B14F-4D97-AF65-F5344CB8AC3E}">
        <p14:creationId xmlns:p14="http://schemas.microsoft.com/office/powerpoint/2010/main" val="87410311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753D52-0524-CD4E-7C82-17D23D035290}"/>
              </a:ext>
            </a:extLst>
          </p:cNvPr>
          <p:cNvSpPr>
            <a:spLocks noGrp="1"/>
          </p:cNvSpPr>
          <p:nvPr>
            <p:ph type="title"/>
          </p:nvPr>
        </p:nvSpPr>
        <p:spPr/>
        <p:txBody>
          <a:bodyPr/>
          <a:lstStyle/>
          <a:p>
            <a:r>
              <a:rPr lang="de-DE" dirty="0"/>
              <a:t>Tone Perfect: Why This Dataset?</a:t>
            </a:r>
          </a:p>
        </p:txBody>
      </p:sp>
      <p:sp>
        <p:nvSpPr>
          <p:cNvPr id="3" name="Content Placeholder 2">
            <a:extLst>
              <a:ext uri="{FF2B5EF4-FFF2-40B4-BE49-F238E27FC236}">
                <a16:creationId xmlns:a16="http://schemas.microsoft.com/office/drawing/2014/main" id="{6EB87386-A6E2-840F-2EAF-A827A2F24C46}"/>
              </a:ext>
            </a:extLst>
          </p:cNvPr>
          <p:cNvSpPr>
            <a:spLocks noGrp="1"/>
          </p:cNvSpPr>
          <p:nvPr>
            <p:ph idx="1"/>
          </p:nvPr>
        </p:nvSpPr>
        <p:spPr/>
        <p:txBody>
          <a:bodyPr>
            <a:normAutofit fontScale="55000" lnSpcReduction="20000"/>
          </a:bodyPr>
          <a:lstStyle/>
          <a:p>
            <a:r>
              <a:rPr lang="de-DE" dirty="0"/>
              <a:t>Tone Perfect (Ryu et al. 2021, Michigan State University)</a:t>
            </a:r>
          </a:p>
          <a:p>
            <a:r>
              <a:rPr lang="de-DE" dirty="0"/>
              <a:t>├── 410 einzigartige Silben (alle Standard-Mandarin-Silben)</a:t>
            </a:r>
          </a:p>
          <a:p>
            <a:r>
              <a:rPr lang="de-DE" dirty="0"/>
              <a:t>├── × 4 Töne (T1 ˉ, T2 ˊ, T3 ˇ, T4 ˋ)</a:t>
            </a:r>
          </a:p>
          <a:p>
            <a:r>
              <a:rPr lang="de-DE" dirty="0"/>
              <a:t>├── × 6 Sprecher (3m, 3f, alle Beijing-Muttersprachler)</a:t>
            </a:r>
          </a:p>
          <a:p>
            <a:r>
              <a:rPr lang="de-DE" dirty="0"/>
              <a:t>├── = 9.840 Aufnahmen</a:t>
            </a:r>
          </a:p>
          <a:p>
            <a:r>
              <a:rPr lang="de-DE" dirty="0"/>
              <a:t>├── Format: WAV, einzelne Silben, professionelle Aufnahme</a:t>
            </a:r>
          </a:p>
          <a:p>
            <a:r>
              <a:rPr lang="de-DE" dirty="0"/>
              <a:t>├── Lizenz: CC-BY 4.0 (Open Access)</a:t>
            </a:r>
          </a:p>
          <a:p>
            <a:r>
              <a:rPr lang="de-DE" dirty="0"/>
              <a:t>└── Labels: Pinyin + Tonnummer (z.B. "ma1", "ma2", "ma3", "ma4")</a:t>
            </a:r>
          </a:p>
          <a:p>
            <a:endParaRPr lang="de-DE" dirty="0"/>
          </a:p>
          <a:p>
            <a:r>
              <a:rPr lang="de-DE" b="1" dirty="0"/>
              <a:t>Warum Tone Perfect?</a:t>
            </a:r>
            <a:endParaRPr lang="de-DE" dirty="0"/>
          </a:p>
          <a:p>
            <a:r>
              <a:rPr lang="de-DE" b="1" dirty="0"/>
              <a:t>Kontrolliert:</a:t>
            </a:r>
            <a:r>
              <a:rPr lang="de-DE" dirty="0"/>
              <a:t> Isolierte Silben → Ton-Evaluation ohne Kontexteffekte</a:t>
            </a:r>
          </a:p>
          <a:p>
            <a:r>
              <a:rPr lang="de-DE" b="1" dirty="0"/>
              <a:t>Vollständig:</a:t>
            </a:r>
            <a:r>
              <a:rPr lang="de-DE" dirty="0"/>
              <a:t> Alle 410 Mandarin-Silben × 4 Töne</a:t>
            </a:r>
          </a:p>
          <a:p>
            <a:r>
              <a:rPr lang="de-DE" b="1" dirty="0"/>
              <a:t>Balanciert:</a:t>
            </a:r>
            <a:r>
              <a:rPr lang="de-DE" dirty="0"/>
              <a:t> Gleiche Anzahl pro Ton, pro Sprecher</a:t>
            </a:r>
          </a:p>
          <a:p>
            <a:r>
              <a:rPr lang="de-DE" b="1" dirty="0"/>
              <a:t>Reproduzierbar:</a:t>
            </a:r>
            <a:r>
              <a:rPr lang="de-DE" dirty="0"/>
              <a:t> Öffentlich, CC-BY 4.0</a:t>
            </a:r>
          </a:p>
          <a:p>
            <a:r>
              <a:rPr lang="de-DE" b="1" dirty="0"/>
              <a:t>Ground Truth:</a:t>
            </a:r>
            <a:r>
              <a:rPr lang="de-DE" dirty="0"/>
              <a:t> Professionelle Annotation (Pinyin + Tonnummer)</a:t>
            </a:r>
          </a:p>
          <a:p>
            <a:endParaRPr lang="de-DE" dirty="0"/>
          </a:p>
        </p:txBody>
      </p:sp>
    </p:spTree>
    <p:extLst>
      <p:ext uri="{BB962C8B-B14F-4D97-AF65-F5344CB8AC3E}">
        <p14:creationId xmlns:p14="http://schemas.microsoft.com/office/powerpoint/2010/main" val="156008636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384615-D68D-9E82-6F33-5A729CE6F78A}"/>
              </a:ext>
            </a:extLst>
          </p:cNvPr>
          <p:cNvSpPr>
            <a:spLocks noGrp="1"/>
          </p:cNvSpPr>
          <p:nvPr>
            <p:ph type="title"/>
          </p:nvPr>
        </p:nvSpPr>
        <p:spPr/>
        <p:txBody>
          <a:bodyPr/>
          <a:lstStyle/>
          <a:p>
            <a:r>
              <a:rPr lang="de-DE" dirty="0"/>
              <a:t>Dataset Gaps: </a:t>
            </a:r>
            <a:r>
              <a:rPr lang="de-DE" dirty="0" err="1"/>
              <a:t>What's</a:t>
            </a:r>
            <a:r>
              <a:rPr lang="de-DE" dirty="0"/>
              <a:t> </a:t>
            </a:r>
            <a:r>
              <a:rPr lang="de-DE" dirty="0" err="1"/>
              <a:t>Missing</a:t>
            </a:r>
            <a:r>
              <a:rPr lang="de-DE" dirty="0"/>
              <a:t>?</a:t>
            </a:r>
          </a:p>
        </p:txBody>
      </p:sp>
      <p:graphicFrame>
        <p:nvGraphicFramePr>
          <p:cNvPr id="4" name="Content Placeholder 3">
            <a:extLst>
              <a:ext uri="{FF2B5EF4-FFF2-40B4-BE49-F238E27FC236}">
                <a16:creationId xmlns:a16="http://schemas.microsoft.com/office/drawing/2014/main" id="{3BC1B3F8-55C4-FA82-76BD-9FE3B93BD77D}"/>
              </a:ext>
            </a:extLst>
          </p:cNvPr>
          <p:cNvGraphicFramePr>
            <a:graphicFrameLocks noGrp="1"/>
          </p:cNvGraphicFramePr>
          <p:nvPr>
            <p:ph idx="1"/>
            <p:extLst>
              <p:ext uri="{D42A27DB-BD31-4B8C-83A1-F6EECF244321}">
                <p14:modId xmlns:p14="http://schemas.microsoft.com/office/powerpoint/2010/main" val="1764502795"/>
              </p:ext>
            </p:extLst>
          </p:nvPr>
        </p:nvGraphicFramePr>
        <p:xfrm>
          <a:off x="838200" y="1538677"/>
          <a:ext cx="10515600" cy="2194560"/>
        </p:xfrm>
        <a:graphic>
          <a:graphicData uri="http://schemas.openxmlformats.org/drawingml/2006/table">
            <a:tbl>
              <a:tblPr/>
              <a:tblGrid>
                <a:gridCol w="5257800">
                  <a:extLst>
                    <a:ext uri="{9D8B030D-6E8A-4147-A177-3AD203B41FA5}">
                      <a16:colId xmlns:a16="http://schemas.microsoft.com/office/drawing/2014/main" val="2973640416"/>
                    </a:ext>
                  </a:extLst>
                </a:gridCol>
                <a:gridCol w="5257800">
                  <a:extLst>
                    <a:ext uri="{9D8B030D-6E8A-4147-A177-3AD203B41FA5}">
                      <a16:colId xmlns:a16="http://schemas.microsoft.com/office/drawing/2014/main" val="3576868154"/>
                    </a:ext>
                  </a:extLst>
                </a:gridCol>
              </a:tblGrid>
              <a:tr h="0">
                <a:tc>
                  <a:txBody>
                    <a:bodyPr/>
                    <a:lstStyle/>
                    <a:p>
                      <a:pPr>
                        <a:spcAft>
                          <a:spcPts val="1200"/>
                        </a:spcAft>
                        <a:buNone/>
                      </a:pPr>
                      <a:r>
                        <a:rPr lang="de-DE" b="1">
                          <a:effectLst/>
                        </a:rPr>
                        <a:t>Was haben wir</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spcAft>
                          <a:spcPts val="1200"/>
                        </a:spcAft>
                        <a:buNone/>
                      </a:pPr>
                      <a:r>
                        <a:rPr lang="de-DE" b="1">
                          <a:effectLst/>
                        </a:rPr>
                        <a:t>Was fehlt</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3418472234"/>
                  </a:ext>
                </a:extLst>
              </a:tr>
              <a:tr h="0">
                <a:tc>
                  <a:txBody>
                    <a:bodyPr/>
                    <a:lstStyle/>
                    <a:p>
                      <a:pPr>
                        <a:spcAft>
                          <a:spcPts val="1200"/>
                        </a:spcAft>
                        <a:buNone/>
                      </a:pPr>
                      <a:r>
                        <a:rPr lang="de-DE">
                          <a:effectLst/>
                        </a:rPr>
                        <a:t>AISHELL-1/2: 170-1.000h Mandarin</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spcAft>
                          <a:spcPts val="1200"/>
                        </a:spcAft>
                        <a:buNone/>
                      </a:pPr>
                      <a:r>
                        <a:rPr lang="de-DE">
                          <a:effectLst/>
                        </a:rPr>
                        <a:t>Aber: nur CER auf Zeichenebene evaluiert</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983681443"/>
                  </a:ext>
                </a:extLst>
              </a:tr>
              <a:tr h="0">
                <a:tc>
                  <a:txBody>
                    <a:bodyPr/>
                    <a:lstStyle/>
                    <a:p>
                      <a:pPr>
                        <a:spcAft>
                          <a:spcPts val="1200"/>
                        </a:spcAft>
                        <a:buNone/>
                      </a:pPr>
                      <a:r>
                        <a:rPr lang="de-DE">
                          <a:effectLst/>
                        </a:rPr>
                        <a:t>20M+ Stunden Trainingsdaten</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spcAft>
                          <a:spcPts val="1200"/>
                        </a:spcAft>
                        <a:buNone/>
                      </a:pPr>
                      <a:r>
                        <a:rPr lang="de-DE">
                          <a:effectLst/>
                        </a:rPr>
                        <a:t>Aber: nie auf Tonebene getestet</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2365216471"/>
                  </a:ext>
                </a:extLst>
              </a:tr>
              <a:tr h="0">
                <a:tc>
                  <a:txBody>
                    <a:bodyPr/>
                    <a:lstStyle/>
                    <a:p>
                      <a:pPr>
                        <a:spcAft>
                          <a:spcPts val="1200"/>
                        </a:spcAft>
                        <a:buNone/>
                      </a:pPr>
                      <a:r>
                        <a:rPr lang="de-DE">
                          <a:effectLst/>
                        </a:rPr>
                        <a:t>15+ Papers nutzen AISHELL-1</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spcAft>
                          <a:spcPts val="1200"/>
                        </a:spcAft>
                        <a:buNone/>
                      </a:pPr>
                      <a:r>
                        <a:rPr lang="de-DE">
                          <a:effectLst/>
                        </a:rPr>
                        <a:t>Aber: kein Paper testet Silbe+Ton separat</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462061530"/>
                  </a:ext>
                </a:extLst>
              </a:tr>
              <a:tr h="0">
                <a:tc>
                  <a:txBody>
                    <a:bodyPr/>
                    <a:lstStyle/>
                    <a:p>
                      <a:pPr>
                        <a:spcAft>
                          <a:spcPts val="1200"/>
                        </a:spcAft>
                        <a:buNone/>
                      </a:pPr>
                      <a:r>
                        <a:rPr lang="de-DE">
                          <a:effectLst/>
                        </a:rPr>
                        <a:t>Tone Perfect: perfektes Ton-Korpus</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spcAft>
                          <a:spcPts val="1200"/>
                        </a:spcAft>
                        <a:buNone/>
                      </a:pPr>
                      <a:r>
                        <a:rPr lang="de-DE">
                          <a:effectLst/>
                        </a:rPr>
                        <a:t>Aber: nur 2 Papers nutzen es</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2441878084"/>
                  </a:ext>
                </a:extLst>
              </a:tr>
              <a:tr h="0">
                <a:tc>
                  <a:txBody>
                    <a:bodyPr/>
                    <a:lstStyle/>
                    <a:p>
                      <a:pPr>
                        <a:spcAft>
                          <a:spcPts val="1200"/>
                        </a:spcAft>
                        <a:buNone/>
                      </a:pPr>
                      <a:r>
                        <a:rPr lang="de-DE">
                          <a:effectLst/>
                        </a:rPr>
                        <a:t>LATIC: einziger L2-Datensatz mit Tönen</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spcAft>
                          <a:spcPts val="1200"/>
                        </a:spcAft>
                        <a:buNone/>
                      </a:pPr>
                      <a:r>
                        <a:rPr lang="de-DE" dirty="0">
                          <a:effectLst/>
                        </a:rPr>
                        <a:t>Aber: nur 4h, 4 Sprecher, 1 Paper</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2662348260"/>
                  </a:ext>
                </a:extLst>
              </a:tr>
            </a:tbl>
          </a:graphicData>
        </a:graphic>
      </p:graphicFrame>
      <p:sp>
        <p:nvSpPr>
          <p:cNvPr id="6" name="TextBox 5">
            <a:extLst>
              <a:ext uri="{FF2B5EF4-FFF2-40B4-BE49-F238E27FC236}">
                <a16:creationId xmlns:a16="http://schemas.microsoft.com/office/drawing/2014/main" id="{72D3A668-F3F4-43CE-DA69-30CFF10FA296}"/>
              </a:ext>
            </a:extLst>
          </p:cNvPr>
          <p:cNvSpPr txBox="1"/>
          <p:nvPr/>
        </p:nvSpPr>
        <p:spPr>
          <a:xfrm>
            <a:off x="2671176" y="4204465"/>
            <a:ext cx="6093912" cy="1661993"/>
          </a:xfrm>
          <a:prstGeom prst="rect">
            <a:avLst/>
          </a:prstGeom>
          <a:noFill/>
        </p:spPr>
        <p:txBody>
          <a:bodyPr wrap="square">
            <a:spAutoFit/>
          </a:bodyPr>
          <a:lstStyle/>
          <a:p>
            <a:pPr indent="0" algn="l">
              <a:spcAft>
                <a:spcPts val="1200"/>
              </a:spcAft>
              <a:buNone/>
            </a:pPr>
            <a:r>
              <a:rPr lang="de-DE" sz="1800" b="1" i="0" dirty="0">
                <a:solidFill>
                  <a:srgbClr val="1F2328"/>
                </a:solidFill>
                <a:effectLst/>
                <a:latin typeface="Mona Sans VF"/>
              </a:rPr>
              <a:t>3 Lücken:</a:t>
            </a:r>
            <a:endParaRPr lang="de-DE" sz="1800" b="0" i="0" dirty="0">
              <a:solidFill>
                <a:srgbClr val="1F2328"/>
              </a:solidFill>
              <a:effectLst/>
              <a:latin typeface="Mona Sans VF"/>
            </a:endParaRPr>
          </a:p>
          <a:p>
            <a:pPr indent="0" algn="l">
              <a:spcAft>
                <a:spcPts val="1200"/>
              </a:spcAft>
              <a:buFont typeface="+mj-lt"/>
              <a:buAutoNum type="arabicPeriod"/>
            </a:pPr>
            <a:r>
              <a:rPr lang="de-DE" sz="1800" b="1" i="0" dirty="0">
                <a:solidFill>
                  <a:srgbClr val="1F2328"/>
                </a:solidFill>
                <a:effectLst/>
                <a:latin typeface="Mona Sans VF"/>
              </a:rPr>
              <a:t>Kein Datensatz</a:t>
            </a:r>
            <a:r>
              <a:rPr lang="de-DE" sz="1800" b="0" i="0" dirty="0">
                <a:solidFill>
                  <a:srgbClr val="1F2328"/>
                </a:solidFill>
                <a:effectLst/>
                <a:latin typeface="Mona Sans VF"/>
              </a:rPr>
              <a:t> wird für LLM-Tonevaluation genutzt</a:t>
            </a:r>
          </a:p>
          <a:p>
            <a:pPr indent="0" algn="l">
              <a:spcAft>
                <a:spcPts val="1200"/>
              </a:spcAft>
              <a:buFont typeface="+mj-lt"/>
              <a:buAutoNum type="arabicPeriod"/>
            </a:pPr>
            <a:r>
              <a:rPr lang="de-DE" sz="1800" b="1" i="0" dirty="0">
                <a:solidFill>
                  <a:srgbClr val="1F2328"/>
                </a:solidFill>
                <a:effectLst/>
                <a:latin typeface="Mona Sans VF"/>
              </a:rPr>
              <a:t>Kein Paper</a:t>
            </a:r>
            <a:r>
              <a:rPr lang="de-DE" sz="1800" b="0" i="0" dirty="0">
                <a:solidFill>
                  <a:srgbClr val="1F2328"/>
                </a:solidFill>
                <a:effectLst/>
                <a:latin typeface="Mona Sans VF"/>
              </a:rPr>
              <a:t> evaluiert multimodale LLMs auf Tone Perfect</a:t>
            </a:r>
          </a:p>
          <a:p>
            <a:pPr indent="0" algn="l">
              <a:spcAft>
                <a:spcPts val="1200"/>
              </a:spcAft>
              <a:buFont typeface="+mj-lt"/>
              <a:buAutoNum type="arabicPeriod"/>
            </a:pPr>
            <a:r>
              <a:rPr lang="de-DE" sz="1800" b="1" i="0" dirty="0">
                <a:solidFill>
                  <a:srgbClr val="1F2328"/>
                </a:solidFill>
                <a:effectLst/>
                <a:latin typeface="Mona Sans VF"/>
              </a:rPr>
              <a:t>Kein L2-Mandarin-Datensatz</a:t>
            </a:r>
            <a:r>
              <a:rPr lang="de-DE" sz="1800" b="0" i="0" dirty="0">
                <a:solidFill>
                  <a:srgbClr val="1F2328"/>
                </a:solidFill>
                <a:effectLst/>
                <a:latin typeface="Mona Sans VF"/>
              </a:rPr>
              <a:t> wurde mit LLMs getestet</a:t>
            </a:r>
          </a:p>
        </p:txBody>
      </p:sp>
    </p:spTree>
    <p:extLst>
      <p:ext uri="{BB962C8B-B14F-4D97-AF65-F5344CB8AC3E}">
        <p14:creationId xmlns:p14="http://schemas.microsoft.com/office/powerpoint/2010/main" val="172276645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8F59CC-2441-C4B8-5B89-BEDF6F6D7DAA}"/>
              </a:ext>
            </a:extLst>
          </p:cNvPr>
          <p:cNvSpPr>
            <a:spLocks noGrp="1"/>
          </p:cNvSpPr>
          <p:nvPr>
            <p:ph type="title"/>
          </p:nvPr>
        </p:nvSpPr>
        <p:spPr/>
        <p:txBody>
          <a:bodyPr/>
          <a:lstStyle/>
          <a:p>
            <a:endParaRPr lang="de-DE"/>
          </a:p>
        </p:txBody>
      </p:sp>
      <p:sp>
        <p:nvSpPr>
          <p:cNvPr id="3" name="Content Placeholder 2">
            <a:extLst>
              <a:ext uri="{FF2B5EF4-FFF2-40B4-BE49-F238E27FC236}">
                <a16:creationId xmlns:a16="http://schemas.microsoft.com/office/drawing/2014/main" id="{0786CEA8-99E4-C260-4C5D-B1A854151E04}"/>
              </a:ext>
            </a:extLst>
          </p:cNvPr>
          <p:cNvSpPr>
            <a:spLocks noGrp="1"/>
          </p:cNvSpPr>
          <p:nvPr>
            <p:ph idx="1"/>
          </p:nvPr>
        </p:nvSpPr>
        <p:spPr/>
        <p:txBody>
          <a:bodyPr/>
          <a:lstStyle/>
          <a:p>
            <a:endParaRPr lang="de-DE"/>
          </a:p>
        </p:txBody>
      </p:sp>
    </p:spTree>
    <p:extLst>
      <p:ext uri="{BB962C8B-B14F-4D97-AF65-F5344CB8AC3E}">
        <p14:creationId xmlns:p14="http://schemas.microsoft.com/office/powerpoint/2010/main" val="55928899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C4AA8-B240-5D78-2189-25E34068C6FC}"/>
              </a:ext>
            </a:extLst>
          </p:cNvPr>
          <p:cNvSpPr>
            <a:spLocks noGrp="1"/>
          </p:cNvSpPr>
          <p:nvPr>
            <p:ph type="title"/>
          </p:nvPr>
        </p:nvSpPr>
        <p:spPr/>
        <p:txBody>
          <a:bodyPr/>
          <a:lstStyle/>
          <a:p>
            <a:r>
              <a:rPr lang="de-DE" dirty="0" err="1"/>
              <a:t>Fehlermetriken</a:t>
            </a:r>
            <a:endParaRPr lang="de-DE" dirty="0"/>
          </a:p>
        </p:txBody>
      </p:sp>
      <p:sp>
        <p:nvSpPr>
          <p:cNvPr id="3" name="Content Placeholder 2">
            <a:extLst>
              <a:ext uri="{FF2B5EF4-FFF2-40B4-BE49-F238E27FC236}">
                <a16:creationId xmlns:a16="http://schemas.microsoft.com/office/drawing/2014/main" id="{CCC2350E-A01D-3C66-3971-0A6DC138C71A}"/>
              </a:ext>
            </a:extLst>
          </p:cNvPr>
          <p:cNvSpPr>
            <a:spLocks noGrp="1"/>
          </p:cNvSpPr>
          <p:nvPr>
            <p:ph idx="1"/>
          </p:nvPr>
        </p:nvSpPr>
        <p:spPr/>
        <p:txBody>
          <a:bodyPr/>
          <a:lstStyle/>
          <a:p>
            <a:endParaRPr lang="de-DE"/>
          </a:p>
        </p:txBody>
      </p:sp>
    </p:spTree>
    <p:extLst>
      <p:ext uri="{BB962C8B-B14F-4D97-AF65-F5344CB8AC3E}">
        <p14:creationId xmlns:p14="http://schemas.microsoft.com/office/powerpoint/2010/main" val="203058871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F93958-9ECD-A824-F42D-3330B2A6BB77}"/>
              </a:ext>
            </a:extLst>
          </p:cNvPr>
          <p:cNvSpPr>
            <a:spLocks noGrp="1"/>
          </p:cNvSpPr>
          <p:nvPr>
            <p:ph type="title"/>
          </p:nvPr>
        </p:nvSpPr>
        <p:spPr/>
        <p:txBody>
          <a:bodyPr/>
          <a:lstStyle/>
          <a:p>
            <a:r>
              <a:rPr lang="de-DE" dirty="0"/>
              <a:t>„CER" ist nicht gleich „CER" — die versteckte Referenz-Einheit</a:t>
            </a:r>
          </a:p>
        </p:txBody>
      </p:sp>
      <p:sp>
        <p:nvSpPr>
          <p:cNvPr id="3" name="Content Placeholder 2">
            <a:extLst>
              <a:ext uri="{FF2B5EF4-FFF2-40B4-BE49-F238E27FC236}">
                <a16:creationId xmlns:a16="http://schemas.microsoft.com/office/drawing/2014/main" id="{46F39061-89C2-DB12-29A0-67602A3E6AA1}"/>
              </a:ext>
            </a:extLst>
          </p:cNvPr>
          <p:cNvSpPr>
            <a:spLocks noGrp="1"/>
          </p:cNvSpPr>
          <p:nvPr>
            <p:ph idx="1"/>
          </p:nvPr>
        </p:nvSpPr>
        <p:spPr>
          <a:xfrm>
            <a:off x="838199" y="1825625"/>
            <a:ext cx="10515599" cy="1982287"/>
          </a:xfrm>
        </p:spPr>
        <p:txBody>
          <a:bodyPr>
            <a:normAutofit fontScale="62500" lnSpcReduction="20000"/>
          </a:bodyPr>
          <a:lstStyle/>
          <a:p>
            <a:endParaRPr lang="de-DE" b="1" dirty="0"/>
          </a:p>
          <a:p>
            <a:r>
              <a:rPr lang="de-DE" b="1" dirty="0"/>
              <a:t>Gleicher Name, verschiedenes Ergebnis:</a:t>
            </a:r>
            <a:r>
              <a:rPr lang="de-DE" dirty="0"/>
              <a:t> „CER" in Seed-ASR (Hanzi) misst etwas völlig anderes als „CER" in Chirkova (</a:t>
            </a:r>
            <a:r>
              <a:rPr lang="de-DE" dirty="0" err="1"/>
              <a:t>IPA+Ton</a:t>
            </a:r>
            <a:r>
              <a:rPr lang="de-DE" dirty="0"/>
              <a:t>)</a:t>
            </a:r>
          </a:p>
          <a:p>
            <a:r>
              <a:rPr lang="de-DE" dirty="0"/>
              <a:t>27 von 42 Papers vergleichen auf </a:t>
            </a:r>
            <a:r>
              <a:rPr lang="de-DE" b="1" dirty="0"/>
              <a:t>Hanzi-Ebene</a:t>
            </a:r>
            <a:r>
              <a:rPr lang="de-DE" dirty="0"/>
              <a:t> — phonetische Fehler sind unsichtbar</a:t>
            </a:r>
          </a:p>
          <a:p>
            <a:r>
              <a:rPr lang="de-DE" dirty="0"/>
              <a:t>Nur 8 Papers messen auf einer Ebene, die für Aussprache-Bewertung relevant ist</a:t>
            </a:r>
          </a:p>
          <a:p>
            <a:r>
              <a:rPr lang="de-DE" b="1" dirty="0"/>
              <a:t>Kernproblem:</a:t>
            </a:r>
            <a:r>
              <a:rPr lang="de-DE" dirty="0"/>
              <a:t> Ein Tonfehler (</a:t>
            </a:r>
            <a:r>
              <a:rPr lang="de-DE" dirty="0" err="1"/>
              <a:t>mā→má</a:t>
            </a:r>
            <a:r>
              <a:rPr lang="de-DE" dirty="0"/>
              <a:t>) erzeugt auf Hanzi-Ebene 0 % Fehler, auf </a:t>
            </a:r>
            <a:r>
              <a:rPr lang="de-DE" dirty="0" err="1"/>
              <a:t>Pinyin+Ton-Ebene</a:t>
            </a:r>
            <a:r>
              <a:rPr lang="de-DE" dirty="0"/>
              <a:t> aber einen klaren Fehler</a:t>
            </a:r>
          </a:p>
          <a:p>
            <a:endParaRPr lang="de-DE" dirty="0"/>
          </a:p>
        </p:txBody>
      </p:sp>
      <p:pic>
        <p:nvPicPr>
          <p:cNvPr id="5" name="Picture 4">
            <a:extLst>
              <a:ext uri="{FF2B5EF4-FFF2-40B4-BE49-F238E27FC236}">
                <a16:creationId xmlns:a16="http://schemas.microsoft.com/office/drawing/2014/main" id="{103C0FE1-FB07-4129-7CFD-E9302256CCDA}"/>
              </a:ext>
            </a:extLst>
          </p:cNvPr>
          <p:cNvPicPr>
            <a:picLocks noChangeAspect="1"/>
          </p:cNvPicPr>
          <p:nvPr/>
        </p:nvPicPr>
        <p:blipFill>
          <a:blip r:embed="rId3"/>
          <a:stretch>
            <a:fillRect/>
          </a:stretch>
        </p:blipFill>
        <p:spPr>
          <a:xfrm>
            <a:off x="1418470" y="4105688"/>
            <a:ext cx="9057748" cy="1982286"/>
          </a:xfrm>
          <a:prstGeom prst="rect">
            <a:avLst/>
          </a:prstGeom>
        </p:spPr>
      </p:pic>
    </p:spTree>
    <p:extLst>
      <p:ext uri="{BB962C8B-B14F-4D97-AF65-F5344CB8AC3E}">
        <p14:creationId xmlns:p14="http://schemas.microsoft.com/office/powerpoint/2010/main" val="162450898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118568-E741-2405-539D-3D754A37949B}"/>
              </a:ext>
            </a:extLst>
          </p:cNvPr>
          <p:cNvSpPr>
            <a:spLocks noGrp="1"/>
          </p:cNvSpPr>
          <p:nvPr>
            <p:ph type="title"/>
          </p:nvPr>
        </p:nvSpPr>
        <p:spPr/>
        <p:txBody>
          <a:bodyPr>
            <a:normAutofit fontScale="90000"/>
          </a:bodyPr>
          <a:lstStyle/>
          <a:p>
            <a:r>
              <a:rPr lang="de-DE" b="1" dirty="0"/>
              <a:t>Wer misst auf welcher Ebene? Übersichtskarte</a:t>
            </a:r>
            <a:br>
              <a:rPr lang="de-DE" b="1" dirty="0"/>
            </a:br>
            <a:endParaRPr lang="de-DE" dirty="0"/>
          </a:p>
        </p:txBody>
      </p:sp>
      <p:sp>
        <p:nvSpPr>
          <p:cNvPr id="5" name="Content Placeholder 4">
            <a:extLst>
              <a:ext uri="{FF2B5EF4-FFF2-40B4-BE49-F238E27FC236}">
                <a16:creationId xmlns:a16="http://schemas.microsoft.com/office/drawing/2014/main" id="{ECD59E9A-F891-EEFD-DD21-B1DF34125AAC}"/>
              </a:ext>
            </a:extLst>
          </p:cNvPr>
          <p:cNvSpPr>
            <a:spLocks noGrp="1"/>
          </p:cNvSpPr>
          <p:nvPr>
            <p:ph idx="1"/>
          </p:nvPr>
        </p:nvSpPr>
        <p:spPr/>
        <p:txBody>
          <a:bodyPr/>
          <a:lstStyle/>
          <a:p>
            <a:endParaRPr lang="de-DE"/>
          </a:p>
        </p:txBody>
      </p:sp>
      <p:pic>
        <p:nvPicPr>
          <p:cNvPr id="7" name="Picture 6">
            <a:extLst>
              <a:ext uri="{FF2B5EF4-FFF2-40B4-BE49-F238E27FC236}">
                <a16:creationId xmlns:a16="http://schemas.microsoft.com/office/drawing/2014/main" id="{DECC8BBB-7750-D2D8-8689-43FA79469567}"/>
              </a:ext>
            </a:extLst>
          </p:cNvPr>
          <p:cNvPicPr>
            <a:picLocks noChangeAspect="1"/>
          </p:cNvPicPr>
          <p:nvPr/>
        </p:nvPicPr>
        <p:blipFill>
          <a:blip r:embed="rId3"/>
          <a:stretch>
            <a:fillRect/>
          </a:stretch>
        </p:blipFill>
        <p:spPr>
          <a:xfrm>
            <a:off x="1746044" y="1603595"/>
            <a:ext cx="8699912" cy="4573368"/>
          </a:xfrm>
          <a:prstGeom prst="rect">
            <a:avLst/>
          </a:prstGeom>
        </p:spPr>
      </p:pic>
    </p:spTree>
    <p:extLst>
      <p:ext uri="{BB962C8B-B14F-4D97-AF65-F5344CB8AC3E}">
        <p14:creationId xmlns:p14="http://schemas.microsoft.com/office/powerpoint/2010/main" val="1408880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8D898F-8827-69E6-C86D-577845C66430}"/>
              </a:ext>
            </a:extLst>
          </p:cNvPr>
          <p:cNvSpPr>
            <a:spLocks noGrp="1"/>
          </p:cNvSpPr>
          <p:nvPr>
            <p:ph type="title"/>
          </p:nvPr>
        </p:nvSpPr>
        <p:spPr/>
        <p:txBody>
          <a:bodyPr>
            <a:normAutofit fontScale="90000"/>
          </a:bodyPr>
          <a:lstStyle/>
          <a:p>
            <a:br>
              <a:rPr lang="de-DE" dirty="0"/>
            </a:br>
            <a:r>
              <a:rPr lang="de-DE" dirty="0"/>
              <a:t>Referenz vs. Hypothese — die 8 phonetisch relevanten Papers im Detail</a:t>
            </a:r>
            <a:br>
              <a:rPr lang="de-DE" b="1" dirty="0"/>
            </a:br>
            <a:endParaRPr lang="de-DE" dirty="0"/>
          </a:p>
        </p:txBody>
      </p:sp>
      <p:graphicFrame>
        <p:nvGraphicFramePr>
          <p:cNvPr id="4" name="Content Placeholder 3">
            <a:extLst>
              <a:ext uri="{FF2B5EF4-FFF2-40B4-BE49-F238E27FC236}">
                <a16:creationId xmlns:a16="http://schemas.microsoft.com/office/drawing/2014/main" id="{4AA22FAB-8D1E-7BEC-AECD-C5FAAC16345E}"/>
              </a:ext>
            </a:extLst>
          </p:cNvPr>
          <p:cNvGraphicFramePr>
            <a:graphicFrameLocks noGrp="1"/>
          </p:cNvGraphicFramePr>
          <p:nvPr>
            <p:ph idx="1"/>
            <p:extLst>
              <p:ext uri="{D42A27DB-BD31-4B8C-83A1-F6EECF244321}">
                <p14:modId xmlns:p14="http://schemas.microsoft.com/office/powerpoint/2010/main" val="3427192970"/>
              </p:ext>
            </p:extLst>
          </p:nvPr>
        </p:nvGraphicFramePr>
        <p:xfrm>
          <a:off x="838200" y="1690688"/>
          <a:ext cx="10515600" cy="5044464"/>
        </p:xfrm>
        <a:graphic>
          <a:graphicData uri="http://schemas.openxmlformats.org/drawingml/2006/table">
            <a:tbl>
              <a:tblPr/>
              <a:tblGrid>
                <a:gridCol w="2103120">
                  <a:extLst>
                    <a:ext uri="{9D8B030D-6E8A-4147-A177-3AD203B41FA5}">
                      <a16:colId xmlns:a16="http://schemas.microsoft.com/office/drawing/2014/main" val="3732689531"/>
                    </a:ext>
                  </a:extLst>
                </a:gridCol>
                <a:gridCol w="2103120">
                  <a:extLst>
                    <a:ext uri="{9D8B030D-6E8A-4147-A177-3AD203B41FA5}">
                      <a16:colId xmlns:a16="http://schemas.microsoft.com/office/drawing/2014/main" val="2782562925"/>
                    </a:ext>
                  </a:extLst>
                </a:gridCol>
                <a:gridCol w="2103120">
                  <a:extLst>
                    <a:ext uri="{9D8B030D-6E8A-4147-A177-3AD203B41FA5}">
                      <a16:colId xmlns:a16="http://schemas.microsoft.com/office/drawing/2014/main" val="973743820"/>
                    </a:ext>
                  </a:extLst>
                </a:gridCol>
                <a:gridCol w="2103120">
                  <a:extLst>
                    <a:ext uri="{9D8B030D-6E8A-4147-A177-3AD203B41FA5}">
                      <a16:colId xmlns:a16="http://schemas.microsoft.com/office/drawing/2014/main" val="2678722407"/>
                    </a:ext>
                  </a:extLst>
                </a:gridCol>
                <a:gridCol w="2103120">
                  <a:extLst>
                    <a:ext uri="{9D8B030D-6E8A-4147-A177-3AD203B41FA5}">
                      <a16:colId xmlns:a16="http://schemas.microsoft.com/office/drawing/2014/main" val="3597859430"/>
                    </a:ext>
                  </a:extLst>
                </a:gridCol>
              </a:tblGrid>
              <a:tr h="450969">
                <a:tc>
                  <a:txBody>
                    <a:bodyPr/>
                    <a:lstStyle/>
                    <a:p>
                      <a:pPr algn="l">
                        <a:spcAft>
                          <a:spcPts val="1200"/>
                        </a:spcAft>
                        <a:buNone/>
                      </a:pPr>
                      <a:r>
                        <a:rPr lang="de-DE" sz="1600" b="1" i="0">
                          <a:solidFill>
                            <a:srgbClr val="1F2328"/>
                          </a:solidFill>
                          <a:effectLst/>
                          <a:latin typeface="Mona Sans VF"/>
                        </a:rPr>
                        <a:t>Paper</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1" i="0">
                          <a:solidFill>
                            <a:srgbClr val="1F2328"/>
                          </a:solidFill>
                          <a:effectLst/>
                          <a:latin typeface="Mona Sans VF"/>
                        </a:rPr>
                        <a:t>Referenz (Goldstandard)</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1" i="0">
                          <a:solidFill>
                            <a:srgbClr val="1F2328"/>
                          </a:solidFill>
                          <a:effectLst/>
                          <a:latin typeface="Mona Sans VF"/>
                        </a:rPr>
                        <a:t>Hypothese (System-Output)</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1" i="0">
                          <a:solidFill>
                            <a:srgbClr val="1F2328"/>
                          </a:solidFill>
                          <a:effectLst/>
                          <a:latin typeface="Mona Sans VF"/>
                        </a:rPr>
                        <a:t>Vergleichs-Ebene</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1" i="0">
                          <a:solidFill>
                            <a:srgbClr val="1F2328"/>
                          </a:solidFill>
                          <a:effectLst/>
                          <a:latin typeface="Mona Sans VF"/>
                        </a:rPr>
                        <a:t>Metrik</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840399248"/>
                  </a:ext>
                </a:extLst>
              </a:tr>
              <a:tr h="450969">
                <a:tc>
                  <a:txBody>
                    <a:bodyPr/>
                    <a:lstStyle/>
                    <a:p>
                      <a:pPr algn="l">
                        <a:spcAft>
                          <a:spcPts val="1200"/>
                        </a:spcAft>
                        <a:buNone/>
                      </a:pPr>
                      <a:r>
                        <a:rPr lang="de-DE" sz="1600" b="1" i="0">
                          <a:solidFill>
                            <a:srgbClr val="1F2328"/>
                          </a:solidFill>
                          <a:effectLst/>
                          <a:latin typeface="Mona Sans VF"/>
                        </a:rPr>
                        <a:t>Du Zipformer</a:t>
                      </a:r>
                      <a:r>
                        <a:rPr lang="de-DE" sz="1600" b="0" i="0">
                          <a:solidFill>
                            <a:srgbClr val="1F2328"/>
                          </a:solidFill>
                          <a:effectLst/>
                          <a:latin typeface="Mona Sans VF"/>
                        </a:rPr>
                        <a:t> (2025)</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0" i="0">
                          <a:solidFill>
                            <a:srgbClr val="1F2328"/>
                          </a:solidFill>
                          <a:effectLst/>
                          <a:latin typeface="Mona Sans VF"/>
                        </a:rPr>
                        <a:t>Phonem-Sequenzen (66 Kat.)</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0" i="0">
                          <a:solidFill>
                            <a:srgbClr val="1F2328"/>
                          </a:solidFill>
                          <a:effectLst/>
                          <a:latin typeface="Mona Sans VF"/>
                        </a:rPr>
                        <a:t>Phonem-Sequenzen</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0" i="0">
                          <a:solidFill>
                            <a:srgbClr val="1F2328"/>
                          </a:solidFill>
                          <a:effectLst/>
                          <a:latin typeface="Mona Sans VF"/>
                        </a:rPr>
                        <a:t>Phonem</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0" i="0">
                          <a:solidFill>
                            <a:srgbClr val="1F2328"/>
                          </a:solidFill>
                          <a:effectLst/>
                          <a:latin typeface="Mona Sans VF"/>
                        </a:rPr>
                        <a:t>WER (=PER)</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1235176214"/>
                  </a:ext>
                </a:extLst>
              </a:tr>
              <a:tr h="751614">
                <a:tc>
                  <a:txBody>
                    <a:bodyPr/>
                    <a:lstStyle/>
                    <a:p>
                      <a:pPr algn="l">
                        <a:spcAft>
                          <a:spcPts val="1200"/>
                        </a:spcAft>
                        <a:buNone/>
                      </a:pPr>
                      <a:r>
                        <a:rPr lang="de-DE" sz="1600" b="1" i="0">
                          <a:solidFill>
                            <a:srgbClr val="1F2328"/>
                          </a:solidFill>
                          <a:effectLst/>
                          <a:latin typeface="Mona Sans VF"/>
                        </a:rPr>
                        <a:t>Wang MDD</a:t>
                      </a:r>
                      <a:r>
                        <a:rPr lang="de-DE" sz="1600" b="0" i="0">
                          <a:solidFill>
                            <a:srgbClr val="1F2328"/>
                          </a:solidFill>
                          <a:effectLst/>
                          <a:latin typeface="Mona Sans VF"/>
                        </a:rPr>
                        <a:t> (2024)</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600" b="0" i="0">
                          <a:solidFill>
                            <a:srgbClr val="1F2328"/>
                          </a:solidFill>
                          <a:effectLst/>
                          <a:latin typeface="Mona Sans VF"/>
                        </a:rPr>
                        <a:t>Tonal-Phoneme (66 Kat., T1–T5)</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600" b="0" i="0">
                          <a:solidFill>
                            <a:srgbClr val="1F2328"/>
                          </a:solidFill>
                          <a:effectLst/>
                          <a:latin typeface="Mona Sans VF"/>
                        </a:rPr>
                        <a:t>Tonal-Phoneme</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600" b="0" i="0">
                          <a:solidFill>
                            <a:srgbClr val="1F2328"/>
                          </a:solidFill>
                          <a:effectLst/>
                          <a:latin typeface="Mona Sans VF"/>
                        </a:rPr>
                        <a:t>Phonem</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600" b="0" i="0">
                          <a:solidFill>
                            <a:srgbClr val="1F2328"/>
                          </a:solidFill>
                          <a:effectLst/>
                          <a:latin typeface="Mona Sans VF"/>
                        </a:rPr>
                        <a:t>PER, FRR, FAR, F1</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1851193134"/>
                  </a:ext>
                </a:extLst>
              </a:tr>
              <a:tr h="450969">
                <a:tc>
                  <a:txBody>
                    <a:bodyPr/>
                    <a:lstStyle/>
                    <a:p>
                      <a:pPr algn="l">
                        <a:spcAft>
                          <a:spcPts val="1200"/>
                        </a:spcAft>
                        <a:buNone/>
                      </a:pPr>
                      <a:r>
                        <a:rPr lang="de-DE" sz="1600" b="1" i="0">
                          <a:solidFill>
                            <a:srgbClr val="1F2328"/>
                          </a:solidFill>
                          <a:effectLst/>
                          <a:latin typeface="Mona Sans VF"/>
                        </a:rPr>
                        <a:t>Zhu ZIPA</a:t>
                      </a:r>
                      <a:r>
                        <a:rPr lang="de-DE" sz="1600" b="0" i="0">
                          <a:solidFill>
                            <a:srgbClr val="1F2328"/>
                          </a:solidFill>
                          <a:effectLst/>
                          <a:latin typeface="Mona Sans VF"/>
                        </a:rPr>
                        <a:t> (2025)</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0" i="0">
                          <a:solidFill>
                            <a:srgbClr val="1F2328"/>
                          </a:solidFill>
                          <a:effectLst/>
                          <a:latin typeface="Mona Sans VF"/>
                        </a:rPr>
                        <a:t>IPA-Phoneme (broad)</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0" i="0">
                          <a:solidFill>
                            <a:srgbClr val="1F2328"/>
                          </a:solidFill>
                          <a:effectLst/>
                          <a:latin typeface="Mona Sans VF"/>
                        </a:rPr>
                        <a:t>IPA-Phoneme</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0" i="0">
                          <a:solidFill>
                            <a:srgbClr val="1F2328"/>
                          </a:solidFill>
                          <a:effectLst/>
                          <a:latin typeface="Mona Sans VF"/>
                        </a:rPr>
                        <a:t>Phonem</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1" i="0">
                          <a:solidFill>
                            <a:srgbClr val="1F2328"/>
                          </a:solidFill>
                          <a:effectLst/>
                          <a:latin typeface="Mona Sans VF"/>
                        </a:rPr>
                        <a:t>PFER</a:t>
                      </a:r>
                      <a:r>
                        <a:rPr lang="de-DE" sz="1600" b="0" i="0">
                          <a:solidFill>
                            <a:srgbClr val="1F2328"/>
                          </a:solidFill>
                          <a:effectLst/>
                          <a:latin typeface="Mona Sans VF"/>
                        </a:rPr>
                        <a:t> (gewichtet)</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4077740641"/>
                  </a:ext>
                </a:extLst>
              </a:tr>
              <a:tr h="450969">
                <a:tc>
                  <a:txBody>
                    <a:bodyPr/>
                    <a:lstStyle/>
                    <a:p>
                      <a:pPr algn="l">
                        <a:spcAft>
                          <a:spcPts val="1200"/>
                        </a:spcAft>
                        <a:buNone/>
                      </a:pPr>
                      <a:r>
                        <a:rPr lang="de-DE" sz="1600" b="1" i="0">
                          <a:solidFill>
                            <a:srgbClr val="1F2328"/>
                          </a:solidFill>
                          <a:effectLst/>
                          <a:latin typeface="Mona Sans VF"/>
                        </a:rPr>
                        <a:t>Zhengjie PYG</a:t>
                      </a:r>
                      <a:r>
                        <a:rPr lang="de-DE" sz="1600" b="0" i="0">
                          <a:solidFill>
                            <a:srgbClr val="1F2328"/>
                          </a:solidFill>
                          <a:effectLst/>
                          <a:latin typeface="Mona Sans VF"/>
                        </a:rPr>
                        <a:t> (2025)</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600" b="0" i="0">
                          <a:solidFill>
                            <a:srgbClr val="1F2328"/>
                          </a:solidFill>
                          <a:effectLst/>
                          <a:latin typeface="Mona Sans VF"/>
                        </a:rPr>
                        <a:t>Pinyin (ohne Ton)</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600" b="0" i="0">
                          <a:solidFill>
                            <a:srgbClr val="1F2328"/>
                          </a:solidFill>
                          <a:effectLst/>
                          <a:latin typeface="Mona Sans VF"/>
                        </a:rPr>
                        <a:t>Pinyin + Hanzi (dual)</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600" b="0" i="0">
                          <a:solidFill>
                            <a:srgbClr val="1F2328"/>
                          </a:solidFill>
                          <a:effectLst/>
                          <a:latin typeface="Mona Sans VF"/>
                        </a:rPr>
                        <a:t>Silbe</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600" b="0" i="0">
                          <a:solidFill>
                            <a:srgbClr val="1F2328"/>
                          </a:solidFill>
                          <a:effectLst/>
                          <a:latin typeface="Mona Sans VF"/>
                        </a:rPr>
                        <a:t>Pinyin-ERR, CER</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677083596"/>
                  </a:ext>
                </a:extLst>
              </a:tr>
              <a:tr h="450969">
                <a:tc>
                  <a:txBody>
                    <a:bodyPr/>
                    <a:lstStyle/>
                    <a:p>
                      <a:pPr algn="l">
                        <a:spcAft>
                          <a:spcPts val="1200"/>
                        </a:spcAft>
                        <a:buNone/>
                      </a:pPr>
                      <a:r>
                        <a:rPr lang="de-DE" sz="1600" b="1" i="0">
                          <a:solidFill>
                            <a:srgbClr val="1F2328"/>
                          </a:solidFill>
                          <a:effectLst/>
                          <a:latin typeface="Mona Sans VF"/>
                        </a:rPr>
                        <a:t>Chen SCCM</a:t>
                      </a:r>
                      <a:r>
                        <a:rPr lang="de-DE" sz="1600" b="0" i="0">
                          <a:solidFill>
                            <a:srgbClr val="1F2328"/>
                          </a:solidFill>
                          <a:effectLst/>
                          <a:latin typeface="Mona Sans VF"/>
                        </a:rPr>
                        <a:t> (2025)</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0" i="0">
                          <a:solidFill>
                            <a:srgbClr val="1F2328"/>
                          </a:solidFill>
                          <a:effectLst/>
                          <a:latin typeface="Mona Sans VF"/>
                        </a:rPr>
                        <a:t>Pinyin (Initial+Final)</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0" i="0">
                          <a:solidFill>
                            <a:srgbClr val="1F2328"/>
                          </a:solidFill>
                          <a:effectLst/>
                          <a:latin typeface="Mona Sans VF"/>
                        </a:rPr>
                        <a:t>Pinyin + Hanzi</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0" i="0">
                          <a:solidFill>
                            <a:srgbClr val="1F2328"/>
                          </a:solidFill>
                          <a:effectLst/>
                          <a:latin typeface="Mona Sans VF"/>
                        </a:rPr>
                        <a:t>Silbe</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0" i="0">
                          <a:solidFill>
                            <a:srgbClr val="1F2328"/>
                          </a:solidFill>
                          <a:effectLst/>
                          <a:latin typeface="Mona Sans VF"/>
                        </a:rPr>
                        <a:t>CER, Pinyin-ERR</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339602634"/>
                  </a:ext>
                </a:extLst>
              </a:tr>
              <a:tr h="450969">
                <a:tc>
                  <a:txBody>
                    <a:bodyPr/>
                    <a:lstStyle/>
                    <a:p>
                      <a:pPr algn="l">
                        <a:spcAft>
                          <a:spcPts val="1200"/>
                        </a:spcAft>
                        <a:buNone/>
                      </a:pPr>
                      <a:r>
                        <a:rPr lang="de-DE" sz="1600" b="1" i="0">
                          <a:solidFill>
                            <a:srgbClr val="1F2328"/>
                          </a:solidFill>
                          <a:effectLst/>
                          <a:latin typeface="Mona Sans VF"/>
                        </a:rPr>
                        <a:t>Chirkova</a:t>
                      </a:r>
                      <a:r>
                        <a:rPr lang="de-DE" sz="1600" b="0" i="0">
                          <a:solidFill>
                            <a:srgbClr val="1F2328"/>
                          </a:solidFill>
                          <a:effectLst/>
                          <a:latin typeface="Mona Sans VF"/>
                        </a:rPr>
                        <a:t> (2025)</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600" b="0" i="0">
                          <a:solidFill>
                            <a:srgbClr val="1F2328"/>
                          </a:solidFill>
                          <a:effectLst/>
                          <a:latin typeface="Mona Sans VF"/>
                        </a:rPr>
                        <a:t>IPA + Pinyin (mit Ton)</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600" b="0" i="0">
                          <a:solidFill>
                            <a:srgbClr val="1F2328"/>
                          </a:solidFill>
                          <a:effectLst/>
                          <a:latin typeface="Mona Sans VF"/>
                        </a:rPr>
                        <a:t>IPA / Pinyin / Simple</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600" b="0" i="0">
                          <a:solidFill>
                            <a:srgbClr val="1F2328"/>
                          </a:solidFill>
                          <a:effectLst/>
                          <a:latin typeface="Mona Sans VF"/>
                        </a:rPr>
                        <a:t>Wort</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600" b="0" i="0">
                          <a:solidFill>
                            <a:srgbClr val="1F2328"/>
                          </a:solidFill>
                          <a:effectLst/>
                          <a:latin typeface="Mona Sans VF"/>
                        </a:rPr>
                        <a:t>tCER, tWER</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3449928980"/>
                  </a:ext>
                </a:extLst>
              </a:tr>
              <a:tr h="450969">
                <a:tc>
                  <a:txBody>
                    <a:bodyPr/>
                    <a:lstStyle/>
                    <a:p>
                      <a:pPr algn="l">
                        <a:spcAft>
                          <a:spcPts val="1200"/>
                        </a:spcAft>
                        <a:buNone/>
                      </a:pPr>
                      <a:r>
                        <a:rPr lang="de-DE" sz="1600" b="1" i="0">
                          <a:solidFill>
                            <a:srgbClr val="1F2328"/>
                          </a:solidFill>
                          <a:effectLst/>
                          <a:latin typeface="Mona Sans VF"/>
                        </a:rPr>
                        <a:t>Bu Siamese</a:t>
                      </a:r>
                      <a:r>
                        <a:rPr lang="de-DE" sz="1600" b="0" i="0">
                          <a:solidFill>
                            <a:srgbClr val="1F2328"/>
                          </a:solidFill>
                          <a:effectLst/>
                          <a:latin typeface="Mona Sans VF"/>
                        </a:rPr>
                        <a:t> (2025)</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0" i="0">
                          <a:solidFill>
                            <a:srgbClr val="1F2328"/>
                          </a:solidFill>
                          <a:effectLst/>
                          <a:latin typeface="Mona Sans VF"/>
                        </a:rPr>
                        <a:t>F0-Konturen (Standard-Mand.)</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0" i="0">
                          <a:solidFill>
                            <a:srgbClr val="1F2328"/>
                          </a:solidFill>
                          <a:effectLst/>
                          <a:latin typeface="Mona Sans VF"/>
                        </a:rPr>
                        <a:t>Ton-Diskrepanz-Score</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0" i="0">
                          <a:solidFill>
                            <a:srgbClr val="1F2328"/>
                          </a:solidFill>
                          <a:effectLst/>
                          <a:latin typeface="Mona Sans VF"/>
                        </a:rPr>
                        <a:t>Silbe (F0)</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0" i="0">
                          <a:solidFill>
                            <a:srgbClr val="1F2328"/>
                          </a:solidFill>
                          <a:effectLst/>
                          <a:latin typeface="Mona Sans VF"/>
                        </a:rPr>
                        <a:t>MSE, RMSE</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741846394"/>
                  </a:ext>
                </a:extLst>
              </a:tr>
              <a:tr h="751614">
                <a:tc>
                  <a:txBody>
                    <a:bodyPr/>
                    <a:lstStyle/>
                    <a:p>
                      <a:pPr algn="l">
                        <a:spcAft>
                          <a:spcPts val="1200"/>
                        </a:spcAft>
                        <a:buNone/>
                      </a:pPr>
                      <a:r>
                        <a:rPr lang="de-DE" sz="1600" b="1" i="0">
                          <a:solidFill>
                            <a:srgbClr val="1F2328"/>
                          </a:solidFill>
                          <a:effectLst/>
                          <a:latin typeface="Mona Sans VF"/>
                        </a:rPr>
                        <a:t>Wu L2 Prosody</a:t>
                      </a:r>
                      <a:r>
                        <a:rPr lang="de-DE" sz="1600" b="0" i="0">
                          <a:solidFill>
                            <a:srgbClr val="1F2328"/>
                          </a:solidFill>
                          <a:effectLst/>
                          <a:latin typeface="Mona Sans VF"/>
                        </a:rPr>
                        <a:t> (2024)</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600" b="0" i="0">
                          <a:solidFill>
                            <a:srgbClr val="1F2328"/>
                          </a:solidFill>
                          <a:effectLst/>
                          <a:latin typeface="Mona Sans VF"/>
                        </a:rPr>
                        <a:t>Human-annotierte Töne (T1–T4)</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600" b="0" i="0">
                          <a:solidFill>
                            <a:srgbClr val="1F2328"/>
                          </a:solidFill>
                          <a:effectLst/>
                          <a:latin typeface="Mona Sans VF"/>
                        </a:rPr>
                        <a:t>Automatische Engines</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600" b="0" i="0">
                          <a:solidFill>
                            <a:srgbClr val="1F2328"/>
                          </a:solidFill>
                          <a:effectLst/>
                          <a:latin typeface="Mona Sans VF"/>
                        </a:rPr>
                        <a:t>Silbe</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600" b="0" i="0" dirty="0">
                          <a:solidFill>
                            <a:srgbClr val="1F2328"/>
                          </a:solidFill>
                          <a:effectLst/>
                          <a:latin typeface="Mona Sans VF"/>
                        </a:rPr>
                        <a:t>FRR, FAR, DA</a:t>
                      </a:r>
                    </a:p>
                  </a:txBody>
                  <a:tcPr marL="99060" marR="99060" anchor="ctr">
                    <a:lnL w="7620" cap="flat" cmpd="sng" algn="ctr">
                      <a:solidFill>
                        <a:srgbClr val="D1D9E0"/>
                      </a:solidFill>
                      <a:prstDash val="solid"/>
                      <a:round/>
                      <a:headEnd type="none" w="med" len="med"/>
                      <a:tailEnd type="none" w="med" len="med"/>
                    </a:lnL>
                    <a:lnR w="7620" cap="flat" cmpd="sng" algn="ctr">
                      <a:solidFill>
                        <a:srgbClr val="D1D9E0"/>
                      </a:solidFill>
                      <a:prstDash val="solid"/>
                      <a:round/>
                      <a:headEnd type="none" w="med" len="med"/>
                      <a:tailEnd type="none" w="med" len="med"/>
                    </a:lnR>
                    <a:lnT w="7620" cap="flat" cmpd="sng" algn="ctr">
                      <a:solidFill>
                        <a:srgbClr val="D1D9E0"/>
                      </a:solidFill>
                      <a:prstDash val="solid"/>
                      <a:round/>
                      <a:headEnd type="none" w="med" len="med"/>
                      <a:tailEnd type="none" w="med" len="med"/>
                    </a:lnT>
                    <a:lnB w="7620"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3506911891"/>
                  </a:ext>
                </a:extLst>
              </a:tr>
            </a:tbl>
          </a:graphicData>
        </a:graphic>
      </p:graphicFrame>
    </p:spTree>
    <p:extLst>
      <p:ext uri="{BB962C8B-B14F-4D97-AF65-F5344CB8AC3E}">
        <p14:creationId xmlns:p14="http://schemas.microsoft.com/office/powerpoint/2010/main" val="11464743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B35F1-F532-067D-9690-DD375D74074E}"/>
              </a:ext>
            </a:extLst>
          </p:cNvPr>
          <p:cNvSpPr>
            <a:spLocks noGrp="1"/>
          </p:cNvSpPr>
          <p:nvPr>
            <p:ph type="title"/>
          </p:nvPr>
        </p:nvSpPr>
        <p:spPr/>
        <p:txBody>
          <a:bodyPr/>
          <a:lstStyle/>
          <a:p>
            <a:r>
              <a:rPr lang="de-DE" dirty="0"/>
              <a:t>Vier Strategien für Töne — und ihre Konsequenzen</a:t>
            </a:r>
          </a:p>
        </p:txBody>
      </p:sp>
      <p:sp>
        <p:nvSpPr>
          <p:cNvPr id="5" name="Content Placeholder 4">
            <a:extLst>
              <a:ext uri="{FF2B5EF4-FFF2-40B4-BE49-F238E27FC236}">
                <a16:creationId xmlns:a16="http://schemas.microsoft.com/office/drawing/2014/main" id="{9AD291B7-3ED4-E0A9-4D41-EB8E77379687}"/>
              </a:ext>
            </a:extLst>
          </p:cNvPr>
          <p:cNvSpPr>
            <a:spLocks noGrp="1"/>
          </p:cNvSpPr>
          <p:nvPr>
            <p:ph idx="1"/>
          </p:nvPr>
        </p:nvSpPr>
        <p:spPr/>
        <p:txBody>
          <a:bodyPr/>
          <a:lstStyle/>
          <a:p>
            <a:endParaRPr lang="de-DE"/>
          </a:p>
        </p:txBody>
      </p:sp>
      <p:pic>
        <p:nvPicPr>
          <p:cNvPr id="7" name="Picture 6">
            <a:extLst>
              <a:ext uri="{FF2B5EF4-FFF2-40B4-BE49-F238E27FC236}">
                <a16:creationId xmlns:a16="http://schemas.microsoft.com/office/drawing/2014/main" id="{B41765A2-8FDD-F045-7A2F-528B353D895D}"/>
              </a:ext>
            </a:extLst>
          </p:cNvPr>
          <p:cNvPicPr>
            <a:picLocks noChangeAspect="1"/>
          </p:cNvPicPr>
          <p:nvPr/>
        </p:nvPicPr>
        <p:blipFill>
          <a:blip r:embed="rId3"/>
          <a:stretch>
            <a:fillRect/>
          </a:stretch>
        </p:blipFill>
        <p:spPr>
          <a:xfrm>
            <a:off x="2595259" y="1719408"/>
            <a:ext cx="5922440" cy="4773467"/>
          </a:xfrm>
          <a:prstGeom prst="rect">
            <a:avLst/>
          </a:prstGeom>
        </p:spPr>
      </p:pic>
    </p:spTree>
    <p:extLst>
      <p:ext uri="{BB962C8B-B14F-4D97-AF65-F5344CB8AC3E}">
        <p14:creationId xmlns:p14="http://schemas.microsoft.com/office/powerpoint/2010/main" val="314533104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23B5CA-85A8-2D7B-875D-CB83F0F1830A}"/>
              </a:ext>
            </a:extLst>
          </p:cNvPr>
          <p:cNvSpPr>
            <a:spLocks noGrp="1"/>
          </p:cNvSpPr>
          <p:nvPr>
            <p:ph type="title"/>
          </p:nvPr>
        </p:nvSpPr>
        <p:spPr/>
        <p:txBody>
          <a:bodyPr/>
          <a:lstStyle/>
          <a:p>
            <a:r>
              <a:rPr lang="de-DE" dirty="0"/>
              <a:t>Wie wird gerechnet? — Von </a:t>
            </a:r>
            <a:r>
              <a:rPr lang="de-DE" dirty="0" err="1"/>
              <a:t>Levenshtein</a:t>
            </a:r>
            <a:r>
              <a:rPr lang="de-DE" dirty="0"/>
              <a:t> bis Feature-Distanz</a:t>
            </a:r>
          </a:p>
        </p:txBody>
      </p:sp>
      <p:sp>
        <p:nvSpPr>
          <p:cNvPr id="5" name="Content Placeholder 4">
            <a:extLst>
              <a:ext uri="{FF2B5EF4-FFF2-40B4-BE49-F238E27FC236}">
                <a16:creationId xmlns:a16="http://schemas.microsoft.com/office/drawing/2014/main" id="{1667C6AB-0774-80D5-C4D7-DEF1EC67B114}"/>
              </a:ext>
            </a:extLst>
          </p:cNvPr>
          <p:cNvSpPr>
            <a:spLocks noGrp="1"/>
          </p:cNvSpPr>
          <p:nvPr>
            <p:ph idx="1"/>
          </p:nvPr>
        </p:nvSpPr>
        <p:spPr/>
        <p:txBody>
          <a:bodyPr/>
          <a:lstStyle/>
          <a:p>
            <a:endParaRPr lang="de-DE"/>
          </a:p>
        </p:txBody>
      </p:sp>
      <p:pic>
        <p:nvPicPr>
          <p:cNvPr id="7" name="Picture 6">
            <a:extLst>
              <a:ext uri="{FF2B5EF4-FFF2-40B4-BE49-F238E27FC236}">
                <a16:creationId xmlns:a16="http://schemas.microsoft.com/office/drawing/2014/main" id="{16A9FDDF-D505-7B96-1C4B-14DFE01A229A}"/>
              </a:ext>
            </a:extLst>
          </p:cNvPr>
          <p:cNvPicPr>
            <a:picLocks noChangeAspect="1"/>
          </p:cNvPicPr>
          <p:nvPr/>
        </p:nvPicPr>
        <p:blipFill>
          <a:blip r:embed="rId3"/>
          <a:stretch>
            <a:fillRect/>
          </a:stretch>
        </p:blipFill>
        <p:spPr>
          <a:xfrm>
            <a:off x="3475844" y="1825625"/>
            <a:ext cx="4138019" cy="4747671"/>
          </a:xfrm>
          <a:prstGeom prst="rect">
            <a:avLst/>
          </a:prstGeom>
        </p:spPr>
      </p:pic>
    </p:spTree>
    <p:extLst>
      <p:ext uri="{BB962C8B-B14F-4D97-AF65-F5344CB8AC3E}">
        <p14:creationId xmlns:p14="http://schemas.microsoft.com/office/powerpoint/2010/main" val="5194438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90A872-26DA-7300-030F-9360457D8036}"/>
              </a:ext>
            </a:extLst>
          </p:cNvPr>
          <p:cNvSpPr>
            <a:spLocks noGrp="1"/>
          </p:cNvSpPr>
          <p:nvPr>
            <p:ph type="title"/>
          </p:nvPr>
        </p:nvSpPr>
        <p:spPr/>
        <p:txBody>
          <a:bodyPr/>
          <a:lstStyle/>
          <a:p>
            <a:r>
              <a:rPr lang="de-DE" dirty="0"/>
              <a:t> 41 von 42 Papers: Jeder Fehler kostet genau 1</a:t>
            </a:r>
          </a:p>
        </p:txBody>
      </p:sp>
      <p:sp>
        <p:nvSpPr>
          <p:cNvPr id="3" name="Content Placeholder 2">
            <a:extLst>
              <a:ext uri="{FF2B5EF4-FFF2-40B4-BE49-F238E27FC236}">
                <a16:creationId xmlns:a16="http://schemas.microsoft.com/office/drawing/2014/main" id="{476A3ED8-C008-E28F-1103-9625FFB1CFA9}"/>
              </a:ext>
            </a:extLst>
          </p:cNvPr>
          <p:cNvSpPr>
            <a:spLocks noGrp="1"/>
          </p:cNvSpPr>
          <p:nvPr>
            <p:ph idx="1"/>
          </p:nvPr>
        </p:nvSpPr>
        <p:spPr>
          <a:xfrm>
            <a:off x="838201" y="1825625"/>
            <a:ext cx="6527104" cy="4351338"/>
          </a:xfrm>
        </p:spPr>
        <p:txBody>
          <a:bodyPr>
            <a:normAutofit/>
          </a:bodyPr>
          <a:lstStyle/>
          <a:p>
            <a:r>
              <a:rPr lang="de-DE" b="1" dirty="0" err="1"/>
              <a:t>Bullets</a:t>
            </a:r>
            <a:r>
              <a:rPr lang="de-DE" b="1" dirty="0"/>
              <a:t>:</a:t>
            </a:r>
            <a:endParaRPr lang="de-DE" dirty="0"/>
          </a:p>
          <a:p>
            <a:r>
              <a:rPr lang="de-DE" b="1" dirty="0"/>
              <a:t>Standard (41 Papers):</a:t>
            </a:r>
            <a:r>
              <a:rPr lang="de-DE" dirty="0"/>
              <a:t> Alle Substitutionen, Deletionen, Insertionen kosten gleich viel</a:t>
            </a:r>
          </a:p>
          <a:p>
            <a:r>
              <a:rPr lang="de-DE" b="1" dirty="0"/>
              <a:t>Einzige Ausnahme:</a:t>
            </a:r>
            <a:r>
              <a:rPr lang="de-DE" dirty="0"/>
              <a:t> Zhu ZIPA — PFER gewichtet nach phonetischer Feature-Distanz (24 Merkmale)</a:t>
            </a:r>
          </a:p>
          <a:p>
            <a:r>
              <a:rPr lang="de-DE" b="1" dirty="0"/>
              <a:t>Partielle Ausnahme:</a:t>
            </a:r>
            <a:r>
              <a:rPr lang="de-DE" dirty="0"/>
              <a:t> Seed-ASR — WWER gewichtet Keyword-Fehler stärker (aber nicht phonetisch)</a:t>
            </a:r>
          </a:p>
          <a:p>
            <a:endParaRPr lang="de-DE" dirty="0"/>
          </a:p>
        </p:txBody>
      </p:sp>
      <p:pic>
        <p:nvPicPr>
          <p:cNvPr id="5" name="Picture 4">
            <a:extLst>
              <a:ext uri="{FF2B5EF4-FFF2-40B4-BE49-F238E27FC236}">
                <a16:creationId xmlns:a16="http://schemas.microsoft.com/office/drawing/2014/main" id="{A95B8345-B9DB-86F2-C14C-B71C240E6975}"/>
              </a:ext>
            </a:extLst>
          </p:cNvPr>
          <p:cNvPicPr>
            <a:picLocks noChangeAspect="1"/>
          </p:cNvPicPr>
          <p:nvPr/>
        </p:nvPicPr>
        <p:blipFill>
          <a:blip r:embed="rId3"/>
          <a:stretch>
            <a:fillRect/>
          </a:stretch>
        </p:blipFill>
        <p:spPr>
          <a:xfrm>
            <a:off x="7252883" y="2154506"/>
            <a:ext cx="4801016" cy="3319368"/>
          </a:xfrm>
          <a:prstGeom prst="rect">
            <a:avLst/>
          </a:prstGeom>
        </p:spPr>
      </p:pic>
    </p:spTree>
    <p:extLst>
      <p:ext uri="{BB962C8B-B14F-4D97-AF65-F5344CB8AC3E}">
        <p14:creationId xmlns:p14="http://schemas.microsoft.com/office/powerpoint/2010/main" val="256835054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D7154A-FB9B-D859-677B-142A6009F266}"/>
              </a:ext>
            </a:extLst>
          </p:cNvPr>
          <p:cNvSpPr>
            <a:spLocks noGrp="1"/>
          </p:cNvSpPr>
          <p:nvPr>
            <p:ph type="title"/>
          </p:nvPr>
        </p:nvSpPr>
        <p:spPr/>
        <p:txBody>
          <a:bodyPr/>
          <a:lstStyle/>
          <a:p>
            <a:r>
              <a:rPr lang="de-DE" dirty="0"/>
              <a:t>Gewichtete Ton-Fehler? — Niemand.</a:t>
            </a:r>
          </a:p>
        </p:txBody>
      </p:sp>
      <p:sp>
        <p:nvSpPr>
          <p:cNvPr id="3" name="Content Placeholder 2">
            <a:extLst>
              <a:ext uri="{FF2B5EF4-FFF2-40B4-BE49-F238E27FC236}">
                <a16:creationId xmlns:a16="http://schemas.microsoft.com/office/drawing/2014/main" id="{C3931047-EE28-E12B-2852-C8F4C3AE624E}"/>
              </a:ext>
            </a:extLst>
          </p:cNvPr>
          <p:cNvSpPr>
            <a:spLocks noGrp="1"/>
          </p:cNvSpPr>
          <p:nvPr>
            <p:ph idx="1"/>
          </p:nvPr>
        </p:nvSpPr>
        <p:spPr>
          <a:xfrm>
            <a:off x="838200" y="5636711"/>
            <a:ext cx="10515600" cy="540251"/>
          </a:xfrm>
        </p:spPr>
        <p:txBody>
          <a:bodyPr>
            <a:normAutofit fontScale="70000" lnSpcReduction="20000"/>
          </a:bodyPr>
          <a:lstStyle/>
          <a:p>
            <a:pPr marL="0" indent="0">
              <a:buNone/>
            </a:pPr>
            <a:r>
              <a:rPr lang="de-DE" i="1" dirty="0"/>
              <a:t>"</a:t>
            </a:r>
            <a:r>
              <a:rPr lang="de-DE" i="1" dirty="0" err="1"/>
              <a:t>Confusion</a:t>
            </a:r>
            <a:r>
              <a:rPr lang="de-DE" i="1" dirty="0"/>
              <a:t> </a:t>
            </a:r>
            <a:r>
              <a:rPr lang="de-DE" i="1" dirty="0" err="1"/>
              <a:t>matrices</a:t>
            </a:r>
            <a:r>
              <a:rPr lang="de-DE" i="1" dirty="0"/>
              <a:t> </a:t>
            </a:r>
            <a:r>
              <a:rPr lang="de-DE" i="1" dirty="0" err="1"/>
              <a:t>consistently</a:t>
            </a:r>
            <a:r>
              <a:rPr lang="de-DE" i="1" dirty="0"/>
              <a:t> </a:t>
            </a:r>
            <a:r>
              <a:rPr lang="de-DE" i="1" dirty="0" err="1"/>
              <a:t>reveal</a:t>
            </a:r>
            <a:r>
              <a:rPr lang="de-DE" i="1" dirty="0"/>
              <a:t> Tone 3 </a:t>
            </a:r>
            <a:r>
              <a:rPr lang="de-DE" i="1" dirty="0" err="1"/>
              <a:t>as</a:t>
            </a:r>
            <a:r>
              <a:rPr lang="de-DE" i="1" dirty="0"/>
              <a:t> </a:t>
            </a:r>
            <a:r>
              <a:rPr lang="de-DE" i="1" dirty="0" err="1"/>
              <a:t>the</a:t>
            </a:r>
            <a:r>
              <a:rPr lang="de-DE" i="1" dirty="0"/>
              <a:t> </a:t>
            </a:r>
            <a:r>
              <a:rPr lang="de-DE" i="1" dirty="0" err="1"/>
              <a:t>most</a:t>
            </a:r>
            <a:r>
              <a:rPr lang="de-DE" i="1" dirty="0"/>
              <a:t> </a:t>
            </a:r>
            <a:r>
              <a:rPr lang="de-DE" i="1" dirty="0" err="1"/>
              <a:t>error-prone</a:t>
            </a:r>
            <a:r>
              <a:rPr lang="de-DE" i="1" dirty="0"/>
              <a:t> </a:t>
            </a:r>
            <a:r>
              <a:rPr lang="de-DE" i="1" dirty="0" err="1"/>
              <a:t>category</a:t>
            </a:r>
            <a:r>
              <a:rPr lang="de-DE" i="1" dirty="0"/>
              <a:t>"</a:t>
            </a:r>
            <a:r>
              <a:rPr lang="de-DE" dirty="0"/>
              <a:t> — Zou et al. (2025), S. 10</a:t>
            </a:r>
          </a:p>
        </p:txBody>
      </p:sp>
      <p:pic>
        <p:nvPicPr>
          <p:cNvPr id="5" name="Picture 4">
            <a:extLst>
              <a:ext uri="{FF2B5EF4-FFF2-40B4-BE49-F238E27FC236}">
                <a16:creationId xmlns:a16="http://schemas.microsoft.com/office/drawing/2014/main" id="{9BBF4FC7-789D-F6C5-234F-9EE2F62C0E9B}"/>
              </a:ext>
            </a:extLst>
          </p:cNvPr>
          <p:cNvPicPr>
            <a:picLocks noChangeAspect="1"/>
          </p:cNvPicPr>
          <p:nvPr/>
        </p:nvPicPr>
        <p:blipFill>
          <a:blip r:embed="rId3"/>
          <a:stretch>
            <a:fillRect/>
          </a:stretch>
        </p:blipFill>
        <p:spPr>
          <a:xfrm>
            <a:off x="2727044" y="1518618"/>
            <a:ext cx="5710823" cy="3820764"/>
          </a:xfrm>
          <a:prstGeom prst="rect">
            <a:avLst/>
          </a:prstGeom>
        </p:spPr>
      </p:pic>
    </p:spTree>
    <p:extLst>
      <p:ext uri="{BB962C8B-B14F-4D97-AF65-F5344CB8AC3E}">
        <p14:creationId xmlns:p14="http://schemas.microsoft.com/office/powerpoint/2010/main" val="155488863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3C63A4-9B56-EC6D-1E86-2BF7B342D824}"/>
              </a:ext>
            </a:extLst>
          </p:cNvPr>
          <p:cNvSpPr>
            <a:spLocks noGrp="1"/>
          </p:cNvSpPr>
          <p:nvPr>
            <p:ph type="title"/>
          </p:nvPr>
        </p:nvSpPr>
        <p:spPr/>
        <p:txBody>
          <a:bodyPr/>
          <a:lstStyle/>
          <a:p>
            <a:r>
              <a:rPr lang="de-DE" dirty="0"/>
              <a:t>Unser Ansatz — Segment und Ton entkoppelt, fair gewichtet</a:t>
            </a:r>
          </a:p>
        </p:txBody>
      </p:sp>
      <p:sp>
        <p:nvSpPr>
          <p:cNvPr id="3" name="Content Placeholder 2">
            <a:extLst>
              <a:ext uri="{FF2B5EF4-FFF2-40B4-BE49-F238E27FC236}">
                <a16:creationId xmlns:a16="http://schemas.microsoft.com/office/drawing/2014/main" id="{D110B870-1C37-A606-3C6D-83B03A3A1F8C}"/>
              </a:ext>
            </a:extLst>
          </p:cNvPr>
          <p:cNvSpPr>
            <a:spLocks noGrp="1"/>
          </p:cNvSpPr>
          <p:nvPr>
            <p:ph idx="1"/>
          </p:nvPr>
        </p:nvSpPr>
        <p:spPr>
          <a:xfrm>
            <a:off x="838200" y="1825625"/>
            <a:ext cx="6827729" cy="4351338"/>
          </a:xfrm>
        </p:spPr>
        <p:txBody>
          <a:bodyPr/>
          <a:lstStyle/>
          <a:p>
            <a:r>
              <a:rPr lang="de-DE" b="1" dirty="0"/>
              <a:t>Achse 1 (Segment):</a:t>
            </a:r>
            <a:r>
              <a:rPr lang="de-DE" dirty="0"/>
              <a:t> Sind </a:t>
            </a:r>
            <a:r>
              <a:rPr lang="de-DE" dirty="0" err="1"/>
              <a:t>Konsonant+Vokal</a:t>
            </a:r>
            <a:r>
              <a:rPr lang="de-DE" dirty="0"/>
              <a:t> korrekt? → </a:t>
            </a:r>
            <a:r>
              <a:rPr lang="de-DE" dirty="0" err="1"/>
              <a:t>Syllable</a:t>
            </a:r>
            <a:r>
              <a:rPr lang="de-DE" dirty="0"/>
              <a:t> Error Rate oder PER (segmental)</a:t>
            </a:r>
          </a:p>
          <a:p>
            <a:r>
              <a:rPr lang="de-DE" b="1" dirty="0"/>
              <a:t>Achse 2 (Ton):</a:t>
            </a:r>
            <a:r>
              <a:rPr lang="de-DE" dirty="0"/>
              <a:t> Ist der Ton korrekt? → TER + per-Ton-F1 + </a:t>
            </a:r>
            <a:r>
              <a:rPr lang="de-DE" dirty="0" err="1"/>
              <a:t>Confusion</a:t>
            </a:r>
            <a:r>
              <a:rPr lang="de-DE" dirty="0"/>
              <a:t> Matrix</a:t>
            </a:r>
          </a:p>
          <a:p>
            <a:r>
              <a:rPr lang="de-DE" b="1" dirty="0"/>
              <a:t>Kombiniert:</a:t>
            </a:r>
            <a:r>
              <a:rPr lang="de-DE" dirty="0"/>
              <a:t> Beides korrekt? → </a:t>
            </a:r>
            <a:r>
              <a:rPr lang="de-DE" dirty="0" err="1"/>
              <a:t>Combined</a:t>
            </a:r>
            <a:r>
              <a:rPr lang="de-DE" dirty="0"/>
              <a:t> </a:t>
            </a:r>
            <a:r>
              <a:rPr lang="de-DE" dirty="0" err="1"/>
              <a:t>Accuracy</a:t>
            </a:r>
            <a:endParaRPr lang="de-DE" dirty="0"/>
          </a:p>
          <a:p>
            <a:r>
              <a:rPr lang="de-DE" b="1" dirty="0"/>
              <a:t>Neu im LLM-Kontext:</a:t>
            </a:r>
            <a:r>
              <a:rPr lang="de-DE" dirty="0"/>
              <a:t> Diese Entkopplung wurde für multimodale </a:t>
            </a:r>
            <a:r>
              <a:rPr lang="de-DE" dirty="0" err="1"/>
              <a:t>Foundation</a:t>
            </a:r>
            <a:r>
              <a:rPr lang="de-DE" dirty="0"/>
              <a:t> Models noch nie durchgeführt</a:t>
            </a:r>
          </a:p>
          <a:p>
            <a:endParaRPr lang="de-DE" dirty="0"/>
          </a:p>
        </p:txBody>
      </p:sp>
      <p:pic>
        <p:nvPicPr>
          <p:cNvPr id="5" name="Picture 4">
            <a:extLst>
              <a:ext uri="{FF2B5EF4-FFF2-40B4-BE49-F238E27FC236}">
                <a16:creationId xmlns:a16="http://schemas.microsoft.com/office/drawing/2014/main" id="{854CE798-C20F-6940-F01B-DCB77540295E}"/>
              </a:ext>
            </a:extLst>
          </p:cNvPr>
          <p:cNvPicPr>
            <a:picLocks noChangeAspect="1"/>
          </p:cNvPicPr>
          <p:nvPr/>
        </p:nvPicPr>
        <p:blipFill>
          <a:blip r:embed="rId3"/>
          <a:stretch>
            <a:fillRect/>
          </a:stretch>
        </p:blipFill>
        <p:spPr>
          <a:xfrm>
            <a:off x="7596663" y="1825625"/>
            <a:ext cx="4595337" cy="4351338"/>
          </a:xfrm>
          <a:prstGeom prst="rect">
            <a:avLst/>
          </a:prstGeom>
        </p:spPr>
      </p:pic>
    </p:spTree>
    <p:extLst>
      <p:ext uri="{BB962C8B-B14F-4D97-AF65-F5344CB8AC3E}">
        <p14:creationId xmlns:p14="http://schemas.microsoft.com/office/powerpoint/2010/main" val="322267197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13FCB3-F642-5B57-FC62-BDF1487F86B0}"/>
              </a:ext>
            </a:extLst>
          </p:cNvPr>
          <p:cNvSpPr>
            <a:spLocks noGrp="1"/>
          </p:cNvSpPr>
          <p:nvPr>
            <p:ph type="title"/>
          </p:nvPr>
        </p:nvSpPr>
        <p:spPr/>
        <p:txBody>
          <a:bodyPr/>
          <a:lstStyle/>
          <a:p>
            <a:r>
              <a:rPr lang="de-DE" dirty="0"/>
              <a:t>Drei Token-Definitionen für Mandarin — mit verschiedenen Ergebnissen</a:t>
            </a:r>
          </a:p>
        </p:txBody>
      </p:sp>
      <p:sp>
        <p:nvSpPr>
          <p:cNvPr id="3" name="Content Placeholder 2">
            <a:extLst>
              <a:ext uri="{FF2B5EF4-FFF2-40B4-BE49-F238E27FC236}">
                <a16:creationId xmlns:a16="http://schemas.microsoft.com/office/drawing/2014/main" id="{2F17C570-8428-59C7-3680-9C7FF26E3368}"/>
              </a:ext>
            </a:extLst>
          </p:cNvPr>
          <p:cNvSpPr>
            <a:spLocks noGrp="1"/>
          </p:cNvSpPr>
          <p:nvPr>
            <p:ph idx="1"/>
          </p:nvPr>
        </p:nvSpPr>
        <p:spPr>
          <a:xfrm>
            <a:off x="838200" y="1825625"/>
            <a:ext cx="6652364" cy="4351338"/>
          </a:xfrm>
        </p:spPr>
        <p:txBody>
          <a:bodyPr>
            <a:normAutofit fontScale="92500"/>
          </a:bodyPr>
          <a:lstStyle/>
          <a:p>
            <a:r>
              <a:rPr lang="de-DE" dirty="0"/>
              <a:t>Gleicher Fehler (Ton 3→2 bei „</a:t>
            </a:r>
            <a:r>
              <a:rPr lang="de-DE" dirty="0" err="1"/>
              <a:t>nao</a:t>
            </a:r>
            <a:r>
              <a:rPr lang="de-DE" dirty="0"/>
              <a:t>"), </a:t>
            </a:r>
            <a:r>
              <a:rPr lang="de-DE" b="1" dirty="0"/>
              <a:t>drei verschiedene Fehlerraten</a:t>
            </a:r>
            <a:r>
              <a:rPr lang="de-DE" dirty="0"/>
              <a:t>: 50%, 25%, 11%</a:t>
            </a:r>
          </a:p>
          <a:p>
            <a:r>
              <a:rPr lang="de-DE" b="1" dirty="0"/>
              <a:t>Wang MDD</a:t>
            </a:r>
            <a:r>
              <a:rPr lang="de-DE" dirty="0"/>
              <a:t> nutzt Definition B mit 66 tonal </a:t>
            </a:r>
            <a:r>
              <a:rPr lang="de-DE" dirty="0" err="1"/>
              <a:t>phonemes</a:t>
            </a:r>
            <a:r>
              <a:rPr lang="de-DE" dirty="0"/>
              <a:t>: </a:t>
            </a:r>
            <a:r>
              <a:rPr lang="de-DE" i="1" dirty="0"/>
              <a:t>"initial </a:t>
            </a:r>
            <a:r>
              <a:rPr lang="de-DE" i="1" dirty="0" err="1"/>
              <a:t>consonant</a:t>
            </a:r>
            <a:r>
              <a:rPr lang="de-DE" i="1" dirty="0"/>
              <a:t> </a:t>
            </a:r>
            <a:r>
              <a:rPr lang="de-DE" i="1" dirty="0" err="1"/>
              <a:t>sounds</a:t>
            </a:r>
            <a:r>
              <a:rPr lang="de-DE" i="1" dirty="0"/>
              <a:t>, final </a:t>
            </a:r>
            <a:r>
              <a:rPr lang="de-DE" i="1" dirty="0" err="1"/>
              <a:t>vowel</a:t>
            </a:r>
            <a:r>
              <a:rPr lang="de-DE" i="1" dirty="0"/>
              <a:t> </a:t>
            </a:r>
            <a:r>
              <a:rPr lang="de-DE" i="1" dirty="0" err="1"/>
              <a:t>sounds</a:t>
            </a:r>
            <a:r>
              <a:rPr lang="de-DE" i="1" dirty="0"/>
              <a:t>, and </a:t>
            </a:r>
            <a:r>
              <a:rPr lang="de-DE" i="1" dirty="0" err="1"/>
              <a:t>tones</a:t>
            </a:r>
            <a:r>
              <a:rPr lang="de-DE" i="1" dirty="0"/>
              <a:t>"</a:t>
            </a:r>
            <a:endParaRPr lang="de-DE" dirty="0"/>
          </a:p>
          <a:p>
            <a:r>
              <a:rPr lang="de-DE" b="1" dirty="0"/>
              <a:t>Du </a:t>
            </a:r>
            <a:r>
              <a:rPr lang="de-DE" b="1" dirty="0" err="1"/>
              <a:t>Zipformer</a:t>
            </a:r>
            <a:r>
              <a:rPr lang="de-DE" dirty="0"/>
              <a:t> nutzt ebenfalls 66 Phoneme auf Phonem-Ebene</a:t>
            </a:r>
          </a:p>
          <a:p>
            <a:r>
              <a:rPr lang="de-DE" b="1" dirty="0"/>
              <a:t>Unsere Wahl:</a:t>
            </a:r>
            <a:r>
              <a:rPr lang="de-DE" dirty="0"/>
              <a:t> Definition A (tonal </a:t>
            </a:r>
            <a:r>
              <a:rPr lang="de-DE" dirty="0" err="1"/>
              <a:t>syllable</a:t>
            </a:r>
            <a:r>
              <a:rPr lang="de-DE" dirty="0"/>
              <a:t>) — weil Tone Perfect silbenbasiert ist und jede Silbe exakt einen Ton hat</a:t>
            </a:r>
          </a:p>
          <a:p>
            <a:endParaRPr lang="de-DE" dirty="0"/>
          </a:p>
        </p:txBody>
      </p:sp>
      <p:pic>
        <p:nvPicPr>
          <p:cNvPr id="7" name="Picture 6">
            <a:extLst>
              <a:ext uri="{FF2B5EF4-FFF2-40B4-BE49-F238E27FC236}">
                <a16:creationId xmlns:a16="http://schemas.microsoft.com/office/drawing/2014/main" id="{CEFCE7CA-9A02-21E1-9A6E-7517BD49372A}"/>
              </a:ext>
            </a:extLst>
          </p:cNvPr>
          <p:cNvPicPr>
            <a:picLocks noChangeAspect="1"/>
          </p:cNvPicPr>
          <p:nvPr/>
        </p:nvPicPr>
        <p:blipFill>
          <a:blip r:embed="rId3"/>
          <a:stretch>
            <a:fillRect/>
          </a:stretch>
        </p:blipFill>
        <p:spPr>
          <a:xfrm>
            <a:off x="7267833" y="2038567"/>
            <a:ext cx="4924167" cy="3447833"/>
          </a:xfrm>
          <a:prstGeom prst="rect">
            <a:avLst/>
          </a:prstGeom>
        </p:spPr>
      </p:pic>
    </p:spTree>
    <p:extLst>
      <p:ext uri="{BB962C8B-B14F-4D97-AF65-F5344CB8AC3E}">
        <p14:creationId xmlns:p14="http://schemas.microsoft.com/office/powerpoint/2010/main" val="39853151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12E5B0-C83E-2FDF-6089-77BB2323C238}"/>
              </a:ext>
            </a:extLst>
          </p:cNvPr>
          <p:cNvSpPr>
            <a:spLocks noGrp="1"/>
          </p:cNvSpPr>
          <p:nvPr>
            <p:ph type="title"/>
          </p:nvPr>
        </p:nvSpPr>
        <p:spPr/>
        <p:txBody>
          <a:bodyPr/>
          <a:lstStyle/>
          <a:p>
            <a:r>
              <a:rPr lang="de-DE" dirty="0"/>
              <a:t>Was existiert, was fehlt — und was wir beitragen</a:t>
            </a:r>
          </a:p>
        </p:txBody>
      </p:sp>
      <p:graphicFrame>
        <p:nvGraphicFramePr>
          <p:cNvPr id="4" name="Content Placeholder 3">
            <a:extLst>
              <a:ext uri="{FF2B5EF4-FFF2-40B4-BE49-F238E27FC236}">
                <a16:creationId xmlns:a16="http://schemas.microsoft.com/office/drawing/2014/main" id="{7B773326-15A6-BD76-4CED-A5E1F0BA9861}"/>
              </a:ext>
            </a:extLst>
          </p:cNvPr>
          <p:cNvGraphicFramePr>
            <a:graphicFrameLocks noGrp="1"/>
          </p:cNvGraphicFramePr>
          <p:nvPr>
            <p:ph idx="1"/>
            <p:extLst>
              <p:ext uri="{D42A27DB-BD31-4B8C-83A1-F6EECF244321}">
                <p14:modId xmlns:p14="http://schemas.microsoft.com/office/powerpoint/2010/main" val="2659281055"/>
              </p:ext>
            </p:extLst>
          </p:nvPr>
        </p:nvGraphicFramePr>
        <p:xfrm>
          <a:off x="838200" y="1690688"/>
          <a:ext cx="10515600" cy="3682210"/>
        </p:xfrm>
        <a:graphic>
          <a:graphicData uri="http://schemas.openxmlformats.org/drawingml/2006/table">
            <a:tbl>
              <a:tblPr/>
              <a:tblGrid>
                <a:gridCol w="2628900">
                  <a:extLst>
                    <a:ext uri="{9D8B030D-6E8A-4147-A177-3AD203B41FA5}">
                      <a16:colId xmlns:a16="http://schemas.microsoft.com/office/drawing/2014/main" val="3106031275"/>
                    </a:ext>
                  </a:extLst>
                </a:gridCol>
                <a:gridCol w="2628900">
                  <a:extLst>
                    <a:ext uri="{9D8B030D-6E8A-4147-A177-3AD203B41FA5}">
                      <a16:colId xmlns:a16="http://schemas.microsoft.com/office/drawing/2014/main" val="2681998223"/>
                    </a:ext>
                  </a:extLst>
                </a:gridCol>
                <a:gridCol w="2628900">
                  <a:extLst>
                    <a:ext uri="{9D8B030D-6E8A-4147-A177-3AD203B41FA5}">
                      <a16:colId xmlns:a16="http://schemas.microsoft.com/office/drawing/2014/main" val="3732326774"/>
                    </a:ext>
                  </a:extLst>
                </a:gridCol>
                <a:gridCol w="2628900">
                  <a:extLst>
                    <a:ext uri="{9D8B030D-6E8A-4147-A177-3AD203B41FA5}">
                      <a16:colId xmlns:a16="http://schemas.microsoft.com/office/drawing/2014/main" val="1213691757"/>
                    </a:ext>
                  </a:extLst>
                </a:gridCol>
              </a:tblGrid>
              <a:tr h="368221">
                <a:tc>
                  <a:txBody>
                    <a:bodyPr/>
                    <a:lstStyle/>
                    <a:p>
                      <a:pPr algn="l">
                        <a:spcAft>
                          <a:spcPts val="1200"/>
                        </a:spcAft>
                        <a:buNone/>
                      </a:pPr>
                      <a:r>
                        <a:rPr lang="de-DE" sz="1400" b="1" i="0">
                          <a:solidFill>
                            <a:srgbClr val="1F2328"/>
                          </a:solidFill>
                          <a:effectLst/>
                          <a:latin typeface="Mona Sans VF"/>
                        </a:rPr>
                        <a:t>Eigenschaft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400" b="1" i="0">
                          <a:solidFill>
                            <a:srgbClr val="1F2328"/>
                          </a:solidFill>
                          <a:effectLst/>
                          <a:latin typeface="Mona Sans VF"/>
                        </a:rPr>
                        <a:t>Existiert?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400" b="1" i="0">
                          <a:solidFill>
                            <a:srgbClr val="1F2328"/>
                          </a:solidFill>
                          <a:effectLst/>
                          <a:latin typeface="Mona Sans VF"/>
                        </a:rPr>
                        <a:t>Wer?</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400" b="1" i="0">
                          <a:solidFill>
                            <a:srgbClr val="1F2328"/>
                          </a:solidFill>
                          <a:effectLst/>
                          <a:latin typeface="Mona Sans VF"/>
                        </a:rPr>
                        <a:t>Unser Beitrag</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2404168109"/>
                  </a:ext>
                </a:extLst>
              </a:tr>
              <a:tr h="368221">
                <a:tc>
                  <a:txBody>
                    <a:bodyPr/>
                    <a:lstStyle/>
                    <a:p>
                      <a:pPr algn="l">
                        <a:spcAft>
                          <a:spcPts val="1200"/>
                        </a:spcAft>
                        <a:buNone/>
                      </a:pPr>
                      <a:r>
                        <a:rPr lang="de-DE" sz="1400" b="0" i="0">
                          <a:solidFill>
                            <a:srgbClr val="1F2328"/>
                          </a:solidFill>
                          <a:effectLst/>
                          <a:latin typeface="Mona Sans VF"/>
                        </a:rPr>
                        <a:t>CER/WER auf Hanzi</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400" b="0" i="0">
                          <a:solidFill>
                            <a:srgbClr val="1F2328"/>
                          </a:solidFill>
                          <a:effectLst/>
                          <a:latin typeface="Mona Sans VF"/>
                        </a:rPr>
                        <a:t>✅ Standard (27 Papers)</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400" b="0" i="0">
                          <a:solidFill>
                            <a:srgbClr val="1F2328"/>
                          </a:solidFill>
                          <a:effectLst/>
                          <a:latin typeface="Mona Sans VF"/>
                        </a:rPr>
                        <a:t>Seed, FireRed, Kimi, Qwen3, ...</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400" b="0" i="0">
                          <a:solidFill>
                            <a:srgbClr val="1F2328"/>
                          </a:solidFill>
                          <a:effectLst/>
                          <a:latin typeface="Mona Sans VF"/>
                        </a:rPr>
                        <a:t>nur Vergleichsanker</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492838705"/>
                  </a:ext>
                </a:extLst>
              </a:tr>
              <a:tr h="368221">
                <a:tc>
                  <a:txBody>
                    <a:bodyPr/>
                    <a:lstStyle/>
                    <a:p>
                      <a:pPr algn="l">
                        <a:spcAft>
                          <a:spcPts val="1200"/>
                        </a:spcAft>
                        <a:buNone/>
                      </a:pPr>
                      <a:r>
                        <a:rPr lang="de-DE" sz="1400" b="0" i="0">
                          <a:solidFill>
                            <a:srgbClr val="1F2328"/>
                          </a:solidFill>
                          <a:effectLst/>
                          <a:latin typeface="Mona Sans VF"/>
                        </a:rPr>
                        <a:t>PER auf Phonemen</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400" b="0" i="0">
                          <a:solidFill>
                            <a:srgbClr val="1F2328"/>
                          </a:solidFill>
                          <a:effectLst/>
                          <a:latin typeface="Mona Sans VF"/>
                        </a:rPr>
                        <a:t>✅ selten (3 Papers)</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400" b="0" i="0">
                          <a:solidFill>
                            <a:srgbClr val="1F2328"/>
                          </a:solidFill>
                          <a:effectLst/>
                          <a:latin typeface="Mona Sans VF"/>
                        </a:rPr>
                        <a:t>Du, Wang MDD, Zhu ZIPA</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400" b="0" i="0">
                          <a:solidFill>
                            <a:srgbClr val="1F2328"/>
                          </a:solidFill>
                          <a:effectLst/>
                          <a:latin typeface="Mona Sans VF"/>
                        </a:rPr>
                        <a: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1261118445"/>
                  </a:ext>
                </a:extLst>
              </a:tr>
              <a:tr h="368221">
                <a:tc>
                  <a:txBody>
                    <a:bodyPr/>
                    <a:lstStyle/>
                    <a:p>
                      <a:pPr algn="l">
                        <a:spcAft>
                          <a:spcPts val="1200"/>
                        </a:spcAft>
                        <a:buNone/>
                      </a:pPr>
                      <a:r>
                        <a:rPr lang="de-DE" sz="1400" b="0" i="0">
                          <a:solidFill>
                            <a:srgbClr val="1F2328"/>
                          </a:solidFill>
                          <a:effectLst/>
                          <a:latin typeface="Mona Sans VF"/>
                        </a:rPr>
                        <a:t>CER auf Pinyin (ohne Ton)</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400" b="0" i="0" dirty="0">
                          <a:solidFill>
                            <a:srgbClr val="1F2328"/>
                          </a:solidFill>
                          <a:effectLst/>
                          <a:latin typeface="Mona Sans VF"/>
                        </a:rPr>
                        <a:t>✅ selten (2 Papers)</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400" b="0" i="0">
                          <a:solidFill>
                            <a:srgbClr val="1F2328"/>
                          </a:solidFill>
                          <a:effectLst/>
                          <a:latin typeface="Mona Sans VF"/>
                        </a:rPr>
                        <a:t>Zhengjie (1,9%), Chen (2,41%)</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400" b="0" i="0">
                          <a:solidFill>
                            <a:srgbClr val="1F2328"/>
                          </a:solidFill>
                          <a:effectLst/>
                          <a:latin typeface="Mona Sans VF"/>
                        </a:rPr>
                        <a:t>Segment-Achse</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1735092215"/>
                  </a:ext>
                </a:extLst>
              </a:tr>
              <a:tr h="368221">
                <a:tc>
                  <a:txBody>
                    <a:bodyPr/>
                    <a:lstStyle/>
                    <a:p>
                      <a:pPr algn="l">
                        <a:spcAft>
                          <a:spcPts val="1200"/>
                        </a:spcAft>
                        <a:buNone/>
                      </a:pPr>
                      <a:r>
                        <a:rPr lang="de-DE" sz="1400" b="0" i="0">
                          <a:solidFill>
                            <a:srgbClr val="1F2328"/>
                          </a:solidFill>
                          <a:effectLst/>
                          <a:latin typeface="Mona Sans VF"/>
                        </a:rPr>
                        <a:t>tCER/tWER (mit Ton)</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400" b="0" i="0">
                          <a:solidFill>
                            <a:srgbClr val="1F2328"/>
                          </a:solidFill>
                          <a:effectLst/>
                          <a:latin typeface="Mona Sans VF"/>
                        </a:rPr>
                        <a:t>✅ 1 Paper (Baima!)</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400" b="0" i="0">
                          <a:solidFill>
                            <a:srgbClr val="1F2328"/>
                          </a:solidFill>
                          <a:effectLst/>
                          <a:latin typeface="Mona Sans VF"/>
                        </a:rPr>
                        <a:t>Chirkova (2025)</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400" b="0" i="0">
                          <a:solidFill>
                            <a:srgbClr val="1F2328"/>
                          </a:solidFill>
                          <a:effectLst/>
                          <a:latin typeface="Mona Sans VF"/>
                        </a:rPr>
                        <a:t>Ton-Achse (Mandarin!)</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3360556312"/>
                  </a:ext>
                </a:extLst>
              </a:tr>
              <a:tr h="368221">
                <a:tc>
                  <a:txBody>
                    <a:bodyPr/>
                    <a:lstStyle/>
                    <a:p>
                      <a:pPr algn="l">
                        <a:spcAft>
                          <a:spcPts val="1200"/>
                        </a:spcAft>
                        <a:buNone/>
                      </a:pPr>
                      <a:r>
                        <a:rPr lang="de-DE" sz="1400" b="0" i="0">
                          <a:solidFill>
                            <a:srgbClr val="1F2328"/>
                          </a:solidFill>
                          <a:effectLst/>
                          <a:latin typeface="Mona Sans VF"/>
                        </a:rPr>
                        <a:t>TER (Tone Error Rate)</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400" b="0" i="0">
                          <a:solidFill>
                            <a:srgbClr val="1F2328"/>
                          </a:solidFill>
                          <a:effectLst/>
                          <a:latin typeface="Mona Sans VF"/>
                        </a:rPr>
                        <a:t>⚠️ empfohlen, nie angewandt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400" b="0" i="0">
                          <a:solidFill>
                            <a:srgbClr val="1F2328"/>
                          </a:solidFill>
                          <a:effectLst/>
                          <a:latin typeface="Mona Sans VF"/>
                        </a:rPr>
                        <a:t>Zou Review (2025)</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400" b="1" i="0">
                          <a:solidFill>
                            <a:srgbClr val="1F2328"/>
                          </a:solidFill>
                          <a:effectLst/>
                          <a:latin typeface="Mona Sans VF"/>
                        </a:rPr>
                        <a:t>NEU: erstmals berechnet</a:t>
                      </a:r>
                      <a:endParaRPr lang="de-DE" sz="14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49461347"/>
                  </a:ext>
                </a:extLst>
              </a:tr>
              <a:tr h="368221">
                <a:tc>
                  <a:txBody>
                    <a:bodyPr/>
                    <a:lstStyle/>
                    <a:p>
                      <a:pPr algn="l">
                        <a:spcAft>
                          <a:spcPts val="1200"/>
                        </a:spcAft>
                        <a:buNone/>
                      </a:pPr>
                      <a:r>
                        <a:rPr lang="de-DE" sz="1400" b="0" i="0">
                          <a:solidFill>
                            <a:srgbClr val="1F2328"/>
                          </a:solidFill>
                          <a:effectLst/>
                          <a:latin typeface="Mona Sans VF"/>
                        </a:rPr>
                        <a:t>PFER (gewichtet)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400" b="0" i="0">
                          <a:solidFill>
                            <a:srgbClr val="1F2328"/>
                          </a:solidFill>
                          <a:effectLst/>
                          <a:latin typeface="Mona Sans VF"/>
                        </a:rPr>
                        <a:t>✅ 1 Paper</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400" b="0" i="0">
                          <a:solidFill>
                            <a:srgbClr val="1F2328"/>
                          </a:solidFill>
                          <a:effectLst/>
                          <a:latin typeface="Mona Sans VF"/>
                        </a:rPr>
                        <a:t>Zhu ZIPA (2025)</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400" b="0" i="0">
                          <a:solidFill>
                            <a:srgbClr val="1F2328"/>
                          </a:solidFill>
                          <a:effectLst/>
                          <a:latin typeface="Mona Sans VF"/>
                        </a:rPr>
                        <a:t>optional</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4290384676"/>
                  </a:ext>
                </a:extLst>
              </a:tr>
              <a:tr h="368221">
                <a:tc>
                  <a:txBody>
                    <a:bodyPr/>
                    <a:lstStyle/>
                    <a:p>
                      <a:pPr algn="l">
                        <a:spcAft>
                          <a:spcPts val="1200"/>
                        </a:spcAft>
                        <a:buNone/>
                      </a:pPr>
                      <a:r>
                        <a:rPr lang="de-DE" sz="1400" b="0" i="0">
                          <a:solidFill>
                            <a:srgbClr val="1F2328"/>
                          </a:solidFill>
                          <a:effectLst/>
                          <a:latin typeface="Mona Sans VF"/>
                        </a:rPr>
                        <a:t>Per-Ton-F1 + Confusion Matrix</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400" b="0" i="0">
                          <a:solidFill>
                            <a:srgbClr val="1F2328"/>
                          </a:solidFill>
                          <a:effectLst/>
                          <a:latin typeface="Mona Sans VF"/>
                        </a:rPr>
                        <a:t>✅ teilweise</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400" b="0" i="0">
                          <a:solidFill>
                            <a:srgbClr val="1F2328"/>
                          </a:solidFill>
                          <a:effectLst/>
                          <a:latin typeface="Mona Sans VF"/>
                        </a:rPr>
                        <a:t>Wu (FRR/FAR pro Ton)</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400" b="1" i="0">
                          <a:solidFill>
                            <a:srgbClr val="1F2328"/>
                          </a:solidFill>
                          <a:effectLst/>
                          <a:latin typeface="Mona Sans VF"/>
                        </a:rPr>
                        <a:t>systematisch für LLMs</a:t>
                      </a:r>
                      <a:endParaRPr lang="de-DE" sz="14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831883122"/>
                  </a:ext>
                </a:extLst>
              </a:tr>
              <a:tr h="368221">
                <a:tc>
                  <a:txBody>
                    <a:bodyPr/>
                    <a:lstStyle/>
                    <a:p>
                      <a:pPr algn="l">
                        <a:spcAft>
                          <a:spcPts val="1200"/>
                        </a:spcAft>
                        <a:buNone/>
                      </a:pPr>
                      <a:r>
                        <a:rPr lang="de-DE" sz="1400" b="1" i="0">
                          <a:solidFill>
                            <a:srgbClr val="1F2328"/>
                          </a:solidFill>
                          <a:effectLst/>
                          <a:latin typeface="Mona Sans VF"/>
                        </a:rPr>
                        <a:t>Segment+Ton entkoppelt + LLM</a:t>
                      </a:r>
                      <a:endParaRPr lang="de-DE" sz="14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400" b="0" i="0">
                          <a:solidFill>
                            <a:srgbClr val="1F2328"/>
                          </a:solidFill>
                          <a:effectLst/>
                          <a:latin typeface="Mona Sans VF"/>
                        </a:rPr>
                        <a:t>❌ </a:t>
                      </a:r>
                      <a:r>
                        <a:rPr lang="de-DE" sz="1400" b="1" i="0">
                          <a:solidFill>
                            <a:srgbClr val="1F2328"/>
                          </a:solidFill>
                          <a:effectLst/>
                          <a:latin typeface="Mona Sans VF"/>
                        </a:rPr>
                        <a:t>niemand</a:t>
                      </a:r>
                      <a:endParaRPr lang="de-DE" sz="14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400" b="0" i="0">
                          <a:solidFill>
                            <a:srgbClr val="1F2328"/>
                          </a:solidFill>
                          <a:effectLst/>
                          <a:latin typeface="Mona Sans VF"/>
                        </a:rPr>
                        <a: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400" b="1" i="0">
                          <a:solidFill>
                            <a:srgbClr val="1F2328"/>
                          </a:solidFill>
                          <a:effectLst/>
                          <a:latin typeface="Mona Sans VF"/>
                        </a:rPr>
                        <a:t>Kernbeitrag</a:t>
                      </a:r>
                      <a:endParaRPr lang="de-DE" sz="14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1349177737"/>
                  </a:ext>
                </a:extLst>
              </a:tr>
              <a:tr h="368221">
                <a:tc>
                  <a:txBody>
                    <a:bodyPr/>
                    <a:lstStyle/>
                    <a:p>
                      <a:pPr algn="l">
                        <a:spcAft>
                          <a:spcPts val="1200"/>
                        </a:spcAft>
                        <a:buNone/>
                      </a:pPr>
                      <a:r>
                        <a:rPr lang="de-DE" sz="1400" b="1" i="0">
                          <a:solidFill>
                            <a:srgbClr val="1F2328"/>
                          </a:solidFill>
                          <a:effectLst/>
                          <a:latin typeface="Mona Sans VF"/>
                        </a:rPr>
                        <a:t>Gewichtete Ton-Distanz</a:t>
                      </a:r>
                      <a:endParaRPr lang="de-DE" sz="14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400" b="0" i="0">
                          <a:solidFill>
                            <a:srgbClr val="1F2328"/>
                          </a:solidFill>
                          <a:effectLst/>
                          <a:latin typeface="Mona Sans VF"/>
                        </a:rPr>
                        <a:t>❌ </a:t>
                      </a:r>
                      <a:r>
                        <a:rPr lang="de-DE" sz="1400" b="1" i="0">
                          <a:solidFill>
                            <a:srgbClr val="1F2328"/>
                          </a:solidFill>
                          <a:effectLst/>
                          <a:latin typeface="Mona Sans VF"/>
                        </a:rPr>
                        <a:t>niemand</a:t>
                      </a:r>
                      <a:endParaRPr lang="de-DE" sz="14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400" b="0" i="0">
                          <a:solidFill>
                            <a:srgbClr val="1F2328"/>
                          </a:solidFill>
                          <a:effectLst/>
                          <a:latin typeface="Mona Sans VF"/>
                        </a:rPr>
                        <a: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400" b="1" i="0" dirty="0">
                          <a:solidFill>
                            <a:srgbClr val="1F2328"/>
                          </a:solidFill>
                          <a:effectLst/>
                          <a:latin typeface="Mona Sans VF"/>
                        </a:rPr>
                        <a:t>offene Frage</a:t>
                      </a:r>
                      <a:endParaRPr lang="de-DE" sz="1400" b="0" i="0" dirty="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2832963163"/>
                  </a:ext>
                </a:extLst>
              </a:tr>
            </a:tbl>
          </a:graphicData>
        </a:graphic>
      </p:graphicFrame>
      <p:sp>
        <p:nvSpPr>
          <p:cNvPr id="5" name="TextBox 4">
            <a:extLst>
              <a:ext uri="{FF2B5EF4-FFF2-40B4-BE49-F238E27FC236}">
                <a16:creationId xmlns:a16="http://schemas.microsoft.com/office/drawing/2014/main" id="{11F404AB-491B-0F7E-D56B-AB9F4C18ED29}"/>
              </a:ext>
            </a:extLst>
          </p:cNvPr>
          <p:cNvSpPr txBox="1"/>
          <p:nvPr/>
        </p:nvSpPr>
        <p:spPr>
          <a:xfrm>
            <a:off x="951978" y="5686816"/>
            <a:ext cx="9444625" cy="646331"/>
          </a:xfrm>
          <a:prstGeom prst="rect">
            <a:avLst/>
          </a:prstGeom>
          <a:noFill/>
        </p:spPr>
        <p:txBody>
          <a:bodyPr wrap="square" rtlCol="0">
            <a:spAutoFit/>
          </a:bodyPr>
          <a:lstStyle/>
          <a:p>
            <a:r>
              <a:rPr lang="de-DE" b="1" dirty="0"/>
              <a:t>Forschungslücke in einem Satz:</a:t>
            </a:r>
            <a:r>
              <a:rPr lang="de-DE" dirty="0"/>
              <a:t> Kein Paper kombiniert </a:t>
            </a:r>
            <a:r>
              <a:rPr lang="de-DE" dirty="0" err="1"/>
              <a:t>Pinyin+Ton</a:t>
            </a:r>
            <a:r>
              <a:rPr lang="de-DE" dirty="0"/>
              <a:t> als Referenz, entkoppelte Segment/Ton-Evaluation, und multimodale LLMs für Mandarin.</a:t>
            </a:r>
          </a:p>
        </p:txBody>
      </p:sp>
    </p:spTree>
    <p:extLst>
      <p:ext uri="{BB962C8B-B14F-4D97-AF65-F5344CB8AC3E}">
        <p14:creationId xmlns:p14="http://schemas.microsoft.com/office/powerpoint/2010/main" val="385360649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D3D985-0A7B-739C-CC1E-1CEE70F4D0AF}"/>
              </a:ext>
            </a:extLst>
          </p:cNvPr>
          <p:cNvSpPr>
            <a:spLocks noGrp="1"/>
          </p:cNvSpPr>
          <p:nvPr>
            <p:ph type="title"/>
          </p:nvPr>
        </p:nvSpPr>
        <p:spPr/>
        <p:txBody>
          <a:bodyPr/>
          <a:lstStyle/>
          <a:p>
            <a:r>
              <a:rPr lang="de-DE" dirty="0"/>
              <a:t>Vollständige Metrik-Methodik-Übersicht (Backup / Handout)</a:t>
            </a:r>
          </a:p>
        </p:txBody>
      </p:sp>
      <p:graphicFrame>
        <p:nvGraphicFramePr>
          <p:cNvPr id="4" name="Content Placeholder 3">
            <a:extLst>
              <a:ext uri="{FF2B5EF4-FFF2-40B4-BE49-F238E27FC236}">
                <a16:creationId xmlns:a16="http://schemas.microsoft.com/office/drawing/2014/main" id="{B2F671AE-DC9E-B784-A845-E4CDB1323335}"/>
              </a:ext>
            </a:extLst>
          </p:cNvPr>
          <p:cNvGraphicFramePr>
            <a:graphicFrameLocks noGrp="1"/>
          </p:cNvGraphicFramePr>
          <p:nvPr>
            <p:ph idx="1"/>
          </p:nvPr>
        </p:nvGraphicFramePr>
        <p:xfrm>
          <a:off x="4061838" y="1635062"/>
          <a:ext cx="4068324" cy="4732464"/>
        </p:xfrm>
        <a:graphic>
          <a:graphicData uri="http://schemas.openxmlformats.org/drawingml/2006/table">
            <a:tbl>
              <a:tblPr/>
              <a:tblGrid>
                <a:gridCol w="678054">
                  <a:extLst>
                    <a:ext uri="{9D8B030D-6E8A-4147-A177-3AD203B41FA5}">
                      <a16:colId xmlns:a16="http://schemas.microsoft.com/office/drawing/2014/main" val="2679864780"/>
                    </a:ext>
                  </a:extLst>
                </a:gridCol>
                <a:gridCol w="678054">
                  <a:extLst>
                    <a:ext uri="{9D8B030D-6E8A-4147-A177-3AD203B41FA5}">
                      <a16:colId xmlns:a16="http://schemas.microsoft.com/office/drawing/2014/main" val="707044929"/>
                    </a:ext>
                  </a:extLst>
                </a:gridCol>
                <a:gridCol w="678054">
                  <a:extLst>
                    <a:ext uri="{9D8B030D-6E8A-4147-A177-3AD203B41FA5}">
                      <a16:colId xmlns:a16="http://schemas.microsoft.com/office/drawing/2014/main" val="676741712"/>
                    </a:ext>
                  </a:extLst>
                </a:gridCol>
                <a:gridCol w="678054">
                  <a:extLst>
                    <a:ext uri="{9D8B030D-6E8A-4147-A177-3AD203B41FA5}">
                      <a16:colId xmlns:a16="http://schemas.microsoft.com/office/drawing/2014/main" val="2878079417"/>
                    </a:ext>
                  </a:extLst>
                </a:gridCol>
                <a:gridCol w="678054">
                  <a:extLst>
                    <a:ext uri="{9D8B030D-6E8A-4147-A177-3AD203B41FA5}">
                      <a16:colId xmlns:a16="http://schemas.microsoft.com/office/drawing/2014/main" val="80341380"/>
                    </a:ext>
                  </a:extLst>
                </a:gridCol>
                <a:gridCol w="678054">
                  <a:extLst>
                    <a:ext uri="{9D8B030D-6E8A-4147-A177-3AD203B41FA5}">
                      <a16:colId xmlns:a16="http://schemas.microsoft.com/office/drawing/2014/main" val="1386217740"/>
                    </a:ext>
                  </a:extLst>
                </a:gridCol>
              </a:tblGrid>
              <a:tr h="106130">
                <a:tc>
                  <a:txBody>
                    <a:bodyPr/>
                    <a:lstStyle/>
                    <a:p>
                      <a:pPr algn="l">
                        <a:spcAft>
                          <a:spcPts val="1200"/>
                        </a:spcAft>
                        <a:buNone/>
                      </a:pPr>
                      <a:r>
                        <a:rPr lang="de-DE" sz="500" b="1" i="0">
                          <a:solidFill>
                            <a:srgbClr val="1F2328"/>
                          </a:solidFill>
                          <a:effectLst/>
                          <a:latin typeface="Mona Sans VF"/>
                        </a:rPr>
                        <a:t>#</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1" i="0">
                          <a:solidFill>
                            <a:srgbClr val="1F2328"/>
                          </a:solidFill>
                          <a:effectLst/>
                          <a:latin typeface="Mona Sans VF"/>
                        </a:rPr>
                        <a:t>Paper</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1" i="0">
                          <a:solidFill>
                            <a:srgbClr val="1F2328"/>
                          </a:solidFill>
                          <a:effectLst/>
                          <a:latin typeface="Mona Sans VF"/>
                        </a:rPr>
                        <a:t>Referenz-Einheit</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1" i="0">
                          <a:solidFill>
                            <a:srgbClr val="1F2328"/>
                          </a:solidFill>
                          <a:effectLst/>
                          <a:latin typeface="Mona Sans VF"/>
                        </a:rPr>
                        <a:t>Metrik</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1" i="0">
                          <a:solidFill>
                            <a:srgbClr val="1F2328"/>
                          </a:solidFill>
                          <a:effectLst/>
                          <a:latin typeface="Mona Sans VF"/>
                        </a:rPr>
                        <a:t>Ton-Behandlung</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1" i="0">
                          <a:solidFill>
                            <a:srgbClr val="1F2328"/>
                          </a:solidFill>
                          <a:effectLst/>
                          <a:latin typeface="Mona Sans VF"/>
                        </a:rPr>
                        <a:t>Phon. Relevanz</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308284720"/>
                  </a:ext>
                </a:extLst>
              </a:tr>
              <a:tr h="106130">
                <a:tc>
                  <a:txBody>
                    <a:bodyPr/>
                    <a:lstStyle/>
                    <a:p>
                      <a:pPr algn="l">
                        <a:spcAft>
                          <a:spcPts val="1200"/>
                        </a:spcAft>
                        <a:buNone/>
                      </a:pPr>
                      <a:r>
                        <a:rPr lang="de-DE" sz="500" b="0" i="0">
                          <a:solidFill>
                            <a:srgbClr val="1F2328"/>
                          </a:solidFill>
                          <a:effectLst/>
                          <a:latin typeface="Mona Sans VF"/>
                        </a:rPr>
                        <a:t>1</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0" i="0">
                          <a:solidFill>
                            <a:srgbClr val="1F2328"/>
                          </a:solidFill>
                          <a:effectLst/>
                          <a:latin typeface="Mona Sans VF"/>
                        </a:rPr>
                        <a:t>Seed-ASR (2024)</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0" i="0">
                          <a:solidFill>
                            <a:srgbClr val="1F2328"/>
                          </a:solidFill>
                          <a:effectLst/>
                          <a:latin typeface="Mona Sans VF"/>
                        </a:rPr>
                        <a:t>Hanzi</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0" i="0">
                          <a:solidFill>
                            <a:srgbClr val="1F2328"/>
                          </a:solidFill>
                          <a:effectLst/>
                          <a:latin typeface="Mona Sans VF"/>
                        </a:rPr>
                        <a:t>CER/WER/WWER</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0" i="0">
                          <a:solidFill>
                            <a:srgbClr val="1F2328"/>
                          </a:solidFill>
                          <a:effectLst/>
                          <a:latin typeface="Mona Sans VF"/>
                        </a:rPr>
                        <a:t>Ignoriert</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0" i="0">
                          <a:solidFill>
                            <a:srgbClr val="1F2328"/>
                          </a:solidFill>
                          <a:effectLst/>
                          <a:latin typeface="Mona Sans VF"/>
                        </a:rPr>
                        <a:t>NEIN</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2552782019"/>
                  </a:ext>
                </a:extLst>
              </a:tr>
              <a:tr h="106130">
                <a:tc>
                  <a:txBody>
                    <a:bodyPr/>
                    <a:lstStyle/>
                    <a:p>
                      <a:pPr algn="l">
                        <a:spcAft>
                          <a:spcPts val="1200"/>
                        </a:spcAft>
                        <a:buNone/>
                      </a:pPr>
                      <a:r>
                        <a:rPr lang="de-DE" sz="500" b="0" i="0">
                          <a:solidFill>
                            <a:srgbClr val="1F2328"/>
                          </a:solidFill>
                          <a:effectLst/>
                          <a:latin typeface="Mona Sans VF"/>
                        </a:rPr>
                        <a:t>2</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0" i="0">
                          <a:solidFill>
                            <a:srgbClr val="1F2328"/>
                          </a:solidFill>
                          <a:effectLst/>
                          <a:latin typeface="Mona Sans VF"/>
                        </a:rPr>
                        <a:t>FireRedASR (2025)</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0" i="0">
                          <a:solidFill>
                            <a:srgbClr val="1F2328"/>
                          </a:solidFill>
                          <a:effectLst/>
                          <a:latin typeface="Mona Sans VF"/>
                        </a:rPr>
                        <a:t>Hanzi</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0" i="0">
                          <a:solidFill>
                            <a:srgbClr val="1F2328"/>
                          </a:solidFill>
                          <a:effectLst/>
                          <a:latin typeface="Mona Sans VF"/>
                        </a:rPr>
                        <a:t>CER</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0" i="0">
                          <a:solidFill>
                            <a:srgbClr val="1F2328"/>
                          </a:solidFill>
                          <a:effectLst/>
                          <a:latin typeface="Mona Sans VF"/>
                        </a:rPr>
                        <a:t>Ignoriert</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0" i="0">
                          <a:solidFill>
                            <a:srgbClr val="1F2328"/>
                          </a:solidFill>
                          <a:effectLst/>
                          <a:latin typeface="Mona Sans VF"/>
                        </a:rPr>
                        <a:t>NEIN</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387119616"/>
                  </a:ext>
                </a:extLst>
              </a:tr>
              <a:tr h="106130">
                <a:tc>
                  <a:txBody>
                    <a:bodyPr/>
                    <a:lstStyle/>
                    <a:p>
                      <a:pPr algn="l">
                        <a:spcAft>
                          <a:spcPts val="1200"/>
                        </a:spcAft>
                        <a:buNone/>
                      </a:pPr>
                      <a:r>
                        <a:rPr lang="de-DE" sz="500" b="0" i="0">
                          <a:solidFill>
                            <a:srgbClr val="1F2328"/>
                          </a:solidFill>
                          <a:effectLst/>
                          <a:latin typeface="Mona Sans VF"/>
                        </a:rPr>
                        <a:t>3</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0" i="0">
                          <a:solidFill>
                            <a:srgbClr val="1F2328"/>
                          </a:solidFill>
                          <a:effectLst/>
                          <a:latin typeface="Mona Sans VF"/>
                        </a:rPr>
                        <a:t>FireRedASR2S (2026)</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0" i="0">
                          <a:solidFill>
                            <a:srgbClr val="1F2328"/>
                          </a:solidFill>
                          <a:effectLst/>
                          <a:latin typeface="Mona Sans VF"/>
                        </a:rPr>
                        <a:t>Hanzi</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0" i="0">
                          <a:solidFill>
                            <a:srgbClr val="1F2328"/>
                          </a:solidFill>
                          <a:effectLst/>
                          <a:latin typeface="Mona Sans VF"/>
                        </a:rPr>
                        <a:t>CER</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0" i="0">
                          <a:solidFill>
                            <a:srgbClr val="1F2328"/>
                          </a:solidFill>
                          <a:effectLst/>
                          <a:latin typeface="Mona Sans VF"/>
                        </a:rPr>
                        <a:t>Ignoriert</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0" i="0">
                          <a:solidFill>
                            <a:srgbClr val="1F2328"/>
                          </a:solidFill>
                          <a:effectLst/>
                          <a:latin typeface="Mona Sans VF"/>
                        </a:rPr>
                        <a:t>NEIN</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612187266"/>
                  </a:ext>
                </a:extLst>
              </a:tr>
              <a:tr h="106130">
                <a:tc>
                  <a:txBody>
                    <a:bodyPr/>
                    <a:lstStyle/>
                    <a:p>
                      <a:pPr algn="l">
                        <a:spcAft>
                          <a:spcPts val="1200"/>
                        </a:spcAft>
                        <a:buNone/>
                      </a:pPr>
                      <a:r>
                        <a:rPr lang="de-DE" sz="500" b="0" i="0">
                          <a:solidFill>
                            <a:srgbClr val="1F2328"/>
                          </a:solidFill>
                          <a:effectLst/>
                          <a:latin typeface="Mona Sans VF"/>
                        </a:rPr>
                        <a:t>4</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0" i="0">
                          <a:solidFill>
                            <a:srgbClr val="1F2328"/>
                          </a:solidFill>
                          <a:effectLst/>
                          <a:latin typeface="Mona Sans VF"/>
                        </a:rPr>
                        <a:t>Kimi-Audio (2025)</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0" i="0">
                          <a:solidFill>
                            <a:srgbClr val="1F2328"/>
                          </a:solidFill>
                          <a:effectLst/>
                          <a:latin typeface="Mona Sans VF"/>
                        </a:rPr>
                        <a:t>Hanzi</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0" i="0">
                          <a:solidFill>
                            <a:srgbClr val="1F2328"/>
                          </a:solidFill>
                          <a:effectLst/>
                          <a:latin typeface="Mona Sans VF"/>
                        </a:rPr>
                        <a:t>WER</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0" i="0">
                          <a:solidFill>
                            <a:srgbClr val="1F2328"/>
                          </a:solidFill>
                          <a:effectLst/>
                          <a:latin typeface="Mona Sans VF"/>
                        </a:rPr>
                        <a:t>Ignoriert</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0" i="0">
                          <a:solidFill>
                            <a:srgbClr val="1F2328"/>
                          </a:solidFill>
                          <a:effectLst/>
                          <a:latin typeface="Mona Sans VF"/>
                        </a:rPr>
                        <a:t>NEIN</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1219783582"/>
                  </a:ext>
                </a:extLst>
              </a:tr>
              <a:tr h="106130">
                <a:tc>
                  <a:txBody>
                    <a:bodyPr/>
                    <a:lstStyle/>
                    <a:p>
                      <a:pPr algn="l">
                        <a:spcAft>
                          <a:spcPts val="1200"/>
                        </a:spcAft>
                        <a:buNone/>
                      </a:pPr>
                      <a:r>
                        <a:rPr lang="de-DE" sz="500" b="0" i="0">
                          <a:solidFill>
                            <a:srgbClr val="1F2328"/>
                          </a:solidFill>
                          <a:effectLst/>
                          <a:latin typeface="Mona Sans VF"/>
                        </a:rPr>
                        <a:t>5</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0" i="0">
                          <a:solidFill>
                            <a:srgbClr val="1F2328"/>
                          </a:solidFill>
                          <a:effectLst/>
                          <a:latin typeface="Mona Sans VF"/>
                        </a:rPr>
                        <a:t>Qwen3-ASR (2026)</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0" i="0">
                          <a:solidFill>
                            <a:srgbClr val="1F2328"/>
                          </a:solidFill>
                          <a:effectLst/>
                          <a:latin typeface="Mona Sans VF"/>
                        </a:rPr>
                        <a:t>Hanzi</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0" i="0">
                          <a:solidFill>
                            <a:srgbClr val="1F2328"/>
                          </a:solidFill>
                          <a:effectLst/>
                          <a:latin typeface="Mona Sans VF"/>
                        </a:rPr>
                        <a:t>CER/WER</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0" i="0">
                          <a:solidFill>
                            <a:srgbClr val="1F2328"/>
                          </a:solidFill>
                          <a:effectLst/>
                          <a:latin typeface="Mona Sans VF"/>
                        </a:rPr>
                        <a:t>Ignoriert</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0" i="0">
                          <a:solidFill>
                            <a:srgbClr val="1F2328"/>
                          </a:solidFill>
                          <a:effectLst/>
                          <a:latin typeface="Mona Sans VF"/>
                        </a:rPr>
                        <a:t>NEIN</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1002380071"/>
                  </a:ext>
                </a:extLst>
              </a:tr>
              <a:tr h="106130">
                <a:tc>
                  <a:txBody>
                    <a:bodyPr/>
                    <a:lstStyle/>
                    <a:p>
                      <a:pPr algn="l">
                        <a:spcAft>
                          <a:spcPts val="1200"/>
                        </a:spcAft>
                        <a:buNone/>
                      </a:pPr>
                      <a:r>
                        <a:rPr lang="de-DE" sz="500" b="0" i="0">
                          <a:solidFill>
                            <a:srgbClr val="1F2328"/>
                          </a:solidFill>
                          <a:effectLst/>
                          <a:latin typeface="Mona Sans VF"/>
                        </a:rPr>
                        <a:t>6</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0" i="0">
                          <a:solidFill>
                            <a:srgbClr val="1F2328"/>
                          </a:solidFill>
                          <a:effectLst/>
                          <a:latin typeface="Mona Sans VF"/>
                        </a:rPr>
                        <a:t>Step-Audio 2 (2025)</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0" i="0">
                          <a:solidFill>
                            <a:srgbClr val="1F2328"/>
                          </a:solidFill>
                          <a:effectLst/>
                          <a:latin typeface="Mona Sans VF"/>
                        </a:rPr>
                        <a:t>Hanzi</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0" i="0">
                          <a:solidFill>
                            <a:srgbClr val="1F2328"/>
                          </a:solidFill>
                          <a:effectLst/>
                          <a:latin typeface="Mona Sans VF"/>
                        </a:rPr>
                        <a:t>CER/WER</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0" i="0">
                          <a:solidFill>
                            <a:srgbClr val="1F2328"/>
                          </a:solidFill>
                          <a:effectLst/>
                          <a:latin typeface="Mona Sans VF"/>
                        </a:rPr>
                        <a:t>Ignoriert</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0" i="0">
                          <a:solidFill>
                            <a:srgbClr val="1F2328"/>
                          </a:solidFill>
                          <a:effectLst/>
                          <a:latin typeface="Mona Sans VF"/>
                        </a:rPr>
                        <a:t>NEIN</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1678802197"/>
                  </a:ext>
                </a:extLst>
              </a:tr>
              <a:tr h="106130">
                <a:tc>
                  <a:txBody>
                    <a:bodyPr/>
                    <a:lstStyle/>
                    <a:p>
                      <a:pPr algn="l">
                        <a:spcAft>
                          <a:spcPts val="1200"/>
                        </a:spcAft>
                        <a:buNone/>
                      </a:pPr>
                      <a:r>
                        <a:rPr lang="de-DE" sz="500" b="0" i="0">
                          <a:solidFill>
                            <a:srgbClr val="1F2328"/>
                          </a:solidFill>
                          <a:effectLst/>
                          <a:latin typeface="Mona Sans VF"/>
                        </a:rPr>
                        <a:t>7</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0" i="0">
                          <a:solidFill>
                            <a:srgbClr val="1F2328"/>
                          </a:solidFill>
                          <a:effectLst/>
                          <a:latin typeface="Mona Sans VF"/>
                        </a:rPr>
                        <a:t>Wei ASR-EC (2024)</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0" i="0">
                          <a:solidFill>
                            <a:srgbClr val="1F2328"/>
                          </a:solidFill>
                          <a:effectLst/>
                          <a:latin typeface="Mona Sans VF"/>
                        </a:rPr>
                        <a:t>Hanzi</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0" i="0">
                          <a:solidFill>
                            <a:srgbClr val="1F2328"/>
                          </a:solidFill>
                          <a:effectLst/>
                          <a:latin typeface="Mona Sans VF"/>
                        </a:rPr>
                        <a:t>CER (S/D/I)</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0" i="0">
                          <a:solidFill>
                            <a:srgbClr val="1F2328"/>
                          </a:solidFill>
                          <a:effectLst/>
                          <a:latin typeface="Mona Sans VF"/>
                        </a:rPr>
                        <a:t>Ignoriert</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0" i="0">
                          <a:solidFill>
                            <a:srgbClr val="1F2328"/>
                          </a:solidFill>
                          <a:effectLst/>
                          <a:latin typeface="Mona Sans VF"/>
                        </a:rPr>
                        <a:t>NEIN</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1629904942"/>
                  </a:ext>
                </a:extLst>
              </a:tr>
              <a:tr h="106130">
                <a:tc>
                  <a:txBody>
                    <a:bodyPr/>
                    <a:lstStyle/>
                    <a:p>
                      <a:pPr algn="l">
                        <a:spcAft>
                          <a:spcPts val="1200"/>
                        </a:spcAft>
                        <a:buNone/>
                      </a:pPr>
                      <a:r>
                        <a:rPr lang="de-DE" sz="500" b="0" i="0">
                          <a:solidFill>
                            <a:srgbClr val="1F2328"/>
                          </a:solidFill>
                          <a:effectLst/>
                          <a:latin typeface="Mona Sans VF"/>
                        </a:rPr>
                        <a:t>8</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0" i="0">
                          <a:solidFill>
                            <a:srgbClr val="1F2328"/>
                          </a:solidFill>
                          <a:effectLst/>
                          <a:latin typeface="Mona Sans VF"/>
                        </a:rPr>
                        <a:t>ContextASR (2025)</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0" i="0">
                          <a:solidFill>
                            <a:srgbClr val="1F2328"/>
                          </a:solidFill>
                          <a:effectLst/>
                          <a:latin typeface="Mona Sans VF"/>
                        </a:rPr>
                        <a:t>Wort/NE</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0" i="0">
                          <a:solidFill>
                            <a:srgbClr val="1F2328"/>
                          </a:solidFill>
                          <a:effectLst/>
                          <a:latin typeface="Mona Sans VF"/>
                        </a:rPr>
                        <a:t>WER/NE-WER</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0" i="0">
                          <a:solidFill>
                            <a:srgbClr val="1F2328"/>
                          </a:solidFill>
                          <a:effectLst/>
                          <a:latin typeface="Mona Sans VF"/>
                        </a:rPr>
                        <a:t>Ignoriert</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0" i="0">
                          <a:solidFill>
                            <a:srgbClr val="1F2328"/>
                          </a:solidFill>
                          <a:effectLst/>
                          <a:latin typeface="Mona Sans VF"/>
                        </a:rPr>
                        <a:t>TEILW.</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1075331037"/>
                  </a:ext>
                </a:extLst>
              </a:tr>
              <a:tr h="106130">
                <a:tc>
                  <a:txBody>
                    <a:bodyPr/>
                    <a:lstStyle/>
                    <a:p>
                      <a:pPr algn="l">
                        <a:spcAft>
                          <a:spcPts val="1200"/>
                        </a:spcAft>
                        <a:buNone/>
                      </a:pPr>
                      <a:r>
                        <a:rPr lang="de-DE" sz="500" b="0" i="0">
                          <a:solidFill>
                            <a:srgbClr val="1F2328"/>
                          </a:solidFill>
                          <a:effectLst/>
                          <a:latin typeface="Mona Sans VF"/>
                        </a:rPr>
                        <a:t>9</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0" i="0">
                          <a:solidFill>
                            <a:srgbClr val="1F2328"/>
                          </a:solidFill>
                          <a:effectLst/>
                          <a:latin typeface="Mona Sans VF"/>
                        </a:rPr>
                        <a:t>VocalBench-zh (2025)</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0" i="0">
                          <a:solidFill>
                            <a:srgbClr val="1F2328"/>
                          </a:solidFill>
                          <a:effectLst/>
                          <a:latin typeface="Mona Sans VF"/>
                        </a:rPr>
                        <a:t>Text+Phonem</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0" i="0">
                          <a:solidFill>
                            <a:srgbClr val="1F2328"/>
                          </a:solidFill>
                          <a:effectLst/>
                          <a:latin typeface="Mona Sans VF"/>
                        </a:rPr>
                        <a:t>PER/UTMOS/Acc</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0" i="0">
                          <a:solidFill>
                            <a:srgbClr val="1F2328"/>
                          </a:solidFill>
                          <a:effectLst/>
                          <a:latin typeface="Mona Sans VF"/>
                        </a:rPr>
                        <a:t>Ignoriert</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0" i="0">
                          <a:solidFill>
                            <a:srgbClr val="1F2328"/>
                          </a:solidFill>
                          <a:effectLst/>
                          <a:latin typeface="Mona Sans VF"/>
                        </a:rPr>
                        <a:t>TEILW.</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3302055580"/>
                  </a:ext>
                </a:extLst>
              </a:tr>
              <a:tr h="106130">
                <a:tc>
                  <a:txBody>
                    <a:bodyPr/>
                    <a:lstStyle/>
                    <a:p>
                      <a:pPr algn="l">
                        <a:spcAft>
                          <a:spcPts val="1200"/>
                        </a:spcAft>
                        <a:buNone/>
                      </a:pPr>
                      <a:r>
                        <a:rPr lang="de-DE" sz="500" b="0" i="0">
                          <a:solidFill>
                            <a:srgbClr val="1F2328"/>
                          </a:solidFill>
                          <a:effectLst/>
                          <a:latin typeface="Mona Sans VF"/>
                        </a:rPr>
                        <a:t>10</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1" i="0">
                          <a:solidFill>
                            <a:srgbClr val="1F2328"/>
                          </a:solidFill>
                          <a:effectLst/>
                          <a:latin typeface="Mona Sans VF"/>
                        </a:rPr>
                        <a:t>Du Zipformer</a:t>
                      </a:r>
                      <a:r>
                        <a:rPr lang="de-DE" sz="500" b="0" i="0">
                          <a:solidFill>
                            <a:srgbClr val="1F2328"/>
                          </a:solidFill>
                          <a:effectLst/>
                          <a:latin typeface="Mona Sans VF"/>
                        </a:rPr>
                        <a:t> (2025)</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1" i="0">
                          <a:solidFill>
                            <a:srgbClr val="1F2328"/>
                          </a:solidFill>
                          <a:effectLst/>
                          <a:latin typeface="Mona Sans VF"/>
                        </a:rPr>
                        <a:t>Phoneme (66)</a:t>
                      </a:r>
                      <a:endParaRPr lang="de-DE" sz="500" b="0" i="0">
                        <a:solidFill>
                          <a:srgbClr val="1F2328"/>
                        </a:solidFill>
                        <a:effectLst/>
                        <a:latin typeface="Mona Sans VF"/>
                      </a:endParaRP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1" i="0">
                          <a:solidFill>
                            <a:srgbClr val="1F2328"/>
                          </a:solidFill>
                          <a:effectLst/>
                          <a:latin typeface="Mona Sans VF"/>
                        </a:rPr>
                        <a:t>WER (=PER)</a:t>
                      </a:r>
                      <a:endParaRPr lang="de-DE" sz="500" b="0" i="0">
                        <a:solidFill>
                          <a:srgbClr val="1F2328"/>
                        </a:solidFill>
                        <a:effectLst/>
                        <a:latin typeface="Mona Sans VF"/>
                      </a:endParaRP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1" i="0">
                          <a:solidFill>
                            <a:srgbClr val="1F2328"/>
                          </a:solidFill>
                          <a:effectLst/>
                          <a:latin typeface="Mona Sans VF"/>
                        </a:rPr>
                        <a:t>Implizit</a:t>
                      </a:r>
                      <a:endParaRPr lang="de-DE" sz="500" b="0" i="0">
                        <a:solidFill>
                          <a:srgbClr val="1F2328"/>
                        </a:solidFill>
                        <a:effectLst/>
                        <a:latin typeface="Mona Sans VF"/>
                      </a:endParaRP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1" i="0">
                          <a:solidFill>
                            <a:srgbClr val="1F2328"/>
                          </a:solidFill>
                          <a:effectLst/>
                          <a:latin typeface="Mona Sans VF"/>
                        </a:rPr>
                        <a:t>JA</a:t>
                      </a:r>
                      <a:endParaRPr lang="de-DE" sz="500" b="0" i="0">
                        <a:solidFill>
                          <a:srgbClr val="1F2328"/>
                        </a:solidFill>
                        <a:effectLst/>
                        <a:latin typeface="Mona Sans VF"/>
                      </a:endParaRP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2590442767"/>
                  </a:ext>
                </a:extLst>
              </a:tr>
              <a:tr h="106130">
                <a:tc>
                  <a:txBody>
                    <a:bodyPr/>
                    <a:lstStyle/>
                    <a:p>
                      <a:pPr algn="l">
                        <a:spcAft>
                          <a:spcPts val="1200"/>
                        </a:spcAft>
                        <a:buNone/>
                      </a:pPr>
                      <a:r>
                        <a:rPr lang="de-DE" sz="500" b="0" i="0">
                          <a:solidFill>
                            <a:srgbClr val="1F2328"/>
                          </a:solidFill>
                          <a:effectLst/>
                          <a:latin typeface="Mona Sans VF"/>
                        </a:rPr>
                        <a:t>11</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1" i="0">
                          <a:solidFill>
                            <a:srgbClr val="1F2328"/>
                          </a:solidFill>
                          <a:effectLst/>
                          <a:latin typeface="Mona Sans VF"/>
                        </a:rPr>
                        <a:t>Zou Review</a:t>
                      </a:r>
                      <a:r>
                        <a:rPr lang="de-DE" sz="500" b="0" i="0">
                          <a:solidFill>
                            <a:srgbClr val="1F2328"/>
                          </a:solidFill>
                          <a:effectLst/>
                          <a:latin typeface="Mona Sans VF"/>
                        </a:rPr>
                        <a:t> (2025)</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1" i="0">
                          <a:solidFill>
                            <a:srgbClr val="1F2328"/>
                          </a:solidFill>
                          <a:effectLst/>
                          <a:latin typeface="Mona Sans VF"/>
                        </a:rPr>
                        <a:t>Ton-Labels</a:t>
                      </a:r>
                      <a:endParaRPr lang="de-DE" sz="500" b="0" i="0">
                        <a:solidFill>
                          <a:srgbClr val="1F2328"/>
                        </a:solidFill>
                        <a:effectLst/>
                        <a:latin typeface="Mona Sans VF"/>
                      </a:endParaRP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1" i="0">
                          <a:solidFill>
                            <a:srgbClr val="1F2328"/>
                          </a:solidFill>
                          <a:effectLst/>
                          <a:latin typeface="Mona Sans VF"/>
                        </a:rPr>
                        <a:t>TER/Acc/F1</a:t>
                      </a:r>
                      <a:endParaRPr lang="de-DE" sz="500" b="0" i="0">
                        <a:solidFill>
                          <a:srgbClr val="1F2328"/>
                        </a:solidFill>
                        <a:effectLst/>
                        <a:latin typeface="Mona Sans VF"/>
                      </a:endParaRP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1" i="0">
                          <a:solidFill>
                            <a:srgbClr val="1F2328"/>
                          </a:solidFill>
                          <a:effectLst/>
                          <a:latin typeface="Mona Sans VF"/>
                        </a:rPr>
                        <a:t>Fokus</a:t>
                      </a:r>
                      <a:endParaRPr lang="de-DE" sz="500" b="0" i="0">
                        <a:solidFill>
                          <a:srgbClr val="1F2328"/>
                        </a:solidFill>
                        <a:effectLst/>
                        <a:latin typeface="Mona Sans VF"/>
                      </a:endParaRP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1" i="0">
                          <a:solidFill>
                            <a:srgbClr val="1F2328"/>
                          </a:solidFill>
                          <a:effectLst/>
                          <a:latin typeface="Mona Sans VF"/>
                        </a:rPr>
                        <a:t>JA</a:t>
                      </a:r>
                      <a:endParaRPr lang="de-DE" sz="500" b="0" i="0">
                        <a:solidFill>
                          <a:srgbClr val="1F2328"/>
                        </a:solidFill>
                        <a:effectLst/>
                        <a:latin typeface="Mona Sans VF"/>
                      </a:endParaRP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1124425270"/>
                  </a:ext>
                </a:extLst>
              </a:tr>
              <a:tr h="106130">
                <a:tc>
                  <a:txBody>
                    <a:bodyPr/>
                    <a:lstStyle/>
                    <a:p>
                      <a:pPr algn="l">
                        <a:spcAft>
                          <a:spcPts val="1200"/>
                        </a:spcAft>
                        <a:buNone/>
                      </a:pPr>
                      <a:r>
                        <a:rPr lang="de-DE" sz="500" b="0" i="0">
                          <a:solidFill>
                            <a:srgbClr val="1F2328"/>
                          </a:solidFill>
                          <a:effectLst/>
                          <a:latin typeface="Mona Sans VF"/>
                        </a:rPr>
                        <a:t>12</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0" i="0">
                          <a:solidFill>
                            <a:srgbClr val="1F2328"/>
                          </a:solidFill>
                          <a:effectLst/>
                          <a:latin typeface="Mona Sans VF"/>
                        </a:rPr>
                        <a:t>TELEVAL (2026)</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0" i="0">
                          <a:solidFill>
                            <a:srgbClr val="1F2328"/>
                          </a:solidFill>
                          <a:effectLst/>
                          <a:latin typeface="Mona Sans VF"/>
                        </a:rPr>
                        <a:t>Hanzi</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0" i="0">
                          <a:solidFill>
                            <a:srgbClr val="1F2328"/>
                          </a:solidFill>
                          <a:effectLst/>
                          <a:latin typeface="Mona Sans VF"/>
                        </a:rPr>
                        <a:t>CER/DNSMOS</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0" i="0">
                          <a:solidFill>
                            <a:srgbClr val="1F2328"/>
                          </a:solidFill>
                          <a:effectLst/>
                          <a:latin typeface="Mona Sans VF"/>
                        </a:rPr>
                        <a:t>Ignoriert</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0" i="0">
                          <a:solidFill>
                            <a:srgbClr val="1F2328"/>
                          </a:solidFill>
                          <a:effectLst/>
                          <a:latin typeface="Mona Sans VF"/>
                        </a:rPr>
                        <a:t>TEILW.</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3674653223"/>
                  </a:ext>
                </a:extLst>
              </a:tr>
              <a:tr h="106130">
                <a:tc>
                  <a:txBody>
                    <a:bodyPr/>
                    <a:lstStyle/>
                    <a:p>
                      <a:pPr algn="l">
                        <a:spcAft>
                          <a:spcPts val="1200"/>
                        </a:spcAft>
                        <a:buNone/>
                      </a:pPr>
                      <a:r>
                        <a:rPr lang="de-DE" sz="500" b="0" i="0">
                          <a:solidFill>
                            <a:srgbClr val="1F2328"/>
                          </a:solidFill>
                          <a:effectLst/>
                          <a:latin typeface="Mona Sans VF"/>
                        </a:rPr>
                        <a:t>13</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1" i="0">
                          <a:solidFill>
                            <a:srgbClr val="1F2328"/>
                          </a:solidFill>
                          <a:effectLst/>
                          <a:latin typeface="Mona Sans VF"/>
                        </a:rPr>
                        <a:t>Zhengjie PYG</a:t>
                      </a:r>
                      <a:r>
                        <a:rPr lang="de-DE" sz="500" b="0" i="0">
                          <a:solidFill>
                            <a:srgbClr val="1F2328"/>
                          </a:solidFill>
                          <a:effectLst/>
                          <a:latin typeface="Mona Sans VF"/>
                        </a:rPr>
                        <a:t> (2025)</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1" i="0">
                          <a:solidFill>
                            <a:srgbClr val="1F2328"/>
                          </a:solidFill>
                          <a:effectLst/>
                          <a:latin typeface="Mona Sans VF"/>
                        </a:rPr>
                        <a:t>Pinyin (o. Ton)</a:t>
                      </a:r>
                      <a:endParaRPr lang="de-DE" sz="500" b="0" i="0">
                        <a:solidFill>
                          <a:srgbClr val="1F2328"/>
                        </a:solidFill>
                        <a:effectLst/>
                        <a:latin typeface="Mona Sans VF"/>
                      </a:endParaRP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1" i="0">
                          <a:solidFill>
                            <a:srgbClr val="1F2328"/>
                          </a:solidFill>
                          <a:effectLst/>
                          <a:latin typeface="Mona Sans VF"/>
                        </a:rPr>
                        <a:t>Pinyin-ERR</a:t>
                      </a:r>
                      <a:endParaRPr lang="de-DE" sz="500" b="0" i="0">
                        <a:solidFill>
                          <a:srgbClr val="1F2328"/>
                        </a:solidFill>
                        <a:effectLst/>
                        <a:latin typeface="Mona Sans VF"/>
                      </a:endParaRP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1" i="0">
                          <a:solidFill>
                            <a:srgbClr val="1F2328"/>
                          </a:solidFill>
                          <a:effectLst/>
                          <a:latin typeface="Mona Sans VF"/>
                        </a:rPr>
                        <a:t>Ignoriert</a:t>
                      </a:r>
                      <a:endParaRPr lang="de-DE" sz="500" b="0" i="0">
                        <a:solidFill>
                          <a:srgbClr val="1F2328"/>
                        </a:solidFill>
                        <a:effectLst/>
                        <a:latin typeface="Mona Sans VF"/>
                      </a:endParaRP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1" i="0">
                          <a:solidFill>
                            <a:srgbClr val="1F2328"/>
                          </a:solidFill>
                          <a:effectLst/>
                          <a:latin typeface="Mona Sans VF"/>
                        </a:rPr>
                        <a:t>JA</a:t>
                      </a:r>
                      <a:endParaRPr lang="de-DE" sz="500" b="0" i="0">
                        <a:solidFill>
                          <a:srgbClr val="1F2328"/>
                        </a:solidFill>
                        <a:effectLst/>
                        <a:latin typeface="Mona Sans VF"/>
                      </a:endParaRP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1989559407"/>
                  </a:ext>
                </a:extLst>
              </a:tr>
              <a:tr h="106130">
                <a:tc>
                  <a:txBody>
                    <a:bodyPr/>
                    <a:lstStyle/>
                    <a:p>
                      <a:pPr algn="l">
                        <a:spcAft>
                          <a:spcPts val="1200"/>
                        </a:spcAft>
                        <a:buNone/>
                      </a:pPr>
                      <a:r>
                        <a:rPr lang="de-DE" sz="500" b="0" i="0">
                          <a:solidFill>
                            <a:srgbClr val="1F2328"/>
                          </a:solidFill>
                          <a:effectLst/>
                          <a:latin typeface="Mona Sans VF"/>
                        </a:rPr>
                        <a:t>14</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0" i="0">
                          <a:solidFill>
                            <a:srgbClr val="1F2328"/>
                          </a:solidFill>
                          <a:effectLst/>
                          <a:latin typeface="Mona Sans VF"/>
                        </a:rPr>
                        <a:t>Chen SCCM (2025)</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0" i="0">
                          <a:solidFill>
                            <a:srgbClr val="1F2328"/>
                          </a:solidFill>
                          <a:effectLst/>
                          <a:latin typeface="Mona Sans VF"/>
                        </a:rPr>
                        <a:t>Pinyin (I+F)</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0" i="0">
                          <a:solidFill>
                            <a:srgbClr val="1F2328"/>
                          </a:solidFill>
                          <a:effectLst/>
                          <a:latin typeface="Mona Sans VF"/>
                        </a:rPr>
                        <a:t>CER/Pinyin-ERR</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0" i="0">
                          <a:solidFill>
                            <a:srgbClr val="1F2328"/>
                          </a:solidFill>
                          <a:effectLst/>
                          <a:latin typeface="Mona Sans VF"/>
                        </a:rPr>
                        <a:t>Ignoriert</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0" i="0">
                          <a:solidFill>
                            <a:srgbClr val="1F2328"/>
                          </a:solidFill>
                          <a:effectLst/>
                          <a:latin typeface="Mona Sans VF"/>
                        </a:rPr>
                        <a:t>TEILW.</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331925572"/>
                  </a:ext>
                </a:extLst>
              </a:tr>
              <a:tr h="106130">
                <a:tc>
                  <a:txBody>
                    <a:bodyPr/>
                    <a:lstStyle/>
                    <a:p>
                      <a:pPr algn="l">
                        <a:spcAft>
                          <a:spcPts val="1200"/>
                        </a:spcAft>
                        <a:buNone/>
                      </a:pPr>
                      <a:r>
                        <a:rPr lang="de-DE" sz="500" b="0" i="0">
                          <a:solidFill>
                            <a:srgbClr val="1F2328"/>
                          </a:solidFill>
                          <a:effectLst/>
                          <a:latin typeface="Mona Sans VF"/>
                        </a:rPr>
                        <a:t>15</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1" i="0">
                          <a:solidFill>
                            <a:srgbClr val="1F2328"/>
                          </a:solidFill>
                          <a:effectLst/>
                          <a:latin typeface="Mona Sans VF"/>
                        </a:rPr>
                        <a:t>Wang MDD</a:t>
                      </a:r>
                      <a:r>
                        <a:rPr lang="de-DE" sz="500" b="0" i="0">
                          <a:solidFill>
                            <a:srgbClr val="1F2328"/>
                          </a:solidFill>
                          <a:effectLst/>
                          <a:latin typeface="Mona Sans VF"/>
                        </a:rPr>
                        <a:t> (2024)</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1" i="0">
                          <a:solidFill>
                            <a:srgbClr val="1F2328"/>
                          </a:solidFill>
                          <a:effectLst/>
                          <a:latin typeface="Mona Sans VF"/>
                        </a:rPr>
                        <a:t>Tonal-Phoneme</a:t>
                      </a:r>
                      <a:endParaRPr lang="de-DE" sz="500" b="0" i="0">
                        <a:solidFill>
                          <a:srgbClr val="1F2328"/>
                        </a:solidFill>
                        <a:effectLst/>
                        <a:latin typeface="Mona Sans VF"/>
                      </a:endParaRP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1" i="0">
                          <a:solidFill>
                            <a:srgbClr val="1F2328"/>
                          </a:solidFill>
                          <a:effectLst/>
                          <a:latin typeface="Mona Sans VF"/>
                        </a:rPr>
                        <a:t>PER/FRR/FAR/F1</a:t>
                      </a:r>
                      <a:endParaRPr lang="de-DE" sz="500" b="0" i="0">
                        <a:solidFill>
                          <a:srgbClr val="1F2328"/>
                        </a:solidFill>
                        <a:effectLst/>
                        <a:latin typeface="Mona Sans VF"/>
                      </a:endParaRP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1" i="0">
                          <a:solidFill>
                            <a:srgbClr val="1F2328"/>
                          </a:solidFill>
                          <a:effectLst/>
                          <a:latin typeface="Mona Sans VF"/>
                        </a:rPr>
                        <a:t>Implizit</a:t>
                      </a:r>
                      <a:endParaRPr lang="de-DE" sz="500" b="0" i="0">
                        <a:solidFill>
                          <a:srgbClr val="1F2328"/>
                        </a:solidFill>
                        <a:effectLst/>
                        <a:latin typeface="Mona Sans VF"/>
                      </a:endParaRP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1" i="0">
                          <a:solidFill>
                            <a:srgbClr val="1F2328"/>
                          </a:solidFill>
                          <a:effectLst/>
                          <a:latin typeface="Mona Sans VF"/>
                        </a:rPr>
                        <a:t>JA</a:t>
                      </a:r>
                      <a:endParaRPr lang="de-DE" sz="500" b="0" i="0">
                        <a:solidFill>
                          <a:srgbClr val="1F2328"/>
                        </a:solidFill>
                        <a:effectLst/>
                        <a:latin typeface="Mona Sans VF"/>
                      </a:endParaRP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1573187362"/>
                  </a:ext>
                </a:extLst>
              </a:tr>
              <a:tr h="106130">
                <a:tc>
                  <a:txBody>
                    <a:bodyPr/>
                    <a:lstStyle/>
                    <a:p>
                      <a:pPr algn="l">
                        <a:spcAft>
                          <a:spcPts val="1200"/>
                        </a:spcAft>
                        <a:buNone/>
                      </a:pPr>
                      <a:r>
                        <a:rPr lang="de-DE" sz="500" b="0" i="0">
                          <a:solidFill>
                            <a:srgbClr val="1F2328"/>
                          </a:solidFill>
                          <a:effectLst/>
                          <a:latin typeface="Mona Sans VF"/>
                        </a:rPr>
                        <a:t>16</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1" i="0">
                          <a:solidFill>
                            <a:srgbClr val="1F2328"/>
                          </a:solidFill>
                          <a:effectLst/>
                          <a:latin typeface="Mona Sans VF"/>
                        </a:rPr>
                        <a:t>Wu L2 Prosody</a:t>
                      </a:r>
                      <a:r>
                        <a:rPr lang="de-DE" sz="500" b="0" i="0">
                          <a:solidFill>
                            <a:srgbClr val="1F2328"/>
                          </a:solidFill>
                          <a:effectLst/>
                          <a:latin typeface="Mona Sans VF"/>
                        </a:rPr>
                        <a:t> (2024)</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1" i="0">
                          <a:solidFill>
                            <a:srgbClr val="1F2328"/>
                          </a:solidFill>
                          <a:effectLst/>
                          <a:latin typeface="Mona Sans VF"/>
                        </a:rPr>
                        <a:t>Human-Töne</a:t>
                      </a:r>
                      <a:endParaRPr lang="de-DE" sz="500" b="0" i="0">
                        <a:solidFill>
                          <a:srgbClr val="1F2328"/>
                        </a:solidFill>
                        <a:effectLst/>
                        <a:latin typeface="Mona Sans VF"/>
                      </a:endParaRP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1" i="0">
                          <a:solidFill>
                            <a:srgbClr val="1F2328"/>
                          </a:solidFill>
                          <a:effectLst/>
                          <a:latin typeface="Mona Sans VF"/>
                        </a:rPr>
                        <a:t>FRR/FAR/DA</a:t>
                      </a:r>
                      <a:endParaRPr lang="de-DE" sz="500" b="0" i="0">
                        <a:solidFill>
                          <a:srgbClr val="1F2328"/>
                        </a:solidFill>
                        <a:effectLst/>
                        <a:latin typeface="Mona Sans VF"/>
                      </a:endParaRP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1" i="0">
                          <a:solidFill>
                            <a:srgbClr val="1F2328"/>
                          </a:solidFill>
                          <a:effectLst/>
                          <a:latin typeface="Mona Sans VF"/>
                        </a:rPr>
                        <a:t>Separat</a:t>
                      </a:r>
                      <a:endParaRPr lang="de-DE" sz="500" b="0" i="0">
                        <a:solidFill>
                          <a:srgbClr val="1F2328"/>
                        </a:solidFill>
                        <a:effectLst/>
                        <a:latin typeface="Mona Sans VF"/>
                      </a:endParaRP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1" i="0">
                          <a:solidFill>
                            <a:srgbClr val="1F2328"/>
                          </a:solidFill>
                          <a:effectLst/>
                          <a:latin typeface="Mona Sans VF"/>
                        </a:rPr>
                        <a:t>JA</a:t>
                      </a:r>
                      <a:endParaRPr lang="de-DE" sz="500" b="0" i="0">
                        <a:solidFill>
                          <a:srgbClr val="1F2328"/>
                        </a:solidFill>
                        <a:effectLst/>
                        <a:latin typeface="Mona Sans VF"/>
                      </a:endParaRP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257611556"/>
                  </a:ext>
                </a:extLst>
              </a:tr>
              <a:tr h="106130">
                <a:tc>
                  <a:txBody>
                    <a:bodyPr/>
                    <a:lstStyle/>
                    <a:p>
                      <a:pPr algn="l">
                        <a:spcAft>
                          <a:spcPts val="1200"/>
                        </a:spcAft>
                        <a:buNone/>
                      </a:pPr>
                      <a:r>
                        <a:rPr lang="de-DE" sz="500" b="0" i="0">
                          <a:solidFill>
                            <a:srgbClr val="1F2328"/>
                          </a:solidFill>
                          <a:effectLst/>
                          <a:latin typeface="Mona Sans VF"/>
                        </a:rPr>
                        <a:t>17</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0" i="0">
                          <a:solidFill>
                            <a:srgbClr val="1F2328"/>
                          </a:solidFill>
                          <a:effectLst/>
                          <a:latin typeface="Mona Sans VF"/>
                        </a:rPr>
                        <a:t>Huang Review (2026)</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0" i="0">
                          <a:solidFill>
                            <a:srgbClr val="1F2328"/>
                          </a:solidFill>
                          <a:effectLst/>
                          <a:latin typeface="Mona Sans VF"/>
                        </a:rPr>
                        <a:t>F0-Param.</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0" i="0">
                          <a:solidFill>
                            <a:srgbClr val="1F2328"/>
                          </a:solidFill>
                          <a:effectLst/>
                          <a:latin typeface="Mona Sans VF"/>
                        </a:rPr>
                        <a:t>Review</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0" i="0">
                          <a:solidFill>
                            <a:srgbClr val="1F2328"/>
                          </a:solidFill>
                          <a:effectLst/>
                          <a:latin typeface="Mona Sans VF"/>
                        </a:rPr>
                        <a:t>Fokus</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0" i="0">
                          <a:solidFill>
                            <a:srgbClr val="1F2328"/>
                          </a:solidFill>
                          <a:effectLst/>
                          <a:latin typeface="Mona Sans VF"/>
                        </a:rPr>
                        <a:t>TEILW.</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559645921"/>
                  </a:ext>
                </a:extLst>
              </a:tr>
              <a:tr h="106130">
                <a:tc>
                  <a:txBody>
                    <a:bodyPr/>
                    <a:lstStyle/>
                    <a:p>
                      <a:pPr algn="l">
                        <a:spcAft>
                          <a:spcPts val="1200"/>
                        </a:spcAft>
                        <a:buNone/>
                      </a:pPr>
                      <a:r>
                        <a:rPr lang="de-DE" sz="500" b="0" i="0">
                          <a:solidFill>
                            <a:srgbClr val="1F2328"/>
                          </a:solidFill>
                          <a:effectLst/>
                          <a:latin typeface="Mona Sans VF"/>
                        </a:rPr>
                        <a:t>18</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1" i="0">
                          <a:solidFill>
                            <a:srgbClr val="1F2328"/>
                          </a:solidFill>
                          <a:effectLst/>
                          <a:latin typeface="Mona Sans VF"/>
                        </a:rPr>
                        <a:t>Zhu ZIPA</a:t>
                      </a:r>
                      <a:r>
                        <a:rPr lang="de-DE" sz="500" b="0" i="0">
                          <a:solidFill>
                            <a:srgbClr val="1F2328"/>
                          </a:solidFill>
                          <a:effectLst/>
                          <a:latin typeface="Mona Sans VF"/>
                        </a:rPr>
                        <a:t> (2025)</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1" i="0">
                          <a:solidFill>
                            <a:srgbClr val="1F2328"/>
                          </a:solidFill>
                          <a:effectLst/>
                          <a:latin typeface="Mona Sans VF"/>
                        </a:rPr>
                        <a:t>IPA-Phoneme</a:t>
                      </a:r>
                      <a:endParaRPr lang="de-DE" sz="500" b="0" i="0">
                        <a:solidFill>
                          <a:srgbClr val="1F2328"/>
                        </a:solidFill>
                        <a:effectLst/>
                        <a:latin typeface="Mona Sans VF"/>
                      </a:endParaRP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1" i="0">
                          <a:solidFill>
                            <a:srgbClr val="1F2328"/>
                          </a:solidFill>
                          <a:effectLst/>
                          <a:latin typeface="Mona Sans VF"/>
                        </a:rPr>
                        <a:t>PFER</a:t>
                      </a:r>
                      <a:endParaRPr lang="de-DE" sz="500" b="0" i="0">
                        <a:solidFill>
                          <a:srgbClr val="1F2328"/>
                        </a:solidFill>
                        <a:effectLst/>
                        <a:latin typeface="Mona Sans VF"/>
                      </a:endParaRP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1" i="0">
                          <a:solidFill>
                            <a:srgbClr val="1F2328"/>
                          </a:solidFill>
                          <a:effectLst/>
                          <a:latin typeface="Mona Sans VF"/>
                        </a:rPr>
                        <a:t>Implizit</a:t>
                      </a:r>
                      <a:endParaRPr lang="de-DE" sz="500" b="0" i="0">
                        <a:solidFill>
                          <a:srgbClr val="1F2328"/>
                        </a:solidFill>
                        <a:effectLst/>
                        <a:latin typeface="Mona Sans VF"/>
                      </a:endParaRP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1" i="0">
                          <a:solidFill>
                            <a:srgbClr val="1F2328"/>
                          </a:solidFill>
                          <a:effectLst/>
                          <a:latin typeface="Mona Sans VF"/>
                        </a:rPr>
                        <a:t>JA</a:t>
                      </a:r>
                      <a:endParaRPr lang="de-DE" sz="500" b="0" i="0">
                        <a:solidFill>
                          <a:srgbClr val="1F2328"/>
                        </a:solidFill>
                        <a:effectLst/>
                        <a:latin typeface="Mona Sans VF"/>
                      </a:endParaRP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2334308086"/>
                  </a:ext>
                </a:extLst>
              </a:tr>
              <a:tr h="106130">
                <a:tc>
                  <a:txBody>
                    <a:bodyPr/>
                    <a:lstStyle/>
                    <a:p>
                      <a:pPr algn="l">
                        <a:spcAft>
                          <a:spcPts val="1200"/>
                        </a:spcAft>
                        <a:buNone/>
                      </a:pPr>
                      <a:r>
                        <a:rPr lang="de-DE" sz="500" b="0" i="0">
                          <a:solidFill>
                            <a:srgbClr val="1F2328"/>
                          </a:solidFill>
                          <a:effectLst/>
                          <a:latin typeface="Mona Sans VF"/>
                        </a:rPr>
                        <a:t>19</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1" i="0">
                          <a:solidFill>
                            <a:srgbClr val="1F2328"/>
                          </a:solidFill>
                          <a:effectLst/>
                          <a:latin typeface="Mona Sans VF"/>
                        </a:rPr>
                        <a:t>Bu Siamese</a:t>
                      </a:r>
                      <a:r>
                        <a:rPr lang="de-DE" sz="500" b="0" i="0">
                          <a:solidFill>
                            <a:srgbClr val="1F2328"/>
                          </a:solidFill>
                          <a:effectLst/>
                          <a:latin typeface="Mona Sans VF"/>
                        </a:rPr>
                        <a:t> (2025)</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1" i="0">
                          <a:solidFill>
                            <a:srgbClr val="1F2328"/>
                          </a:solidFill>
                          <a:effectLst/>
                          <a:latin typeface="Mona Sans VF"/>
                        </a:rPr>
                        <a:t>F0-Konturen</a:t>
                      </a:r>
                      <a:endParaRPr lang="de-DE" sz="500" b="0" i="0">
                        <a:solidFill>
                          <a:srgbClr val="1F2328"/>
                        </a:solidFill>
                        <a:effectLst/>
                        <a:latin typeface="Mona Sans VF"/>
                      </a:endParaRP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1" i="0">
                          <a:solidFill>
                            <a:srgbClr val="1F2328"/>
                          </a:solidFill>
                          <a:effectLst/>
                          <a:latin typeface="Mona Sans VF"/>
                        </a:rPr>
                        <a:t>MSE/RMSE</a:t>
                      </a:r>
                      <a:endParaRPr lang="de-DE" sz="500" b="0" i="0">
                        <a:solidFill>
                          <a:srgbClr val="1F2328"/>
                        </a:solidFill>
                        <a:effectLst/>
                        <a:latin typeface="Mona Sans VF"/>
                      </a:endParaRP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1" i="0">
                          <a:solidFill>
                            <a:srgbClr val="1F2328"/>
                          </a:solidFill>
                          <a:effectLst/>
                          <a:latin typeface="Mona Sans VF"/>
                        </a:rPr>
                        <a:t>Separat</a:t>
                      </a:r>
                      <a:endParaRPr lang="de-DE" sz="500" b="0" i="0">
                        <a:solidFill>
                          <a:srgbClr val="1F2328"/>
                        </a:solidFill>
                        <a:effectLst/>
                        <a:latin typeface="Mona Sans VF"/>
                      </a:endParaRP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1" i="0">
                          <a:solidFill>
                            <a:srgbClr val="1F2328"/>
                          </a:solidFill>
                          <a:effectLst/>
                          <a:latin typeface="Mona Sans VF"/>
                        </a:rPr>
                        <a:t>JA</a:t>
                      </a:r>
                      <a:endParaRPr lang="de-DE" sz="500" b="0" i="0">
                        <a:solidFill>
                          <a:srgbClr val="1F2328"/>
                        </a:solidFill>
                        <a:effectLst/>
                        <a:latin typeface="Mona Sans VF"/>
                      </a:endParaRP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2025564227"/>
                  </a:ext>
                </a:extLst>
              </a:tr>
              <a:tr h="106130">
                <a:tc>
                  <a:txBody>
                    <a:bodyPr/>
                    <a:lstStyle/>
                    <a:p>
                      <a:pPr algn="l">
                        <a:spcAft>
                          <a:spcPts val="1200"/>
                        </a:spcAft>
                        <a:buNone/>
                      </a:pPr>
                      <a:r>
                        <a:rPr lang="de-DE" sz="500" b="0" i="0">
                          <a:solidFill>
                            <a:srgbClr val="1F2328"/>
                          </a:solidFill>
                          <a:effectLst/>
                          <a:latin typeface="Mona Sans VF"/>
                        </a:rPr>
                        <a:t>20</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1" i="0">
                          <a:solidFill>
                            <a:srgbClr val="1F2328"/>
                          </a:solidFill>
                          <a:effectLst/>
                          <a:latin typeface="Mona Sans VF"/>
                        </a:rPr>
                        <a:t>Wang MSPB</a:t>
                      </a:r>
                      <a:r>
                        <a:rPr lang="de-DE" sz="500" b="0" i="0">
                          <a:solidFill>
                            <a:srgbClr val="1F2328"/>
                          </a:solidFill>
                          <a:effectLst/>
                          <a:latin typeface="Mona Sans VF"/>
                        </a:rPr>
                        <a:t> (2025)</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0" i="0">
                          <a:solidFill>
                            <a:srgbClr val="1F2328"/>
                          </a:solidFill>
                          <a:effectLst/>
                          <a:latin typeface="Mona Sans VF"/>
                        </a:rPr>
                        <a:t>Expert-Urteile</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0" i="0">
                          <a:solidFill>
                            <a:srgbClr val="1F2328"/>
                          </a:solidFill>
                          <a:effectLst/>
                          <a:latin typeface="Mona Sans VF"/>
                        </a:rPr>
                        <a:t>Accuracy</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0" i="0">
                          <a:solidFill>
                            <a:srgbClr val="1F2328"/>
                          </a:solidFill>
                          <a:effectLst/>
                          <a:latin typeface="Mona Sans VF"/>
                        </a:rPr>
                        <a:t>Prosodie</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0" i="0">
                          <a:solidFill>
                            <a:srgbClr val="1F2328"/>
                          </a:solidFill>
                          <a:effectLst/>
                          <a:latin typeface="Mona Sans VF"/>
                        </a:rPr>
                        <a:t>TEILW.</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1571197761"/>
                  </a:ext>
                </a:extLst>
              </a:tr>
              <a:tr h="106130">
                <a:tc>
                  <a:txBody>
                    <a:bodyPr/>
                    <a:lstStyle/>
                    <a:p>
                      <a:pPr algn="l">
                        <a:spcAft>
                          <a:spcPts val="1200"/>
                        </a:spcAft>
                        <a:buNone/>
                      </a:pPr>
                      <a:r>
                        <a:rPr lang="de-DE" sz="500" b="0" i="0">
                          <a:solidFill>
                            <a:srgbClr val="1F2328"/>
                          </a:solidFill>
                          <a:effectLst/>
                          <a:latin typeface="Mona Sans VF"/>
                        </a:rPr>
                        <a:t>21</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1" i="0">
                          <a:solidFill>
                            <a:srgbClr val="1F2328"/>
                          </a:solidFill>
                          <a:effectLst/>
                          <a:latin typeface="Mona Sans VF"/>
                        </a:rPr>
                        <a:t>Chirkova</a:t>
                      </a:r>
                      <a:r>
                        <a:rPr lang="de-DE" sz="500" b="0" i="0">
                          <a:solidFill>
                            <a:srgbClr val="1F2328"/>
                          </a:solidFill>
                          <a:effectLst/>
                          <a:latin typeface="Mona Sans VF"/>
                        </a:rPr>
                        <a:t> (2025)</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1" i="0">
                          <a:solidFill>
                            <a:srgbClr val="1F2328"/>
                          </a:solidFill>
                          <a:effectLst/>
                          <a:latin typeface="Mona Sans VF"/>
                        </a:rPr>
                        <a:t>IPA+Pinyin+Ton</a:t>
                      </a:r>
                      <a:endParaRPr lang="de-DE" sz="500" b="0" i="0">
                        <a:solidFill>
                          <a:srgbClr val="1F2328"/>
                        </a:solidFill>
                        <a:effectLst/>
                        <a:latin typeface="Mona Sans VF"/>
                      </a:endParaRP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1" i="0">
                          <a:solidFill>
                            <a:srgbClr val="1F2328"/>
                          </a:solidFill>
                          <a:effectLst/>
                          <a:latin typeface="Mona Sans VF"/>
                        </a:rPr>
                        <a:t>tCER/tWER</a:t>
                      </a:r>
                      <a:endParaRPr lang="de-DE" sz="500" b="0" i="0">
                        <a:solidFill>
                          <a:srgbClr val="1F2328"/>
                        </a:solidFill>
                        <a:effectLst/>
                        <a:latin typeface="Mona Sans VF"/>
                      </a:endParaRP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1" i="0">
                          <a:solidFill>
                            <a:srgbClr val="1F2328"/>
                          </a:solidFill>
                          <a:effectLst/>
                          <a:latin typeface="Mona Sans VF"/>
                        </a:rPr>
                        <a:t>Separat</a:t>
                      </a:r>
                      <a:endParaRPr lang="de-DE" sz="500" b="0" i="0">
                        <a:solidFill>
                          <a:srgbClr val="1F2328"/>
                        </a:solidFill>
                        <a:effectLst/>
                        <a:latin typeface="Mona Sans VF"/>
                      </a:endParaRP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1" i="0">
                          <a:solidFill>
                            <a:srgbClr val="1F2328"/>
                          </a:solidFill>
                          <a:effectLst/>
                          <a:latin typeface="Mona Sans VF"/>
                        </a:rPr>
                        <a:t>JA</a:t>
                      </a:r>
                      <a:endParaRPr lang="de-DE" sz="500" b="0" i="0">
                        <a:solidFill>
                          <a:srgbClr val="1F2328"/>
                        </a:solidFill>
                        <a:effectLst/>
                        <a:latin typeface="Mona Sans VF"/>
                      </a:endParaRP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324664594"/>
                  </a:ext>
                </a:extLst>
              </a:tr>
              <a:tr h="106130">
                <a:tc>
                  <a:txBody>
                    <a:bodyPr/>
                    <a:lstStyle/>
                    <a:p>
                      <a:pPr algn="l">
                        <a:spcAft>
                          <a:spcPts val="1200"/>
                        </a:spcAft>
                        <a:buNone/>
                      </a:pPr>
                      <a:r>
                        <a:rPr lang="de-DE" sz="500" b="0" i="0">
                          <a:solidFill>
                            <a:srgbClr val="1F2328"/>
                          </a:solidFill>
                          <a:effectLst/>
                          <a:latin typeface="Mona Sans VF"/>
                        </a:rPr>
                        <a:t>22</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0" i="0">
                          <a:solidFill>
                            <a:srgbClr val="1F2328"/>
                          </a:solidFill>
                          <a:effectLst/>
                          <a:latin typeface="Mona Sans VF"/>
                        </a:rPr>
                        <a:t>Kang Tone-Sync (2024)</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0" i="0">
                          <a:solidFill>
                            <a:srgbClr val="1F2328"/>
                          </a:solidFill>
                          <a:effectLst/>
                          <a:latin typeface="Mona Sans VF"/>
                        </a:rPr>
                        <a:t>F2/f0-Trajekt.</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0" i="0">
                          <a:solidFill>
                            <a:srgbClr val="1F2328"/>
                          </a:solidFill>
                          <a:effectLst/>
                          <a:latin typeface="Mona Sans VF"/>
                        </a:rPr>
                        <a:t>GAMMs/Bayes</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0" i="0">
                          <a:solidFill>
                            <a:srgbClr val="1F2328"/>
                          </a:solidFill>
                          <a:effectLst/>
                          <a:latin typeface="Mona Sans VF"/>
                        </a:rPr>
                        <a:t>Fokus</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0" i="0">
                          <a:solidFill>
                            <a:srgbClr val="1F2328"/>
                          </a:solidFill>
                          <a:effectLst/>
                          <a:latin typeface="Mona Sans VF"/>
                        </a:rPr>
                        <a:t>TEILW.</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1084236724"/>
                  </a:ext>
                </a:extLst>
              </a:tr>
              <a:tr h="106130">
                <a:tc>
                  <a:txBody>
                    <a:bodyPr/>
                    <a:lstStyle/>
                    <a:p>
                      <a:pPr algn="l">
                        <a:spcAft>
                          <a:spcPts val="1200"/>
                        </a:spcAft>
                        <a:buNone/>
                      </a:pPr>
                      <a:r>
                        <a:rPr lang="de-DE" sz="500" b="0" i="0">
                          <a:solidFill>
                            <a:srgbClr val="1F2328"/>
                          </a:solidFill>
                          <a:effectLst/>
                          <a:latin typeface="Mona Sans VF"/>
                        </a:rPr>
                        <a:t>23</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0" i="0">
                          <a:solidFill>
                            <a:srgbClr val="1F2328"/>
                          </a:solidFill>
                          <a:effectLst/>
                          <a:latin typeface="Mona Sans VF"/>
                        </a:rPr>
                        <a:t>Kaur Survey (2021)</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0" i="0">
                          <a:solidFill>
                            <a:srgbClr val="1F2328"/>
                          </a:solidFill>
                          <a:effectLst/>
                          <a:latin typeface="Mona Sans VF"/>
                        </a:rPr>
                        <a:t>— (Review)</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0" i="0">
                          <a:solidFill>
                            <a:srgbClr val="1F2328"/>
                          </a:solidFill>
                          <a:effectLst/>
                          <a:latin typeface="Mona Sans VF"/>
                        </a:rPr>
                        <a:t>WER</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0" i="0">
                          <a:solidFill>
                            <a:srgbClr val="1F2328"/>
                          </a:solidFill>
                          <a:effectLst/>
                          <a:latin typeface="Mona Sans VF"/>
                        </a:rPr>
                        <a:t>Diskutiert</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0" i="0">
                          <a:solidFill>
                            <a:srgbClr val="1F2328"/>
                          </a:solidFill>
                          <a:effectLst/>
                          <a:latin typeface="Mona Sans VF"/>
                        </a:rPr>
                        <a:t>TEILW.</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2571400364"/>
                  </a:ext>
                </a:extLst>
              </a:tr>
              <a:tr h="106130">
                <a:tc>
                  <a:txBody>
                    <a:bodyPr/>
                    <a:lstStyle/>
                    <a:p>
                      <a:pPr algn="l">
                        <a:spcAft>
                          <a:spcPts val="1200"/>
                        </a:spcAft>
                        <a:buNone/>
                      </a:pPr>
                      <a:r>
                        <a:rPr lang="de-DE" sz="500" b="0" i="0">
                          <a:solidFill>
                            <a:srgbClr val="1F2328"/>
                          </a:solidFill>
                          <a:effectLst/>
                          <a:latin typeface="Mona Sans VF"/>
                        </a:rPr>
                        <a:t>24</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0" i="0">
                          <a:solidFill>
                            <a:srgbClr val="1F2328"/>
                          </a:solidFill>
                          <a:effectLst/>
                          <a:latin typeface="Mona Sans VF"/>
                        </a:rPr>
                        <a:t>Ahlawat Survey (2025)</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0" i="0">
                          <a:solidFill>
                            <a:srgbClr val="1F2328"/>
                          </a:solidFill>
                          <a:effectLst/>
                          <a:latin typeface="Mona Sans VF"/>
                        </a:rPr>
                        <a:t>— (Review)</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0" i="0">
                          <a:solidFill>
                            <a:srgbClr val="1F2328"/>
                          </a:solidFill>
                          <a:effectLst/>
                          <a:latin typeface="Mona Sans VF"/>
                        </a:rPr>
                        <a:t>WER/CER</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0" i="0">
                          <a:solidFill>
                            <a:srgbClr val="1F2328"/>
                          </a:solidFill>
                          <a:effectLst/>
                          <a:latin typeface="Mona Sans VF"/>
                        </a:rPr>
                        <a:t>Nicht addr.</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0" i="0">
                          <a:solidFill>
                            <a:srgbClr val="1F2328"/>
                          </a:solidFill>
                          <a:effectLst/>
                          <a:latin typeface="Mona Sans VF"/>
                        </a:rPr>
                        <a:t>NEIN</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1415022476"/>
                  </a:ext>
                </a:extLst>
              </a:tr>
              <a:tr h="106130">
                <a:tc>
                  <a:txBody>
                    <a:bodyPr/>
                    <a:lstStyle/>
                    <a:p>
                      <a:pPr algn="l">
                        <a:spcAft>
                          <a:spcPts val="1200"/>
                        </a:spcAft>
                        <a:buNone/>
                      </a:pPr>
                      <a:r>
                        <a:rPr lang="de-DE" sz="500" b="0" i="0">
                          <a:solidFill>
                            <a:srgbClr val="1F2328"/>
                          </a:solidFill>
                          <a:effectLst/>
                          <a:latin typeface="Mona Sans VF"/>
                        </a:rPr>
                        <a:t>25</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0" i="0">
                          <a:solidFill>
                            <a:srgbClr val="1F2328"/>
                          </a:solidFill>
                          <a:effectLst/>
                          <a:latin typeface="Mona Sans VF"/>
                        </a:rPr>
                        <a:t>Li PY-GEC (2024)</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0" i="0">
                          <a:solidFill>
                            <a:srgbClr val="1F2328"/>
                          </a:solidFill>
                          <a:effectLst/>
                          <a:latin typeface="Mona Sans VF"/>
                        </a:rPr>
                        <a:t>Hanzi</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0" i="0">
                          <a:solidFill>
                            <a:srgbClr val="1F2328"/>
                          </a:solidFill>
                          <a:effectLst/>
                          <a:latin typeface="Mona Sans VF"/>
                        </a:rPr>
                        <a:t>CER</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0" i="0">
                          <a:solidFill>
                            <a:srgbClr val="1F2328"/>
                          </a:solidFill>
                          <a:effectLst/>
                          <a:latin typeface="Mona Sans VF"/>
                        </a:rPr>
                        <a:t>Pinyin-Hilfe</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0" i="0">
                          <a:solidFill>
                            <a:srgbClr val="1F2328"/>
                          </a:solidFill>
                          <a:effectLst/>
                          <a:latin typeface="Mona Sans VF"/>
                        </a:rPr>
                        <a:t>TEILW.</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3973563449"/>
                  </a:ext>
                </a:extLst>
              </a:tr>
              <a:tr h="106130">
                <a:tc>
                  <a:txBody>
                    <a:bodyPr/>
                    <a:lstStyle/>
                    <a:p>
                      <a:pPr algn="l">
                        <a:spcAft>
                          <a:spcPts val="1200"/>
                        </a:spcAft>
                        <a:buNone/>
                      </a:pPr>
                      <a:r>
                        <a:rPr lang="de-DE" sz="500" b="0" i="0">
                          <a:solidFill>
                            <a:srgbClr val="1F2328"/>
                          </a:solidFill>
                          <a:effectLst/>
                          <a:latin typeface="Mona Sans VF"/>
                        </a:rPr>
                        <a:t>26</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0" i="0">
                          <a:solidFill>
                            <a:srgbClr val="1F2328"/>
                          </a:solidFill>
                          <a:effectLst/>
                          <a:latin typeface="Mona Sans VF"/>
                        </a:rPr>
                        <a:t>Liang PERL (2024)</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0" i="0">
                          <a:solidFill>
                            <a:srgbClr val="1F2328"/>
                          </a:solidFill>
                          <a:effectLst/>
                          <a:latin typeface="Mona Sans VF"/>
                        </a:rPr>
                        <a:t>Hanzi</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0" i="0">
                          <a:solidFill>
                            <a:srgbClr val="1F2328"/>
                          </a:solidFill>
                          <a:effectLst/>
                          <a:latin typeface="Mona Sans VF"/>
                        </a:rPr>
                        <a:t>CER/CERR</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0" i="0">
                          <a:solidFill>
                            <a:srgbClr val="1F2328"/>
                          </a:solidFill>
                          <a:effectLst/>
                          <a:latin typeface="Mona Sans VF"/>
                        </a:rPr>
                        <a:t>Pinyin-Embed.</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0" i="0">
                          <a:solidFill>
                            <a:srgbClr val="1F2328"/>
                          </a:solidFill>
                          <a:effectLst/>
                          <a:latin typeface="Mona Sans VF"/>
                        </a:rPr>
                        <a:t>TEILW.</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1696107949"/>
                  </a:ext>
                </a:extLst>
              </a:tr>
              <a:tr h="106130">
                <a:tc>
                  <a:txBody>
                    <a:bodyPr/>
                    <a:lstStyle/>
                    <a:p>
                      <a:pPr algn="l">
                        <a:spcAft>
                          <a:spcPts val="1200"/>
                        </a:spcAft>
                        <a:buNone/>
                      </a:pPr>
                      <a:r>
                        <a:rPr lang="de-DE" sz="500" b="0" i="0">
                          <a:solidFill>
                            <a:srgbClr val="1F2328"/>
                          </a:solidFill>
                          <a:effectLst/>
                          <a:latin typeface="Mona Sans VF"/>
                        </a:rPr>
                        <a:t>27</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0" i="0">
                          <a:solidFill>
                            <a:srgbClr val="1F2328"/>
                          </a:solidFill>
                          <a:effectLst/>
                          <a:latin typeface="Mona Sans VF"/>
                        </a:rPr>
                        <a:t>Sakshi MMAU (2024)</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0" i="0">
                          <a:solidFill>
                            <a:srgbClr val="1F2328"/>
                          </a:solidFill>
                          <a:effectLst/>
                          <a:latin typeface="Mona Sans VF"/>
                        </a:rPr>
                        <a:t>Expert-Annot.</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0" i="0">
                          <a:solidFill>
                            <a:srgbClr val="1F2328"/>
                          </a:solidFill>
                          <a:effectLst/>
                          <a:latin typeface="Mona Sans VF"/>
                        </a:rPr>
                        <a:t>Micro-Acc</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0" i="0">
                          <a:solidFill>
                            <a:srgbClr val="1F2328"/>
                          </a:solidFill>
                          <a:effectLst/>
                          <a:latin typeface="Mona Sans VF"/>
                        </a:rPr>
                        <a:t>Nein</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0" i="0">
                          <a:solidFill>
                            <a:srgbClr val="1F2328"/>
                          </a:solidFill>
                          <a:effectLst/>
                          <a:latin typeface="Mona Sans VF"/>
                        </a:rPr>
                        <a:t>NEIN</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277701371"/>
                  </a:ext>
                </a:extLst>
              </a:tr>
              <a:tr h="106130">
                <a:tc>
                  <a:txBody>
                    <a:bodyPr/>
                    <a:lstStyle/>
                    <a:p>
                      <a:pPr algn="l">
                        <a:spcAft>
                          <a:spcPts val="1200"/>
                        </a:spcAft>
                        <a:buNone/>
                      </a:pPr>
                      <a:r>
                        <a:rPr lang="de-DE" sz="500" b="0" i="0">
                          <a:solidFill>
                            <a:srgbClr val="1F2328"/>
                          </a:solidFill>
                          <a:effectLst/>
                          <a:latin typeface="Mona Sans VF"/>
                        </a:rPr>
                        <a:t>28</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0" i="0">
                          <a:solidFill>
                            <a:srgbClr val="1F2328"/>
                          </a:solidFill>
                          <a:effectLst/>
                          <a:latin typeface="Mona Sans VF"/>
                        </a:rPr>
                        <a:t>Dyn-SUPERB (2024)</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0" i="0">
                          <a:solidFill>
                            <a:srgbClr val="1F2328"/>
                          </a:solidFill>
                          <a:effectLst/>
                          <a:latin typeface="Mona Sans VF"/>
                        </a:rPr>
                        <a:t>Task-Gold</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0" i="0">
                          <a:solidFill>
                            <a:srgbClr val="1F2328"/>
                          </a:solidFill>
                          <a:effectLst/>
                          <a:latin typeface="Mona Sans VF"/>
                        </a:rPr>
                        <a:t>LLM-Pipeline</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0" i="0">
                          <a:solidFill>
                            <a:srgbClr val="1F2328"/>
                          </a:solidFill>
                          <a:effectLst/>
                          <a:latin typeface="Mona Sans VF"/>
                        </a:rPr>
                        <a:t>Teilw.</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0" i="0">
                          <a:solidFill>
                            <a:srgbClr val="1F2328"/>
                          </a:solidFill>
                          <a:effectLst/>
                          <a:latin typeface="Mona Sans VF"/>
                        </a:rPr>
                        <a:t>TEILW.</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647325511"/>
                  </a:ext>
                </a:extLst>
              </a:tr>
              <a:tr h="106130">
                <a:tc>
                  <a:txBody>
                    <a:bodyPr/>
                    <a:lstStyle/>
                    <a:p>
                      <a:pPr algn="l">
                        <a:spcAft>
                          <a:spcPts val="1200"/>
                        </a:spcAft>
                        <a:buNone/>
                      </a:pPr>
                      <a:r>
                        <a:rPr lang="de-DE" sz="500" b="0" i="0">
                          <a:solidFill>
                            <a:srgbClr val="1F2328"/>
                          </a:solidFill>
                          <a:effectLst/>
                          <a:latin typeface="Mona Sans VF"/>
                        </a:rPr>
                        <a:t>29</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0" i="0">
                          <a:solidFill>
                            <a:srgbClr val="1F2328"/>
                          </a:solidFill>
                          <a:effectLst/>
                          <a:latin typeface="Mona Sans VF"/>
                        </a:rPr>
                        <a:t>Cui VoxEval (2025)</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0" i="0">
                          <a:solidFill>
                            <a:srgbClr val="1F2328"/>
                          </a:solidFill>
                          <a:effectLst/>
                          <a:latin typeface="Mona Sans VF"/>
                        </a:rPr>
                        <a:t>Wissensbasis</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0" i="0">
                          <a:solidFill>
                            <a:srgbClr val="1F2328"/>
                          </a:solidFill>
                          <a:effectLst/>
                          <a:latin typeface="Mona Sans VF"/>
                        </a:rPr>
                        <a:t>Accuracy</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0" i="0">
                          <a:solidFill>
                            <a:srgbClr val="1F2328"/>
                          </a:solidFill>
                          <a:effectLst/>
                          <a:latin typeface="Mona Sans VF"/>
                        </a:rPr>
                        <a:t>Nein</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0" i="0">
                          <a:solidFill>
                            <a:srgbClr val="1F2328"/>
                          </a:solidFill>
                          <a:effectLst/>
                          <a:latin typeface="Mona Sans VF"/>
                        </a:rPr>
                        <a:t>NEIN</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4093883109"/>
                  </a:ext>
                </a:extLst>
              </a:tr>
              <a:tr h="176884">
                <a:tc>
                  <a:txBody>
                    <a:bodyPr/>
                    <a:lstStyle/>
                    <a:p>
                      <a:pPr algn="l">
                        <a:spcAft>
                          <a:spcPts val="1200"/>
                        </a:spcAft>
                        <a:buNone/>
                      </a:pPr>
                      <a:r>
                        <a:rPr lang="de-DE" sz="500" b="0" i="0">
                          <a:solidFill>
                            <a:srgbClr val="1F2328"/>
                          </a:solidFill>
                          <a:effectLst/>
                          <a:latin typeface="Mona Sans VF"/>
                        </a:rPr>
                        <a:t>30</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0" i="0">
                          <a:solidFill>
                            <a:srgbClr val="1F2328"/>
                          </a:solidFill>
                          <a:effectLst/>
                          <a:latin typeface="Mona Sans VF"/>
                        </a:rPr>
                        <a:t>Wang AudioBench (2024)</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0" i="0">
                          <a:solidFill>
                            <a:srgbClr val="1F2328"/>
                          </a:solidFill>
                          <a:effectLst/>
                          <a:latin typeface="Mona Sans VF"/>
                        </a:rPr>
                        <a:t>Gold-Datensätze</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0" i="0">
                          <a:solidFill>
                            <a:srgbClr val="1F2328"/>
                          </a:solidFill>
                          <a:effectLst/>
                          <a:latin typeface="Mona Sans VF"/>
                        </a:rPr>
                        <a:t>WER/MOS</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0" i="0">
                          <a:solidFill>
                            <a:srgbClr val="1F2328"/>
                          </a:solidFill>
                          <a:effectLst/>
                          <a:latin typeface="Mona Sans VF"/>
                        </a:rPr>
                        <a:t>Nein</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0" i="0">
                          <a:solidFill>
                            <a:srgbClr val="1F2328"/>
                          </a:solidFill>
                          <a:effectLst/>
                          <a:latin typeface="Mona Sans VF"/>
                        </a:rPr>
                        <a:t>NEIN</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4234023877"/>
                  </a:ext>
                </a:extLst>
              </a:tr>
              <a:tr h="176884">
                <a:tc>
                  <a:txBody>
                    <a:bodyPr/>
                    <a:lstStyle/>
                    <a:p>
                      <a:pPr algn="l">
                        <a:spcAft>
                          <a:spcPts val="1200"/>
                        </a:spcAft>
                        <a:buNone/>
                      </a:pPr>
                      <a:r>
                        <a:rPr lang="de-DE" sz="500" b="0" i="0">
                          <a:solidFill>
                            <a:srgbClr val="1F2328"/>
                          </a:solidFill>
                          <a:effectLst/>
                          <a:latin typeface="Mona Sans VF"/>
                        </a:rPr>
                        <a:t>31</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0" i="0">
                          <a:solidFill>
                            <a:srgbClr val="1F2328"/>
                          </a:solidFill>
                          <a:effectLst/>
                          <a:latin typeface="Mona Sans VF"/>
                        </a:rPr>
                        <a:t>Zhang WildSpeech (2025)</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0" i="0">
                          <a:solidFill>
                            <a:srgbClr val="1F2328"/>
                          </a:solidFill>
                          <a:effectLst/>
                          <a:latin typeface="Mona Sans VF"/>
                        </a:rPr>
                        <a:t>Expert-Bew.</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0" i="0">
                          <a:solidFill>
                            <a:srgbClr val="1F2328"/>
                          </a:solidFill>
                          <a:effectLst/>
                          <a:latin typeface="Mona Sans VF"/>
                        </a:rPr>
                        <a:t>GPT-4o Judge</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0" i="0">
                          <a:solidFill>
                            <a:srgbClr val="1F2328"/>
                          </a:solidFill>
                          <a:effectLst/>
                          <a:latin typeface="Mona Sans VF"/>
                        </a:rPr>
                        <a:t>Paralinguis.</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0" i="0">
                          <a:solidFill>
                            <a:srgbClr val="1F2328"/>
                          </a:solidFill>
                          <a:effectLst/>
                          <a:latin typeface="Mona Sans VF"/>
                        </a:rPr>
                        <a:t>TEILW.</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4122577715"/>
                  </a:ext>
                </a:extLst>
              </a:tr>
              <a:tr h="106130">
                <a:tc>
                  <a:txBody>
                    <a:bodyPr/>
                    <a:lstStyle/>
                    <a:p>
                      <a:pPr algn="l">
                        <a:spcAft>
                          <a:spcPts val="1200"/>
                        </a:spcAft>
                        <a:buNone/>
                      </a:pPr>
                      <a:r>
                        <a:rPr lang="de-DE" sz="500" b="0" i="0">
                          <a:solidFill>
                            <a:srgbClr val="1F2328"/>
                          </a:solidFill>
                          <a:effectLst/>
                          <a:latin typeface="Mona Sans VF"/>
                        </a:rPr>
                        <a:t>32</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0" i="0">
                          <a:solidFill>
                            <a:srgbClr val="1F2328"/>
                          </a:solidFill>
                          <a:effectLst/>
                          <a:latin typeface="Mona Sans VF"/>
                        </a:rPr>
                        <a:t>Yang LLM+Speech (2025)</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0" i="0">
                          <a:solidFill>
                            <a:srgbClr val="1F2328"/>
                          </a:solidFill>
                          <a:effectLst/>
                          <a:latin typeface="Mona Sans VF"/>
                        </a:rPr>
                        <a:t>Benchmarks</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0" i="0">
                          <a:solidFill>
                            <a:srgbClr val="1F2328"/>
                          </a:solidFill>
                          <a:effectLst/>
                          <a:latin typeface="Mona Sans VF"/>
                        </a:rPr>
                        <a:t>WER/BLEU</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0" i="0">
                          <a:solidFill>
                            <a:srgbClr val="1F2328"/>
                          </a:solidFill>
                          <a:effectLst/>
                          <a:latin typeface="Mona Sans VF"/>
                        </a:rPr>
                        <a:t>Nein</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0" i="0">
                          <a:solidFill>
                            <a:srgbClr val="1F2328"/>
                          </a:solidFill>
                          <a:effectLst/>
                          <a:latin typeface="Mona Sans VF"/>
                        </a:rPr>
                        <a:t>NEIN</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1015461883"/>
                  </a:ext>
                </a:extLst>
              </a:tr>
              <a:tr h="106130">
                <a:tc>
                  <a:txBody>
                    <a:bodyPr/>
                    <a:lstStyle/>
                    <a:p>
                      <a:pPr algn="l">
                        <a:spcAft>
                          <a:spcPts val="1200"/>
                        </a:spcAft>
                        <a:buNone/>
                      </a:pPr>
                      <a:r>
                        <a:rPr lang="de-DE" sz="500" b="0" i="0">
                          <a:solidFill>
                            <a:srgbClr val="1F2328"/>
                          </a:solidFill>
                          <a:effectLst/>
                          <a:latin typeface="Mona Sans VF"/>
                        </a:rPr>
                        <a:t>33</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0" i="0">
                          <a:solidFill>
                            <a:srgbClr val="1F2328"/>
                          </a:solidFill>
                          <a:effectLst/>
                          <a:latin typeface="Mona Sans VF"/>
                        </a:rPr>
                        <a:t>Yang Eval Survey (2025)</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0" i="0">
                          <a:solidFill>
                            <a:srgbClr val="1F2328"/>
                          </a:solidFill>
                          <a:effectLst/>
                          <a:latin typeface="Mona Sans VF"/>
                        </a:rPr>
                        <a:t>Benchmarks</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0" i="0">
                          <a:solidFill>
                            <a:srgbClr val="1F2328"/>
                          </a:solidFill>
                          <a:effectLst/>
                          <a:latin typeface="Mona Sans VF"/>
                        </a:rPr>
                        <a:t>Diverse</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0" i="0">
                          <a:solidFill>
                            <a:srgbClr val="1F2328"/>
                          </a:solidFill>
                          <a:effectLst/>
                          <a:latin typeface="Mona Sans VF"/>
                        </a:rPr>
                        <a:t>Nein</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0" i="0">
                          <a:solidFill>
                            <a:srgbClr val="1F2328"/>
                          </a:solidFill>
                          <a:effectLst/>
                          <a:latin typeface="Mona Sans VF"/>
                        </a:rPr>
                        <a:t>NEIN</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2929274345"/>
                  </a:ext>
                </a:extLst>
              </a:tr>
              <a:tr h="106130">
                <a:tc>
                  <a:txBody>
                    <a:bodyPr/>
                    <a:lstStyle/>
                    <a:p>
                      <a:pPr algn="l">
                        <a:spcAft>
                          <a:spcPts val="1200"/>
                        </a:spcAft>
                        <a:buNone/>
                      </a:pPr>
                      <a:r>
                        <a:rPr lang="de-DE" sz="500" b="0" i="0">
                          <a:solidFill>
                            <a:srgbClr val="1F2328"/>
                          </a:solidFill>
                          <a:effectLst/>
                          <a:latin typeface="Mona Sans VF"/>
                        </a:rPr>
                        <a:t>34</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0" i="0">
                          <a:solidFill>
                            <a:srgbClr val="1F2328"/>
                          </a:solidFill>
                          <a:effectLst/>
                          <a:latin typeface="Mona Sans VF"/>
                        </a:rPr>
                        <a:t>Latif LAM (2023)</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0" i="0">
                          <a:solidFill>
                            <a:srgbClr val="1F2328"/>
                          </a:solidFill>
                          <a:effectLst/>
                          <a:latin typeface="Mona Sans VF"/>
                        </a:rPr>
                        <a:t>Benchmarks</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0" i="0">
                          <a:solidFill>
                            <a:srgbClr val="1F2328"/>
                          </a:solidFill>
                          <a:effectLst/>
                          <a:latin typeface="Mona Sans VF"/>
                        </a:rPr>
                        <a:t>WER</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0" i="0">
                          <a:solidFill>
                            <a:srgbClr val="1F2328"/>
                          </a:solidFill>
                          <a:effectLst/>
                          <a:latin typeface="Mona Sans VF"/>
                        </a:rPr>
                        <a:t>Nein</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0" i="0">
                          <a:solidFill>
                            <a:srgbClr val="1F2328"/>
                          </a:solidFill>
                          <a:effectLst/>
                          <a:latin typeface="Mona Sans VF"/>
                        </a:rPr>
                        <a:t>NEIN</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3838901893"/>
                  </a:ext>
                </a:extLst>
              </a:tr>
              <a:tr h="106130">
                <a:tc>
                  <a:txBody>
                    <a:bodyPr/>
                    <a:lstStyle/>
                    <a:p>
                      <a:pPr algn="l">
                        <a:spcAft>
                          <a:spcPts val="1200"/>
                        </a:spcAft>
                        <a:buNone/>
                      </a:pPr>
                      <a:r>
                        <a:rPr lang="de-DE" sz="500" b="0" i="0">
                          <a:solidFill>
                            <a:srgbClr val="1F2328"/>
                          </a:solidFill>
                          <a:effectLst/>
                          <a:latin typeface="Mona Sans VF"/>
                        </a:rPr>
                        <a:t>35</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0" i="0">
                          <a:solidFill>
                            <a:srgbClr val="1F2328"/>
                          </a:solidFill>
                          <a:effectLst/>
                          <a:latin typeface="Mona Sans VF"/>
                        </a:rPr>
                        <a:t>Gaido ST (2024)</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0" i="0">
                          <a:solidFill>
                            <a:srgbClr val="1F2328"/>
                          </a:solidFill>
                          <a:effectLst/>
                          <a:latin typeface="Mona Sans VF"/>
                        </a:rPr>
                        <a:t>ST-Benchmarks</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0" i="0">
                          <a:solidFill>
                            <a:srgbClr val="1F2328"/>
                          </a:solidFill>
                          <a:effectLst/>
                          <a:latin typeface="Mona Sans VF"/>
                        </a:rPr>
                        <a:t>BLEU</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0" i="0">
                          <a:solidFill>
                            <a:srgbClr val="1F2328"/>
                          </a:solidFill>
                          <a:effectLst/>
                          <a:latin typeface="Mona Sans VF"/>
                        </a:rPr>
                        <a:t>Nein</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0" i="0">
                          <a:solidFill>
                            <a:srgbClr val="1F2328"/>
                          </a:solidFill>
                          <a:effectLst/>
                          <a:latin typeface="Mona Sans VF"/>
                        </a:rPr>
                        <a:t>NEIN</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2242139762"/>
                  </a:ext>
                </a:extLst>
              </a:tr>
              <a:tr h="106130">
                <a:tc>
                  <a:txBody>
                    <a:bodyPr/>
                    <a:lstStyle/>
                    <a:p>
                      <a:pPr algn="l">
                        <a:spcAft>
                          <a:spcPts val="1200"/>
                        </a:spcAft>
                        <a:buNone/>
                      </a:pPr>
                      <a:r>
                        <a:rPr lang="de-DE" sz="500" b="0" i="0">
                          <a:solidFill>
                            <a:srgbClr val="1F2328"/>
                          </a:solidFill>
                          <a:effectLst/>
                          <a:latin typeface="Mona Sans VF"/>
                        </a:rPr>
                        <a:t>36</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0" i="0">
                          <a:solidFill>
                            <a:srgbClr val="1F2328"/>
                          </a:solidFill>
                          <a:effectLst/>
                          <a:latin typeface="Mona Sans VF"/>
                        </a:rPr>
                        <a:t>Cui SpeechLM (2024)</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0" i="0">
                          <a:solidFill>
                            <a:srgbClr val="1F2328"/>
                          </a:solidFill>
                          <a:effectLst/>
                          <a:latin typeface="Mona Sans VF"/>
                        </a:rPr>
                        <a:t>Benchmarks</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0" i="0">
                          <a:solidFill>
                            <a:srgbClr val="1F2328"/>
                          </a:solidFill>
                          <a:effectLst/>
                          <a:latin typeface="Mona Sans VF"/>
                        </a:rPr>
                        <a:t>Diverse</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0" i="0">
                          <a:solidFill>
                            <a:srgbClr val="1F2328"/>
                          </a:solidFill>
                          <a:effectLst/>
                          <a:latin typeface="Mona Sans VF"/>
                        </a:rPr>
                        <a:t>Nein</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0" i="0">
                          <a:solidFill>
                            <a:srgbClr val="1F2328"/>
                          </a:solidFill>
                          <a:effectLst/>
                          <a:latin typeface="Mona Sans VF"/>
                        </a:rPr>
                        <a:t>NEIN</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22810730"/>
                  </a:ext>
                </a:extLst>
              </a:tr>
              <a:tr h="106130">
                <a:tc>
                  <a:txBody>
                    <a:bodyPr/>
                    <a:lstStyle/>
                    <a:p>
                      <a:pPr algn="l">
                        <a:spcAft>
                          <a:spcPts val="1200"/>
                        </a:spcAft>
                        <a:buNone/>
                      </a:pPr>
                      <a:r>
                        <a:rPr lang="de-DE" sz="500" b="0" i="0">
                          <a:solidFill>
                            <a:srgbClr val="1F2328"/>
                          </a:solidFill>
                          <a:effectLst/>
                          <a:latin typeface="Mona Sans VF"/>
                        </a:rPr>
                        <a:t>37</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0" i="0">
                          <a:solidFill>
                            <a:srgbClr val="1F2328"/>
                          </a:solidFill>
                          <a:effectLst/>
                          <a:latin typeface="Mona Sans VF"/>
                        </a:rPr>
                        <a:t>Arora SLM (2025)</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0" i="0">
                          <a:solidFill>
                            <a:srgbClr val="1F2328"/>
                          </a:solidFill>
                          <a:effectLst/>
                          <a:latin typeface="Mona Sans VF"/>
                        </a:rPr>
                        <a:t>Benchmarks</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0" i="0">
                          <a:solidFill>
                            <a:srgbClr val="1F2328"/>
                          </a:solidFill>
                          <a:effectLst/>
                          <a:latin typeface="Mona Sans VF"/>
                        </a:rPr>
                        <a:t>ABX/WER</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0" i="0">
                          <a:solidFill>
                            <a:srgbClr val="1F2328"/>
                          </a:solidFill>
                          <a:effectLst/>
                          <a:latin typeface="Mona Sans VF"/>
                        </a:rPr>
                        <a:t>Nein</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500" b="0" i="0">
                          <a:solidFill>
                            <a:srgbClr val="1F2328"/>
                          </a:solidFill>
                          <a:effectLst/>
                          <a:latin typeface="Mona Sans VF"/>
                        </a:rPr>
                        <a:t>NEIN</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3669450709"/>
                  </a:ext>
                </a:extLst>
              </a:tr>
              <a:tr h="176884">
                <a:tc>
                  <a:txBody>
                    <a:bodyPr/>
                    <a:lstStyle/>
                    <a:p>
                      <a:pPr algn="l">
                        <a:spcAft>
                          <a:spcPts val="1200"/>
                        </a:spcAft>
                        <a:buNone/>
                      </a:pPr>
                      <a:r>
                        <a:rPr lang="de-DE" sz="500" b="0" i="0">
                          <a:solidFill>
                            <a:srgbClr val="1F2328"/>
                          </a:solidFill>
                          <a:effectLst/>
                          <a:latin typeface="Mona Sans VF"/>
                        </a:rPr>
                        <a:t>38–42</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0" i="0">
                          <a:solidFill>
                            <a:srgbClr val="1F2328"/>
                          </a:solidFill>
                          <a:effectLst/>
                          <a:latin typeface="Mona Sans VF"/>
                        </a:rPr>
                        <a:t>(Peng, SpeechIO, Xu SITA, etc.)</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0" i="0">
                          <a:solidFill>
                            <a:srgbClr val="1F2328"/>
                          </a:solidFill>
                          <a:effectLst/>
                          <a:latin typeface="Mona Sans VF"/>
                        </a:rPr>
                        <a:t>Hanzi/Bench.</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0" i="0">
                          <a:solidFill>
                            <a:srgbClr val="1F2328"/>
                          </a:solidFill>
                          <a:effectLst/>
                          <a:latin typeface="Mona Sans VF"/>
                        </a:rPr>
                        <a:t>CER/WER/Acc</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0" i="0">
                          <a:solidFill>
                            <a:srgbClr val="1F2328"/>
                          </a:solidFill>
                          <a:effectLst/>
                          <a:latin typeface="Mona Sans VF"/>
                        </a:rPr>
                        <a:t>Ignoriert</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500" b="0" i="0" dirty="0">
                          <a:solidFill>
                            <a:srgbClr val="1F2328"/>
                          </a:solidFill>
                          <a:effectLst/>
                          <a:latin typeface="Mona Sans VF"/>
                        </a:rPr>
                        <a:t>NEIN</a:t>
                      </a:r>
                    </a:p>
                  </a:txBody>
                  <a:tcPr marL="38325" marR="38325" marT="17688" marB="17688"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2403343223"/>
                  </a:ext>
                </a:extLst>
              </a:tr>
            </a:tbl>
          </a:graphicData>
        </a:graphic>
      </p:graphicFrame>
    </p:spTree>
    <p:extLst>
      <p:ext uri="{BB962C8B-B14F-4D97-AF65-F5344CB8AC3E}">
        <p14:creationId xmlns:p14="http://schemas.microsoft.com/office/powerpoint/2010/main" val="374300625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003638-7C12-A307-ADC2-93666F96C5B2}"/>
              </a:ext>
            </a:extLst>
          </p:cNvPr>
          <p:cNvSpPr>
            <a:spLocks noGrp="1"/>
          </p:cNvSpPr>
          <p:nvPr>
            <p:ph type="title"/>
          </p:nvPr>
        </p:nvSpPr>
        <p:spPr/>
        <p:txBody>
          <a:bodyPr/>
          <a:lstStyle/>
          <a:p>
            <a:endParaRPr lang="de-DE"/>
          </a:p>
        </p:txBody>
      </p:sp>
      <p:sp>
        <p:nvSpPr>
          <p:cNvPr id="3" name="Content Placeholder 2">
            <a:extLst>
              <a:ext uri="{FF2B5EF4-FFF2-40B4-BE49-F238E27FC236}">
                <a16:creationId xmlns:a16="http://schemas.microsoft.com/office/drawing/2014/main" id="{AF2BD69A-795D-6879-9F9D-33DA7685DF7B}"/>
              </a:ext>
            </a:extLst>
          </p:cNvPr>
          <p:cNvSpPr>
            <a:spLocks noGrp="1"/>
          </p:cNvSpPr>
          <p:nvPr>
            <p:ph idx="1"/>
          </p:nvPr>
        </p:nvSpPr>
        <p:spPr/>
        <p:txBody>
          <a:bodyPr/>
          <a:lstStyle/>
          <a:p>
            <a:endParaRPr lang="de-DE"/>
          </a:p>
        </p:txBody>
      </p:sp>
    </p:spTree>
    <p:extLst>
      <p:ext uri="{BB962C8B-B14F-4D97-AF65-F5344CB8AC3E}">
        <p14:creationId xmlns:p14="http://schemas.microsoft.com/office/powerpoint/2010/main" val="107623594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14873-2440-6B7D-C06C-702D8EDF0044}"/>
              </a:ext>
            </a:extLst>
          </p:cNvPr>
          <p:cNvSpPr>
            <a:spLocks noGrp="1"/>
          </p:cNvSpPr>
          <p:nvPr>
            <p:ph type="title"/>
          </p:nvPr>
        </p:nvSpPr>
        <p:spPr/>
        <p:txBody>
          <a:bodyPr/>
          <a:lstStyle/>
          <a:p>
            <a:r>
              <a:rPr lang="de-DE" dirty="0"/>
              <a:t>Modellauswahl</a:t>
            </a:r>
          </a:p>
        </p:txBody>
      </p:sp>
      <p:sp>
        <p:nvSpPr>
          <p:cNvPr id="3" name="Content Placeholder 2">
            <a:extLst>
              <a:ext uri="{FF2B5EF4-FFF2-40B4-BE49-F238E27FC236}">
                <a16:creationId xmlns:a16="http://schemas.microsoft.com/office/drawing/2014/main" id="{971F1708-9B49-5B67-DBE5-597D25D64488}"/>
              </a:ext>
            </a:extLst>
          </p:cNvPr>
          <p:cNvSpPr>
            <a:spLocks noGrp="1"/>
          </p:cNvSpPr>
          <p:nvPr>
            <p:ph idx="1"/>
          </p:nvPr>
        </p:nvSpPr>
        <p:spPr/>
        <p:txBody>
          <a:bodyPr/>
          <a:lstStyle/>
          <a:p>
            <a:endParaRPr lang="de-DE"/>
          </a:p>
        </p:txBody>
      </p:sp>
    </p:spTree>
    <p:extLst>
      <p:ext uri="{BB962C8B-B14F-4D97-AF65-F5344CB8AC3E}">
        <p14:creationId xmlns:p14="http://schemas.microsoft.com/office/powerpoint/2010/main" val="202558551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6B8065-E5E0-9304-E9EB-71F9DB276410}"/>
              </a:ext>
            </a:extLst>
          </p:cNvPr>
          <p:cNvSpPr>
            <a:spLocks noGrp="1"/>
          </p:cNvSpPr>
          <p:nvPr>
            <p:ph type="title"/>
          </p:nvPr>
        </p:nvSpPr>
        <p:spPr/>
        <p:txBody>
          <a:bodyPr/>
          <a:lstStyle/>
          <a:p>
            <a:r>
              <a:rPr lang="de-DE" dirty="0"/>
              <a:t>12 Modelle — aber nicht alle messen dasselbe</a:t>
            </a:r>
          </a:p>
        </p:txBody>
      </p:sp>
      <p:pic>
        <p:nvPicPr>
          <p:cNvPr id="5" name="Content Placeholder 4">
            <a:extLst>
              <a:ext uri="{FF2B5EF4-FFF2-40B4-BE49-F238E27FC236}">
                <a16:creationId xmlns:a16="http://schemas.microsoft.com/office/drawing/2014/main" id="{311DF9BB-521B-CD19-96AE-31FAF29AF6EE}"/>
              </a:ext>
            </a:extLst>
          </p:cNvPr>
          <p:cNvPicPr>
            <a:picLocks noGrp="1" noChangeAspect="1"/>
          </p:cNvPicPr>
          <p:nvPr>
            <p:ph idx="1"/>
          </p:nvPr>
        </p:nvPicPr>
        <p:blipFill>
          <a:blip r:embed="rId3"/>
          <a:stretch>
            <a:fillRect/>
          </a:stretch>
        </p:blipFill>
        <p:spPr>
          <a:xfrm>
            <a:off x="2590589" y="1615440"/>
            <a:ext cx="6259860" cy="3551833"/>
          </a:xfrm>
          <a:prstGeom prst="rect">
            <a:avLst/>
          </a:prstGeom>
        </p:spPr>
      </p:pic>
    </p:spTree>
    <p:extLst>
      <p:ext uri="{BB962C8B-B14F-4D97-AF65-F5344CB8AC3E}">
        <p14:creationId xmlns:p14="http://schemas.microsoft.com/office/powerpoint/2010/main" val="379058788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2E263E-A828-0021-BD8B-17B762B9F39F}"/>
              </a:ext>
            </a:extLst>
          </p:cNvPr>
          <p:cNvSpPr>
            <a:spLocks noGrp="1"/>
          </p:cNvSpPr>
          <p:nvPr>
            <p:ph type="title"/>
          </p:nvPr>
        </p:nvSpPr>
        <p:spPr/>
        <p:txBody>
          <a:bodyPr/>
          <a:lstStyle/>
          <a:p>
            <a:r>
              <a:rPr lang="de-DE" dirty="0"/>
              <a:t>Warum ASR-Systeme nur Baseline sind</a:t>
            </a:r>
          </a:p>
        </p:txBody>
      </p:sp>
      <p:sp>
        <p:nvSpPr>
          <p:cNvPr id="3" name="Content Placeholder 2">
            <a:extLst>
              <a:ext uri="{FF2B5EF4-FFF2-40B4-BE49-F238E27FC236}">
                <a16:creationId xmlns:a16="http://schemas.microsoft.com/office/drawing/2014/main" id="{C3AC8707-0356-63E8-A09F-257ECAAA973A}"/>
              </a:ext>
            </a:extLst>
          </p:cNvPr>
          <p:cNvSpPr>
            <a:spLocks noGrp="1"/>
          </p:cNvSpPr>
          <p:nvPr>
            <p:ph idx="1"/>
          </p:nvPr>
        </p:nvSpPr>
        <p:spPr>
          <a:xfrm>
            <a:off x="838200" y="1825625"/>
            <a:ext cx="5257800" cy="4351338"/>
          </a:xfrm>
        </p:spPr>
        <p:txBody>
          <a:bodyPr/>
          <a:lstStyle/>
          <a:p>
            <a:r>
              <a:rPr lang="de-DE" dirty="0"/>
              <a:t>Multimodale LLMs lassen sich </a:t>
            </a:r>
            <a:r>
              <a:rPr lang="de-DE" b="1" dirty="0"/>
              <a:t>prompten</a:t>
            </a:r>
            <a:r>
              <a:rPr lang="de-DE" dirty="0"/>
              <a:t>, </a:t>
            </a:r>
            <a:r>
              <a:rPr lang="de-DE" dirty="0" err="1"/>
              <a:t>Pinyin+Ton</a:t>
            </a:r>
            <a:r>
              <a:rPr lang="de-DE" dirty="0"/>
              <a:t> direkt auszugeben</a:t>
            </a:r>
          </a:p>
          <a:p>
            <a:r>
              <a:rPr lang="de-DE" dirty="0"/>
              <a:t>ASR-Systeme geben </a:t>
            </a:r>
            <a:r>
              <a:rPr lang="de-DE" b="1" dirty="0"/>
              <a:t>Hanzi</a:t>
            </a:r>
            <a:r>
              <a:rPr lang="de-DE" dirty="0"/>
              <a:t> aus → G2P-Nachbearbeitung → Tonfehler bei Homophonen unsichtbar</a:t>
            </a:r>
          </a:p>
          <a:p>
            <a:r>
              <a:rPr lang="de-DE" dirty="0"/>
              <a:t>→ Sauberer methodischer Beitrag: </a:t>
            </a:r>
            <a:r>
              <a:rPr lang="de-DE" b="1" dirty="0"/>
              <a:t>die zwei Kategorien getrennt auswerten</a:t>
            </a:r>
            <a:endParaRPr lang="de-DE" dirty="0"/>
          </a:p>
          <a:p>
            <a:endParaRPr lang="de-DE" dirty="0"/>
          </a:p>
        </p:txBody>
      </p:sp>
      <p:pic>
        <p:nvPicPr>
          <p:cNvPr id="5" name="Picture 4">
            <a:extLst>
              <a:ext uri="{FF2B5EF4-FFF2-40B4-BE49-F238E27FC236}">
                <a16:creationId xmlns:a16="http://schemas.microsoft.com/office/drawing/2014/main" id="{282B88B0-9DDE-CF74-769E-418C5C925C4D}"/>
              </a:ext>
            </a:extLst>
          </p:cNvPr>
          <p:cNvPicPr>
            <a:picLocks noChangeAspect="1"/>
          </p:cNvPicPr>
          <p:nvPr/>
        </p:nvPicPr>
        <p:blipFill>
          <a:blip r:embed="rId3"/>
          <a:stretch>
            <a:fillRect/>
          </a:stretch>
        </p:blipFill>
        <p:spPr>
          <a:xfrm>
            <a:off x="6096000" y="2339796"/>
            <a:ext cx="5834134" cy="2754717"/>
          </a:xfrm>
          <a:prstGeom prst="rect">
            <a:avLst/>
          </a:prstGeom>
        </p:spPr>
      </p:pic>
    </p:spTree>
    <p:extLst>
      <p:ext uri="{BB962C8B-B14F-4D97-AF65-F5344CB8AC3E}">
        <p14:creationId xmlns:p14="http://schemas.microsoft.com/office/powerpoint/2010/main" val="271444913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848EB-23D9-EBCC-3250-D53902F3F75D}"/>
              </a:ext>
            </a:extLst>
          </p:cNvPr>
          <p:cNvSpPr>
            <a:spLocks noGrp="1"/>
          </p:cNvSpPr>
          <p:nvPr>
            <p:ph type="title"/>
          </p:nvPr>
        </p:nvSpPr>
        <p:spPr/>
        <p:txBody>
          <a:bodyPr/>
          <a:lstStyle/>
          <a:p>
            <a:r>
              <a:rPr lang="de-DE" dirty="0"/>
              <a:t>Überraschung — nur 1 von 12 Modellen braucht lokale GPU</a:t>
            </a:r>
          </a:p>
        </p:txBody>
      </p:sp>
      <p:graphicFrame>
        <p:nvGraphicFramePr>
          <p:cNvPr id="4" name="Content Placeholder 3">
            <a:extLst>
              <a:ext uri="{FF2B5EF4-FFF2-40B4-BE49-F238E27FC236}">
                <a16:creationId xmlns:a16="http://schemas.microsoft.com/office/drawing/2014/main" id="{8F33BE8B-41E3-F091-D791-A65DA6D6D8AD}"/>
              </a:ext>
            </a:extLst>
          </p:cNvPr>
          <p:cNvGraphicFramePr>
            <a:graphicFrameLocks noGrp="1"/>
          </p:cNvGraphicFramePr>
          <p:nvPr>
            <p:ph idx="1"/>
          </p:nvPr>
        </p:nvGraphicFramePr>
        <p:xfrm>
          <a:off x="838200" y="2263934"/>
          <a:ext cx="10515600" cy="3474720"/>
        </p:xfrm>
        <a:graphic>
          <a:graphicData uri="http://schemas.openxmlformats.org/drawingml/2006/table">
            <a:tbl>
              <a:tblPr/>
              <a:tblGrid>
                <a:gridCol w="2628900">
                  <a:extLst>
                    <a:ext uri="{9D8B030D-6E8A-4147-A177-3AD203B41FA5}">
                      <a16:colId xmlns:a16="http://schemas.microsoft.com/office/drawing/2014/main" val="3435668155"/>
                    </a:ext>
                  </a:extLst>
                </a:gridCol>
                <a:gridCol w="2628900">
                  <a:extLst>
                    <a:ext uri="{9D8B030D-6E8A-4147-A177-3AD203B41FA5}">
                      <a16:colId xmlns:a16="http://schemas.microsoft.com/office/drawing/2014/main" val="1047603470"/>
                    </a:ext>
                  </a:extLst>
                </a:gridCol>
                <a:gridCol w="2628900">
                  <a:extLst>
                    <a:ext uri="{9D8B030D-6E8A-4147-A177-3AD203B41FA5}">
                      <a16:colId xmlns:a16="http://schemas.microsoft.com/office/drawing/2014/main" val="4226369795"/>
                    </a:ext>
                  </a:extLst>
                </a:gridCol>
                <a:gridCol w="2628900">
                  <a:extLst>
                    <a:ext uri="{9D8B030D-6E8A-4147-A177-3AD203B41FA5}">
                      <a16:colId xmlns:a16="http://schemas.microsoft.com/office/drawing/2014/main" val="4085391483"/>
                    </a:ext>
                  </a:extLst>
                </a:gridCol>
              </a:tblGrid>
              <a:tr h="0">
                <a:tc>
                  <a:txBody>
                    <a:bodyPr/>
                    <a:lstStyle/>
                    <a:p>
                      <a:pPr algn="l">
                        <a:spcAft>
                          <a:spcPts val="1200"/>
                        </a:spcAft>
                        <a:buNone/>
                      </a:pPr>
                      <a:r>
                        <a:rPr lang="de-DE" sz="1200" b="1" i="0">
                          <a:solidFill>
                            <a:srgbClr val="1F2328"/>
                          </a:solidFill>
                          <a:effectLst/>
                          <a:latin typeface="Mona Sans VF"/>
                        </a:rPr>
                        <a:t>Modell</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a:solidFill>
                            <a:srgbClr val="1F2328"/>
                          </a:solidFill>
                          <a:effectLst/>
                          <a:latin typeface="Mona Sans VF"/>
                        </a:rPr>
                        <a:t>API-Zugang</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a:solidFill>
                            <a:srgbClr val="1F2328"/>
                          </a:solidFill>
                          <a:effectLst/>
                          <a:latin typeface="Mona Sans VF"/>
                        </a:rPr>
                        <a:t>Anbieter</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a:solidFill>
                            <a:srgbClr val="1F2328"/>
                          </a:solidFill>
                          <a:effectLst/>
                          <a:latin typeface="Mona Sans VF"/>
                        </a:rPr>
                        <a:t>Preis (verifiziert)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3627175236"/>
                  </a:ext>
                </a:extLst>
              </a:tr>
              <a:tr h="0">
                <a:tc>
                  <a:txBody>
                    <a:bodyPr/>
                    <a:lstStyle/>
                    <a:p>
                      <a:pPr algn="l">
                        <a:spcAft>
                          <a:spcPts val="1200"/>
                        </a:spcAft>
                        <a:buNone/>
                      </a:pPr>
                      <a:r>
                        <a:rPr lang="de-DE" sz="1200" b="0" i="0">
                          <a:solidFill>
                            <a:srgbClr val="1F2328"/>
                          </a:solidFill>
                          <a:effectLst/>
                          <a:latin typeface="Mona Sans VF"/>
                        </a:rPr>
                        <a:t>GPT-5.5</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 API</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OpenAI</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$5/$30 pro 1M Token</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3558257623"/>
                  </a:ext>
                </a:extLst>
              </a:tr>
              <a:tr h="0">
                <a:tc>
                  <a:txBody>
                    <a:bodyPr/>
                    <a:lstStyle/>
                    <a:p>
                      <a:pPr algn="l">
                        <a:spcAft>
                          <a:spcPts val="1200"/>
                        </a:spcAft>
                        <a:buNone/>
                      </a:pPr>
                      <a:r>
                        <a:rPr lang="de-DE" sz="1200" b="0" i="0">
                          <a:solidFill>
                            <a:srgbClr val="1F2328"/>
                          </a:solidFill>
                          <a:effectLst/>
                          <a:latin typeface="Mona Sans VF"/>
                        </a:rPr>
                        <a:t>Gemini 3.1 Pro</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 API</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Google AI</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$2/$12 pro 1M Token</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3971245177"/>
                  </a:ext>
                </a:extLst>
              </a:tr>
              <a:tr h="0">
                <a:tc>
                  <a:txBody>
                    <a:bodyPr/>
                    <a:lstStyle/>
                    <a:p>
                      <a:pPr algn="l">
                        <a:spcAft>
                          <a:spcPts val="1200"/>
                        </a:spcAft>
                        <a:buNone/>
                      </a:pPr>
                      <a:r>
                        <a:rPr lang="de-DE" sz="1200" b="0" i="0">
                          <a:solidFill>
                            <a:srgbClr val="1F2328"/>
                          </a:solidFill>
                          <a:effectLst/>
                          <a:latin typeface="Mona Sans VF"/>
                        </a:rPr>
                        <a:t>Grok 4.3</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 API</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xAI</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$1,25/$2,50 pro 1M Token; STT: $0,10/Std</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3317167728"/>
                  </a:ext>
                </a:extLst>
              </a:tr>
              <a:tr h="0">
                <a:tc>
                  <a:txBody>
                    <a:bodyPr/>
                    <a:lstStyle/>
                    <a:p>
                      <a:pPr algn="l">
                        <a:spcAft>
                          <a:spcPts val="1200"/>
                        </a:spcAft>
                        <a:buNone/>
                      </a:pPr>
                      <a:r>
                        <a:rPr lang="de-DE" sz="1200" b="0" i="0">
                          <a:solidFill>
                            <a:srgbClr val="1F2328"/>
                          </a:solidFill>
                          <a:effectLst/>
                          <a:latin typeface="Mona Sans VF"/>
                        </a:rPr>
                        <a:t>Qwen3.5-Omni</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 API</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Alibaba Cloud</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$0,40–1,82/$4,80–10,79 pro 1M Token</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1437645206"/>
                  </a:ext>
                </a:extLst>
              </a:tr>
              <a:tr h="0">
                <a:tc>
                  <a:txBody>
                    <a:bodyPr/>
                    <a:lstStyle/>
                    <a:p>
                      <a:pPr algn="l">
                        <a:spcAft>
                          <a:spcPts val="1200"/>
                        </a:spcAft>
                        <a:buNone/>
                      </a:pPr>
                      <a:r>
                        <a:rPr lang="de-DE" sz="1200" b="0" i="0">
                          <a:solidFill>
                            <a:srgbClr val="1F2328"/>
                          </a:solidFill>
                          <a:effectLst/>
                          <a:latin typeface="Mona Sans VF"/>
                        </a:rPr>
                        <a:t>Kimi-Audio</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 API</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a:solidFill>
                            <a:srgbClr val="1F2328"/>
                          </a:solidFill>
                          <a:effectLst/>
                          <a:latin typeface="Mona Sans VF"/>
                        </a:rPr>
                        <a:t>Replicate</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~$0,0023/Sek GPU-Zeit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968152988"/>
                  </a:ext>
                </a:extLst>
              </a:tr>
              <a:tr h="0">
                <a:tc>
                  <a:txBody>
                    <a:bodyPr/>
                    <a:lstStyle/>
                    <a:p>
                      <a:pPr algn="l">
                        <a:spcAft>
                          <a:spcPts val="1200"/>
                        </a:spcAft>
                        <a:buNone/>
                      </a:pPr>
                      <a:r>
                        <a:rPr lang="de-DE" sz="1200" b="0" i="0">
                          <a:solidFill>
                            <a:srgbClr val="1F2328"/>
                          </a:solidFill>
                          <a:effectLst/>
                          <a:latin typeface="Mona Sans VF"/>
                        </a:rPr>
                        <a:t>Step-Audio 2.5</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 API</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1" i="0">
                          <a:solidFill>
                            <a:srgbClr val="1F2328"/>
                          </a:solidFill>
                          <a:effectLst/>
                          <a:latin typeface="Mona Sans VF"/>
                        </a:rPr>
                        <a:t>StepFun</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1" i="0">
                          <a:solidFill>
                            <a:srgbClr val="1F2328"/>
                          </a:solidFill>
                          <a:effectLst/>
                          <a:latin typeface="Mona Sans VF"/>
                        </a:rPr>
                        <a:t>$0,022/Std</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3929226961"/>
                  </a:ext>
                </a:extLst>
              </a:tr>
              <a:tr h="0">
                <a:tc>
                  <a:txBody>
                    <a:bodyPr/>
                    <a:lstStyle/>
                    <a:p>
                      <a:pPr algn="l">
                        <a:spcAft>
                          <a:spcPts val="1200"/>
                        </a:spcAft>
                        <a:buNone/>
                      </a:pPr>
                      <a:r>
                        <a:rPr lang="de-DE" sz="1200" b="0" i="0">
                          <a:solidFill>
                            <a:srgbClr val="1F2328"/>
                          </a:solidFill>
                          <a:effectLst/>
                          <a:latin typeface="Mona Sans VF"/>
                        </a:rPr>
                        <a:t>GLM-4-Voice</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 API</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a:solidFill>
                            <a:srgbClr val="1F2328"/>
                          </a:solidFill>
                          <a:effectLst/>
                          <a:latin typeface="Mona Sans VF"/>
                        </a:rPr>
                        <a:t>DeepInfra</a:t>
                      </a:r>
                      <a:r>
                        <a:rPr lang="de-DE" sz="1200" b="0" i="0">
                          <a:solidFill>
                            <a:srgbClr val="1F2328"/>
                          </a:solidFill>
                          <a:effectLst/>
                          <a:latin typeface="Mona Sans VF"/>
                        </a:rPr>
                        <a:t> / Together</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$0,60/$2,20 pro 1M Token</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2663838928"/>
                  </a:ext>
                </a:extLst>
              </a:tr>
              <a:tr h="0">
                <a:tc>
                  <a:txBody>
                    <a:bodyPr/>
                    <a:lstStyle/>
                    <a:p>
                      <a:pPr algn="l">
                        <a:spcAft>
                          <a:spcPts val="1200"/>
                        </a:spcAft>
                        <a:buNone/>
                      </a:pPr>
                      <a:r>
                        <a:rPr lang="de-DE" sz="1200" b="0" i="0">
                          <a:solidFill>
                            <a:srgbClr val="1F2328"/>
                          </a:solidFill>
                          <a:effectLst/>
                          <a:latin typeface="Mona Sans VF"/>
                        </a:rPr>
                        <a:t>Whisper large-v3</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 API</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OpenAI</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$0,006/Min</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1096526763"/>
                  </a:ext>
                </a:extLst>
              </a:tr>
              <a:tr h="0">
                <a:tc>
                  <a:txBody>
                    <a:bodyPr/>
                    <a:lstStyle/>
                    <a:p>
                      <a:pPr algn="l">
                        <a:spcAft>
                          <a:spcPts val="1200"/>
                        </a:spcAft>
                        <a:buNone/>
                      </a:pPr>
                      <a:r>
                        <a:rPr lang="de-DE" sz="1200" b="0" i="0">
                          <a:solidFill>
                            <a:srgbClr val="1F2328"/>
                          </a:solidFill>
                          <a:effectLst/>
                          <a:latin typeface="Mona Sans VF"/>
                        </a:rPr>
                        <a:t>Voxtral Small</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 API</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Mistral</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$0,001–0,002/Min</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2471760507"/>
                  </a:ext>
                </a:extLst>
              </a:tr>
              <a:tr h="0">
                <a:tc>
                  <a:txBody>
                    <a:bodyPr/>
                    <a:lstStyle/>
                    <a:p>
                      <a:pPr algn="l">
                        <a:spcAft>
                          <a:spcPts val="1200"/>
                        </a:spcAft>
                        <a:buNone/>
                      </a:pPr>
                      <a:r>
                        <a:rPr lang="de-DE" sz="1200" b="0" i="0">
                          <a:solidFill>
                            <a:srgbClr val="1F2328"/>
                          </a:solidFill>
                          <a:effectLst/>
                          <a:latin typeface="Mona Sans VF"/>
                        </a:rPr>
                        <a:t>Scribe v2</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 API</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ElevenLabs</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$0,22/Std</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3678171328"/>
                  </a:ext>
                </a:extLst>
              </a:tr>
              <a:tr h="0">
                <a:tc>
                  <a:txBody>
                    <a:bodyPr/>
                    <a:lstStyle/>
                    <a:p>
                      <a:pPr algn="l">
                        <a:spcAft>
                          <a:spcPts val="1200"/>
                        </a:spcAft>
                        <a:buNone/>
                      </a:pPr>
                      <a:r>
                        <a:rPr lang="de-DE" sz="1200" b="0" i="0">
                          <a:solidFill>
                            <a:srgbClr val="1F2328"/>
                          </a:solidFill>
                          <a:effectLst/>
                          <a:latin typeface="Mona Sans VF"/>
                        </a:rPr>
                        <a:t>FireRedASR2S</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 </a:t>
                      </a:r>
                      <a:r>
                        <a:rPr lang="de-DE" sz="1200" b="1" i="0">
                          <a:solidFill>
                            <a:srgbClr val="1F2328"/>
                          </a:solidFill>
                          <a:effectLst/>
                          <a:latin typeface="Mona Sans VF"/>
                        </a:rPr>
                        <a:t>nur lokal</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Hugging Face Weights</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dirty="0">
                          <a:solidFill>
                            <a:srgbClr val="1F2328"/>
                          </a:solidFill>
                          <a:effectLst/>
                          <a:latin typeface="Mona Sans VF"/>
                        </a:rPr>
                        <a:t>Eigene GPU nötig</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3504724885"/>
                  </a:ext>
                </a:extLst>
              </a:tr>
            </a:tbl>
          </a:graphicData>
        </a:graphic>
      </p:graphicFrame>
      <p:sp>
        <p:nvSpPr>
          <p:cNvPr id="5" name="TextBox 4">
            <a:extLst>
              <a:ext uri="{FF2B5EF4-FFF2-40B4-BE49-F238E27FC236}">
                <a16:creationId xmlns:a16="http://schemas.microsoft.com/office/drawing/2014/main" id="{175AE796-3C7A-6A24-D3E5-F85E9D40835A}"/>
              </a:ext>
            </a:extLst>
          </p:cNvPr>
          <p:cNvSpPr txBox="1"/>
          <p:nvPr/>
        </p:nvSpPr>
        <p:spPr>
          <a:xfrm>
            <a:off x="914400" y="6117771"/>
            <a:ext cx="10439400" cy="646331"/>
          </a:xfrm>
          <a:prstGeom prst="rect">
            <a:avLst/>
          </a:prstGeom>
          <a:noFill/>
        </p:spPr>
        <p:txBody>
          <a:bodyPr wrap="square" rtlCol="0">
            <a:spAutoFit/>
          </a:bodyPr>
          <a:lstStyle/>
          <a:p>
            <a:r>
              <a:rPr lang="de-DE" b="1" dirty="0"/>
              <a:t>Keine eigene GPU nötig</a:t>
            </a:r>
            <a:r>
              <a:rPr lang="de-DE" dirty="0"/>
              <a:t> für 11 von 12 Modellen. Chinesische Open-Source-Modelle sind über Drittanbieter (</a:t>
            </a:r>
            <a:r>
              <a:rPr lang="de-DE" dirty="0" err="1"/>
              <a:t>Replicate</a:t>
            </a:r>
            <a:r>
              <a:rPr lang="de-DE" dirty="0"/>
              <a:t>, </a:t>
            </a:r>
            <a:r>
              <a:rPr lang="de-DE" dirty="0" err="1"/>
              <a:t>DeepInfra</a:t>
            </a:r>
            <a:r>
              <a:rPr lang="de-DE" dirty="0"/>
              <a:t>, </a:t>
            </a:r>
            <a:r>
              <a:rPr lang="de-DE" dirty="0" err="1"/>
              <a:t>StepFun</a:t>
            </a:r>
            <a:r>
              <a:rPr lang="de-DE" dirty="0"/>
              <a:t>) aus Europa erreichbar.</a:t>
            </a:r>
          </a:p>
        </p:txBody>
      </p:sp>
    </p:spTree>
    <p:extLst>
      <p:ext uri="{BB962C8B-B14F-4D97-AF65-F5344CB8AC3E}">
        <p14:creationId xmlns:p14="http://schemas.microsoft.com/office/powerpoint/2010/main" val="62996783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E9A998-ADBE-9178-B5DE-B63CEF5BA5AC}"/>
              </a:ext>
            </a:extLst>
          </p:cNvPr>
          <p:cNvSpPr>
            <a:spLocks noGrp="1"/>
          </p:cNvSpPr>
          <p:nvPr>
            <p:ph type="title"/>
          </p:nvPr>
        </p:nvSpPr>
        <p:spPr/>
        <p:txBody>
          <a:bodyPr/>
          <a:lstStyle/>
          <a:p>
            <a:r>
              <a:rPr lang="de-DE" dirty="0"/>
              <a:t>Kostenschätzung — mit verifizierten Preisen (Stand Juni 2026)</a:t>
            </a:r>
          </a:p>
        </p:txBody>
      </p:sp>
      <p:graphicFrame>
        <p:nvGraphicFramePr>
          <p:cNvPr id="4" name="Content Placeholder 3">
            <a:extLst>
              <a:ext uri="{FF2B5EF4-FFF2-40B4-BE49-F238E27FC236}">
                <a16:creationId xmlns:a16="http://schemas.microsoft.com/office/drawing/2014/main" id="{17057776-6392-02ED-AFFB-E2052F8E4EEA}"/>
              </a:ext>
            </a:extLst>
          </p:cNvPr>
          <p:cNvGraphicFramePr>
            <a:graphicFrameLocks noGrp="1"/>
          </p:cNvGraphicFramePr>
          <p:nvPr>
            <p:ph idx="1"/>
          </p:nvPr>
        </p:nvGraphicFramePr>
        <p:xfrm>
          <a:off x="838200" y="1943894"/>
          <a:ext cx="10515600" cy="4114800"/>
        </p:xfrm>
        <a:graphic>
          <a:graphicData uri="http://schemas.openxmlformats.org/drawingml/2006/table">
            <a:tbl>
              <a:tblPr/>
              <a:tblGrid>
                <a:gridCol w="2628900">
                  <a:extLst>
                    <a:ext uri="{9D8B030D-6E8A-4147-A177-3AD203B41FA5}">
                      <a16:colId xmlns:a16="http://schemas.microsoft.com/office/drawing/2014/main" val="1259907606"/>
                    </a:ext>
                  </a:extLst>
                </a:gridCol>
                <a:gridCol w="2628900">
                  <a:extLst>
                    <a:ext uri="{9D8B030D-6E8A-4147-A177-3AD203B41FA5}">
                      <a16:colId xmlns:a16="http://schemas.microsoft.com/office/drawing/2014/main" val="1944669397"/>
                    </a:ext>
                  </a:extLst>
                </a:gridCol>
                <a:gridCol w="2628900">
                  <a:extLst>
                    <a:ext uri="{9D8B030D-6E8A-4147-A177-3AD203B41FA5}">
                      <a16:colId xmlns:a16="http://schemas.microsoft.com/office/drawing/2014/main" val="1627806508"/>
                    </a:ext>
                  </a:extLst>
                </a:gridCol>
                <a:gridCol w="2628900">
                  <a:extLst>
                    <a:ext uri="{9D8B030D-6E8A-4147-A177-3AD203B41FA5}">
                      <a16:colId xmlns:a16="http://schemas.microsoft.com/office/drawing/2014/main" val="301388213"/>
                    </a:ext>
                  </a:extLst>
                </a:gridCol>
              </a:tblGrid>
              <a:tr h="0">
                <a:tc>
                  <a:txBody>
                    <a:bodyPr/>
                    <a:lstStyle/>
                    <a:p>
                      <a:pPr algn="l">
                        <a:spcAft>
                          <a:spcPts val="1200"/>
                        </a:spcAft>
                        <a:buNone/>
                      </a:pPr>
                      <a:r>
                        <a:rPr lang="de-DE" sz="1200" b="1" i="0">
                          <a:solidFill>
                            <a:srgbClr val="1F2328"/>
                          </a:solidFill>
                          <a:effectLst/>
                          <a:latin typeface="Mona Sans VF"/>
                        </a:rPr>
                        <a:t>Modell</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a:solidFill>
                            <a:srgbClr val="1F2328"/>
                          </a:solidFill>
                          <a:effectLst/>
                          <a:latin typeface="Mona Sans VF"/>
                        </a:rPr>
                        <a:t>DeepSeek-Plan</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a:solidFill>
                            <a:srgbClr val="1F2328"/>
                          </a:solidFill>
                          <a:effectLst/>
                          <a:latin typeface="Mona Sans VF"/>
                        </a:rPr>
                        <a:t>Verifiziert (alle 9.840 Samples)</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a:solidFill>
                            <a:srgbClr val="1F2328"/>
                          </a:solidFill>
                          <a:effectLst/>
                          <a:latin typeface="Mona Sans VF"/>
                        </a:rPr>
                        <a:t>Verifiziert (Sub-Sample 700)</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3178527282"/>
                  </a:ext>
                </a:extLst>
              </a:tr>
              <a:tr h="0">
                <a:tc>
                  <a:txBody>
                    <a:bodyPr/>
                    <a:lstStyle/>
                    <a:p>
                      <a:pPr algn="l">
                        <a:spcAft>
                          <a:spcPts val="1200"/>
                        </a:spcAft>
                        <a:buNone/>
                      </a:pPr>
                      <a:r>
                        <a:rPr lang="de-DE" sz="1200" b="0" i="0">
                          <a:solidFill>
                            <a:srgbClr val="1F2328"/>
                          </a:solidFill>
                          <a:effectLst/>
                          <a:latin typeface="Mona Sans VF"/>
                        </a:rPr>
                        <a:t>GPT-5.5 (OpenAI)</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$4,54</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a:solidFill>
                            <a:srgbClr val="1F2328"/>
                          </a:solidFill>
                          <a:effectLst/>
                          <a:latin typeface="Mona Sans VF"/>
                        </a:rPr>
                        <a:t>~$10–15</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~$1–2</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1926208033"/>
                  </a:ext>
                </a:extLst>
              </a:tr>
              <a:tr h="0">
                <a:tc>
                  <a:txBody>
                    <a:bodyPr/>
                    <a:lstStyle/>
                    <a:p>
                      <a:pPr algn="l">
                        <a:spcAft>
                          <a:spcPts val="1200"/>
                        </a:spcAft>
                        <a:buNone/>
                      </a:pPr>
                      <a:r>
                        <a:rPr lang="de-DE" sz="1200" b="0" i="0">
                          <a:solidFill>
                            <a:srgbClr val="1F2328"/>
                          </a:solidFill>
                          <a:effectLst/>
                          <a:latin typeface="Mona Sans VF"/>
                        </a:rPr>
                        <a:t>Gemini 3.1 Pro</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$0,70</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1" i="0">
                          <a:solidFill>
                            <a:srgbClr val="1F2328"/>
                          </a:solidFill>
                          <a:effectLst/>
                          <a:latin typeface="Mona Sans VF"/>
                        </a:rPr>
                        <a:t>~$4–8</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~$0,50–1</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2372175062"/>
                  </a:ext>
                </a:extLst>
              </a:tr>
              <a:tr h="0">
                <a:tc>
                  <a:txBody>
                    <a:bodyPr/>
                    <a:lstStyle/>
                    <a:p>
                      <a:pPr algn="l">
                        <a:spcAft>
                          <a:spcPts val="1200"/>
                        </a:spcAft>
                        <a:buNone/>
                      </a:pPr>
                      <a:r>
                        <a:rPr lang="de-DE" sz="1200" b="0" i="0">
                          <a:solidFill>
                            <a:srgbClr val="1F2328"/>
                          </a:solidFill>
                          <a:effectLst/>
                          <a:latin typeface="Mona Sans VF"/>
                        </a:rPr>
                        <a:t>Grok 4.3 (xAI)</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$2,83</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a:solidFill>
                            <a:srgbClr val="1F2328"/>
                          </a:solidFill>
                          <a:effectLst/>
                          <a:latin typeface="Mona Sans VF"/>
                        </a:rPr>
                        <a:t>~$0,55–3</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~$0,10–0,50</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165992496"/>
                  </a:ext>
                </a:extLst>
              </a:tr>
              <a:tr h="0">
                <a:tc>
                  <a:txBody>
                    <a:bodyPr/>
                    <a:lstStyle/>
                    <a:p>
                      <a:pPr algn="l">
                        <a:spcAft>
                          <a:spcPts val="1200"/>
                        </a:spcAft>
                        <a:buNone/>
                      </a:pPr>
                      <a:r>
                        <a:rPr lang="de-DE" sz="1200" b="0" i="0">
                          <a:solidFill>
                            <a:srgbClr val="1F2328"/>
                          </a:solidFill>
                          <a:effectLst/>
                          <a:latin typeface="Mona Sans VF"/>
                        </a:rPr>
                        <a:t>Qwen3.5-Omni (Alibaba API)</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$0 (lokal)</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1" i="0">
                          <a:solidFill>
                            <a:srgbClr val="1F2328"/>
                          </a:solidFill>
                          <a:effectLst/>
                          <a:latin typeface="Mona Sans VF"/>
                        </a:rPr>
                        <a:t>~$2–5</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~$0,30–0,60</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3437513703"/>
                  </a:ext>
                </a:extLst>
              </a:tr>
              <a:tr h="0">
                <a:tc>
                  <a:txBody>
                    <a:bodyPr/>
                    <a:lstStyle/>
                    <a:p>
                      <a:pPr algn="l">
                        <a:spcAft>
                          <a:spcPts val="1200"/>
                        </a:spcAft>
                        <a:buNone/>
                      </a:pPr>
                      <a:r>
                        <a:rPr lang="de-DE" sz="1200" b="0" i="0">
                          <a:solidFill>
                            <a:srgbClr val="1F2328"/>
                          </a:solidFill>
                          <a:effectLst/>
                          <a:latin typeface="Mona Sans VF"/>
                        </a:rPr>
                        <a:t>Kimi-Audio (Replicate)</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$0 (lokal)</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a:solidFill>
                            <a:srgbClr val="1F2328"/>
                          </a:solidFill>
                          <a:effectLst/>
                          <a:latin typeface="Mona Sans VF"/>
                        </a:rPr>
                        <a:t>~$2–5</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~$0,30–0,60</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10628632"/>
                  </a:ext>
                </a:extLst>
              </a:tr>
              <a:tr h="0">
                <a:tc>
                  <a:txBody>
                    <a:bodyPr/>
                    <a:lstStyle/>
                    <a:p>
                      <a:pPr algn="l">
                        <a:spcAft>
                          <a:spcPts val="1200"/>
                        </a:spcAft>
                        <a:buNone/>
                      </a:pPr>
                      <a:r>
                        <a:rPr lang="de-DE" sz="1200" b="0" i="0">
                          <a:solidFill>
                            <a:srgbClr val="1F2328"/>
                          </a:solidFill>
                          <a:effectLst/>
                          <a:latin typeface="Mona Sans VF"/>
                        </a:rPr>
                        <a:t>Step-Audio 2.5 (StepFun)</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$0 (lokal)</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1" i="0">
                          <a:solidFill>
                            <a:srgbClr val="1F2328"/>
                          </a:solidFill>
                          <a:effectLst/>
                          <a:latin typeface="Mona Sans VF"/>
                        </a:rPr>
                        <a:t>~$0,12</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~$0,01</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47384891"/>
                  </a:ext>
                </a:extLst>
              </a:tr>
              <a:tr h="0">
                <a:tc>
                  <a:txBody>
                    <a:bodyPr/>
                    <a:lstStyle/>
                    <a:p>
                      <a:pPr algn="l">
                        <a:spcAft>
                          <a:spcPts val="1200"/>
                        </a:spcAft>
                        <a:buNone/>
                      </a:pPr>
                      <a:r>
                        <a:rPr lang="de-DE" sz="1200" b="0" i="0">
                          <a:solidFill>
                            <a:srgbClr val="1F2328"/>
                          </a:solidFill>
                          <a:effectLst/>
                          <a:latin typeface="Mona Sans VF"/>
                        </a:rPr>
                        <a:t>GLM-4-Voice (DeepInfra)</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$0 (lokal)</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a:solidFill>
                            <a:srgbClr val="1F2328"/>
                          </a:solidFill>
                          <a:effectLst/>
                          <a:latin typeface="Mona Sans VF"/>
                        </a:rPr>
                        <a:t>~$1–3</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~$0,15–0,40</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3126088381"/>
                  </a:ext>
                </a:extLst>
              </a:tr>
              <a:tr h="0">
                <a:tc>
                  <a:txBody>
                    <a:bodyPr/>
                    <a:lstStyle/>
                    <a:p>
                      <a:pPr algn="l">
                        <a:spcAft>
                          <a:spcPts val="1200"/>
                        </a:spcAft>
                        <a:buNone/>
                      </a:pPr>
                      <a:r>
                        <a:rPr lang="de-DE" sz="1200" b="0" i="0">
                          <a:solidFill>
                            <a:srgbClr val="1F2328"/>
                          </a:solidFill>
                          <a:effectLst/>
                          <a:latin typeface="Mona Sans VF"/>
                        </a:rPr>
                        <a:t>Whisper large-v3</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$0,75</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1" i="0">
                          <a:solidFill>
                            <a:srgbClr val="1F2328"/>
                          </a:solidFill>
                          <a:effectLst/>
                          <a:latin typeface="Mona Sans VF"/>
                        </a:rPr>
                        <a:t>~$2</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~$0,15</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3754584190"/>
                  </a:ext>
                </a:extLst>
              </a:tr>
              <a:tr h="0">
                <a:tc>
                  <a:txBody>
                    <a:bodyPr/>
                    <a:lstStyle/>
                    <a:p>
                      <a:pPr algn="l">
                        <a:spcAft>
                          <a:spcPts val="1200"/>
                        </a:spcAft>
                        <a:buNone/>
                      </a:pPr>
                      <a:r>
                        <a:rPr lang="de-DE" sz="1200" b="0" i="0">
                          <a:solidFill>
                            <a:srgbClr val="1F2328"/>
                          </a:solidFill>
                          <a:effectLst/>
                          <a:latin typeface="Mona Sans VF"/>
                        </a:rPr>
                        <a:t>Voxtral Small</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$1,05</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a:solidFill>
                            <a:srgbClr val="1F2328"/>
                          </a:solidFill>
                          <a:effectLst/>
                          <a:latin typeface="Mona Sans VF"/>
                        </a:rPr>
                        <a:t>~$0,50–1</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~$0,05–0,10</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3087239212"/>
                  </a:ext>
                </a:extLst>
              </a:tr>
              <a:tr h="0">
                <a:tc>
                  <a:txBody>
                    <a:bodyPr/>
                    <a:lstStyle/>
                    <a:p>
                      <a:pPr algn="l">
                        <a:spcAft>
                          <a:spcPts val="1200"/>
                        </a:spcAft>
                        <a:buNone/>
                      </a:pPr>
                      <a:r>
                        <a:rPr lang="de-DE" sz="1200" b="0" i="0">
                          <a:solidFill>
                            <a:srgbClr val="1F2328"/>
                          </a:solidFill>
                          <a:effectLst/>
                          <a:latin typeface="Mona Sans VF"/>
                        </a:rPr>
                        <a:t>Scribe v2</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$1,82</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1" i="0">
                          <a:solidFill>
                            <a:srgbClr val="1F2328"/>
                          </a:solidFill>
                          <a:effectLst/>
                          <a:latin typeface="Mona Sans VF"/>
                        </a:rPr>
                        <a:t>~$1,20</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~$0,10</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4046111958"/>
                  </a:ext>
                </a:extLst>
              </a:tr>
              <a:tr h="0">
                <a:tc>
                  <a:txBody>
                    <a:bodyPr/>
                    <a:lstStyle/>
                    <a:p>
                      <a:pPr algn="l">
                        <a:spcAft>
                          <a:spcPts val="1200"/>
                        </a:spcAft>
                        <a:buNone/>
                      </a:pPr>
                      <a:r>
                        <a:rPr lang="de-DE" sz="1200" b="0" i="0">
                          <a:solidFill>
                            <a:srgbClr val="1F2328"/>
                          </a:solidFill>
                          <a:effectLst/>
                          <a:latin typeface="Mona Sans VF"/>
                        </a:rPr>
                        <a:t>FireRedASR2S (lokal)</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$0</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a:solidFill>
                            <a:srgbClr val="1F2328"/>
                          </a:solidFill>
                          <a:effectLst/>
                          <a:latin typeface="Mona Sans VF"/>
                        </a:rPr>
                        <a:t>$0</a:t>
                      </a:r>
                      <a:r>
                        <a:rPr lang="de-DE" sz="1200" b="0" i="0">
                          <a:solidFill>
                            <a:srgbClr val="1F2328"/>
                          </a:solidFill>
                          <a:effectLst/>
                          <a:latin typeface="Mona Sans VF"/>
                        </a:rPr>
                        <a:t> (eigene GPU)</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$0</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3843748072"/>
                  </a:ext>
                </a:extLst>
              </a:tr>
              <a:tr h="0">
                <a:tc>
                  <a:txBody>
                    <a:bodyPr/>
                    <a:lstStyle/>
                    <a:p>
                      <a:pPr algn="l">
                        <a:spcAft>
                          <a:spcPts val="1200"/>
                        </a:spcAft>
                        <a:buNone/>
                      </a:pPr>
                      <a:r>
                        <a:rPr lang="de-DE" sz="1200" b="0" i="0">
                          <a:solidFill>
                            <a:srgbClr val="1F2328"/>
                          </a:solidFill>
                          <a:effectLst/>
                          <a:latin typeface="Mona Sans VF"/>
                        </a:rPr>
                        <a:t>Claude (RQ1, Text)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$0,79</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1" i="0">
                          <a:solidFill>
                            <a:srgbClr val="1F2328"/>
                          </a:solidFill>
                          <a:effectLst/>
                          <a:latin typeface="Mona Sans VF"/>
                        </a:rPr>
                        <a:t>$0,79 ✓</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$0,79</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3378923732"/>
                  </a:ext>
                </a:extLst>
              </a:tr>
              <a:tr h="0">
                <a:tc>
                  <a:txBody>
                    <a:bodyPr/>
                    <a:lstStyle/>
                    <a:p>
                      <a:pPr algn="l">
                        <a:spcAft>
                          <a:spcPts val="1200"/>
                        </a:spcAft>
                        <a:buNone/>
                      </a:pPr>
                      <a:r>
                        <a:rPr lang="de-DE" sz="1200" b="0" i="0">
                          <a:solidFill>
                            <a:srgbClr val="1F2328"/>
                          </a:solidFill>
                          <a:effectLst/>
                          <a:latin typeface="Mona Sans VF"/>
                        </a:rPr>
                        <a:t>DeepSeek V4 (RQ1, Text)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$0,10</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a:solidFill>
                            <a:srgbClr val="1F2328"/>
                          </a:solidFill>
                          <a:effectLst/>
                          <a:latin typeface="Mona Sans VF"/>
                        </a:rPr>
                        <a:t>$0,10 ✓</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$0,10</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558288799"/>
                  </a:ext>
                </a:extLst>
              </a:tr>
              <a:tr h="0">
                <a:tc>
                  <a:txBody>
                    <a:bodyPr/>
                    <a:lstStyle/>
                    <a:p>
                      <a:pPr algn="l">
                        <a:spcAft>
                          <a:spcPts val="1200"/>
                        </a:spcAft>
                        <a:buNone/>
                      </a:pPr>
                      <a:r>
                        <a:rPr lang="de-DE" sz="1200" b="1" i="0">
                          <a:solidFill>
                            <a:srgbClr val="1F2328"/>
                          </a:solidFill>
                          <a:effectLst/>
                          <a:latin typeface="Mona Sans VF"/>
                        </a:rPr>
                        <a:t>GESAMT</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1" i="0">
                          <a:solidFill>
                            <a:srgbClr val="1F2328"/>
                          </a:solidFill>
                          <a:effectLst/>
                          <a:latin typeface="Mona Sans VF"/>
                        </a:rPr>
                        <a:t>~$24</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1" i="0">
                          <a:solidFill>
                            <a:srgbClr val="1F2328"/>
                          </a:solidFill>
                          <a:effectLst/>
                          <a:latin typeface="Mona Sans VF"/>
                        </a:rPr>
                        <a:t>~$25–44</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1" i="0" dirty="0">
                          <a:solidFill>
                            <a:srgbClr val="1F2328"/>
                          </a:solidFill>
                          <a:effectLst/>
                          <a:latin typeface="Mona Sans VF"/>
                        </a:rPr>
                        <a:t>~$4–7</a:t>
                      </a:r>
                      <a:endParaRPr lang="de-DE" sz="1200" b="0" i="0" dirty="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4288333807"/>
                  </a:ext>
                </a:extLst>
              </a:tr>
            </a:tbl>
          </a:graphicData>
        </a:graphic>
      </p:graphicFrame>
      <p:sp>
        <p:nvSpPr>
          <p:cNvPr id="5" name="TextBox 4">
            <a:extLst>
              <a:ext uri="{FF2B5EF4-FFF2-40B4-BE49-F238E27FC236}">
                <a16:creationId xmlns:a16="http://schemas.microsoft.com/office/drawing/2014/main" id="{A137B382-9CC9-5E9F-6E67-4A52B05EBE1E}"/>
              </a:ext>
            </a:extLst>
          </p:cNvPr>
          <p:cNvSpPr txBox="1"/>
          <p:nvPr/>
        </p:nvSpPr>
        <p:spPr>
          <a:xfrm>
            <a:off x="1001486" y="6389914"/>
            <a:ext cx="9165073" cy="369332"/>
          </a:xfrm>
          <a:prstGeom prst="rect">
            <a:avLst/>
          </a:prstGeom>
          <a:noFill/>
        </p:spPr>
        <p:txBody>
          <a:bodyPr wrap="none" rtlCol="0">
            <a:spAutoFit/>
          </a:bodyPr>
          <a:lstStyle/>
          <a:p>
            <a:r>
              <a:rPr lang="de-DE" b="1" dirty="0"/>
              <a:t>Budget-Grenze: 50 €.</a:t>
            </a:r>
            <a:r>
              <a:rPr lang="de-DE" dirty="0"/>
              <a:t> Auch ohne Sub-Sampling machbar. Mit Sub-Sampling: </a:t>
            </a:r>
            <a:r>
              <a:rPr lang="de-DE" b="1" dirty="0"/>
              <a:t>~5 € Gesamt.</a:t>
            </a:r>
            <a:endParaRPr lang="de-DE" dirty="0"/>
          </a:p>
        </p:txBody>
      </p:sp>
    </p:spTree>
    <p:extLst>
      <p:ext uri="{BB962C8B-B14F-4D97-AF65-F5344CB8AC3E}">
        <p14:creationId xmlns:p14="http://schemas.microsoft.com/office/powerpoint/2010/main" val="121431295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31FA7D-D3C4-B1DD-4FD0-3548845E36F5}"/>
              </a:ext>
            </a:extLst>
          </p:cNvPr>
          <p:cNvSpPr>
            <a:spLocks noGrp="1"/>
          </p:cNvSpPr>
          <p:nvPr>
            <p:ph type="title"/>
          </p:nvPr>
        </p:nvSpPr>
        <p:spPr/>
        <p:txBody>
          <a:bodyPr/>
          <a:lstStyle/>
          <a:p>
            <a:r>
              <a:rPr lang="de-DE" dirty="0"/>
              <a:t>Strategie: günstig anfangen, teuer nur bei Bedarf</a:t>
            </a:r>
          </a:p>
        </p:txBody>
      </p:sp>
      <p:sp>
        <p:nvSpPr>
          <p:cNvPr id="3" name="Content Placeholder 2">
            <a:extLst>
              <a:ext uri="{FF2B5EF4-FFF2-40B4-BE49-F238E27FC236}">
                <a16:creationId xmlns:a16="http://schemas.microsoft.com/office/drawing/2014/main" id="{F3243CCF-336D-E8A4-23B7-0B5102B7268B}"/>
              </a:ext>
            </a:extLst>
          </p:cNvPr>
          <p:cNvSpPr>
            <a:spLocks noGrp="1"/>
          </p:cNvSpPr>
          <p:nvPr>
            <p:ph idx="1"/>
          </p:nvPr>
        </p:nvSpPr>
        <p:spPr/>
        <p:txBody>
          <a:bodyPr>
            <a:normAutofit fontScale="92500" lnSpcReduction="10000"/>
          </a:bodyPr>
          <a:lstStyle/>
          <a:p>
            <a:r>
              <a:rPr lang="de-DE" b="1" dirty="0"/>
              <a:t>Phase 1 — Pilot (400 Samples):</a:t>
            </a:r>
            <a:r>
              <a:rPr lang="de-DE" dirty="0"/>
              <a:t> Pipeline testen mit den billigsten Modellen (</a:t>
            </a:r>
            <a:r>
              <a:rPr lang="de-DE" dirty="0" err="1"/>
              <a:t>Step</a:t>
            </a:r>
            <a:r>
              <a:rPr lang="de-DE" dirty="0"/>
              <a:t>-Audio: $0,01; Whisper: $0,15; </a:t>
            </a:r>
            <a:r>
              <a:rPr lang="de-DE" dirty="0" err="1"/>
              <a:t>Voxtral</a:t>
            </a:r>
            <a:r>
              <a:rPr lang="de-DE" dirty="0"/>
              <a:t>: $0,05) → </a:t>
            </a:r>
            <a:r>
              <a:rPr lang="de-DE" b="1" dirty="0"/>
              <a:t>&lt; $1</a:t>
            </a:r>
            <a:endParaRPr lang="de-DE" dirty="0"/>
          </a:p>
          <a:p>
            <a:r>
              <a:rPr lang="de-DE" b="1" dirty="0"/>
              <a:t>Phase 2 — Günstige APIs auf vollem Corpus:</a:t>
            </a:r>
            <a:r>
              <a:rPr lang="de-DE" dirty="0"/>
              <a:t> </a:t>
            </a:r>
            <a:r>
              <a:rPr lang="de-DE" dirty="0" err="1"/>
              <a:t>Step</a:t>
            </a:r>
            <a:r>
              <a:rPr lang="de-DE" dirty="0"/>
              <a:t>-Audio, Whisper, </a:t>
            </a:r>
            <a:r>
              <a:rPr lang="de-DE" dirty="0" err="1"/>
              <a:t>Voxtral</a:t>
            </a:r>
            <a:r>
              <a:rPr lang="de-DE" dirty="0"/>
              <a:t>, Scribe, GLM, Qwen-</a:t>
            </a:r>
            <a:r>
              <a:rPr lang="de-DE" dirty="0" err="1"/>
              <a:t>Omni</a:t>
            </a:r>
            <a:r>
              <a:rPr lang="de-DE" dirty="0"/>
              <a:t> auf allen 9.840 Samples → </a:t>
            </a:r>
            <a:r>
              <a:rPr lang="de-DE" b="1" dirty="0"/>
              <a:t>~$7–12</a:t>
            </a:r>
            <a:endParaRPr lang="de-DE" dirty="0"/>
          </a:p>
          <a:p>
            <a:r>
              <a:rPr lang="de-DE" b="1" dirty="0"/>
              <a:t>Phase 3 — Mittlere APIs:</a:t>
            </a:r>
            <a:r>
              <a:rPr lang="de-DE" dirty="0"/>
              <a:t> Gemini, Grok, Kimi-Audio auf allen/meisten Samples → </a:t>
            </a:r>
            <a:r>
              <a:rPr lang="de-DE" b="1" dirty="0"/>
              <a:t>+$5–15</a:t>
            </a:r>
            <a:endParaRPr lang="de-DE" dirty="0"/>
          </a:p>
          <a:p>
            <a:r>
              <a:rPr lang="de-DE" b="1" dirty="0"/>
              <a:t>Phase 4 — Premium-APIs:</a:t>
            </a:r>
            <a:r>
              <a:rPr lang="de-DE" dirty="0"/>
              <a:t> GPT-5.5 auf stratifizierter Teilstichprobe (700 Samples) → </a:t>
            </a:r>
            <a:r>
              <a:rPr lang="de-DE" b="1" dirty="0"/>
              <a:t>+$1–2</a:t>
            </a:r>
            <a:endParaRPr lang="de-DE" dirty="0"/>
          </a:p>
          <a:p>
            <a:r>
              <a:rPr lang="de-DE" b="1" dirty="0"/>
              <a:t>Phase 5 — Text-</a:t>
            </a:r>
            <a:r>
              <a:rPr lang="de-DE" b="1" dirty="0" err="1"/>
              <a:t>only</a:t>
            </a:r>
            <a:r>
              <a:rPr lang="de-DE" b="1" dirty="0"/>
              <a:t> (RQ1):</a:t>
            </a:r>
            <a:r>
              <a:rPr lang="de-DE" dirty="0"/>
              <a:t> Claude + DeepSeek → </a:t>
            </a:r>
            <a:r>
              <a:rPr lang="de-DE" b="1" dirty="0"/>
              <a:t>+$0,89</a:t>
            </a:r>
            <a:endParaRPr lang="de-DE" dirty="0"/>
          </a:p>
          <a:p>
            <a:r>
              <a:rPr lang="de-DE" b="1" dirty="0"/>
              <a:t>FireRedASR2S:</a:t>
            </a:r>
            <a:r>
              <a:rPr lang="de-DE" dirty="0"/>
              <a:t> Lokal auf eigener GPU oder weglassen (durch Qwen3-ASR ersetzbar)</a:t>
            </a:r>
          </a:p>
          <a:p>
            <a:endParaRPr lang="de-DE" dirty="0"/>
          </a:p>
        </p:txBody>
      </p:sp>
      <p:sp>
        <p:nvSpPr>
          <p:cNvPr id="4" name="TextBox 3">
            <a:extLst>
              <a:ext uri="{FF2B5EF4-FFF2-40B4-BE49-F238E27FC236}">
                <a16:creationId xmlns:a16="http://schemas.microsoft.com/office/drawing/2014/main" id="{F2F11730-5555-7487-ED88-C1AAAC4CD345}"/>
              </a:ext>
            </a:extLst>
          </p:cNvPr>
          <p:cNvSpPr txBox="1"/>
          <p:nvPr/>
        </p:nvSpPr>
        <p:spPr>
          <a:xfrm>
            <a:off x="117989" y="6308209"/>
            <a:ext cx="12074011" cy="369332"/>
          </a:xfrm>
          <a:prstGeom prst="rect">
            <a:avLst/>
          </a:prstGeom>
          <a:noFill/>
        </p:spPr>
        <p:txBody>
          <a:bodyPr wrap="none" rtlCol="0">
            <a:spAutoFit/>
          </a:bodyPr>
          <a:lstStyle/>
          <a:p>
            <a:r>
              <a:rPr lang="de-DE" b="1" dirty="0"/>
              <a:t>Realistisches Gesamtbudget: 15–30 €.</a:t>
            </a:r>
            <a:r>
              <a:rPr lang="de-DE" dirty="0"/>
              <a:t> Sub-Sampling nur bei GPT-5.5 nötig — Rest passt auf vollem Corpus ins Budget.</a:t>
            </a:r>
          </a:p>
        </p:txBody>
      </p:sp>
    </p:spTree>
    <p:extLst>
      <p:ext uri="{BB962C8B-B14F-4D97-AF65-F5344CB8AC3E}">
        <p14:creationId xmlns:p14="http://schemas.microsoft.com/office/powerpoint/2010/main" val="49612241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0F728C-C2B7-E4FA-BDE1-4A1F877A7E0C}"/>
              </a:ext>
            </a:extLst>
          </p:cNvPr>
          <p:cNvSpPr>
            <a:spLocks noGrp="1"/>
          </p:cNvSpPr>
          <p:nvPr>
            <p:ph type="title"/>
          </p:nvPr>
        </p:nvSpPr>
        <p:spPr/>
        <p:txBody>
          <a:bodyPr/>
          <a:lstStyle/>
          <a:p>
            <a:r>
              <a:rPr lang="de-DE" dirty="0"/>
              <a:t>Vor dem ersten Euro: 3 Dinge prüfen</a:t>
            </a:r>
          </a:p>
        </p:txBody>
      </p:sp>
      <p:graphicFrame>
        <p:nvGraphicFramePr>
          <p:cNvPr id="4" name="Content Placeholder 3">
            <a:extLst>
              <a:ext uri="{FF2B5EF4-FFF2-40B4-BE49-F238E27FC236}">
                <a16:creationId xmlns:a16="http://schemas.microsoft.com/office/drawing/2014/main" id="{701335E6-5B45-E508-2F94-ACDC5AD8A3F9}"/>
              </a:ext>
            </a:extLst>
          </p:cNvPr>
          <p:cNvGraphicFramePr>
            <a:graphicFrameLocks noGrp="1"/>
          </p:cNvGraphicFramePr>
          <p:nvPr>
            <p:ph idx="1"/>
            <p:extLst>
              <p:ext uri="{D42A27DB-BD31-4B8C-83A1-F6EECF244321}">
                <p14:modId xmlns:p14="http://schemas.microsoft.com/office/powerpoint/2010/main" val="3023642932"/>
              </p:ext>
            </p:extLst>
          </p:nvPr>
        </p:nvGraphicFramePr>
        <p:xfrm>
          <a:off x="838200" y="1992086"/>
          <a:ext cx="10515600" cy="3600686"/>
        </p:xfrm>
        <a:graphic>
          <a:graphicData uri="http://schemas.openxmlformats.org/drawingml/2006/table">
            <a:tbl>
              <a:tblPr/>
              <a:tblGrid>
                <a:gridCol w="3505200">
                  <a:extLst>
                    <a:ext uri="{9D8B030D-6E8A-4147-A177-3AD203B41FA5}">
                      <a16:colId xmlns:a16="http://schemas.microsoft.com/office/drawing/2014/main" val="2818628757"/>
                    </a:ext>
                  </a:extLst>
                </a:gridCol>
                <a:gridCol w="3505200">
                  <a:extLst>
                    <a:ext uri="{9D8B030D-6E8A-4147-A177-3AD203B41FA5}">
                      <a16:colId xmlns:a16="http://schemas.microsoft.com/office/drawing/2014/main" val="1377994997"/>
                    </a:ext>
                  </a:extLst>
                </a:gridCol>
                <a:gridCol w="3505200">
                  <a:extLst>
                    <a:ext uri="{9D8B030D-6E8A-4147-A177-3AD203B41FA5}">
                      <a16:colId xmlns:a16="http://schemas.microsoft.com/office/drawing/2014/main" val="1843617925"/>
                    </a:ext>
                  </a:extLst>
                </a:gridCol>
              </a:tblGrid>
              <a:tr h="491726">
                <a:tc>
                  <a:txBody>
                    <a:bodyPr/>
                    <a:lstStyle/>
                    <a:p>
                      <a:pPr algn="l">
                        <a:spcAft>
                          <a:spcPts val="1200"/>
                        </a:spcAft>
                        <a:buNone/>
                      </a:pPr>
                      <a:r>
                        <a:rPr lang="de-DE" sz="2000" b="1" i="0" dirty="0">
                          <a:solidFill>
                            <a:srgbClr val="1F2328"/>
                          </a:solidFill>
                          <a:effectLst/>
                          <a:latin typeface="Mona Sans VF"/>
                        </a:rPr>
                        <a:t>Zu prüfen</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2000" b="1" i="0">
                          <a:solidFill>
                            <a:srgbClr val="1F2328"/>
                          </a:solidFill>
                          <a:effectLst/>
                          <a:latin typeface="Mona Sans VF"/>
                        </a:rPr>
                        <a:t>Status</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2000" b="1" i="0">
                          <a:solidFill>
                            <a:srgbClr val="1F2328"/>
                          </a:solidFill>
                          <a:effectLst/>
                          <a:latin typeface="Mona Sans VF"/>
                        </a:rPr>
                        <a:t>Aktion</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2252726218"/>
                  </a:ext>
                </a:extLst>
              </a:tr>
              <a:tr h="491726">
                <a:tc>
                  <a:txBody>
                    <a:bodyPr/>
                    <a:lstStyle/>
                    <a:p>
                      <a:pPr algn="l">
                        <a:spcAft>
                          <a:spcPts val="1200"/>
                        </a:spcAft>
                        <a:buNone/>
                      </a:pPr>
                      <a:r>
                        <a:rPr lang="de-DE" sz="2000" b="1" i="0">
                          <a:solidFill>
                            <a:srgbClr val="1F2328"/>
                          </a:solidFill>
                          <a:effectLst/>
                          <a:latin typeface="Mona Sans VF"/>
                        </a:rPr>
                        <a:t>Grok 4.3 Audio-API</a:t>
                      </a:r>
                      <a:endParaRPr lang="de-DE" sz="20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2000" b="0" i="0" dirty="0">
                          <a:solidFill>
                            <a:srgbClr val="1F2328"/>
                          </a:solidFill>
                          <a:effectLst/>
                          <a:latin typeface="Mona Sans VF"/>
                        </a:rPr>
                        <a:t>✅ Existiert (STT </a:t>
                      </a:r>
                      <a:r>
                        <a:rPr lang="de-DE" sz="2000" b="0" i="0" dirty="0" err="1">
                          <a:solidFill>
                            <a:srgbClr val="1F2328"/>
                          </a:solidFill>
                          <a:effectLst/>
                          <a:latin typeface="Mona Sans VF"/>
                        </a:rPr>
                        <a:t>batch</a:t>
                      </a:r>
                      <a:r>
                        <a:rPr lang="de-DE" sz="2000" b="0" i="0" dirty="0">
                          <a:solidFill>
                            <a:srgbClr val="1F2328"/>
                          </a:solidFill>
                          <a:effectLst/>
                          <a:latin typeface="Mona Sans VF"/>
                        </a:rPr>
                        <a:t> $0,10/Std)</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2000" b="0" i="0">
                          <a:solidFill>
                            <a:srgbClr val="1F2328"/>
                          </a:solidFill>
                          <a:effectLst/>
                          <a:latin typeface="Mona Sans VF"/>
                        </a:rPr>
                        <a:t>1 Test-Call zur Bestätigung</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1394536709"/>
                  </a:ext>
                </a:extLst>
              </a:tr>
              <a:tr h="491726">
                <a:tc>
                  <a:txBody>
                    <a:bodyPr/>
                    <a:lstStyle/>
                    <a:p>
                      <a:pPr algn="l">
                        <a:spcAft>
                          <a:spcPts val="1200"/>
                        </a:spcAft>
                        <a:buNone/>
                      </a:pPr>
                      <a:r>
                        <a:rPr lang="de-DE" sz="2000" b="1" i="0">
                          <a:solidFill>
                            <a:srgbClr val="1F2328"/>
                          </a:solidFill>
                          <a:effectLst/>
                          <a:latin typeface="Mona Sans VF"/>
                        </a:rPr>
                        <a:t>DeepSeek V4 Audio?</a:t>
                      </a:r>
                      <a:endParaRPr lang="de-DE" sz="20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2000" b="0" i="0">
                          <a:solidFill>
                            <a:srgbClr val="1F2328"/>
                          </a:solidFill>
                          <a:effectLst/>
                          <a:latin typeface="Mona Sans VF"/>
                        </a:rPr>
                        <a:t>✅ Gelöst: kein Audio → nur RQ1</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2000" b="0" i="0">
                          <a:solidFill>
                            <a:srgbClr val="1F2328"/>
                          </a:solidFill>
                          <a:effectLst/>
                          <a:latin typeface="Mona Sans VF"/>
                        </a:rPr>
                        <a:t>Erledigt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3260634654"/>
                  </a:ext>
                </a:extLst>
              </a:tr>
              <a:tr h="491726">
                <a:tc>
                  <a:txBody>
                    <a:bodyPr/>
                    <a:lstStyle/>
                    <a:p>
                      <a:pPr algn="l">
                        <a:spcAft>
                          <a:spcPts val="1200"/>
                        </a:spcAft>
                        <a:buNone/>
                      </a:pPr>
                      <a:r>
                        <a:rPr lang="de-DE" sz="2000" b="1" i="0">
                          <a:solidFill>
                            <a:srgbClr val="1F2328"/>
                          </a:solidFill>
                          <a:effectLst/>
                          <a:latin typeface="Mona Sans VF"/>
                        </a:rPr>
                        <a:t>API-Zugang aus DE</a:t>
                      </a:r>
                      <a:endParaRPr lang="de-DE" sz="20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2000" b="0" i="0">
                          <a:solidFill>
                            <a:srgbClr val="1F2328"/>
                          </a:solidFill>
                          <a:effectLst/>
                          <a:latin typeface="Mona Sans VF"/>
                        </a:rPr>
                        <a:t>⚠️ Replicate, StepFun, DeepInfra testen</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2000" b="0" i="0">
                          <a:solidFill>
                            <a:srgbClr val="1F2328"/>
                          </a:solidFill>
                          <a:effectLst/>
                          <a:latin typeface="Mona Sans VF"/>
                        </a:rPr>
                        <a:t>Je 1 Test-Call vor Einplanung</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3295958179"/>
                  </a:ext>
                </a:extLst>
              </a:tr>
              <a:tr h="819544">
                <a:tc>
                  <a:txBody>
                    <a:bodyPr/>
                    <a:lstStyle/>
                    <a:p>
                      <a:pPr algn="l">
                        <a:spcAft>
                          <a:spcPts val="1200"/>
                        </a:spcAft>
                        <a:buNone/>
                      </a:pPr>
                      <a:r>
                        <a:rPr lang="de-DE" sz="2000" b="1" i="0">
                          <a:solidFill>
                            <a:srgbClr val="1F2328"/>
                          </a:solidFill>
                          <a:effectLst/>
                          <a:latin typeface="Mona Sans VF"/>
                        </a:rPr>
                        <a:t>FireRedASR2S lokal</a:t>
                      </a:r>
                      <a:endParaRPr lang="de-DE" sz="20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2000" b="0" i="0">
                          <a:solidFill>
                            <a:srgbClr val="1F2328"/>
                          </a:solidFill>
                          <a:effectLst/>
                          <a:latin typeface="Mona Sans VF"/>
                        </a:rPr>
                        <a:t>⚠️ Einziges Modell ohne API</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2000" b="0" i="0" dirty="0">
                          <a:solidFill>
                            <a:srgbClr val="1F2328"/>
                          </a:solidFill>
                          <a:effectLst/>
                          <a:latin typeface="Mona Sans VF"/>
                        </a:rPr>
                        <a:t>GPU mit ausreichend VRAM prüfen; alternativ Qwen3-ASR als Ersatz</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1100040644"/>
                  </a:ext>
                </a:extLst>
              </a:tr>
            </a:tbl>
          </a:graphicData>
        </a:graphic>
      </p:graphicFrame>
    </p:spTree>
    <p:extLst>
      <p:ext uri="{BB962C8B-B14F-4D97-AF65-F5344CB8AC3E}">
        <p14:creationId xmlns:p14="http://schemas.microsoft.com/office/powerpoint/2010/main" val="715384946"/>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06F4F-94C8-8483-816C-C1AF31A904FA}"/>
              </a:ext>
            </a:extLst>
          </p:cNvPr>
          <p:cNvSpPr>
            <a:spLocks noGrp="1"/>
          </p:cNvSpPr>
          <p:nvPr>
            <p:ph type="title"/>
          </p:nvPr>
        </p:nvSpPr>
        <p:spPr/>
        <p:txBody>
          <a:bodyPr/>
          <a:lstStyle/>
          <a:p>
            <a:endParaRPr lang="de-DE"/>
          </a:p>
        </p:txBody>
      </p:sp>
      <p:sp>
        <p:nvSpPr>
          <p:cNvPr id="3" name="Content Placeholder 2">
            <a:extLst>
              <a:ext uri="{FF2B5EF4-FFF2-40B4-BE49-F238E27FC236}">
                <a16:creationId xmlns:a16="http://schemas.microsoft.com/office/drawing/2014/main" id="{8BA663C9-2069-18D1-C5EF-D7E700A44177}"/>
              </a:ext>
            </a:extLst>
          </p:cNvPr>
          <p:cNvSpPr>
            <a:spLocks noGrp="1"/>
          </p:cNvSpPr>
          <p:nvPr>
            <p:ph idx="1"/>
          </p:nvPr>
        </p:nvSpPr>
        <p:spPr/>
        <p:txBody>
          <a:bodyPr/>
          <a:lstStyle/>
          <a:p>
            <a:endParaRPr lang="de-DE"/>
          </a:p>
        </p:txBody>
      </p:sp>
    </p:spTree>
    <p:extLst>
      <p:ext uri="{BB962C8B-B14F-4D97-AF65-F5344CB8AC3E}">
        <p14:creationId xmlns:p14="http://schemas.microsoft.com/office/powerpoint/2010/main" val="119361035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B0326C-039D-15D1-B5A3-77C2B8E289ED}"/>
              </a:ext>
            </a:extLst>
          </p:cNvPr>
          <p:cNvSpPr>
            <a:spLocks noGrp="1"/>
          </p:cNvSpPr>
          <p:nvPr>
            <p:ph type="title"/>
          </p:nvPr>
        </p:nvSpPr>
        <p:spPr/>
        <p:txBody>
          <a:bodyPr/>
          <a:lstStyle/>
          <a:p>
            <a:r>
              <a:rPr lang="de-DE" dirty="0"/>
              <a:t>Chinesische </a:t>
            </a:r>
            <a:r>
              <a:rPr lang="de-DE" dirty="0" err="1"/>
              <a:t>Korpera</a:t>
            </a:r>
            <a:endParaRPr lang="de-DE" dirty="0"/>
          </a:p>
        </p:txBody>
      </p:sp>
      <p:sp>
        <p:nvSpPr>
          <p:cNvPr id="3" name="Content Placeholder 2">
            <a:extLst>
              <a:ext uri="{FF2B5EF4-FFF2-40B4-BE49-F238E27FC236}">
                <a16:creationId xmlns:a16="http://schemas.microsoft.com/office/drawing/2014/main" id="{95791E1C-700A-2AF5-25CA-BB3C5654472E}"/>
              </a:ext>
            </a:extLst>
          </p:cNvPr>
          <p:cNvSpPr>
            <a:spLocks noGrp="1"/>
          </p:cNvSpPr>
          <p:nvPr>
            <p:ph idx="1"/>
          </p:nvPr>
        </p:nvSpPr>
        <p:spPr/>
        <p:txBody>
          <a:bodyPr/>
          <a:lstStyle/>
          <a:p>
            <a:endParaRPr lang="de-DE"/>
          </a:p>
        </p:txBody>
      </p:sp>
    </p:spTree>
    <p:extLst>
      <p:ext uri="{BB962C8B-B14F-4D97-AF65-F5344CB8AC3E}">
        <p14:creationId xmlns:p14="http://schemas.microsoft.com/office/powerpoint/2010/main" val="335456727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7997F1-B0F6-2146-B253-2C31A6CA81EE}"/>
              </a:ext>
            </a:extLst>
          </p:cNvPr>
          <p:cNvSpPr>
            <a:spLocks noGrp="1"/>
          </p:cNvSpPr>
          <p:nvPr>
            <p:ph type="title"/>
          </p:nvPr>
        </p:nvSpPr>
        <p:spPr/>
        <p:txBody>
          <a:bodyPr/>
          <a:lstStyle/>
          <a:p>
            <a:r>
              <a:rPr lang="de-DE" dirty="0"/>
              <a:t>20 Mandarin-Korpora recherchiert — nur 3 passen wirklich</a:t>
            </a:r>
          </a:p>
        </p:txBody>
      </p:sp>
      <p:pic>
        <p:nvPicPr>
          <p:cNvPr id="5" name="Content Placeholder 4">
            <a:extLst>
              <a:ext uri="{FF2B5EF4-FFF2-40B4-BE49-F238E27FC236}">
                <a16:creationId xmlns:a16="http://schemas.microsoft.com/office/drawing/2014/main" id="{77D499B1-CC08-D801-27CA-484973CAD430}"/>
              </a:ext>
            </a:extLst>
          </p:cNvPr>
          <p:cNvPicPr>
            <a:picLocks noGrp="1" noChangeAspect="1"/>
          </p:cNvPicPr>
          <p:nvPr>
            <p:ph idx="1"/>
          </p:nvPr>
        </p:nvPicPr>
        <p:blipFill>
          <a:blip r:embed="rId3"/>
          <a:stretch>
            <a:fillRect/>
          </a:stretch>
        </p:blipFill>
        <p:spPr>
          <a:xfrm>
            <a:off x="2354434" y="2024743"/>
            <a:ext cx="7870396" cy="3774941"/>
          </a:xfrm>
          <a:prstGeom prst="rect">
            <a:avLst/>
          </a:prstGeom>
        </p:spPr>
      </p:pic>
    </p:spTree>
    <p:extLst>
      <p:ext uri="{BB962C8B-B14F-4D97-AF65-F5344CB8AC3E}">
        <p14:creationId xmlns:p14="http://schemas.microsoft.com/office/powerpoint/2010/main" val="293234477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47756D-057F-ADD2-C89E-C92161E5F0AA}"/>
              </a:ext>
            </a:extLst>
          </p:cNvPr>
          <p:cNvSpPr>
            <a:spLocks noGrp="1"/>
          </p:cNvSpPr>
          <p:nvPr>
            <p:ph type="title"/>
          </p:nvPr>
        </p:nvSpPr>
        <p:spPr/>
        <p:txBody>
          <a:bodyPr/>
          <a:lstStyle/>
          <a:p>
            <a:r>
              <a:rPr lang="de-DE" dirty="0"/>
              <a:t>Korpus-Übersicht: Native, L2, und warum die meisten nicht passen</a:t>
            </a:r>
          </a:p>
        </p:txBody>
      </p:sp>
      <p:graphicFrame>
        <p:nvGraphicFramePr>
          <p:cNvPr id="4" name="Content Placeholder 3">
            <a:extLst>
              <a:ext uri="{FF2B5EF4-FFF2-40B4-BE49-F238E27FC236}">
                <a16:creationId xmlns:a16="http://schemas.microsoft.com/office/drawing/2014/main" id="{12C88D12-95A5-82C2-3872-99B671B4288F}"/>
              </a:ext>
            </a:extLst>
          </p:cNvPr>
          <p:cNvGraphicFramePr>
            <a:graphicFrameLocks noGrp="1"/>
          </p:cNvGraphicFramePr>
          <p:nvPr>
            <p:ph idx="1"/>
            <p:extLst>
              <p:ext uri="{D42A27DB-BD31-4B8C-83A1-F6EECF244321}">
                <p14:modId xmlns:p14="http://schemas.microsoft.com/office/powerpoint/2010/main" val="550542922"/>
              </p:ext>
            </p:extLst>
          </p:nvPr>
        </p:nvGraphicFramePr>
        <p:xfrm>
          <a:off x="838199" y="1690688"/>
          <a:ext cx="10515603" cy="4283175"/>
        </p:xfrm>
        <a:graphic>
          <a:graphicData uri="http://schemas.openxmlformats.org/drawingml/2006/table">
            <a:tbl>
              <a:tblPr/>
              <a:tblGrid>
                <a:gridCol w="1502229">
                  <a:extLst>
                    <a:ext uri="{9D8B030D-6E8A-4147-A177-3AD203B41FA5}">
                      <a16:colId xmlns:a16="http://schemas.microsoft.com/office/drawing/2014/main" val="1424447715"/>
                    </a:ext>
                  </a:extLst>
                </a:gridCol>
                <a:gridCol w="1502229">
                  <a:extLst>
                    <a:ext uri="{9D8B030D-6E8A-4147-A177-3AD203B41FA5}">
                      <a16:colId xmlns:a16="http://schemas.microsoft.com/office/drawing/2014/main" val="539753013"/>
                    </a:ext>
                  </a:extLst>
                </a:gridCol>
                <a:gridCol w="1502229">
                  <a:extLst>
                    <a:ext uri="{9D8B030D-6E8A-4147-A177-3AD203B41FA5}">
                      <a16:colId xmlns:a16="http://schemas.microsoft.com/office/drawing/2014/main" val="2884905147"/>
                    </a:ext>
                  </a:extLst>
                </a:gridCol>
                <a:gridCol w="1502229">
                  <a:extLst>
                    <a:ext uri="{9D8B030D-6E8A-4147-A177-3AD203B41FA5}">
                      <a16:colId xmlns:a16="http://schemas.microsoft.com/office/drawing/2014/main" val="1863577349"/>
                    </a:ext>
                  </a:extLst>
                </a:gridCol>
                <a:gridCol w="1502229">
                  <a:extLst>
                    <a:ext uri="{9D8B030D-6E8A-4147-A177-3AD203B41FA5}">
                      <a16:colId xmlns:a16="http://schemas.microsoft.com/office/drawing/2014/main" val="3793218726"/>
                    </a:ext>
                  </a:extLst>
                </a:gridCol>
                <a:gridCol w="1502229">
                  <a:extLst>
                    <a:ext uri="{9D8B030D-6E8A-4147-A177-3AD203B41FA5}">
                      <a16:colId xmlns:a16="http://schemas.microsoft.com/office/drawing/2014/main" val="291599035"/>
                    </a:ext>
                  </a:extLst>
                </a:gridCol>
                <a:gridCol w="1502229">
                  <a:extLst>
                    <a:ext uri="{9D8B030D-6E8A-4147-A177-3AD203B41FA5}">
                      <a16:colId xmlns:a16="http://schemas.microsoft.com/office/drawing/2014/main" val="2016115474"/>
                    </a:ext>
                  </a:extLst>
                </a:gridCol>
              </a:tblGrid>
              <a:tr h="347215">
                <a:tc>
                  <a:txBody>
                    <a:bodyPr/>
                    <a:lstStyle/>
                    <a:p>
                      <a:pPr algn="l">
                        <a:spcAft>
                          <a:spcPts val="1200"/>
                        </a:spcAft>
                        <a:buNone/>
                      </a:pPr>
                      <a:r>
                        <a:rPr lang="de-DE" sz="1600" b="1" i="0" dirty="0">
                          <a:solidFill>
                            <a:srgbClr val="1F2328"/>
                          </a:solidFill>
                          <a:effectLst/>
                          <a:latin typeface="Mona Sans VF"/>
                        </a:rPr>
                        <a:t>Korpus</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1" i="0">
                          <a:solidFill>
                            <a:srgbClr val="1F2328"/>
                          </a:solidFill>
                          <a:effectLst/>
                          <a:latin typeface="Mona Sans VF"/>
                        </a:rPr>
                        <a:t>Typ</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1" i="0">
                          <a:solidFill>
                            <a:srgbClr val="1F2328"/>
                          </a:solidFill>
                          <a:effectLst/>
                          <a:latin typeface="Mona Sans VF"/>
                        </a:rPr>
                        <a:t>Sprecher</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1" i="0">
                          <a:solidFill>
                            <a:srgbClr val="1F2328"/>
                          </a:solidFill>
                          <a:effectLst/>
                          <a:latin typeface="Mona Sans VF"/>
                        </a:rPr>
                        <a:t>Std</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1" i="0">
                          <a:solidFill>
                            <a:srgbClr val="1F2328"/>
                          </a:solidFill>
                          <a:effectLst/>
                          <a:latin typeface="Mona Sans VF"/>
                        </a:rPr>
                        <a:t>Töne</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1" i="0">
                          <a:solidFill>
                            <a:srgbClr val="1F2328"/>
                          </a:solidFill>
                          <a:effectLst/>
                          <a:latin typeface="Mona Sans VF"/>
                        </a:rPr>
                        <a:t>Frei</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1" i="0">
                          <a:solidFill>
                            <a:srgbClr val="1F2328"/>
                          </a:solidFill>
                          <a:effectLst/>
                          <a:latin typeface="Mona Sans VF"/>
                        </a:rPr>
                        <a:t>Für uns</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3258794626"/>
                  </a:ext>
                </a:extLst>
              </a:tr>
              <a:tr h="347215">
                <a:tc>
                  <a:txBody>
                    <a:bodyPr/>
                    <a:lstStyle/>
                    <a:p>
                      <a:pPr algn="l">
                        <a:spcAft>
                          <a:spcPts val="1200"/>
                        </a:spcAft>
                        <a:buNone/>
                      </a:pPr>
                      <a:r>
                        <a:rPr lang="de-DE" sz="1600" b="1" i="0">
                          <a:solidFill>
                            <a:srgbClr val="1F2328"/>
                          </a:solidFill>
                          <a:effectLst/>
                          <a:latin typeface="Mona Sans VF"/>
                        </a:rPr>
                        <a:t>Tone Perfect</a:t>
                      </a:r>
                      <a:r>
                        <a:rPr lang="de-DE" sz="1600" b="0" i="0">
                          <a:solidFill>
                            <a:srgbClr val="1F2328"/>
                          </a:solidFill>
                          <a:effectLst/>
                          <a:latin typeface="Mona Sans VF"/>
                        </a:rPr>
                        <a:t> ⭐</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0" i="0" dirty="0">
                          <a:solidFill>
                            <a:srgbClr val="1F2328"/>
                          </a:solidFill>
                          <a:effectLst/>
                          <a:latin typeface="Mona Sans VF"/>
                        </a:rPr>
                        <a:t>Silben, Native</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0" i="0">
                          <a:solidFill>
                            <a:srgbClr val="1F2328"/>
                          </a:solidFill>
                          <a:effectLst/>
                          <a:latin typeface="Mona Sans VF"/>
                        </a:rPr>
                        <a:t>6 (Beijing)</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0" i="0">
                          <a:solidFill>
                            <a:srgbClr val="1F2328"/>
                          </a:solidFill>
                          <a:effectLst/>
                          <a:latin typeface="Mona Sans VF"/>
                        </a:rPr>
                        <a:t>~2h</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0" i="0">
                          <a:solidFill>
                            <a:srgbClr val="1F2328"/>
                          </a:solidFill>
                          <a:effectLst/>
                          <a:latin typeface="Mona Sans VF"/>
                        </a:rPr>
                        <a:t>✅ T1–T4</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0" i="0">
                          <a:solidFill>
                            <a:srgbClr val="1F2328"/>
                          </a:solidFill>
                          <a:effectLst/>
                          <a:latin typeface="Mona Sans VF"/>
                        </a:rPr>
                        <a: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1" i="0">
                          <a:solidFill>
                            <a:srgbClr val="1F2328"/>
                          </a:solidFill>
                          <a:effectLst/>
                          <a:latin typeface="Mona Sans VF"/>
                        </a:rPr>
                        <a:t>RQ2</a:t>
                      </a:r>
                      <a:endParaRPr lang="de-DE" sz="16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1264634862"/>
                  </a:ext>
                </a:extLst>
              </a:tr>
              <a:tr h="347215">
                <a:tc>
                  <a:txBody>
                    <a:bodyPr/>
                    <a:lstStyle/>
                    <a:p>
                      <a:pPr algn="l">
                        <a:spcAft>
                          <a:spcPts val="1200"/>
                        </a:spcAft>
                        <a:buNone/>
                      </a:pPr>
                      <a:r>
                        <a:rPr lang="de-DE" sz="1600" b="1" i="0">
                          <a:solidFill>
                            <a:srgbClr val="1F2328"/>
                          </a:solidFill>
                          <a:effectLst/>
                          <a:latin typeface="Mona Sans VF"/>
                        </a:rPr>
                        <a:t>LATIC</a:t>
                      </a:r>
                      <a:r>
                        <a:rPr lang="de-DE" sz="1600" b="0" i="0">
                          <a:solidFill>
                            <a:srgbClr val="1F2328"/>
                          </a:solidFill>
                          <a:effectLst/>
                          <a:latin typeface="Mona Sans VF"/>
                        </a:rPr>
                        <a:t> ⭐</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600" b="0" i="0">
                          <a:solidFill>
                            <a:srgbClr val="1F2328"/>
                          </a:solidFill>
                          <a:effectLst/>
                          <a:latin typeface="Mona Sans VF"/>
                        </a:rPr>
                        <a:t>Wörter, L2</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600" b="0" i="0" dirty="0">
                          <a:solidFill>
                            <a:srgbClr val="1F2328"/>
                          </a:solidFill>
                          <a:effectLst/>
                          <a:latin typeface="Mona Sans VF"/>
                        </a:rPr>
                        <a:t>4 (4 L1s)</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600" b="0" i="0">
                          <a:solidFill>
                            <a:srgbClr val="1F2328"/>
                          </a:solidFill>
                          <a:effectLst/>
                          <a:latin typeface="Mona Sans VF"/>
                        </a:rPr>
                        <a:t>4h</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600" b="0" i="0">
                          <a:solidFill>
                            <a:srgbClr val="1F2328"/>
                          </a:solidFill>
                          <a:effectLst/>
                          <a:latin typeface="Mona Sans VF"/>
                        </a:rPr>
                        <a: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600" b="0" i="0">
                          <a:solidFill>
                            <a:srgbClr val="1F2328"/>
                          </a:solidFill>
                          <a:effectLst/>
                          <a:latin typeface="Mona Sans VF"/>
                        </a:rPr>
                        <a: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600" b="1" i="0">
                          <a:solidFill>
                            <a:srgbClr val="1F2328"/>
                          </a:solidFill>
                          <a:effectLst/>
                          <a:latin typeface="Mona Sans VF"/>
                        </a:rPr>
                        <a:t>RQ3</a:t>
                      </a:r>
                      <a:endParaRPr lang="de-DE" sz="16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1211831740"/>
                  </a:ext>
                </a:extLst>
              </a:tr>
              <a:tr h="347215">
                <a:tc>
                  <a:txBody>
                    <a:bodyPr/>
                    <a:lstStyle/>
                    <a:p>
                      <a:pPr algn="l">
                        <a:spcAft>
                          <a:spcPts val="1200"/>
                        </a:spcAft>
                        <a:buNone/>
                      </a:pPr>
                      <a:r>
                        <a:rPr lang="de-DE" sz="1600" b="1" i="0">
                          <a:solidFill>
                            <a:srgbClr val="1F2328"/>
                          </a:solidFill>
                          <a:effectLst/>
                          <a:latin typeface="Mona Sans VF"/>
                        </a:rPr>
                        <a:t>OMPAL</a:t>
                      </a:r>
                      <a:r>
                        <a:rPr lang="de-DE" sz="1600" b="0" i="0">
                          <a:solidFill>
                            <a:srgbClr val="1F2328"/>
                          </a:solidFill>
                          <a:effectLst/>
                          <a:latin typeface="Mona Sans VF"/>
                        </a:rPr>
                        <a:t> ⭐</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0" i="0">
                          <a:solidFill>
                            <a:srgbClr val="1F2328"/>
                          </a:solidFill>
                          <a:effectLst/>
                          <a:latin typeface="Mona Sans VF"/>
                        </a:rPr>
                        <a:t>Sätze, L2</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0" i="0">
                          <a:solidFill>
                            <a:srgbClr val="1F2328"/>
                          </a:solidFill>
                          <a:effectLst/>
                          <a:latin typeface="Mona Sans VF"/>
                        </a:rPr>
                        <a:t>46 (Frz.)</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0" i="0">
                          <a:solidFill>
                            <a:srgbClr val="1F2328"/>
                          </a:solidFill>
                          <a:effectLst/>
                          <a:latin typeface="Mona Sans VF"/>
                        </a:rPr>
                        <a:t>2,9h</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0" i="0" dirty="0">
                          <a:solidFill>
                            <a:srgbClr val="1F2328"/>
                          </a:solidFill>
                          <a:effectLst/>
                          <a:latin typeface="Mona Sans VF"/>
                        </a:rPr>
                        <a: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0" i="0">
                          <a:solidFill>
                            <a:srgbClr val="1F2328"/>
                          </a:solidFill>
                          <a:effectLst/>
                          <a:latin typeface="Mona Sans VF"/>
                        </a:rPr>
                        <a: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1" i="0">
                          <a:solidFill>
                            <a:srgbClr val="1F2328"/>
                          </a:solidFill>
                          <a:effectLst/>
                          <a:latin typeface="Mona Sans VF"/>
                        </a:rPr>
                        <a:t>RQ3</a:t>
                      </a:r>
                      <a:endParaRPr lang="de-DE" sz="16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1534418164"/>
                  </a:ext>
                </a:extLst>
              </a:tr>
              <a:tr h="347215">
                <a:tc>
                  <a:txBody>
                    <a:bodyPr/>
                    <a:lstStyle/>
                    <a:p>
                      <a:pPr algn="l">
                        <a:spcAft>
                          <a:spcPts val="1200"/>
                        </a:spcAft>
                        <a:buNone/>
                      </a:pPr>
                      <a:r>
                        <a:rPr lang="de-DE" sz="1600" b="0" i="0">
                          <a:solidFill>
                            <a:srgbClr val="1F2328"/>
                          </a:solidFill>
                          <a:effectLst/>
                          <a:latin typeface="Mona Sans VF"/>
                        </a:rPr>
                        <a:t>AISHELL-1</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600" b="0" i="0">
                          <a:solidFill>
                            <a:srgbClr val="1F2328"/>
                          </a:solidFill>
                          <a:effectLst/>
                          <a:latin typeface="Mona Sans VF"/>
                        </a:rPr>
                        <a:t>Sätze, Native</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600" b="0" i="0">
                          <a:solidFill>
                            <a:srgbClr val="1F2328"/>
                          </a:solidFill>
                          <a:effectLst/>
                          <a:latin typeface="Mona Sans VF"/>
                        </a:rPr>
                        <a:t>400</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600" b="0" i="0">
                          <a:solidFill>
                            <a:srgbClr val="1F2328"/>
                          </a:solidFill>
                          <a:effectLst/>
                          <a:latin typeface="Mona Sans VF"/>
                        </a:rPr>
                        <a:t>170h</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600" b="0" i="0" dirty="0">
                          <a:solidFill>
                            <a:srgbClr val="1F2328"/>
                          </a:solidFill>
                          <a:effectLst/>
                          <a:latin typeface="Mona Sans VF"/>
                        </a:rPr>
                        <a: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600" b="0" i="0" dirty="0">
                          <a:solidFill>
                            <a:srgbClr val="1F2328"/>
                          </a:solidFill>
                          <a:effectLst/>
                          <a:latin typeface="Mona Sans VF"/>
                        </a:rPr>
                        <a: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600" b="0" i="0">
                          <a:solidFill>
                            <a:srgbClr val="1F2328"/>
                          </a:solidFill>
                          <a:effectLst/>
                          <a:latin typeface="Mona Sans VF"/>
                        </a:rPr>
                        <a:t>Baseline</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2258947815"/>
                  </a:ext>
                </a:extLst>
              </a:tr>
              <a:tr h="347215">
                <a:tc>
                  <a:txBody>
                    <a:bodyPr/>
                    <a:lstStyle/>
                    <a:p>
                      <a:pPr algn="l">
                        <a:spcAft>
                          <a:spcPts val="1200"/>
                        </a:spcAft>
                        <a:buNone/>
                      </a:pPr>
                      <a:r>
                        <a:rPr lang="de-DE" sz="1600" b="0" i="0">
                          <a:solidFill>
                            <a:srgbClr val="1F2328"/>
                          </a:solidFill>
                          <a:effectLst/>
                          <a:latin typeface="Mona Sans VF"/>
                        </a:rPr>
                        <a:t>THCHS-30</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0" i="0">
                          <a:solidFill>
                            <a:srgbClr val="1F2328"/>
                          </a:solidFill>
                          <a:effectLst/>
                          <a:latin typeface="Mona Sans VF"/>
                        </a:rPr>
                        <a:t>Sätze, Native</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0" i="0">
                          <a:solidFill>
                            <a:srgbClr val="1F2328"/>
                          </a:solidFill>
                          <a:effectLst/>
                          <a:latin typeface="Mona Sans VF"/>
                        </a:rPr>
                        <a:t>50</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0" i="0">
                          <a:solidFill>
                            <a:srgbClr val="1F2328"/>
                          </a:solidFill>
                          <a:effectLst/>
                          <a:latin typeface="Mona Sans VF"/>
                        </a:rPr>
                        <a:t>33,5h</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0" i="0">
                          <a:solidFill>
                            <a:srgbClr val="1F2328"/>
                          </a:solidFill>
                          <a:effectLst/>
                          <a:latin typeface="Mona Sans VF"/>
                        </a:rPr>
                        <a: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0" i="0" dirty="0">
                          <a:solidFill>
                            <a:srgbClr val="1F2328"/>
                          </a:solidFill>
                          <a:effectLst/>
                          <a:latin typeface="Mona Sans VF"/>
                        </a:rPr>
                        <a: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0" i="0">
                          <a:solidFill>
                            <a:srgbClr val="1F2328"/>
                          </a:solidFill>
                          <a:effectLst/>
                          <a:latin typeface="Mona Sans VF"/>
                        </a:rPr>
                        <a:t>Baseline</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3473123530"/>
                  </a:ext>
                </a:extLst>
              </a:tr>
              <a:tr h="347215">
                <a:tc>
                  <a:txBody>
                    <a:bodyPr/>
                    <a:lstStyle/>
                    <a:p>
                      <a:pPr algn="l">
                        <a:spcAft>
                          <a:spcPts val="1200"/>
                        </a:spcAft>
                        <a:buNone/>
                      </a:pPr>
                      <a:r>
                        <a:rPr lang="de-DE" sz="1600" b="0" i="0">
                          <a:solidFill>
                            <a:srgbClr val="1F2328"/>
                          </a:solidFill>
                          <a:effectLst/>
                          <a:latin typeface="Mona Sans VF"/>
                        </a:rPr>
                        <a:t>MAGICDATA</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600" b="0" i="0">
                          <a:solidFill>
                            <a:srgbClr val="1F2328"/>
                          </a:solidFill>
                          <a:effectLst/>
                          <a:latin typeface="Mona Sans VF"/>
                        </a:rPr>
                        <a:t>Sätze, Native</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600" b="0" i="0">
                          <a:solidFill>
                            <a:srgbClr val="1F2328"/>
                          </a:solidFill>
                          <a:effectLst/>
                          <a:latin typeface="Mona Sans VF"/>
                        </a:rPr>
                        <a:t>1.080</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600" b="0" i="0">
                          <a:solidFill>
                            <a:srgbClr val="1F2328"/>
                          </a:solidFill>
                          <a:effectLst/>
                          <a:latin typeface="Mona Sans VF"/>
                        </a:rPr>
                        <a:t>755h</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600" b="0" i="0">
                          <a:solidFill>
                            <a:srgbClr val="1F2328"/>
                          </a:solidFill>
                          <a:effectLst/>
                          <a:latin typeface="Mona Sans VF"/>
                        </a:rPr>
                        <a: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600" b="0" i="0" dirty="0">
                          <a:solidFill>
                            <a:srgbClr val="1F2328"/>
                          </a:solidFill>
                          <a:effectLst/>
                          <a:latin typeface="Mona Sans VF"/>
                        </a:rPr>
                        <a: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600" b="0" i="0">
                          <a:solidFill>
                            <a:srgbClr val="1F2328"/>
                          </a:solidFill>
                          <a:effectLst/>
                          <a:latin typeface="Mona Sans VF"/>
                        </a:rPr>
                        <a: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177859800"/>
                  </a:ext>
                </a:extLst>
              </a:tr>
              <a:tr h="347215">
                <a:tc>
                  <a:txBody>
                    <a:bodyPr/>
                    <a:lstStyle/>
                    <a:p>
                      <a:pPr algn="l">
                        <a:spcAft>
                          <a:spcPts val="1200"/>
                        </a:spcAft>
                        <a:buNone/>
                      </a:pPr>
                      <a:r>
                        <a:rPr lang="de-DE" sz="1600" b="0" i="0">
                          <a:solidFill>
                            <a:srgbClr val="1F2328"/>
                          </a:solidFill>
                          <a:effectLst/>
                          <a:latin typeface="Mona Sans VF"/>
                        </a:rPr>
                        <a:t>iCALL</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0" i="0">
                          <a:solidFill>
                            <a:srgbClr val="1F2328"/>
                          </a:solidFill>
                          <a:effectLst/>
                          <a:latin typeface="Mona Sans VF"/>
                        </a:rPr>
                        <a:t>Sätze, L2</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0" i="0">
                          <a:solidFill>
                            <a:srgbClr val="1F2328"/>
                          </a:solidFill>
                          <a:effectLst/>
                          <a:latin typeface="Mona Sans VF"/>
                        </a:rPr>
                        <a:t>305 (24 L1s)</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0" i="0">
                          <a:solidFill>
                            <a:srgbClr val="1F2328"/>
                          </a:solidFill>
                          <a:effectLst/>
                          <a:latin typeface="Mona Sans VF"/>
                        </a:rPr>
                        <a:t>142h</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0" i="0">
                          <a:solidFill>
                            <a:srgbClr val="1F2328"/>
                          </a:solidFill>
                          <a:effectLst/>
                          <a:latin typeface="Mona Sans VF"/>
                        </a:rPr>
                        <a: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0" i="0">
                          <a:solidFill>
                            <a:srgbClr val="1F2328"/>
                          </a:solidFill>
                          <a:effectLst/>
                          <a:latin typeface="Mona Sans VF"/>
                        </a:rPr>
                        <a: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0" i="0" dirty="0">
                          <a:solidFill>
                            <a:srgbClr val="1F2328"/>
                          </a:solidFill>
                          <a:effectLst/>
                          <a:latin typeface="Mona Sans VF"/>
                        </a:rPr>
                        <a:t>Bonus</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1334501613"/>
                  </a:ext>
                </a:extLst>
              </a:tr>
              <a:tr h="347215">
                <a:tc>
                  <a:txBody>
                    <a:bodyPr/>
                    <a:lstStyle/>
                    <a:p>
                      <a:pPr algn="l">
                        <a:spcAft>
                          <a:spcPts val="1200"/>
                        </a:spcAft>
                        <a:buNone/>
                      </a:pPr>
                      <a:r>
                        <a:rPr lang="de-DE" sz="1600" b="0" i="0">
                          <a:solidFill>
                            <a:srgbClr val="1F2328"/>
                          </a:solidFill>
                          <a:effectLst/>
                          <a:latin typeface="Mona Sans VF"/>
                        </a:rPr>
                        <a:t>SingaKids</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600" b="0" i="0">
                          <a:solidFill>
                            <a:srgbClr val="1F2328"/>
                          </a:solidFill>
                          <a:effectLst/>
                          <a:latin typeface="Mona Sans VF"/>
                        </a:rPr>
                        <a:t>Sätze, L2-Kinder</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600" b="0" i="0">
                          <a:solidFill>
                            <a:srgbClr val="1F2328"/>
                          </a:solidFill>
                          <a:effectLst/>
                          <a:latin typeface="Mona Sans VF"/>
                        </a:rPr>
                        <a:t>255 (SG)</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600" b="0" i="0">
                          <a:solidFill>
                            <a:srgbClr val="1F2328"/>
                          </a:solidFill>
                          <a:effectLst/>
                          <a:latin typeface="Mona Sans VF"/>
                        </a:rPr>
                        <a:t>125h</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600" b="0" i="0">
                          <a:solidFill>
                            <a:srgbClr val="1F2328"/>
                          </a:solidFill>
                          <a:effectLst/>
                          <a:latin typeface="Mona Sans VF"/>
                        </a:rPr>
                        <a: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600" b="0" i="0">
                          <a:solidFill>
                            <a:srgbClr val="1F2328"/>
                          </a:solidFill>
                          <a:effectLst/>
                          <a:latin typeface="Mona Sans VF"/>
                        </a:rPr>
                        <a: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600" b="0" i="0" dirty="0">
                          <a:solidFill>
                            <a:srgbClr val="1F2328"/>
                          </a:solidFill>
                          <a:effectLst/>
                          <a:latin typeface="Mona Sans VF"/>
                        </a:rPr>
                        <a:t>Bonus</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4010646498"/>
                  </a:ext>
                </a:extLst>
              </a:tr>
              <a:tr h="347215">
                <a:tc>
                  <a:txBody>
                    <a:bodyPr/>
                    <a:lstStyle/>
                    <a:p>
                      <a:pPr algn="l">
                        <a:spcAft>
                          <a:spcPts val="1200"/>
                        </a:spcAft>
                        <a:buNone/>
                      </a:pPr>
                      <a:r>
                        <a:rPr lang="de-DE" sz="1600" b="0" i="0">
                          <a:solidFill>
                            <a:srgbClr val="1F2328"/>
                          </a:solidFill>
                          <a:effectLst/>
                          <a:latin typeface="Mona Sans VF"/>
                        </a:rPr>
                        <a:t>KeSpeech</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0" i="0">
                          <a:solidFill>
                            <a:srgbClr val="1F2328"/>
                          </a:solidFill>
                          <a:effectLst/>
                          <a:latin typeface="Mona Sans VF"/>
                        </a:rPr>
                        <a:t>Sätze+Dialekte</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0" i="0">
                          <a:solidFill>
                            <a:srgbClr val="1F2328"/>
                          </a:solidFill>
                          <a:effectLst/>
                          <a:latin typeface="Mona Sans VF"/>
                        </a:rPr>
                        <a:t>27.237</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0" i="0">
                          <a:solidFill>
                            <a:srgbClr val="1F2328"/>
                          </a:solidFill>
                          <a:effectLst/>
                          <a:latin typeface="Mona Sans VF"/>
                        </a:rPr>
                        <a:t>1.542h</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0" i="0">
                          <a:solidFill>
                            <a:srgbClr val="1F2328"/>
                          </a:solidFill>
                          <a:effectLst/>
                          <a:latin typeface="Mona Sans VF"/>
                        </a:rPr>
                        <a: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0" i="0">
                          <a:solidFill>
                            <a:srgbClr val="1F2328"/>
                          </a:solidFill>
                          <a:effectLst/>
                          <a:latin typeface="Mona Sans VF"/>
                        </a:rPr>
                        <a: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0" i="0" dirty="0">
                          <a:solidFill>
                            <a:srgbClr val="1F2328"/>
                          </a:solidFill>
                          <a:effectLst/>
                          <a:latin typeface="Mona Sans VF"/>
                        </a:rPr>
                        <a:t>Dialekte</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392219121"/>
                  </a:ext>
                </a:extLst>
              </a:tr>
              <a:tr h="347215">
                <a:tc>
                  <a:txBody>
                    <a:bodyPr/>
                    <a:lstStyle/>
                    <a:p>
                      <a:pPr algn="l">
                        <a:spcAft>
                          <a:spcPts val="1200"/>
                        </a:spcAft>
                        <a:buNone/>
                      </a:pPr>
                      <a:r>
                        <a:rPr lang="de-DE" sz="1600" b="0" i="1">
                          <a:solidFill>
                            <a:srgbClr val="1F2328"/>
                          </a:solidFill>
                          <a:effectLst/>
                          <a:latin typeface="Mona Sans VF"/>
                        </a:rPr>
                        <a:t>8 weitere</a:t>
                      </a:r>
                      <a:endParaRPr lang="de-DE" sz="16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600" b="0" i="1">
                          <a:solidFill>
                            <a:srgbClr val="1F2328"/>
                          </a:solidFill>
                          <a:effectLst/>
                          <a:latin typeface="Mona Sans VF"/>
                        </a:rPr>
                        <a:t>diverse</a:t>
                      </a:r>
                      <a:endParaRPr lang="de-DE" sz="16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600" b="0" i="1">
                          <a:solidFill>
                            <a:srgbClr val="1F2328"/>
                          </a:solidFill>
                          <a:effectLst/>
                          <a:latin typeface="Mona Sans VF"/>
                        </a:rPr>
                        <a:t>—</a:t>
                      </a:r>
                      <a:endParaRPr lang="de-DE" sz="16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600" b="0" i="1">
                          <a:solidFill>
                            <a:srgbClr val="1F2328"/>
                          </a:solidFill>
                          <a:effectLst/>
                          <a:latin typeface="Mona Sans VF"/>
                        </a:rPr>
                        <a:t>—</a:t>
                      </a:r>
                      <a:endParaRPr lang="de-DE" sz="16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600" b="0" i="1">
                          <a:solidFill>
                            <a:srgbClr val="1F2328"/>
                          </a:solidFill>
                          <a:effectLst/>
                          <a:latin typeface="Mona Sans VF"/>
                        </a:rPr>
                        <a:t>—</a:t>
                      </a:r>
                      <a:endParaRPr lang="de-DE" sz="16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600" b="0" i="1">
                          <a:solidFill>
                            <a:srgbClr val="1F2328"/>
                          </a:solidFill>
                          <a:effectLst/>
                          <a:latin typeface="Mona Sans VF"/>
                        </a:rPr>
                        <a:t>—</a:t>
                      </a:r>
                      <a:endParaRPr lang="de-DE" sz="16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600" b="0" i="1" dirty="0">
                          <a:solidFill>
                            <a:srgbClr val="1F2328"/>
                          </a:solidFill>
                          <a:effectLst/>
                          <a:latin typeface="Mona Sans VF"/>
                        </a:rPr>
                        <a:t>—</a:t>
                      </a:r>
                      <a:endParaRPr lang="de-DE" sz="1600" b="0" i="0" dirty="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2461795602"/>
                  </a:ext>
                </a:extLst>
              </a:tr>
            </a:tbl>
          </a:graphicData>
        </a:graphic>
      </p:graphicFrame>
      <p:sp>
        <p:nvSpPr>
          <p:cNvPr id="5" name="TextBox 4">
            <a:extLst>
              <a:ext uri="{FF2B5EF4-FFF2-40B4-BE49-F238E27FC236}">
                <a16:creationId xmlns:a16="http://schemas.microsoft.com/office/drawing/2014/main" id="{EBDC893A-63F0-AF13-7465-3EB8E43C0C0F}"/>
              </a:ext>
            </a:extLst>
          </p:cNvPr>
          <p:cNvSpPr txBox="1"/>
          <p:nvPr/>
        </p:nvSpPr>
        <p:spPr>
          <a:xfrm>
            <a:off x="838199" y="6169709"/>
            <a:ext cx="11167648" cy="646331"/>
          </a:xfrm>
          <a:prstGeom prst="rect">
            <a:avLst/>
          </a:prstGeom>
          <a:noFill/>
        </p:spPr>
        <p:txBody>
          <a:bodyPr wrap="square" rtlCol="0">
            <a:spAutoFit/>
          </a:bodyPr>
          <a:lstStyle/>
          <a:p>
            <a:r>
              <a:rPr lang="de-DE" b="1" dirty="0"/>
              <a:t>Ausgeschlossen:</a:t>
            </a:r>
            <a:r>
              <a:rPr lang="de-DE" dirty="0"/>
              <a:t> </a:t>
            </a:r>
            <a:r>
              <a:rPr lang="de-DE" dirty="0" err="1"/>
              <a:t>Sinica</a:t>
            </a:r>
            <a:r>
              <a:rPr lang="de-DE" dirty="0"/>
              <a:t> (Textkorpus), </a:t>
            </a:r>
            <a:r>
              <a:rPr lang="de-DE" dirty="0" err="1"/>
              <a:t>Biaobei</a:t>
            </a:r>
            <a:r>
              <a:rPr lang="de-DE" dirty="0"/>
              <a:t> (TTS), CS-</a:t>
            </a:r>
            <a:r>
              <a:rPr lang="de-DE" dirty="0" err="1"/>
              <a:t>Dialogue</a:t>
            </a:r>
            <a:r>
              <a:rPr lang="de-DE" dirty="0"/>
              <a:t> (Code-Switch), </a:t>
            </a:r>
            <a:r>
              <a:rPr lang="de-DE" dirty="0" err="1"/>
              <a:t>EdUHK</a:t>
            </a:r>
            <a:r>
              <a:rPr lang="de-DE" dirty="0"/>
              <a:t> (Kantonesisch), Spoken Chinese L2 (nur Transkripte)</a:t>
            </a:r>
          </a:p>
        </p:txBody>
      </p:sp>
    </p:spTree>
    <p:extLst>
      <p:ext uri="{BB962C8B-B14F-4D97-AF65-F5344CB8AC3E}">
        <p14:creationId xmlns:p14="http://schemas.microsoft.com/office/powerpoint/2010/main" val="239493889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C37FB-636B-D083-3128-76ACB9C876C3}"/>
              </a:ext>
            </a:extLst>
          </p:cNvPr>
          <p:cNvSpPr>
            <a:spLocks noGrp="1"/>
          </p:cNvSpPr>
          <p:nvPr>
            <p:ph type="title"/>
          </p:nvPr>
        </p:nvSpPr>
        <p:spPr/>
        <p:txBody>
          <a:bodyPr/>
          <a:lstStyle/>
          <a:p>
            <a:r>
              <a:rPr lang="de-DE" dirty="0"/>
              <a:t>Tone Perfect — Perfekt für isolierte Tonevaluation</a:t>
            </a:r>
          </a:p>
        </p:txBody>
      </p:sp>
      <p:sp>
        <p:nvSpPr>
          <p:cNvPr id="3" name="Content Placeholder 2">
            <a:extLst>
              <a:ext uri="{FF2B5EF4-FFF2-40B4-BE49-F238E27FC236}">
                <a16:creationId xmlns:a16="http://schemas.microsoft.com/office/drawing/2014/main" id="{954CB789-1465-8EA9-5716-D806DC9E6086}"/>
              </a:ext>
            </a:extLst>
          </p:cNvPr>
          <p:cNvSpPr>
            <a:spLocks noGrp="1"/>
          </p:cNvSpPr>
          <p:nvPr>
            <p:ph idx="1"/>
          </p:nvPr>
        </p:nvSpPr>
        <p:spPr>
          <a:xfrm>
            <a:off x="838200" y="1825625"/>
            <a:ext cx="7358743" cy="4351338"/>
          </a:xfrm>
        </p:spPr>
        <p:txBody>
          <a:bodyPr/>
          <a:lstStyle/>
          <a:p>
            <a:r>
              <a:rPr lang="de-DE" b="1" dirty="0"/>
              <a:t>Kontrolliert:</a:t>
            </a:r>
            <a:r>
              <a:rPr lang="de-DE" dirty="0"/>
              <a:t> Isolierte Silben → Ton-Evaluation ohne Kontexteffekte (kein Tone Sandhi)</a:t>
            </a:r>
          </a:p>
          <a:p>
            <a:r>
              <a:rPr lang="de-DE" b="1" dirty="0"/>
              <a:t>Vollständig:</a:t>
            </a:r>
            <a:r>
              <a:rPr lang="de-DE" dirty="0"/>
              <a:t> Alle 410 Mandarin-Silben × 4 Töne — inklusive lexikalische Lücken</a:t>
            </a:r>
          </a:p>
          <a:p>
            <a:r>
              <a:rPr lang="de-DE" b="1" dirty="0"/>
              <a:t>Ground Truth:</a:t>
            </a:r>
            <a:r>
              <a:rPr lang="de-DE" dirty="0"/>
              <a:t> Professionelle Aufnahme, </a:t>
            </a:r>
            <a:r>
              <a:rPr lang="de-DE" dirty="0" err="1"/>
              <a:t>Pinyin+Tonnummer</a:t>
            </a:r>
            <a:r>
              <a:rPr lang="de-DE" dirty="0"/>
              <a:t> als Dateiname</a:t>
            </a:r>
          </a:p>
          <a:p>
            <a:r>
              <a:rPr lang="de-DE" b="1" dirty="0"/>
              <a:t>Wenig genutzt:</a:t>
            </a:r>
            <a:r>
              <a:rPr lang="de-DE" dirty="0"/>
              <a:t> Nur 2 Papers (Ryu 2021, Xu SITA 2026) — Potenzial für neue Ergebnisse</a:t>
            </a:r>
          </a:p>
          <a:p>
            <a:endParaRPr lang="de-DE" dirty="0"/>
          </a:p>
        </p:txBody>
      </p:sp>
      <p:pic>
        <p:nvPicPr>
          <p:cNvPr id="5" name="Picture 4">
            <a:extLst>
              <a:ext uri="{FF2B5EF4-FFF2-40B4-BE49-F238E27FC236}">
                <a16:creationId xmlns:a16="http://schemas.microsoft.com/office/drawing/2014/main" id="{3CDBE7A2-64C4-2D81-053A-21535BDFDD17}"/>
              </a:ext>
            </a:extLst>
          </p:cNvPr>
          <p:cNvPicPr>
            <a:picLocks noChangeAspect="1"/>
          </p:cNvPicPr>
          <p:nvPr/>
        </p:nvPicPr>
        <p:blipFill>
          <a:blip r:embed="rId3"/>
          <a:stretch>
            <a:fillRect/>
          </a:stretch>
        </p:blipFill>
        <p:spPr>
          <a:xfrm>
            <a:off x="7928977" y="2564055"/>
            <a:ext cx="4084674" cy="1729890"/>
          </a:xfrm>
          <a:prstGeom prst="rect">
            <a:avLst/>
          </a:prstGeom>
        </p:spPr>
      </p:pic>
      <p:sp>
        <p:nvSpPr>
          <p:cNvPr id="6" name="TextBox 5">
            <a:extLst>
              <a:ext uri="{FF2B5EF4-FFF2-40B4-BE49-F238E27FC236}">
                <a16:creationId xmlns:a16="http://schemas.microsoft.com/office/drawing/2014/main" id="{6C156835-77B4-FEBF-8738-70AB610E4A63}"/>
              </a:ext>
            </a:extLst>
          </p:cNvPr>
          <p:cNvSpPr txBox="1"/>
          <p:nvPr/>
        </p:nvSpPr>
        <p:spPr>
          <a:xfrm>
            <a:off x="376709" y="5627914"/>
            <a:ext cx="11438581" cy="369332"/>
          </a:xfrm>
          <a:prstGeom prst="rect">
            <a:avLst/>
          </a:prstGeom>
          <a:noFill/>
        </p:spPr>
        <p:txBody>
          <a:bodyPr wrap="none" rtlCol="0">
            <a:spAutoFit/>
          </a:bodyPr>
          <a:lstStyle/>
          <a:p>
            <a:r>
              <a:rPr lang="de-DE" b="1" dirty="0"/>
              <a:t>Korrektur zur Excel:</a:t>
            </a:r>
            <a:r>
              <a:rPr lang="de-DE" dirty="0"/>
              <a:t> Tone Perfect ist </a:t>
            </a:r>
            <a:r>
              <a:rPr lang="de-DE" b="1" dirty="0"/>
              <a:t>Open Access</a:t>
            </a:r>
            <a:r>
              <a:rPr lang="de-DE" dirty="0"/>
              <a:t> (tone.lib.msu.edu), nicht „von Autoren bekommen". CC-BY 4.0.</a:t>
            </a:r>
          </a:p>
        </p:txBody>
      </p:sp>
    </p:spTree>
    <p:extLst>
      <p:ext uri="{BB962C8B-B14F-4D97-AF65-F5344CB8AC3E}">
        <p14:creationId xmlns:p14="http://schemas.microsoft.com/office/powerpoint/2010/main" val="465319239"/>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5146FF-EB6D-CB5E-6547-B816D83A1152}"/>
              </a:ext>
            </a:extLst>
          </p:cNvPr>
          <p:cNvSpPr>
            <a:spLocks noGrp="1"/>
          </p:cNvSpPr>
          <p:nvPr>
            <p:ph type="title"/>
          </p:nvPr>
        </p:nvSpPr>
        <p:spPr/>
        <p:txBody>
          <a:bodyPr/>
          <a:lstStyle/>
          <a:p>
            <a:r>
              <a:rPr lang="de-DE" dirty="0"/>
              <a:t>L2-Datensätze — klein, aber die einzigen öffentlichen mit Tönen</a:t>
            </a:r>
          </a:p>
        </p:txBody>
      </p:sp>
      <p:graphicFrame>
        <p:nvGraphicFramePr>
          <p:cNvPr id="4" name="Content Placeholder 3">
            <a:extLst>
              <a:ext uri="{FF2B5EF4-FFF2-40B4-BE49-F238E27FC236}">
                <a16:creationId xmlns:a16="http://schemas.microsoft.com/office/drawing/2014/main" id="{3CA057F8-7D5A-29C4-8B51-435C1EF6ACFA}"/>
              </a:ext>
            </a:extLst>
          </p:cNvPr>
          <p:cNvGraphicFramePr>
            <a:graphicFrameLocks noGrp="1"/>
          </p:cNvGraphicFramePr>
          <p:nvPr>
            <p:ph idx="1"/>
            <p:extLst>
              <p:ext uri="{D42A27DB-BD31-4B8C-83A1-F6EECF244321}">
                <p14:modId xmlns:p14="http://schemas.microsoft.com/office/powerpoint/2010/main" val="2409109611"/>
              </p:ext>
            </p:extLst>
          </p:nvPr>
        </p:nvGraphicFramePr>
        <p:xfrm>
          <a:off x="6096000" y="2013857"/>
          <a:ext cx="5486400" cy="3383280"/>
        </p:xfrm>
        <a:graphic>
          <a:graphicData uri="http://schemas.openxmlformats.org/drawingml/2006/table">
            <a:tbl>
              <a:tblPr/>
              <a:tblGrid>
                <a:gridCol w="1796192">
                  <a:extLst>
                    <a:ext uri="{9D8B030D-6E8A-4147-A177-3AD203B41FA5}">
                      <a16:colId xmlns:a16="http://schemas.microsoft.com/office/drawing/2014/main" val="3870739485"/>
                    </a:ext>
                  </a:extLst>
                </a:gridCol>
                <a:gridCol w="1845104">
                  <a:extLst>
                    <a:ext uri="{9D8B030D-6E8A-4147-A177-3AD203B41FA5}">
                      <a16:colId xmlns:a16="http://schemas.microsoft.com/office/drawing/2014/main" val="3241758599"/>
                    </a:ext>
                  </a:extLst>
                </a:gridCol>
                <a:gridCol w="1845104">
                  <a:extLst>
                    <a:ext uri="{9D8B030D-6E8A-4147-A177-3AD203B41FA5}">
                      <a16:colId xmlns:a16="http://schemas.microsoft.com/office/drawing/2014/main" val="1767716420"/>
                    </a:ext>
                  </a:extLst>
                </a:gridCol>
              </a:tblGrid>
              <a:tr h="355062">
                <a:tc>
                  <a:txBody>
                    <a:bodyPr/>
                    <a:lstStyle/>
                    <a:p>
                      <a:pPr algn="l">
                        <a:spcAft>
                          <a:spcPts val="1200"/>
                        </a:spcAft>
                        <a:buNone/>
                      </a:pPr>
                      <a:endParaRPr lang="de-DE" sz="1200" b="1" i="0" dirty="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br>
                        <a:rPr lang="de-DE" sz="1200" b="1" i="0" dirty="0">
                          <a:solidFill>
                            <a:srgbClr val="1F2328"/>
                          </a:solidFill>
                          <a:effectLst/>
                          <a:latin typeface="Mona Sans VF"/>
                        </a:rPr>
                      </a:br>
                      <a:r>
                        <a:rPr lang="de-DE" sz="1200" b="1" i="0" dirty="0">
                          <a:solidFill>
                            <a:srgbClr val="1F2328"/>
                          </a:solidFill>
                          <a:effectLst/>
                          <a:latin typeface="Mona Sans VF"/>
                        </a:rPr>
                        <a:t>LATIC</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dirty="0">
                          <a:solidFill>
                            <a:srgbClr val="1F2328"/>
                          </a:solidFill>
                          <a:effectLst/>
                          <a:latin typeface="Mona Sans VF"/>
                        </a:rPr>
                        <a:t>OMPAL</a:t>
                      </a:r>
                    </a:p>
                  </a:txBody>
                  <a:tcPr marL="99060" marR="99060" anchor="ctr">
                    <a:lnL w="6767" cap="flat" cmpd="sng" algn="ctr">
                      <a:solidFill>
                        <a:srgbClr val="D1D9E0"/>
                      </a:solidFill>
                      <a:prstDash val="solid"/>
                      <a:round/>
                      <a:headEnd type="none" w="med" len="med"/>
                      <a:tailEnd type="none" w="med" len="med"/>
                    </a:lnL>
                    <a:lnB w="6767" cap="flat" cmpd="sng" algn="ctr">
                      <a:solidFill>
                        <a:srgbClr val="D1D9E0"/>
                      </a:solidFill>
                      <a:prstDash val="solid"/>
                      <a:round/>
                      <a:headEnd type="none" w="med" len="med"/>
                      <a:tailEnd type="none" w="med" len="med"/>
                    </a:lnB>
                  </a:tcPr>
                </a:tc>
                <a:extLst>
                  <a:ext uri="{0D108BD9-81ED-4DB2-BD59-A6C34878D82A}">
                    <a16:rowId xmlns:a16="http://schemas.microsoft.com/office/drawing/2014/main" val="3482454216"/>
                  </a:ext>
                </a:extLst>
              </a:tr>
              <a:tr h="355062">
                <a:tc>
                  <a:txBody>
                    <a:bodyPr/>
                    <a:lstStyle/>
                    <a:p>
                      <a:pPr algn="l">
                        <a:spcAft>
                          <a:spcPts val="1200"/>
                        </a:spcAft>
                        <a:buNone/>
                      </a:pPr>
                      <a:r>
                        <a:rPr lang="de-DE" sz="1200" b="1" i="0">
                          <a:solidFill>
                            <a:srgbClr val="1F2328"/>
                          </a:solidFill>
                          <a:effectLst/>
                          <a:latin typeface="Mona Sans VF"/>
                        </a:rPr>
                        <a:t>Sprecher</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4 L2 (Russisch, Koreanisch, Frz., Arabisch)</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46 L2 (alle Französisch L1)</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4207229388"/>
                  </a:ext>
                </a:extLst>
              </a:tr>
              <a:tr h="213037">
                <a:tc>
                  <a:txBody>
                    <a:bodyPr/>
                    <a:lstStyle/>
                    <a:p>
                      <a:pPr algn="l">
                        <a:spcAft>
                          <a:spcPts val="1200"/>
                        </a:spcAft>
                        <a:buNone/>
                      </a:pPr>
                      <a:r>
                        <a:rPr lang="de-DE" sz="1200" b="1" i="0">
                          <a:solidFill>
                            <a:srgbClr val="1F2328"/>
                          </a:solidFill>
                          <a:effectLst/>
                          <a:latin typeface="Mona Sans VF"/>
                        </a:rPr>
                        <a:t>Stunden</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dirty="0">
                          <a:solidFill>
                            <a:srgbClr val="1F2328"/>
                          </a:solidFill>
                          <a:effectLst/>
                          <a:latin typeface="Mona Sans VF"/>
                        </a:rPr>
                        <a:t>4h</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2,9h</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646787331"/>
                  </a:ext>
                </a:extLst>
              </a:tr>
              <a:tr h="213037">
                <a:tc>
                  <a:txBody>
                    <a:bodyPr/>
                    <a:lstStyle/>
                    <a:p>
                      <a:pPr algn="l">
                        <a:spcAft>
                          <a:spcPts val="1200"/>
                        </a:spcAft>
                        <a:buNone/>
                      </a:pPr>
                      <a:r>
                        <a:rPr lang="de-DE" sz="1200" b="1" i="0">
                          <a:solidFill>
                            <a:srgbClr val="1F2328"/>
                          </a:solidFill>
                          <a:effectLst/>
                          <a:latin typeface="Mona Sans VF"/>
                        </a:rPr>
                        <a:t>Sätze</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2.579</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dirty="0">
                          <a:solidFill>
                            <a:srgbClr val="1F2328"/>
                          </a:solidFill>
                          <a:effectLst/>
                          <a:latin typeface="Mona Sans VF"/>
                        </a:rPr>
                        <a:t>1.768</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1697247778"/>
                  </a:ext>
                </a:extLst>
              </a:tr>
              <a:tr h="213037">
                <a:tc>
                  <a:txBody>
                    <a:bodyPr/>
                    <a:lstStyle/>
                    <a:p>
                      <a:pPr algn="l">
                        <a:spcAft>
                          <a:spcPts val="1200"/>
                        </a:spcAft>
                        <a:buNone/>
                      </a:pPr>
                      <a:r>
                        <a:rPr lang="de-DE" sz="1200" b="1" i="0">
                          <a:solidFill>
                            <a:srgbClr val="1F2328"/>
                          </a:solidFill>
                          <a:effectLst/>
                          <a:latin typeface="Mona Sans VF"/>
                        </a:rPr>
                        <a:t>Annotation</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Pinyin + Tonnummern</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4 Experten-Bewerter (Wort + Satz)</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1678000821"/>
                  </a:ext>
                </a:extLst>
              </a:tr>
              <a:tr h="213037">
                <a:tc>
                  <a:txBody>
                    <a:bodyPr/>
                    <a:lstStyle/>
                    <a:p>
                      <a:pPr algn="l">
                        <a:spcAft>
                          <a:spcPts val="1200"/>
                        </a:spcAft>
                        <a:buNone/>
                      </a:pPr>
                      <a:r>
                        <a:rPr lang="de-DE" sz="1200" b="1" i="0">
                          <a:solidFill>
                            <a:srgbClr val="1F2328"/>
                          </a:solidFill>
                          <a:effectLst/>
                          <a:latin typeface="Mona Sans VF"/>
                        </a:rPr>
                        <a:t>Töne</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 Explizit annotiert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 Auf Wortebene bewertet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4233182483"/>
                  </a:ext>
                </a:extLst>
              </a:tr>
              <a:tr h="213037">
                <a:tc>
                  <a:txBody>
                    <a:bodyPr/>
                    <a:lstStyle/>
                    <a:p>
                      <a:pPr algn="l">
                        <a:spcAft>
                          <a:spcPts val="1200"/>
                        </a:spcAft>
                        <a:buNone/>
                      </a:pPr>
                      <a:r>
                        <a:rPr lang="de-DE" sz="1200" b="1" i="0">
                          <a:solidFill>
                            <a:srgbClr val="1F2328"/>
                          </a:solidFill>
                          <a:effectLst/>
                          <a:latin typeface="Mona Sans VF"/>
                        </a:rPr>
                        <a:t>Zugang</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 IEEE DataPort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 Open-Source</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3035506908"/>
                  </a:ext>
                </a:extLst>
              </a:tr>
              <a:tr h="213037">
                <a:tc>
                  <a:txBody>
                    <a:bodyPr/>
                    <a:lstStyle/>
                    <a:p>
                      <a:pPr algn="l">
                        <a:spcAft>
                          <a:spcPts val="1200"/>
                        </a:spcAft>
                        <a:buNone/>
                      </a:pPr>
                      <a:r>
                        <a:rPr lang="de-DE" sz="1200" b="1" i="0">
                          <a:solidFill>
                            <a:srgbClr val="1F2328"/>
                          </a:solidFill>
                          <a:effectLst/>
                          <a:latin typeface="Mona Sans VF"/>
                        </a:rPr>
                        <a:t>Limitation</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Nur 4 Sprecher</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Nur Franz. L1, Streamlit-Probleme</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2788985710"/>
                  </a:ext>
                </a:extLst>
              </a:tr>
              <a:tr h="213037">
                <a:tc>
                  <a:txBody>
                    <a:bodyPr/>
                    <a:lstStyle/>
                    <a:p>
                      <a:pPr algn="l">
                        <a:spcAft>
                          <a:spcPts val="1200"/>
                        </a:spcAft>
                        <a:buNone/>
                      </a:pPr>
                      <a:r>
                        <a:rPr lang="de-DE" sz="1200" b="1" i="0">
                          <a:solidFill>
                            <a:srgbClr val="1F2328"/>
                          </a:solidFill>
                          <a:effectLst/>
                          <a:latin typeface="Mona Sans VF"/>
                        </a:rPr>
                        <a:t>Jahr</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2021</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dirty="0">
                          <a:solidFill>
                            <a:srgbClr val="1F2328"/>
                          </a:solidFill>
                          <a:effectLst/>
                          <a:latin typeface="Mona Sans VF"/>
                        </a:rPr>
                        <a:t>2025</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367371578"/>
                  </a:ext>
                </a:extLst>
              </a:tr>
            </a:tbl>
          </a:graphicData>
        </a:graphic>
      </p:graphicFrame>
      <p:sp>
        <p:nvSpPr>
          <p:cNvPr id="5" name="TextBox 4">
            <a:extLst>
              <a:ext uri="{FF2B5EF4-FFF2-40B4-BE49-F238E27FC236}">
                <a16:creationId xmlns:a16="http://schemas.microsoft.com/office/drawing/2014/main" id="{DD7B3B54-AC3A-0519-04BE-7A891D80F313}"/>
              </a:ext>
            </a:extLst>
          </p:cNvPr>
          <p:cNvSpPr txBox="1"/>
          <p:nvPr/>
        </p:nvSpPr>
        <p:spPr>
          <a:xfrm>
            <a:off x="1012371" y="2013857"/>
            <a:ext cx="4027715" cy="3970318"/>
          </a:xfrm>
          <a:prstGeom prst="rect">
            <a:avLst/>
          </a:prstGeom>
          <a:noFill/>
        </p:spPr>
        <p:txBody>
          <a:bodyPr wrap="square" rtlCol="0">
            <a:spAutoFit/>
          </a:bodyPr>
          <a:lstStyle/>
          <a:p>
            <a:pPr marL="285750" indent="-285750">
              <a:buFont typeface="Arial" panose="020B0604020202020204" pitchFamily="34" charset="0"/>
              <a:buChar char="•"/>
            </a:pPr>
            <a:r>
              <a:rPr lang="de-DE" b="1" dirty="0"/>
              <a:t>LATIC:</a:t>
            </a:r>
            <a:r>
              <a:rPr lang="de-DE" dirty="0"/>
              <a:t> Einziger öffentlicher L2-Mandarin-Datensatz mit expliziten Tonnummern (yi1-Format)</a:t>
            </a:r>
          </a:p>
          <a:p>
            <a:pPr marL="285750" indent="-285750">
              <a:buFont typeface="Arial" panose="020B0604020202020204" pitchFamily="34" charset="0"/>
              <a:buChar char="•"/>
            </a:pPr>
            <a:r>
              <a:rPr lang="de-DE" b="1" dirty="0"/>
              <a:t>OMPAL:</a:t>
            </a:r>
            <a:r>
              <a:rPr lang="de-DE" dirty="0"/>
              <a:t> Größerer L2-Datensatz (46 Sprecher), mit Expertenrating — aber nur Franz. L1</a:t>
            </a:r>
          </a:p>
          <a:p>
            <a:pPr marL="285750" indent="-285750">
              <a:buFont typeface="Arial" panose="020B0604020202020204" pitchFamily="34" charset="0"/>
              <a:buChar char="•"/>
            </a:pPr>
            <a:r>
              <a:rPr lang="de-DE" b="1" dirty="0"/>
              <a:t>Zusammen:</a:t>
            </a:r>
            <a:r>
              <a:rPr lang="de-DE" dirty="0"/>
              <a:t> 50 L2-Sprecher, 4.347 Äußerungen — klein, aber ausreichend für erste RQ3-Ergebnisse</a:t>
            </a:r>
          </a:p>
          <a:p>
            <a:pPr marL="285750" indent="-285750">
              <a:buFont typeface="Arial" panose="020B0604020202020204" pitchFamily="34" charset="0"/>
              <a:buChar char="•"/>
            </a:pPr>
            <a:r>
              <a:rPr lang="de-DE" b="1" dirty="0"/>
              <a:t>Bonus-Option:</a:t>
            </a:r>
            <a:r>
              <a:rPr lang="de-DE" dirty="0"/>
              <a:t> </a:t>
            </a:r>
            <a:r>
              <a:rPr lang="de-DE" dirty="0" err="1"/>
              <a:t>iCALL</a:t>
            </a:r>
            <a:r>
              <a:rPr lang="de-DE" dirty="0"/>
              <a:t> (305 Sprecher, 142h) + </a:t>
            </a:r>
            <a:r>
              <a:rPr lang="de-DE" dirty="0" err="1"/>
              <a:t>SingaKids</a:t>
            </a:r>
            <a:r>
              <a:rPr lang="de-DE" dirty="0"/>
              <a:t> (255 Kinder, 125h) bei Kontaktaufnahme</a:t>
            </a:r>
          </a:p>
          <a:p>
            <a:endParaRPr lang="de-DE" dirty="0"/>
          </a:p>
        </p:txBody>
      </p:sp>
      <p:sp>
        <p:nvSpPr>
          <p:cNvPr id="6" name="TextBox 5">
            <a:extLst>
              <a:ext uri="{FF2B5EF4-FFF2-40B4-BE49-F238E27FC236}">
                <a16:creationId xmlns:a16="http://schemas.microsoft.com/office/drawing/2014/main" id="{66A62D02-EA29-C17B-8CF3-675E2D560122}"/>
              </a:ext>
            </a:extLst>
          </p:cNvPr>
          <p:cNvSpPr txBox="1"/>
          <p:nvPr/>
        </p:nvSpPr>
        <p:spPr>
          <a:xfrm>
            <a:off x="1404257" y="6204857"/>
            <a:ext cx="9745745" cy="369332"/>
          </a:xfrm>
          <a:prstGeom prst="rect">
            <a:avLst/>
          </a:prstGeom>
          <a:noFill/>
        </p:spPr>
        <p:txBody>
          <a:bodyPr wrap="none" rtlCol="0">
            <a:spAutoFit/>
          </a:bodyPr>
          <a:lstStyle/>
          <a:p>
            <a:r>
              <a:rPr lang="de-DE" b="1" dirty="0"/>
              <a:t>Lücke in der Forschung:</a:t>
            </a:r>
            <a:r>
              <a:rPr lang="de-DE" dirty="0"/>
              <a:t> Kein L2-Mandarin-Datensatz wurde je mit multimodalen LLMs getestet.</a:t>
            </a:r>
          </a:p>
        </p:txBody>
      </p:sp>
    </p:spTree>
    <p:extLst>
      <p:ext uri="{BB962C8B-B14F-4D97-AF65-F5344CB8AC3E}">
        <p14:creationId xmlns:p14="http://schemas.microsoft.com/office/powerpoint/2010/main" val="235873789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2D3B07-AFCD-85AD-0680-328F3A8C332E}"/>
              </a:ext>
            </a:extLst>
          </p:cNvPr>
          <p:cNvSpPr>
            <a:spLocks noGrp="1"/>
          </p:cNvSpPr>
          <p:nvPr>
            <p:ph type="title"/>
          </p:nvPr>
        </p:nvSpPr>
        <p:spPr/>
        <p:txBody>
          <a:bodyPr/>
          <a:lstStyle/>
          <a:p>
            <a:r>
              <a:rPr lang="de-DE" dirty="0"/>
              <a:t>170h AISHELL, 755h MAGICDATA — aber kein Ton</a:t>
            </a:r>
          </a:p>
        </p:txBody>
      </p:sp>
      <p:graphicFrame>
        <p:nvGraphicFramePr>
          <p:cNvPr id="4" name="Content Placeholder 3">
            <a:extLst>
              <a:ext uri="{FF2B5EF4-FFF2-40B4-BE49-F238E27FC236}">
                <a16:creationId xmlns:a16="http://schemas.microsoft.com/office/drawing/2014/main" id="{202ACF95-0708-AA0F-39DB-C8055642EC67}"/>
              </a:ext>
            </a:extLst>
          </p:cNvPr>
          <p:cNvGraphicFramePr>
            <a:graphicFrameLocks noGrp="1"/>
          </p:cNvGraphicFramePr>
          <p:nvPr>
            <p:ph idx="1"/>
            <p:extLst>
              <p:ext uri="{D42A27DB-BD31-4B8C-83A1-F6EECF244321}">
                <p14:modId xmlns:p14="http://schemas.microsoft.com/office/powerpoint/2010/main" val="572923060"/>
              </p:ext>
            </p:extLst>
          </p:nvPr>
        </p:nvGraphicFramePr>
        <p:xfrm>
          <a:off x="838200" y="1872343"/>
          <a:ext cx="10515600" cy="3226230"/>
        </p:xfrm>
        <a:graphic>
          <a:graphicData uri="http://schemas.openxmlformats.org/drawingml/2006/table">
            <a:tbl>
              <a:tblPr/>
              <a:tblGrid>
                <a:gridCol w="2103120">
                  <a:extLst>
                    <a:ext uri="{9D8B030D-6E8A-4147-A177-3AD203B41FA5}">
                      <a16:colId xmlns:a16="http://schemas.microsoft.com/office/drawing/2014/main" val="1872076244"/>
                    </a:ext>
                  </a:extLst>
                </a:gridCol>
                <a:gridCol w="2103120">
                  <a:extLst>
                    <a:ext uri="{9D8B030D-6E8A-4147-A177-3AD203B41FA5}">
                      <a16:colId xmlns:a16="http://schemas.microsoft.com/office/drawing/2014/main" val="3063335999"/>
                    </a:ext>
                  </a:extLst>
                </a:gridCol>
                <a:gridCol w="2103120">
                  <a:extLst>
                    <a:ext uri="{9D8B030D-6E8A-4147-A177-3AD203B41FA5}">
                      <a16:colId xmlns:a16="http://schemas.microsoft.com/office/drawing/2014/main" val="3541819962"/>
                    </a:ext>
                  </a:extLst>
                </a:gridCol>
                <a:gridCol w="2103120">
                  <a:extLst>
                    <a:ext uri="{9D8B030D-6E8A-4147-A177-3AD203B41FA5}">
                      <a16:colId xmlns:a16="http://schemas.microsoft.com/office/drawing/2014/main" val="1250812326"/>
                    </a:ext>
                  </a:extLst>
                </a:gridCol>
                <a:gridCol w="2103120">
                  <a:extLst>
                    <a:ext uri="{9D8B030D-6E8A-4147-A177-3AD203B41FA5}">
                      <a16:colId xmlns:a16="http://schemas.microsoft.com/office/drawing/2014/main" val="1847318216"/>
                    </a:ext>
                  </a:extLst>
                </a:gridCol>
              </a:tblGrid>
              <a:tr h="403279">
                <a:tc>
                  <a:txBody>
                    <a:bodyPr/>
                    <a:lstStyle/>
                    <a:p>
                      <a:pPr algn="l">
                        <a:spcAft>
                          <a:spcPts val="1200"/>
                        </a:spcAft>
                        <a:buNone/>
                      </a:pPr>
                      <a:r>
                        <a:rPr lang="de-DE" sz="1200" b="1" i="0">
                          <a:solidFill>
                            <a:srgbClr val="1F2328"/>
                          </a:solidFill>
                          <a:effectLst/>
                          <a:latin typeface="Mona Sans VF"/>
                        </a:rPr>
                        <a:t>Korpus</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a:solidFill>
                            <a:srgbClr val="1F2328"/>
                          </a:solidFill>
                          <a:effectLst/>
                          <a:latin typeface="Mona Sans VF"/>
                        </a:rPr>
                        <a:t>Stunden</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a:solidFill>
                            <a:srgbClr val="1F2328"/>
                          </a:solidFill>
                          <a:effectLst/>
                          <a:latin typeface="Mona Sans VF"/>
                        </a:rPr>
                        <a:t>Sprecher</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a:solidFill>
                            <a:srgbClr val="1F2328"/>
                          </a:solidFill>
                          <a:effectLst/>
                          <a:latin typeface="Mona Sans VF"/>
                        </a:rPr>
                        <a:t>Töne?</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a:solidFill>
                            <a:srgbClr val="1F2328"/>
                          </a:solidFill>
                          <a:effectLst/>
                          <a:latin typeface="Mona Sans VF"/>
                        </a:rPr>
                        <a:t>Problem für uns</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285516146"/>
                  </a:ext>
                </a:extLst>
              </a:tr>
              <a:tr h="672131">
                <a:tc>
                  <a:txBody>
                    <a:bodyPr/>
                    <a:lstStyle/>
                    <a:p>
                      <a:pPr algn="l">
                        <a:spcAft>
                          <a:spcPts val="1200"/>
                        </a:spcAft>
                        <a:buNone/>
                      </a:pPr>
                      <a:r>
                        <a:rPr lang="de-DE" sz="1200" b="0" i="0">
                          <a:solidFill>
                            <a:srgbClr val="1F2328"/>
                          </a:solidFill>
                          <a:effectLst/>
                          <a:latin typeface="Mona Sans VF"/>
                        </a:rPr>
                        <a:t>AISHELL-1</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170h</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400</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dirty="0">
                          <a:solidFill>
                            <a:srgbClr val="1F2328"/>
                          </a:solidFill>
                          <a:effectLst/>
                          <a:latin typeface="Mona Sans VF"/>
                        </a:rPr>
                        <a: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Nur CER auf Zeichenebene, kein Ton-Ground-Truth</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4147578387"/>
                  </a:ext>
                </a:extLst>
              </a:tr>
              <a:tr h="403279">
                <a:tc>
                  <a:txBody>
                    <a:bodyPr/>
                    <a:lstStyle/>
                    <a:p>
                      <a:pPr algn="l">
                        <a:spcAft>
                          <a:spcPts val="1200"/>
                        </a:spcAft>
                        <a:buNone/>
                      </a:pPr>
                      <a:r>
                        <a:rPr lang="de-DE" sz="1200" b="0" i="0">
                          <a:solidFill>
                            <a:srgbClr val="1F2328"/>
                          </a:solidFill>
                          <a:effectLst/>
                          <a:latin typeface="Mona Sans VF"/>
                        </a:rPr>
                        <a:t>MAGICDATA</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755h</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1.080</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Kein Pinyin, kein Ton</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3003754355"/>
                  </a:ext>
                </a:extLst>
              </a:tr>
              <a:tr h="403279">
                <a:tc>
                  <a:txBody>
                    <a:bodyPr/>
                    <a:lstStyle/>
                    <a:p>
                      <a:pPr algn="l">
                        <a:spcAft>
                          <a:spcPts val="1200"/>
                        </a:spcAft>
                        <a:buNone/>
                      </a:pPr>
                      <a:r>
                        <a:rPr lang="de-DE" sz="1200" b="0" i="0">
                          <a:solidFill>
                            <a:srgbClr val="1F2328"/>
                          </a:solidFill>
                          <a:effectLst/>
                          <a:latin typeface="Mona Sans VF"/>
                        </a:rPr>
                        <a:t>KeSpeech</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1.542h</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27.237</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Dialekte, kein Ton-Label</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2145175008"/>
                  </a:ext>
                </a:extLst>
              </a:tr>
              <a:tr h="672131">
                <a:tc>
                  <a:txBody>
                    <a:bodyPr/>
                    <a:lstStyle/>
                    <a:p>
                      <a:pPr algn="l">
                        <a:spcAft>
                          <a:spcPts val="1200"/>
                        </a:spcAft>
                        <a:buNone/>
                      </a:pPr>
                      <a:r>
                        <a:rPr lang="de-DE" sz="1200" b="0" i="0">
                          <a:solidFill>
                            <a:srgbClr val="1F2328"/>
                          </a:solidFill>
                          <a:effectLst/>
                          <a:latin typeface="Mona Sans VF"/>
                        </a:rPr>
                        <a:t>WenetSpeech4TTS</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12.800h</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viele</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TTS-Korpus (Text→Speech, nicht Speech→Text)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434291636"/>
                  </a:ext>
                </a:extLst>
              </a:tr>
              <a:tr h="672131">
                <a:tc>
                  <a:txBody>
                    <a:bodyPr/>
                    <a:lstStyle/>
                    <a:p>
                      <a:pPr algn="l">
                        <a:spcAft>
                          <a:spcPts val="1200"/>
                        </a:spcAft>
                        <a:buNone/>
                      </a:pPr>
                      <a:r>
                        <a:rPr lang="de-DE" sz="1200" b="1" i="0">
                          <a:solidFill>
                            <a:srgbClr val="1F2328"/>
                          </a:solidFill>
                          <a:effectLst/>
                          <a:latin typeface="Mona Sans VF"/>
                        </a:rPr>
                        <a:t>Tone Perfect</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a:solidFill>
                            <a:srgbClr val="1F2328"/>
                          </a:solidFill>
                          <a:effectLst/>
                          <a:latin typeface="Mona Sans VF"/>
                        </a:rPr>
                        <a:t>~2h</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a:solidFill>
                            <a:srgbClr val="1F2328"/>
                          </a:solidFill>
                          <a:effectLst/>
                          <a:latin typeface="Mona Sans VF"/>
                        </a:rPr>
                        <a:t>6</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a:solidFill>
                            <a:srgbClr val="1F2328"/>
                          </a:solidFill>
                          <a:effectLst/>
                          <a:latin typeface="Mona Sans VF"/>
                        </a:rPr>
                        <a:t>✅</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dirty="0">
                          <a:solidFill>
                            <a:srgbClr val="1F2328"/>
                          </a:solidFill>
                          <a:effectLst/>
                          <a:latin typeface="Mona Sans VF"/>
                        </a:rPr>
                        <a:t>Perfekt: Alle Silben × alle Töne × Ground Truth</a:t>
                      </a:r>
                      <a:endParaRPr lang="de-DE" sz="1200" b="0" i="0" dirty="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1964861063"/>
                  </a:ext>
                </a:extLst>
              </a:tr>
            </a:tbl>
          </a:graphicData>
        </a:graphic>
      </p:graphicFrame>
      <p:sp>
        <p:nvSpPr>
          <p:cNvPr id="5" name="TextBox 4">
            <a:extLst>
              <a:ext uri="{FF2B5EF4-FFF2-40B4-BE49-F238E27FC236}">
                <a16:creationId xmlns:a16="http://schemas.microsoft.com/office/drawing/2014/main" id="{A71531FE-760C-DF64-70BF-136320D6F6D8}"/>
              </a:ext>
            </a:extLst>
          </p:cNvPr>
          <p:cNvSpPr txBox="1"/>
          <p:nvPr/>
        </p:nvSpPr>
        <p:spPr>
          <a:xfrm>
            <a:off x="1262743" y="5649686"/>
            <a:ext cx="10319657" cy="646331"/>
          </a:xfrm>
          <a:prstGeom prst="rect">
            <a:avLst/>
          </a:prstGeom>
          <a:noFill/>
        </p:spPr>
        <p:txBody>
          <a:bodyPr wrap="square" rtlCol="0">
            <a:spAutoFit/>
          </a:bodyPr>
          <a:lstStyle/>
          <a:p>
            <a:r>
              <a:rPr lang="de-DE" dirty="0"/>
              <a:t>Mehr Stunden ≠ besserer Datensatz. Für Tonevaluation braucht man </a:t>
            </a:r>
            <a:r>
              <a:rPr lang="de-DE" b="1" dirty="0"/>
              <a:t>nicht</a:t>
            </a:r>
            <a:r>
              <a:rPr lang="de-DE" dirty="0"/>
              <a:t> 12.800 Stunden, sondern </a:t>
            </a:r>
            <a:r>
              <a:rPr lang="de-DE" b="1" dirty="0"/>
              <a:t>kontrollierten Ground Truth</a:t>
            </a:r>
            <a:r>
              <a:rPr lang="de-DE" dirty="0"/>
              <a:t> mit </a:t>
            </a:r>
            <a:r>
              <a:rPr lang="de-DE" b="1" dirty="0"/>
              <a:t>expliziten Tonlabels</a:t>
            </a:r>
            <a:r>
              <a:rPr lang="de-DE" dirty="0"/>
              <a:t>.</a:t>
            </a:r>
          </a:p>
        </p:txBody>
      </p:sp>
    </p:spTree>
    <p:extLst>
      <p:ext uri="{BB962C8B-B14F-4D97-AF65-F5344CB8AC3E}">
        <p14:creationId xmlns:p14="http://schemas.microsoft.com/office/powerpoint/2010/main" val="272549191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749A8-6DC3-AD0F-B174-0697DACA3909}"/>
              </a:ext>
            </a:extLst>
          </p:cNvPr>
          <p:cNvSpPr>
            <a:spLocks noGrp="1"/>
          </p:cNvSpPr>
          <p:nvPr>
            <p:ph type="title"/>
          </p:nvPr>
        </p:nvSpPr>
        <p:spPr/>
        <p:txBody>
          <a:bodyPr/>
          <a:lstStyle/>
          <a:p>
            <a:r>
              <a:rPr lang="de-DE" dirty="0"/>
              <a:t>Datensatz-Zuordnung: 3 Korpora für 5 Forschungsfragen</a:t>
            </a:r>
          </a:p>
        </p:txBody>
      </p:sp>
      <p:graphicFrame>
        <p:nvGraphicFramePr>
          <p:cNvPr id="4" name="Content Placeholder 3">
            <a:extLst>
              <a:ext uri="{FF2B5EF4-FFF2-40B4-BE49-F238E27FC236}">
                <a16:creationId xmlns:a16="http://schemas.microsoft.com/office/drawing/2014/main" id="{3C05C82C-05E7-1340-5432-2D03A038B449}"/>
              </a:ext>
            </a:extLst>
          </p:cNvPr>
          <p:cNvGraphicFramePr>
            <a:graphicFrameLocks noGrp="1"/>
          </p:cNvGraphicFramePr>
          <p:nvPr>
            <p:ph idx="1"/>
            <p:extLst>
              <p:ext uri="{D42A27DB-BD31-4B8C-83A1-F6EECF244321}">
                <p14:modId xmlns:p14="http://schemas.microsoft.com/office/powerpoint/2010/main" val="3766789559"/>
              </p:ext>
            </p:extLst>
          </p:nvPr>
        </p:nvGraphicFramePr>
        <p:xfrm>
          <a:off x="838200" y="1807029"/>
          <a:ext cx="10515600" cy="3398471"/>
        </p:xfrm>
        <a:graphic>
          <a:graphicData uri="http://schemas.openxmlformats.org/drawingml/2006/table">
            <a:tbl>
              <a:tblPr/>
              <a:tblGrid>
                <a:gridCol w="2628900">
                  <a:extLst>
                    <a:ext uri="{9D8B030D-6E8A-4147-A177-3AD203B41FA5}">
                      <a16:colId xmlns:a16="http://schemas.microsoft.com/office/drawing/2014/main" val="191265580"/>
                    </a:ext>
                  </a:extLst>
                </a:gridCol>
                <a:gridCol w="2628900">
                  <a:extLst>
                    <a:ext uri="{9D8B030D-6E8A-4147-A177-3AD203B41FA5}">
                      <a16:colId xmlns:a16="http://schemas.microsoft.com/office/drawing/2014/main" val="863246379"/>
                    </a:ext>
                  </a:extLst>
                </a:gridCol>
                <a:gridCol w="2628900">
                  <a:extLst>
                    <a:ext uri="{9D8B030D-6E8A-4147-A177-3AD203B41FA5}">
                      <a16:colId xmlns:a16="http://schemas.microsoft.com/office/drawing/2014/main" val="1636239804"/>
                    </a:ext>
                  </a:extLst>
                </a:gridCol>
                <a:gridCol w="2628900">
                  <a:extLst>
                    <a:ext uri="{9D8B030D-6E8A-4147-A177-3AD203B41FA5}">
                      <a16:colId xmlns:a16="http://schemas.microsoft.com/office/drawing/2014/main" val="2109050832"/>
                    </a:ext>
                  </a:extLst>
                </a:gridCol>
              </a:tblGrid>
              <a:tr h="502871">
                <a:tc>
                  <a:txBody>
                    <a:bodyPr/>
                    <a:lstStyle/>
                    <a:p>
                      <a:pPr algn="l">
                        <a:spcAft>
                          <a:spcPts val="1200"/>
                        </a:spcAft>
                        <a:buNone/>
                      </a:pPr>
                      <a:r>
                        <a:rPr lang="de-DE" sz="1600" b="1" i="0" dirty="0">
                          <a:solidFill>
                            <a:srgbClr val="1F2328"/>
                          </a:solidFill>
                          <a:effectLst/>
                          <a:latin typeface="Mona Sans VF"/>
                        </a:rPr>
                        <a:t>Forschungsfrage</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1" i="0">
                          <a:solidFill>
                            <a:srgbClr val="1F2328"/>
                          </a:solidFill>
                          <a:effectLst/>
                          <a:latin typeface="Mona Sans VF"/>
                        </a:rPr>
                        <a:t>Datensatz</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1" i="0">
                          <a:solidFill>
                            <a:srgbClr val="1F2328"/>
                          </a:solidFill>
                          <a:effectLst/>
                          <a:latin typeface="Mona Sans VF"/>
                        </a:rPr>
                        <a:t>Samples</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1" i="0">
                          <a:solidFill>
                            <a:srgbClr val="1F2328"/>
                          </a:solidFill>
                          <a:effectLst/>
                          <a:latin typeface="Mona Sans VF"/>
                        </a:rPr>
                        <a:t>Begründung</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2344999970"/>
                  </a:ext>
                </a:extLst>
              </a:tr>
              <a:tr h="502871">
                <a:tc>
                  <a:txBody>
                    <a:bodyPr/>
                    <a:lstStyle/>
                    <a:p>
                      <a:pPr algn="l">
                        <a:spcAft>
                          <a:spcPts val="1200"/>
                        </a:spcAft>
                        <a:buNone/>
                      </a:pPr>
                      <a:r>
                        <a:rPr lang="de-DE" sz="1600" b="1" i="0">
                          <a:solidFill>
                            <a:srgbClr val="1F2328"/>
                          </a:solidFill>
                          <a:effectLst/>
                          <a:latin typeface="Mona Sans VF"/>
                        </a:rPr>
                        <a:t>RQ1</a:t>
                      </a:r>
                      <a:r>
                        <a:rPr lang="de-DE" sz="1600" b="0" i="0">
                          <a:solidFill>
                            <a:srgbClr val="1F2328"/>
                          </a:solidFill>
                          <a:effectLst/>
                          <a:latin typeface="Mona Sans VF"/>
                        </a:rPr>
                        <a:t> (Text→Pinyin)</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0" i="0" dirty="0">
                          <a:solidFill>
                            <a:srgbClr val="1F2328"/>
                          </a:solidFill>
                          <a:effectLst/>
                          <a:latin typeface="Mona Sans VF"/>
                        </a:rPr>
                        <a:t>Kein Audio nötig</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0" i="0">
                          <a:solidFill>
                            <a:srgbClr val="1F2328"/>
                          </a:solidFill>
                          <a:effectLst/>
                          <a:latin typeface="Mona Sans VF"/>
                        </a:rPr>
                        <a:t>Textproben aus Tone-Perfect-Silben</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0" i="0">
                          <a:solidFill>
                            <a:srgbClr val="1F2328"/>
                          </a:solidFill>
                          <a:effectLst/>
                          <a:latin typeface="Mona Sans VF"/>
                        </a:rPr>
                        <a:t>Claude, DeepSeek: Text-only</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374023366"/>
                  </a:ext>
                </a:extLst>
              </a:tr>
              <a:tr h="502871">
                <a:tc>
                  <a:txBody>
                    <a:bodyPr/>
                    <a:lstStyle/>
                    <a:p>
                      <a:pPr algn="l">
                        <a:spcAft>
                          <a:spcPts val="1200"/>
                        </a:spcAft>
                        <a:buNone/>
                      </a:pPr>
                      <a:r>
                        <a:rPr lang="de-DE" sz="1600" b="1" i="0">
                          <a:solidFill>
                            <a:srgbClr val="1F2328"/>
                          </a:solidFill>
                          <a:effectLst/>
                          <a:latin typeface="Mona Sans VF"/>
                        </a:rPr>
                        <a:t>RQ2</a:t>
                      </a:r>
                      <a:r>
                        <a:rPr lang="de-DE" sz="1600" b="0" i="0">
                          <a:solidFill>
                            <a:srgbClr val="1F2328"/>
                          </a:solidFill>
                          <a:effectLst/>
                          <a:latin typeface="Mona Sans VF"/>
                        </a:rPr>
                        <a:t> (Native Speech)</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600" b="1" i="0" dirty="0">
                          <a:solidFill>
                            <a:srgbClr val="1F2328"/>
                          </a:solidFill>
                          <a:effectLst/>
                          <a:latin typeface="Mona Sans VF"/>
                        </a:rPr>
                        <a:t>Tone Perfect</a:t>
                      </a:r>
                      <a:endParaRPr lang="de-DE" sz="1600" b="0" i="0" dirty="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600" b="0" i="0">
                          <a:solidFill>
                            <a:srgbClr val="1F2328"/>
                          </a:solidFill>
                          <a:effectLst/>
                          <a:latin typeface="Mona Sans VF"/>
                        </a:rPr>
                        <a:t>9.840 Silben (alle) / 700 (Sub-Sample)</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600" b="0" i="0">
                          <a:solidFill>
                            <a:srgbClr val="1F2328"/>
                          </a:solidFill>
                          <a:effectLst/>
                          <a:latin typeface="Mona Sans VF"/>
                        </a:rPr>
                        <a:t>Isolierte Töne, perfekter Ground Truth</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3439968990"/>
                  </a:ext>
                </a:extLst>
              </a:tr>
              <a:tr h="502871">
                <a:tc>
                  <a:txBody>
                    <a:bodyPr/>
                    <a:lstStyle/>
                    <a:p>
                      <a:pPr algn="l">
                        <a:spcAft>
                          <a:spcPts val="1200"/>
                        </a:spcAft>
                        <a:buNone/>
                      </a:pPr>
                      <a:r>
                        <a:rPr lang="de-DE" sz="1600" b="1" i="0">
                          <a:solidFill>
                            <a:srgbClr val="1F2328"/>
                          </a:solidFill>
                          <a:effectLst/>
                          <a:latin typeface="Mona Sans VF"/>
                        </a:rPr>
                        <a:t>RQ3</a:t>
                      </a:r>
                      <a:r>
                        <a:rPr lang="de-DE" sz="1600" b="0" i="0">
                          <a:solidFill>
                            <a:srgbClr val="1F2328"/>
                          </a:solidFill>
                          <a:effectLst/>
                          <a:latin typeface="Mona Sans VF"/>
                        </a:rPr>
                        <a:t> (L2 Speech)</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1" i="0">
                          <a:solidFill>
                            <a:srgbClr val="1F2328"/>
                          </a:solidFill>
                          <a:effectLst/>
                          <a:latin typeface="Mona Sans VF"/>
                        </a:rPr>
                        <a:t>LATIC + OMPAL</a:t>
                      </a:r>
                      <a:endParaRPr lang="de-DE" sz="16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0" i="0">
                          <a:solidFill>
                            <a:srgbClr val="1F2328"/>
                          </a:solidFill>
                          <a:effectLst/>
                          <a:latin typeface="Mona Sans VF"/>
                        </a:rPr>
                        <a:t>~4.350 Äußerungen</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0" i="0" dirty="0">
                          <a:solidFill>
                            <a:srgbClr val="1F2328"/>
                          </a:solidFill>
                          <a:effectLst/>
                          <a:latin typeface="Mona Sans VF"/>
                        </a:rPr>
                        <a:t>Einzige öffentliche L2 mit Tonlabels</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3308065610"/>
                  </a:ext>
                </a:extLst>
              </a:tr>
              <a:tr h="502871">
                <a:tc>
                  <a:txBody>
                    <a:bodyPr/>
                    <a:lstStyle/>
                    <a:p>
                      <a:pPr algn="l">
                        <a:spcAft>
                          <a:spcPts val="1200"/>
                        </a:spcAft>
                        <a:buNone/>
                      </a:pPr>
                      <a:r>
                        <a:rPr lang="de-DE" sz="1600" b="1" i="0">
                          <a:solidFill>
                            <a:srgbClr val="1F2328"/>
                          </a:solidFill>
                          <a:effectLst/>
                          <a:latin typeface="Mona Sans VF"/>
                        </a:rPr>
                        <a:t>RQ4</a:t>
                      </a:r>
                      <a:r>
                        <a:rPr lang="de-DE" sz="1600" b="0" i="0">
                          <a:solidFill>
                            <a:srgbClr val="1F2328"/>
                          </a:solidFill>
                          <a:effectLst/>
                          <a:latin typeface="Mona Sans VF"/>
                        </a:rPr>
                        <a:t> (Vergleich)</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600" b="0" i="0">
                          <a:solidFill>
                            <a:srgbClr val="1F2328"/>
                          </a:solidFill>
                          <a:effectLst/>
                          <a:latin typeface="Mona Sans VF"/>
                        </a:rPr>
                        <a:t>Tone Perfect + AISHELL-1</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600" b="0" i="0">
                          <a:solidFill>
                            <a:srgbClr val="1F2328"/>
                          </a:solidFill>
                          <a:effectLst/>
                          <a:latin typeface="Mona Sans VF"/>
                        </a:rPr>
                        <a:t>CER auf AISHELL für Lit.-Vergleich</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600" b="0" i="0" dirty="0">
                          <a:solidFill>
                            <a:srgbClr val="1F2328"/>
                          </a:solidFill>
                          <a:effectLst/>
                          <a:latin typeface="Mona Sans VF"/>
                        </a:rPr>
                        <a:t>Standard-Benchmark der ASR-Literatur</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4237256848"/>
                  </a:ext>
                </a:extLst>
              </a:tr>
              <a:tr h="502871">
                <a:tc>
                  <a:txBody>
                    <a:bodyPr/>
                    <a:lstStyle/>
                    <a:p>
                      <a:pPr algn="l">
                        <a:spcAft>
                          <a:spcPts val="1200"/>
                        </a:spcAft>
                        <a:buNone/>
                      </a:pPr>
                      <a:r>
                        <a:rPr lang="de-DE" sz="1600" b="1" i="0">
                          <a:solidFill>
                            <a:srgbClr val="1F2328"/>
                          </a:solidFill>
                          <a:effectLst/>
                          <a:latin typeface="Mona Sans VF"/>
                        </a:rPr>
                        <a:t>RQ5</a:t>
                      </a:r>
                      <a:r>
                        <a:rPr lang="de-DE" sz="1600" b="0" i="0">
                          <a:solidFill>
                            <a:srgbClr val="1F2328"/>
                          </a:solidFill>
                          <a:effectLst/>
                          <a:latin typeface="Mona Sans VF"/>
                        </a:rPr>
                        <a:t> (Fehlerstruktur)</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0" i="0">
                          <a:solidFill>
                            <a:srgbClr val="1F2328"/>
                          </a:solidFill>
                          <a:effectLst/>
                          <a:latin typeface="Mona Sans VF"/>
                        </a:rPr>
                        <a:t>Tone Perfect + LATIC</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0" i="0">
                          <a:solidFill>
                            <a:srgbClr val="1F2328"/>
                          </a:solidFill>
                          <a:effectLst/>
                          <a:latin typeface="Mona Sans VF"/>
                        </a:rPr>
                        <a:t>Konfusionsmatrizen aus RQ2/RQ3</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0" i="0" dirty="0">
                          <a:solidFill>
                            <a:srgbClr val="1F2328"/>
                          </a:solidFill>
                          <a:effectLst/>
                          <a:latin typeface="Mona Sans VF"/>
                        </a:rPr>
                        <a:t>Ton-Verwechslungsmuster analysieren</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2057327129"/>
                  </a:ext>
                </a:extLst>
              </a:tr>
            </a:tbl>
          </a:graphicData>
        </a:graphic>
      </p:graphicFrame>
      <p:sp>
        <p:nvSpPr>
          <p:cNvPr id="5" name="TextBox 4">
            <a:extLst>
              <a:ext uri="{FF2B5EF4-FFF2-40B4-BE49-F238E27FC236}">
                <a16:creationId xmlns:a16="http://schemas.microsoft.com/office/drawing/2014/main" id="{66A673E5-969B-7C2C-D0B1-606A037F8C0D}"/>
              </a:ext>
            </a:extLst>
          </p:cNvPr>
          <p:cNvSpPr txBox="1"/>
          <p:nvPr/>
        </p:nvSpPr>
        <p:spPr>
          <a:xfrm>
            <a:off x="838200" y="5867400"/>
            <a:ext cx="10418814" cy="369332"/>
          </a:xfrm>
          <a:prstGeom prst="rect">
            <a:avLst/>
          </a:prstGeom>
          <a:noFill/>
        </p:spPr>
        <p:txBody>
          <a:bodyPr wrap="none" rtlCol="0">
            <a:spAutoFit/>
          </a:bodyPr>
          <a:lstStyle/>
          <a:p>
            <a:r>
              <a:rPr lang="de-DE" b="1" dirty="0"/>
              <a:t>Pilot:</a:t>
            </a:r>
            <a:r>
              <a:rPr lang="de-DE" dirty="0"/>
              <a:t> 400 Tone-Perfect-Samples (100 pro Ton) + 200 LATIC-Samples → Pipeline-Test vor dem vollen Lauf.</a:t>
            </a:r>
          </a:p>
        </p:txBody>
      </p:sp>
    </p:spTree>
    <p:extLst>
      <p:ext uri="{BB962C8B-B14F-4D97-AF65-F5344CB8AC3E}">
        <p14:creationId xmlns:p14="http://schemas.microsoft.com/office/powerpoint/2010/main" val="1907065473"/>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578CEF-4E00-B378-4FF8-5801A3DE87B5}"/>
              </a:ext>
            </a:extLst>
          </p:cNvPr>
          <p:cNvSpPr>
            <a:spLocks noGrp="1"/>
          </p:cNvSpPr>
          <p:nvPr>
            <p:ph type="title"/>
          </p:nvPr>
        </p:nvSpPr>
        <p:spPr/>
        <p:txBody>
          <a:bodyPr/>
          <a:lstStyle/>
          <a:p>
            <a:r>
              <a:rPr lang="de-DE" dirty="0"/>
              <a:t>Ausgeschlossen — und warum (Backup-Folie)</a:t>
            </a:r>
          </a:p>
        </p:txBody>
      </p:sp>
      <p:graphicFrame>
        <p:nvGraphicFramePr>
          <p:cNvPr id="4" name="Content Placeholder 3">
            <a:extLst>
              <a:ext uri="{FF2B5EF4-FFF2-40B4-BE49-F238E27FC236}">
                <a16:creationId xmlns:a16="http://schemas.microsoft.com/office/drawing/2014/main" id="{78921806-4AC3-4EB9-35CF-8E5926793D88}"/>
              </a:ext>
            </a:extLst>
          </p:cNvPr>
          <p:cNvGraphicFramePr>
            <a:graphicFrameLocks noGrp="1"/>
          </p:cNvGraphicFramePr>
          <p:nvPr>
            <p:ph idx="1"/>
            <p:extLst>
              <p:ext uri="{D42A27DB-BD31-4B8C-83A1-F6EECF244321}">
                <p14:modId xmlns:p14="http://schemas.microsoft.com/office/powerpoint/2010/main" val="159199509"/>
              </p:ext>
            </p:extLst>
          </p:nvPr>
        </p:nvGraphicFramePr>
        <p:xfrm>
          <a:off x="838200" y="1774371"/>
          <a:ext cx="10515600" cy="4037056"/>
        </p:xfrm>
        <a:graphic>
          <a:graphicData uri="http://schemas.openxmlformats.org/drawingml/2006/table">
            <a:tbl>
              <a:tblPr/>
              <a:tblGrid>
                <a:gridCol w="5257800">
                  <a:extLst>
                    <a:ext uri="{9D8B030D-6E8A-4147-A177-3AD203B41FA5}">
                      <a16:colId xmlns:a16="http://schemas.microsoft.com/office/drawing/2014/main" val="1674878504"/>
                    </a:ext>
                  </a:extLst>
                </a:gridCol>
                <a:gridCol w="5257800">
                  <a:extLst>
                    <a:ext uri="{9D8B030D-6E8A-4147-A177-3AD203B41FA5}">
                      <a16:colId xmlns:a16="http://schemas.microsoft.com/office/drawing/2014/main" val="4086558534"/>
                    </a:ext>
                  </a:extLst>
                </a:gridCol>
              </a:tblGrid>
              <a:tr h="359852">
                <a:tc>
                  <a:txBody>
                    <a:bodyPr/>
                    <a:lstStyle/>
                    <a:p>
                      <a:pPr algn="l">
                        <a:spcAft>
                          <a:spcPts val="1200"/>
                        </a:spcAft>
                        <a:buNone/>
                      </a:pPr>
                      <a:r>
                        <a:rPr lang="de-DE" sz="1600" b="1" i="0">
                          <a:solidFill>
                            <a:srgbClr val="1F2328"/>
                          </a:solidFill>
                          <a:effectLst/>
                          <a:latin typeface="Mona Sans VF"/>
                        </a:rPr>
                        <a:t>Korpus</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1" i="0">
                          <a:solidFill>
                            <a:srgbClr val="1F2328"/>
                          </a:solidFill>
                          <a:effectLst/>
                          <a:latin typeface="Mona Sans VF"/>
                        </a:rPr>
                        <a:t>Grund für Ausschluss</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3646885766"/>
                  </a:ext>
                </a:extLst>
              </a:tr>
              <a:tr h="359852">
                <a:tc>
                  <a:txBody>
                    <a:bodyPr/>
                    <a:lstStyle/>
                    <a:p>
                      <a:pPr algn="l">
                        <a:spcAft>
                          <a:spcPts val="1200"/>
                        </a:spcAft>
                        <a:buNone/>
                      </a:pPr>
                      <a:r>
                        <a:rPr lang="de-DE" sz="1600" b="1" i="0">
                          <a:solidFill>
                            <a:srgbClr val="1F2328"/>
                          </a:solidFill>
                          <a:effectLst/>
                          <a:latin typeface="Mona Sans VF"/>
                        </a:rPr>
                        <a:t>Sinica Corpus</a:t>
                      </a:r>
                      <a:endParaRPr lang="de-DE" sz="16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0" i="0">
                          <a:solidFill>
                            <a:srgbClr val="1F2328"/>
                          </a:solidFill>
                          <a:effectLst/>
                          <a:latin typeface="Mona Sans VF"/>
                        </a:rPr>
                        <a:t>❌ Textkorpus — kein Audio, nur POS-getaggte Zeichen</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1199297811"/>
                  </a:ext>
                </a:extLst>
              </a:tr>
              <a:tr h="359852">
                <a:tc>
                  <a:txBody>
                    <a:bodyPr/>
                    <a:lstStyle/>
                    <a:p>
                      <a:pPr algn="l">
                        <a:spcAft>
                          <a:spcPts val="1200"/>
                        </a:spcAft>
                        <a:buNone/>
                      </a:pPr>
                      <a:r>
                        <a:rPr lang="de-DE" sz="1600" b="1" i="0">
                          <a:solidFill>
                            <a:srgbClr val="1F2328"/>
                          </a:solidFill>
                          <a:effectLst/>
                          <a:latin typeface="Mona Sans VF"/>
                        </a:rPr>
                        <a:t>Biaobei (CSMSC)</a:t>
                      </a:r>
                      <a:endParaRPr lang="de-DE" sz="16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600" b="0" i="0">
                          <a:solidFill>
                            <a:srgbClr val="1F2328"/>
                          </a:solidFill>
                          <a:effectLst/>
                          <a:latin typeface="Mona Sans VF"/>
                        </a:rPr>
                        <a:t>❌ TTS-Korpus — 1 Sprecherin, für Text→Speech, nicht Speech→Text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3079123912"/>
                  </a:ext>
                </a:extLst>
              </a:tr>
              <a:tr h="359852">
                <a:tc>
                  <a:txBody>
                    <a:bodyPr/>
                    <a:lstStyle/>
                    <a:p>
                      <a:pPr algn="l">
                        <a:spcAft>
                          <a:spcPts val="1200"/>
                        </a:spcAft>
                        <a:buNone/>
                      </a:pPr>
                      <a:r>
                        <a:rPr lang="de-DE" sz="1600" b="1" i="0">
                          <a:solidFill>
                            <a:srgbClr val="1F2328"/>
                          </a:solidFill>
                          <a:effectLst/>
                          <a:latin typeface="Mona Sans VF"/>
                        </a:rPr>
                        <a:t>CS-Dialogue</a:t>
                      </a:r>
                      <a:endParaRPr lang="de-DE" sz="16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0" i="0">
                          <a:solidFill>
                            <a:srgbClr val="1F2328"/>
                          </a:solidFill>
                          <a:effectLst/>
                          <a:latin typeface="Mona Sans VF"/>
                        </a:rPr>
                        <a:t>❌ Code-Switching (Mandarin+Englisch) — kein reines Mandarin</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3136073823"/>
                  </a:ext>
                </a:extLst>
              </a:tr>
              <a:tr h="359852">
                <a:tc>
                  <a:txBody>
                    <a:bodyPr/>
                    <a:lstStyle/>
                    <a:p>
                      <a:pPr algn="l">
                        <a:spcAft>
                          <a:spcPts val="1200"/>
                        </a:spcAft>
                        <a:buNone/>
                      </a:pPr>
                      <a:r>
                        <a:rPr lang="de-DE" sz="1600" b="1" i="0">
                          <a:solidFill>
                            <a:srgbClr val="1F2328"/>
                          </a:solidFill>
                          <a:effectLst/>
                          <a:latin typeface="Mona Sans VF"/>
                        </a:rPr>
                        <a:t>EdUHK HongKong</a:t>
                      </a:r>
                      <a:endParaRPr lang="de-DE" sz="16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600" b="0" i="0">
                          <a:solidFill>
                            <a:srgbClr val="1F2328"/>
                          </a:solidFill>
                          <a:effectLst/>
                          <a:latin typeface="Mona Sans VF"/>
                        </a:rPr>
                        <a:t>❌ Kantonesisch, nicht Mandarin</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895866166"/>
                  </a:ext>
                </a:extLst>
              </a:tr>
              <a:tr h="359852">
                <a:tc>
                  <a:txBody>
                    <a:bodyPr/>
                    <a:lstStyle/>
                    <a:p>
                      <a:pPr algn="l">
                        <a:spcAft>
                          <a:spcPts val="1200"/>
                        </a:spcAft>
                        <a:buNone/>
                      </a:pPr>
                      <a:r>
                        <a:rPr lang="de-DE" sz="1600" b="1" i="0">
                          <a:solidFill>
                            <a:srgbClr val="1F2328"/>
                          </a:solidFill>
                          <a:effectLst/>
                          <a:latin typeface="Mona Sans VF"/>
                        </a:rPr>
                        <a:t>Spoken Chinese L2</a:t>
                      </a:r>
                      <a:endParaRPr lang="de-DE" sz="16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0" i="0">
                          <a:solidFill>
                            <a:srgbClr val="1F2328"/>
                          </a:solidFill>
                          <a:effectLst/>
                          <a:latin typeface="Mona Sans VF"/>
                        </a:rPr>
                        <a:t>❌ Nur Transkripte (kein Audio öffentlich)</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59077613"/>
                  </a:ext>
                </a:extLst>
              </a:tr>
              <a:tr h="359852">
                <a:tc>
                  <a:txBody>
                    <a:bodyPr/>
                    <a:lstStyle/>
                    <a:p>
                      <a:pPr algn="l">
                        <a:spcAft>
                          <a:spcPts val="1200"/>
                        </a:spcAft>
                        <a:buNone/>
                      </a:pPr>
                      <a:r>
                        <a:rPr lang="de-DE" sz="1600" b="1" i="0">
                          <a:solidFill>
                            <a:srgbClr val="1F2328"/>
                          </a:solidFill>
                          <a:effectLst/>
                          <a:latin typeface="Mona Sans VF"/>
                        </a:rPr>
                        <a:t>WenetSpeech4TTS</a:t>
                      </a:r>
                      <a:endParaRPr lang="de-DE" sz="16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600" b="0" i="0">
                          <a:solidFill>
                            <a:srgbClr val="1F2328"/>
                          </a:solidFill>
                          <a:effectLst/>
                          <a:latin typeface="Mona Sans VF"/>
                        </a:rPr>
                        <a:t>❌ TTS-Korpus (12.800h, aber falsche Richtung)</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1377339215"/>
                  </a:ext>
                </a:extLst>
              </a:tr>
              <a:tr h="359852">
                <a:tc>
                  <a:txBody>
                    <a:bodyPr/>
                    <a:lstStyle/>
                    <a:p>
                      <a:pPr algn="l">
                        <a:spcAft>
                          <a:spcPts val="1200"/>
                        </a:spcAft>
                        <a:buNone/>
                      </a:pPr>
                      <a:r>
                        <a:rPr lang="de-DE" sz="1600" b="1" i="0">
                          <a:solidFill>
                            <a:srgbClr val="1F2328"/>
                          </a:solidFill>
                          <a:effectLst/>
                          <a:latin typeface="Mona Sans VF"/>
                        </a:rPr>
                        <a:t>ChildMandarin</a:t>
                      </a:r>
                      <a:endParaRPr lang="de-DE" sz="16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0" i="0">
                          <a:solidFill>
                            <a:srgbClr val="1F2328"/>
                          </a:solidFill>
                          <a:effectLst/>
                          <a:latin typeface="Mona Sans VF"/>
                        </a:rPr>
                        <a:t>⚠️ Kinder 3–5 Jahre — nicht L2, nicht RQ-relevant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807111924"/>
                  </a:ext>
                </a:extLst>
              </a:tr>
              <a:tr h="359852">
                <a:tc>
                  <a:txBody>
                    <a:bodyPr/>
                    <a:lstStyle/>
                    <a:p>
                      <a:pPr algn="l">
                        <a:spcAft>
                          <a:spcPts val="1200"/>
                        </a:spcAft>
                        <a:buNone/>
                      </a:pPr>
                      <a:r>
                        <a:rPr lang="de-DE" sz="1600" b="1" i="0">
                          <a:solidFill>
                            <a:srgbClr val="1F2328"/>
                          </a:solidFill>
                          <a:effectLst/>
                          <a:latin typeface="Mona Sans VF"/>
                        </a:rPr>
                        <a:t>Free ST</a:t>
                      </a:r>
                      <a:endParaRPr lang="de-DE" sz="16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600" b="0" i="0">
                          <a:solidFill>
                            <a:srgbClr val="1F2328"/>
                          </a:solidFill>
                          <a:effectLst/>
                          <a:latin typeface="Mona Sans VF"/>
                        </a:rPr>
                        <a:t>⚠️ Kein Ton-Ground-Truth, keine Lautschrift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2861601649"/>
                  </a:ext>
                </a:extLst>
              </a:tr>
              <a:tr h="359852">
                <a:tc>
                  <a:txBody>
                    <a:bodyPr/>
                    <a:lstStyle/>
                    <a:p>
                      <a:pPr algn="l">
                        <a:spcAft>
                          <a:spcPts val="1200"/>
                        </a:spcAft>
                        <a:buNone/>
                      </a:pPr>
                      <a:r>
                        <a:rPr lang="de-DE" sz="1600" b="1" i="0">
                          <a:solidFill>
                            <a:srgbClr val="1F2328"/>
                          </a:solidFill>
                          <a:effectLst/>
                          <a:latin typeface="Mona Sans VF"/>
                        </a:rPr>
                        <a:t>BLCU-SA</a:t>
                      </a:r>
                      <a:endParaRPr lang="de-DE" sz="16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600" b="0" i="0" dirty="0">
                          <a:solidFill>
                            <a:srgbClr val="1F2328"/>
                          </a:solidFill>
                          <a:effectLst/>
                          <a:latin typeface="Mona Sans VF"/>
                        </a:rPr>
                        <a:t>⚠️ Im Design-Stadium (2016), Status unklar</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1973045866"/>
                  </a:ext>
                </a:extLst>
              </a:tr>
            </a:tbl>
          </a:graphicData>
        </a:graphic>
      </p:graphicFrame>
    </p:spTree>
    <p:extLst>
      <p:ext uri="{BB962C8B-B14F-4D97-AF65-F5344CB8AC3E}">
        <p14:creationId xmlns:p14="http://schemas.microsoft.com/office/powerpoint/2010/main" val="210802827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D288BE-62C1-2495-1B7B-9772988A3659}"/>
              </a:ext>
            </a:extLst>
          </p:cNvPr>
          <p:cNvSpPr>
            <a:spLocks noGrp="1"/>
          </p:cNvSpPr>
          <p:nvPr>
            <p:ph type="title"/>
          </p:nvPr>
        </p:nvSpPr>
        <p:spPr/>
        <p:txBody>
          <a:bodyPr/>
          <a:lstStyle/>
          <a:p>
            <a:endParaRPr lang="de-DE"/>
          </a:p>
        </p:txBody>
      </p:sp>
      <p:sp>
        <p:nvSpPr>
          <p:cNvPr id="3" name="Content Placeholder 2">
            <a:extLst>
              <a:ext uri="{FF2B5EF4-FFF2-40B4-BE49-F238E27FC236}">
                <a16:creationId xmlns:a16="http://schemas.microsoft.com/office/drawing/2014/main" id="{CCECA3A6-F51F-0A7F-DDE8-89213D9EB4FB}"/>
              </a:ext>
            </a:extLst>
          </p:cNvPr>
          <p:cNvSpPr>
            <a:spLocks noGrp="1"/>
          </p:cNvSpPr>
          <p:nvPr>
            <p:ph idx="1"/>
          </p:nvPr>
        </p:nvSpPr>
        <p:spPr/>
        <p:txBody>
          <a:bodyPr/>
          <a:lstStyle/>
          <a:p>
            <a:endParaRPr lang="de-DE"/>
          </a:p>
        </p:txBody>
      </p:sp>
    </p:spTree>
    <p:extLst>
      <p:ext uri="{BB962C8B-B14F-4D97-AF65-F5344CB8AC3E}">
        <p14:creationId xmlns:p14="http://schemas.microsoft.com/office/powerpoint/2010/main" val="232385834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D6404A-712C-5537-9D5E-FDFF4A806C58}"/>
              </a:ext>
            </a:extLst>
          </p:cNvPr>
          <p:cNvSpPr>
            <a:spLocks noGrp="1"/>
          </p:cNvSpPr>
          <p:nvPr>
            <p:ph type="title"/>
          </p:nvPr>
        </p:nvSpPr>
        <p:spPr/>
        <p:txBody>
          <a:bodyPr/>
          <a:lstStyle/>
          <a:p>
            <a:r>
              <a:rPr lang="de-DE" dirty="0"/>
              <a:t>Klassische </a:t>
            </a:r>
            <a:r>
              <a:rPr lang="de-DE" dirty="0" err="1"/>
              <a:t>Transcriptionstools</a:t>
            </a:r>
            <a:endParaRPr lang="de-DE" dirty="0"/>
          </a:p>
        </p:txBody>
      </p:sp>
      <p:sp>
        <p:nvSpPr>
          <p:cNvPr id="3" name="Content Placeholder 2">
            <a:extLst>
              <a:ext uri="{FF2B5EF4-FFF2-40B4-BE49-F238E27FC236}">
                <a16:creationId xmlns:a16="http://schemas.microsoft.com/office/drawing/2014/main" id="{6B2F6A5F-1136-AC51-91A1-8F0471B34D97}"/>
              </a:ext>
            </a:extLst>
          </p:cNvPr>
          <p:cNvSpPr>
            <a:spLocks noGrp="1"/>
          </p:cNvSpPr>
          <p:nvPr>
            <p:ph idx="1"/>
          </p:nvPr>
        </p:nvSpPr>
        <p:spPr/>
        <p:txBody>
          <a:bodyPr/>
          <a:lstStyle/>
          <a:p>
            <a:endParaRPr lang="de-DE"/>
          </a:p>
        </p:txBody>
      </p:sp>
    </p:spTree>
    <p:extLst>
      <p:ext uri="{BB962C8B-B14F-4D97-AF65-F5344CB8AC3E}">
        <p14:creationId xmlns:p14="http://schemas.microsoft.com/office/powerpoint/2010/main" val="145974924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2E883A-34EE-4527-945C-168EC124DD55}"/>
              </a:ext>
            </a:extLst>
          </p:cNvPr>
          <p:cNvSpPr>
            <a:spLocks noGrp="1"/>
          </p:cNvSpPr>
          <p:nvPr>
            <p:ph type="title"/>
          </p:nvPr>
        </p:nvSpPr>
        <p:spPr/>
        <p:txBody>
          <a:bodyPr/>
          <a:lstStyle/>
          <a:p>
            <a:r>
              <a:rPr lang="de-DE" dirty="0"/>
              <a:t>Mandarin-Transkription &amp; Tonerkennung ohne LLMs — die 3 Tiers</a:t>
            </a:r>
          </a:p>
        </p:txBody>
      </p:sp>
      <p:pic>
        <p:nvPicPr>
          <p:cNvPr id="5" name="Content Placeholder 4">
            <a:extLst>
              <a:ext uri="{FF2B5EF4-FFF2-40B4-BE49-F238E27FC236}">
                <a16:creationId xmlns:a16="http://schemas.microsoft.com/office/drawing/2014/main" id="{C952D633-D91B-9E3C-15E5-5B3C872D7856}"/>
              </a:ext>
            </a:extLst>
          </p:cNvPr>
          <p:cNvPicPr>
            <a:picLocks noGrp="1" noChangeAspect="1"/>
          </p:cNvPicPr>
          <p:nvPr>
            <p:ph idx="1"/>
          </p:nvPr>
        </p:nvPicPr>
        <p:blipFill>
          <a:blip r:embed="rId3"/>
          <a:stretch>
            <a:fillRect/>
          </a:stretch>
        </p:blipFill>
        <p:spPr>
          <a:xfrm>
            <a:off x="3478303" y="2580041"/>
            <a:ext cx="5235394" cy="2842506"/>
          </a:xfrm>
          <a:prstGeom prst="rect">
            <a:avLst/>
          </a:prstGeom>
        </p:spPr>
      </p:pic>
    </p:spTree>
    <p:extLst>
      <p:ext uri="{BB962C8B-B14F-4D97-AF65-F5344CB8AC3E}">
        <p14:creationId xmlns:p14="http://schemas.microsoft.com/office/powerpoint/2010/main" val="721231140"/>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6E2A9-7658-DEF2-9717-85139DF2F19F}"/>
              </a:ext>
            </a:extLst>
          </p:cNvPr>
          <p:cNvSpPr>
            <a:spLocks noGrp="1"/>
          </p:cNvSpPr>
          <p:nvPr>
            <p:ph type="title"/>
          </p:nvPr>
        </p:nvSpPr>
        <p:spPr/>
        <p:txBody>
          <a:bodyPr/>
          <a:lstStyle/>
          <a:p>
            <a:r>
              <a:rPr lang="de-DE" dirty="0"/>
              <a:t>Tier A — </a:t>
            </a:r>
            <a:r>
              <a:rPr lang="de-DE" dirty="0" err="1"/>
              <a:t>Text→Pinyin</a:t>
            </a:r>
            <a:r>
              <a:rPr lang="de-DE" dirty="0"/>
              <a:t>: gelöst, aber nur die kanonische Referenz</a:t>
            </a:r>
          </a:p>
        </p:txBody>
      </p:sp>
      <p:graphicFrame>
        <p:nvGraphicFramePr>
          <p:cNvPr id="4" name="Content Placeholder 3">
            <a:extLst>
              <a:ext uri="{FF2B5EF4-FFF2-40B4-BE49-F238E27FC236}">
                <a16:creationId xmlns:a16="http://schemas.microsoft.com/office/drawing/2014/main" id="{51C74DFC-1982-FD78-32A8-4DBAFFC59705}"/>
              </a:ext>
            </a:extLst>
          </p:cNvPr>
          <p:cNvGraphicFramePr>
            <a:graphicFrameLocks noGrp="1"/>
          </p:cNvGraphicFramePr>
          <p:nvPr>
            <p:ph idx="1"/>
            <p:extLst>
              <p:ext uri="{D42A27DB-BD31-4B8C-83A1-F6EECF244321}">
                <p14:modId xmlns:p14="http://schemas.microsoft.com/office/powerpoint/2010/main" val="1660679218"/>
              </p:ext>
            </p:extLst>
          </p:nvPr>
        </p:nvGraphicFramePr>
        <p:xfrm>
          <a:off x="838200" y="1892666"/>
          <a:ext cx="10515600" cy="1645920"/>
        </p:xfrm>
        <a:graphic>
          <a:graphicData uri="http://schemas.openxmlformats.org/drawingml/2006/table">
            <a:tbl>
              <a:tblPr/>
              <a:tblGrid>
                <a:gridCol w="2628900">
                  <a:extLst>
                    <a:ext uri="{9D8B030D-6E8A-4147-A177-3AD203B41FA5}">
                      <a16:colId xmlns:a16="http://schemas.microsoft.com/office/drawing/2014/main" val="3409806585"/>
                    </a:ext>
                  </a:extLst>
                </a:gridCol>
                <a:gridCol w="2628900">
                  <a:extLst>
                    <a:ext uri="{9D8B030D-6E8A-4147-A177-3AD203B41FA5}">
                      <a16:colId xmlns:a16="http://schemas.microsoft.com/office/drawing/2014/main" val="1923392434"/>
                    </a:ext>
                  </a:extLst>
                </a:gridCol>
                <a:gridCol w="2628900">
                  <a:extLst>
                    <a:ext uri="{9D8B030D-6E8A-4147-A177-3AD203B41FA5}">
                      <a16:colId xmlns:a16="http://schemas.microsoft.com/office/drawing/2014/main" val="4157269305"/>
                    </a:ext>
                  </a:extLst>
                </a:gridCol>
                <a:gridCol w="2628900">
                  <a:extLst>
                    <a:ext uri="{9D8B030D-6E8A-4147-A177-3AD203B41FA5}">
                      <a16:colId xmlns:a16="http://schemas.microsoft.com/office/drawing/2014/main" val="2179239667"/>
                    </a:ext>
                  </a:extLst>
                </a:gridCol>
              </a:tblGrid>
              <a:tr h="0">
                <a:tc>
                  <a:txBody>
                    <a:bodyPr/>
                    <a:lstStyle/>
                    <a:p>
                      <a:pPr algn="l">
                        <a:spcAft>
                          <a:spcPts val="1200"/>
                        </a:spcAft>
                        <a:buNone/>
                      </a:pPr>
                      <a:r>
                        <a:rPr lang="de-DE" sz="1200" b="1" i="0">
                          <a:solidFill>
                            <a:srgbClr val="1F2328"/>
                          </a:solidFill>
                          <a:effectLst/>
                          <a:latin typeface="Mona Sans VF"/>
                        </a:rPr>
                        <a:t>Tool</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dirty="0">
                          <a:solidFill>
                            <a:srgbClr val="1F2328"/>
                          </a:solidFill>
                          <a:effectLst/>
                          <a:latin typeface="Mona Sans VF"/>
                        </a:rPr>
                        <a:t>Typ</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a:solidFill>
                            <a:srgbClr val="1F2328"/>
                          </a:solidFill>
                          <a:effectLst/>
                          <a:latin typeface="Mona Sans VF"/>
                        </a:rPr>
                        <a:t>Genauigkeit „mit Ton"</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a:solidFill>
                            <a:srgbClr val="1F2328"/>
                          </a:solidFill>
                          <a:effectLst/>
                          <a:latin typeface="Mona Sans VF"/>
                        </a:rPr>
                        <a:t>Polyphone (多音字)</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2465350060"/>
                  </a:ext>
                </a:extLst>
              </a:tr>
              <a:tr h="0">
                <a:tc>
                  <a:txBody>
                    <a:bodyPr/>
                    <a:lstStyle/>
                    <a:p>
                      <a:pPr algn="l">
                        <a:spcAft>
                          <a:spcPts val="1200"/>
                        </a:spcAft>
                        <a:buNone/>
                      </a:pPr>
                      <a:r>
                        <a:rPr lang="de-DE" sz="1200" b="1" i="0">
                          <a:solidFill>
                            <a:srgbClr val="1F2328"/>
                          </a:solidFill>
                          <a:effectLst/>
                          <a:latin typeface="Mona Sans VF"/>
                        </a:rPr>
                        <a:t>g2pW</a:t>
                      </a:r>
                      <a:r>
                        <a:rPr lang="de-DE" sz="1200" b="0" i="0">
                          <a:solidFill>
                            <a:srgbClr val="1F2328"/>
                          </a:solidFill>
                          <a:effectLst/>
                          <a:latin typeface="Mona Sans VF"/>
                        </a:rPr>
                        <a:t> (2022) ⭐</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BERT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a:solidFill>
                            <a:srgbClr val="1F2328"/>
                          </a:solidFill>
                          <a:effectLst/>
                          <a:latin typeface="Mona Sans VF"/>
                        </a:rPr>
                        <a:t>99,08 %</a:t>
                      </a:r>
                      <a:r>
                        <a:rPr lang="de-DE" sz="1200" b="0" i="0">
                          <a:solidFill>
                            <a:srgbClr val="1F2328"/>
                          </a:solidFill>
                          <a:effectLst/>
                          <a:latin typeface="Mona Sans VF"/>
                        </a:rPr>
                        <a:t> (CPP-Benchmark)</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 kontext-sensitiv</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3559206253"/>
                  </a:ext>
                </a:extLst>
              </a:tr>
              <a:tr h="0">
                <a:tc>
                  <a:txBody>
                    <a:bodyPr/>
                    <a:lstStyle/>
                    <a:p>
                      <a:pPr algn="l">
                        <a:spcAft>
                          <a:spcPts val="1200"/>
                        </a:spcAft>
                        <a:buNone/>
                      </a:pPr>
                      <a:r>
                        <a:rPr lang="de-DE" sz="1200" b="1" i="0">
                          <a:solidFill>
                            <a:srgbClr val="1F2328"/>
                          </a:solidFill>
                          <a:effectLst/>
                          <a:latin typeface="Mona Sans VF"/>
                        </a:rPr>
                        <a:t>g2pM</a:t>
                      </a:r>
                      <a:r>
                        <a:rPr lang="de-DE" sz="1200" b="0" i="0">
                          <a:solidFill>
                            <a:srgbClr val="1F2328"/>
                          </a:solidFill>
                          <a:effectLst/>
                          <a:latin typeface="Mona Sans VF"/>
                        </a:rPr>
                        <a:t> (2020)</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Bi-LSTM</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97,31 %</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 kontext-sensitiv</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3253439989"/>
                  </a:ext>
                </a:extLst>
              </a:tr>
              <a:tr h="0">
                <a:tc>
                  <a:txBody>
                    <a:bodyPr/>
                    <a:lstStyle/>
                    <a:p>
                      <a:pPr algn="l">
                        <a:spcAft>
                          <a:spcPts val="1200"/>
                        </a:spcAft>
                        <a:buNone/>
                      </a:pPr>
                      <a:r>
                        <a:rPr lang="de-DE" sz="1200" b="1" i="0">
                          <a:solidFill>
                            <a:srgbClr val="1F2328"/>
                          </a:solidFill>
                          <a:effectLst/>
                          <a:latin typeface="Mona Sans VF"/>
                        </a:rPr>
                        <a:t>cpp-pinyin</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wörterbuchbasiert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90,3 % (ohne Ton 99,95 %)</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 begrenzt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376767727"/>
                  </a:ext>
                </a:extLst>
              </a:tr>
              <a:tr h="0">
                <a:tc>
                  <a:txBody>
                    <a:bodyPr/>
                    <a:lstStyle/>
                    <a:p>
                      <a:pPr algn="l">
                        <a:spcAft>
                          <a:spcPts val="1200"/>
                        </a:spcAft>
                        <a:buNone/>
                      </a:pPr>
                      <a:r>
                        <a:rPr lang="de-DE" sz="1200" b="1" i="0">
                          <a:solidFill>
                            <a:srgbClr val="1F2328"/>
                          </a:solidFill>
                          <a:effectLst/>
                          <a:latin typeface="Mona Sans VF"/>
                        </a:rPr>
                        <a:t>pypinyin</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regelbasiert + Sandhi-Modul</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~87 % (Satzkorpus)</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 schwach</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3336151132"/>
                  </a:ext>
                </a:extLst>
              </a:tr>
              <a:tr h="0">
                <a:tc>
                  <a:txBody>
                    <a:bodyPr/>
                    <a:lstStyle/>
                    <a:p>
                      <a:pPr algn="l">
                        <a:spcAft>
                          <a:spcPts val="1200"/>
                        </a:spcAft>
                        <a:buNone/>
                      </a:pPr>
                      <a:r>
                        <a:rPr lang="de-DE" sz="1200" b="1" i="0">
                          <a:solidFill>
                            <a:srgbClr val="1F2328"/>
                          </a:solidFill>
                          <a:effectLst/>
                          <a:latin typeface="Mona Sans VF"/>
                        </a:rPr>
                        <a:t>dragonmapper / pinyin-to-ipa</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Pinyin→IPA</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deterministisch</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dirty="0">
                          <a:solidFill>
                            <a:srgbClr val="1F2328"/>
                          </a:solidFill>
                          <a:effectLst/>
                          <a:latin typeface="Mona Sans VF"/>
                        </a:rPr>
                        <a:t>— (reine Abbildung)</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2774038172"/>
                  </a:ext>
                </a:extLst>
              </a:tr>
            </a:tbl>
          </a:graphicData>
        </a:graphic>
      </p:graphicFrame>
      <p:pic>
        <p:nvPicPr>
          <p:cNvPr id="6" name="Picture 5">
            <a:extLst>
              <a:ext uri="{FF2B5EF4-FFF2-40B4-BE49-F238E27FC236}">
                <a16:creationId xmlns:a16="http://schemas.microsoft.com/office/drawing/2014/main" id="{ADF9ED47-18CB-4B9A-A80D-8EC3726B24D3}"/>
              </a:ext>
            </a:extLst>
          </p:cNvPr>
          <p:cNvPicPr>
            <a:picLocks noChangeAspect="1"/>
          </p:cNvPicPr>
          <p:nvPr/>
        </p:nvPicPr>
        <p:blipFill>
          <a:blip r:embed="rId3"/>
          <a:stretch>
            <a:fillRect/>
          </a:stretch>
        </p:blipFill>
        <p:spPr>
          <a:xfrm>
            <a:off x="6425595" y="4863024"/>
            <a:ext cx="5052498" cy="617273"/>
          </a:xfrm>
          <a:prstGeom prst="rect">
            <a:avLst/>
          </a:prstGeom>
        </p:spPr>
      </p:pic>
      <p:sp>
        <p:nvSpPr>
          <p:cNvPr id="7" name="TextBox 6">
            <a:extLst>
              <a:ext uri="{FF2B5EF4-FFF2-40B4-BE49-F238E27FC236}">
                <a16:creationId xmlns:a16="http://schemas.microsoft.com/office/drawing/2014/main" id="{FECCFDD4-0B88-0706-B51E-1AF9F96FBDCB}"/>
              </a:ext>
            </a:extLst>
          </p:cNvPr>
          <p:cNvSpPr txBox="1"/>
          <p:nvPr/>
        </p:nvSpPr>
        <p:spPr>
          <a:xfrm>
            <a:off x="589723" y="4246798"/>
            <a:ext cx="5637090" cy="2031325"/>
          </a:xfrm>
          <a:prstGeom prst="rect">
            <a:avLst/>
          </a:prstGeom>
          <a:noFill/>
        </p:spPr>
        <p:txBody>
          <a:bodyPr wrap="square" rtlCol="0">
            <a:spAutoFit/>
          </a:bodyPr>
          <a:lstStyle/>
          <a:p>
            <a:pPr marL="285750" indent="-285750">
              <a:buFont typeface="Arial" panose="020B0604020202020204" pitchFamily="34" charset="0"/>
              <a:buChar char="•"/>
            </a:pPr>
            <a:r>
              <a:rPr lang="de-DE" dirty="0"/>
              <a:t>g2pW ist </a:t>
            </a:r>
            <a:r>
              <a:rPr lang="de-DE" b="1" dirty="0"/>
              <a:t>State-</a:t>
            </a:r>
            <a:r>
              <a:rPr lang="de-DE" b="1" dirty="0" err="1"/>
              <a:t>of</a:t>
            </a:r>
            <a:r>
              <a:rPr lang="de-DE" b="1" dirty="0"/>
              <a:t>-</a:t>
            </a:r>
            <a:r>
              <a:rPr lang="de-DE" b="1" dirty="0" err="1"/>
              <a:t>the</a:t>
            </a:r>
            <a:r>
              <a:rPr lang="de-DE" b="1" dirty="0"/>
              <a:t>-Art</a:t>
            </a:r>
            <a:r>
              <a:rPr lang="de-DE" dirty="0"/>
              <a:t> und meine </a:t>
            </a:r>
            <a:r>
              <a:rPr lang="de-DE" b="1" dirty="0"/>
              <a:t>Baseline für RQ1</a:t>
            </a:r>
            <a:r>
              <a:rPr lang="de-DE" dirty="0"/>
              <a:t> (</a:t>
            </a:r>
            <a:r>
              <a:rPr lang="de-DE" dirty="0" err="1"/>
              <a:t>Text→Pinyin</a:t>
            </a:r>
            <a:r>
              <a:rPr lang="de-DE" dirty="0"/>
              <a:t>)</a:t>
            </a:r>
          </a:p>
          <a:p>
            <a:pPr marL="285750" indent="-285750">
              <a:buFont typeface="Arial" panose="020B0604020202020204" pitchFamily="34" charset="0"/>
              <a:buChar char="•"/>
            </a:pPr>
            <a:r>
              <a:rPr lang="de-DE" dirty="0"/>
              <a:t>Bei isolierten Vokabeln ist die Soll-Referenz faktisch perfekt (Wort bekannt → Wörterbuch greift)</a:t>
            </a:r>
          </a:p>
          <a:p>
            <a:pPr marL="285750" indent="-285750">
              <a:buFont typeface="Arial" panose="020B0604020202020204" pitchFamily="34" charset="0"/>
              <a:buChar char="•"/>
            </a:pPr>
            <a:r>
              <a:rPr lang="de-DE" b="1" dirty="0"/>
              <a:t>Wichtig:</a:t>
            </a:r>
            <a:r>
              <a:rPr lang="de-DE" dirty="0"/>
              <a:t> g2pW „rät" den Standardton des Zeichens — es </a:t>
            </a:r>
            <a:r>
              <a:rPr lang="de-DE" b="1" dirty="0"/>
              <a:t>hört nicht</a:t>
            </a:r>
            <a:r>
              <a:rPr lang="de-DE" dirty="0"/>
              <a:t> den gesprochenen Ton</a:t>
            </a:r>
          </a:p>
          <a:p>
            <a:endParaRPr lang="de-DE" dirty="0"/>
          </a:p>
        </p:txBody>
      </p:sp>
    </p:spTree>
    <p:extLst>
      <p:ext uri="{BB962C8B-B14F-4D97-AF65-F5344CB8AC3E}">
        <p14:creationId xmlns:p14="http://schemas.microsoft.com/office/powerpoint/2010/main" val="206697211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9AE74-5A79-8E46-3494-0E46CDAA9D60}"/>
              </a:ext>
            </a:extLst>
          </p:cNvPr>
          <p:cNvSpPr>
            <a:spLocks noGrp="1"/>
          </p:cNvSpPr>
          <p:nvPr>
            <p:ph type="title"/>
          </p:nvPr>
        </p:nvSpPr>
        <p:spPr/>
        <p:txBody>
          <a:bodyPr/>
          <a:lstStyle/>
          <a:p>
            <a:r>
              <a:rPr lang="de-DE" dirty="0"/>
              <a:t>Tier B (kommerziell) — APIs, die aus Audio den Ton bewerten</a:t>
            </a:r>
          </a:p>
        </p:txBody>
      </p:sp>
      <p:graphicFrame>
        <p:nvGraphicFramePr>
          <p:cNvPr id="5" name="Content Placeholder 4">
            <a:extLst>
              <a:ext uri="{FF2B5EF4-FFF2-40B4-BE49-F238E27FC236}">
                <a16:creationId xmlns:a16="http://schemas.microsoft.com/office/drawing/2014/main" id="{BAFD16EC-3E75-2647-5CC4-F07D25EC9E88}"/>
              </a:ext>
            </a:extLst>
          </p:cNvPr>
          <p:cNvGraphicFramePr>
            <a:graphicFrameLocks noGrp="1"/>
          </p:cNvGraphicFramePr>
          <p:nvPr>
            <p:ph idx="1"/>
            <p:extLst>
              <p:ext uri="{D42A27DB-BD31-4B8C-83A1-F6EECF244321}">
                <p14:modId xmlns:p14="http://schemas.microsoft.com/office/powerpoint/2010/main" val="2761910669"/>
              </p:ext>
            </p:extLst>
          </p:nvPr>
        </p:nvGraphicFramePr>
        <p:xfrm>
          <a:off x="791817" y="1824259"/>
          <a:ext cx="10515600" cy="1554480"/>
        </p:xfrm>
        <a:graphic>
          <a:graphicData uri="http://schemas.openxmlformats.org/drawingml/2006/table">
            <a:tbl>
              <a:tblPr/>
              <a:tblGrid>
                <a:gridCol w="1752600">
                  <a:extLst>
                    <a:ext uri="{9D8B030D-6E8A-4147-A177-3AD203B41FA5}">
                      <a16:colId xmlns:a16="http://schemas.microsoft.com/office/drawing/2014/main" val="4045324604"/>
                    </a:ext>
                  </a:extLst>
                </a:gridCol>
                <a:gridCol w="1752600">
                  <a:extLst>
                    <a:ext uri="{9D8B030D-6E8A-4147-A177-3AD203B41FA5}">
                      <a16:colId xmlns:a16="http://schemas.microsoft.com/office/drawing/2014/main" val="446078442"/>
                    </a:ext>
                  </a:extLst>
                </a:gridCol>
                <a:gridCol w="1752600">
                  <a:extLst>
                    <a:ext uri="{9D8B030D-6E8A-4147-A177-3AD203B41FA5}">
                      <a16:colId xmlns:a16="http://schemas.microsoft.com/office/drawing/2014/main" val="764577699"/>
                    </a:ext>
                  </a:extLst>
                </a:gridCol>
                <a:gridCol w="1752600">
                  <a:extLst>
                    <a:ext uri="{9D8B030D-6E8A-4147-A177-3AD203B41FA5}">
                      <a16:colId xmlns:a16="http://schemas.microsoft.com/office/drawing/2014/main" val="2023887229"/>
                    </a:ext>
                  </a:extLst>
                </a:gridCol>
                <a:gridCol w="1752600">
                  <a:extLst>
                    <a:ext uri="{9D8B030D-6E8A-4147-A177-3AD203B41FA5}">
                      <a16:colId xmlns:a16="http://schemas.microsoft.com/office/drawing/2014/main" val="4284843227"/>
                    </a:ext>
                  </a:extLst>
                </a:gridCol>
                <a:gridCol w="1752600">
                  <a:extLst>
                    <a:ext uri="{9D8B030D-6E8A-4147-A177-3AD203B41FA5}">
                      <a16:colId xmlns:a16="http://schemas.microsoft.com/office/drawing/2014/main" val="1929136458"/>
                    </a:ext>
                  </a:extLst>
                </a:gridCol>
              </a:tblGrid>
              <a:tr h="0">
                <a:tc>
                  <a:txBody>
                    <a:bodyPr/>
                    <a:lstStyle/>
                    <a:p>
                      <a:pPr algn="l">
                        <a:spcAft>
                          <a:spcPts val="1200"/>
                        </a:spcAft>
                        <a:buNone/>
                      </a:pPr>
                      <a:r>
                        <a:rPr lang="de-DE" sz="1200" b="1" i="0">
                          <a:solidFill>
                            <a:srgbClr val="1F2328"/>
                          </a:solidFill>
                          <a:effectLst/>
                          <a:latin typeface="Mona Sans VF"/>
                        </a:rPr>
                        <a:t>API</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a:solidFill>
                            <a:srgbClr val="1F2328"/>
                          </a:solidFill>
                          <a:effectLst/>
                          <a:latin typeface="Mona Sans VF"/>
                        </a:rPr>
                        <a:t>Ton-Score?</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a:solidFill>
                            <a:srgbClr val="1F2328"/>
                          </a:solidFill>
                          <a:effectLst/>
                          <a:latin typeface="Mona Sans VF"/>
                        </a:rPr>
                        <a:t>Ton-Prädiktion?</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a:solidFill>
                            <a:srgbClr val="1F2328"/>
                          </a:solidFill>
                          <a:effectLst/>
                          <a:latin typeface="Mona Sans VF"/>
                        </a:rPr>
                        <a:t>Granularität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a:solidFill>
                            <a:srgbClr val="1F2328"/>
                          </a:solidFill>
                          <a:effectLst/>
                          <a:latin typeface="Mona Sans VF"/>
                        </a:rPr>
                        <a:t>IPA-Ausgabe?</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a:solidFill>
                            <a:srgbClr val="1F2328"/>
                          </a:solidFill>
                          <a:effectLst/>
                          <a:latin typeface="Mona Sans VF"/>
                        </a:rPr>
                        <a:t>L2-Fehlerrate</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855914825"/>
                  </a:ext>
                </a:extLst>
              </a:tr>
              <a:tr h="0">
                <a:tc>
                  <a:txBody>
                    <a:bodyPr/>
                    <a:lstStyle/>
                    <a:p>
                      <a:pPr algn="l">
                        <a:spcAft>
                          <a:spcPts val="1200"/>
                        </a:spcAft>
                        <a:buNone/>
                      </a:pPr>
                      <a:r>
                        <a:rPr lang="de-DE" sz="1200" b="1" i="0">
                          <a:solidFill>
                            <a:srgbClr val="1F2328"/>
                          </a:solidFill>
                          <a:effectLst/>
                          <a:latin typeface="Mona Sans VF"/>
                        </a:rPr>
                        <a:t>SpeechSuper</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 separat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 („du sagtest T2, soll T4")</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Phonem/Silbe/Wort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 nicht publiziert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1589240878"/>
                  </a:ext>
                </a:extLst>
              </a:tr>
              <a:tr h="0">
                <a:tc>
                  <a:txBody>
                    <a:bodyPr/>
                    <a:lstStyle/>
                    <a:p>
                      <a:pPr algn="l">
                        <a:spcAft>
                          <a:spcPts val="1200"/>
                        </a:spcAft>
                        <a:buNone/>
                      </a:pPr>
                      <a:r>
                        <a:rPr lang="de-DE" sz="1200" b="1" i="0">
                          <a:solidFill>
                            <a:srgbClr val="1F2328"/>
                          </a:solidFill>
                          <a:effectLst/>
                          <a:latin typeface="Mona Sans VF"/>
                        </a:rPr>
                        <a:t>iFlytek ISE</a:t>
                      </a:r>
                      <a:r>
                        <a:rPr lang="de-DE" sz="1200" b="0" i="0">
                          <a:solidFill>
                            <a:srgbClr val="1F2328"/>
                          </a:solidFill>
                          <a:effectLst/>
                          <a:latin typeface="Mona Sans VF"/>
                        </a:rPr>
                        <a:t> (讯飞)</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 tone_score</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Frame (10 ms)</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 nicht publiziert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1679020491"/>
                  </a:ext>
                </a:extLst>
              </a:tr>
              <a:tr h="0">
                <a:tc>
                  <a:txBody>
                    <a:bodyPr/>
                    <a:lstStyle/>
                    <a:p>
                      <a:pPr algn="l">
                        <a:spcAft>
                          <a:spcPts val="1200"/>
                        </a:spcAft>
                        <a:buNone/>
                      </a:pPr>
                      <a:r>
                        <a:rPr lang="de-DE" sz="1200" b="1" i="0">
                          <a:solidFill>
                            <a:srgbClr val="1F2328"/>
                          </a:solidFill>
                          <a:effectLst/>
                          <a:latin typeface="Mona Sans VF"/>
                        </a:rPr>
                        <a:t>Microsoft Azure</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 </a:t>
                      </a:r>
                      <a:r>
                        <a:rPr lang="de-DE" sz="1200" b="1" i="0">
                          <a:solidFill>
                            <a:srgbClr val="1F2328"/>
                          </a:solidFill>
                          <a:effectLst/>
                          <a:latin typeface="Mona Sans VF"/>
                        </a:rPr>
                        <a:t>keiner</a:t>
                      </a:r>
                      <a:r>
                        <a:rPr lang="de-DE" sz="1200" b="0" i="0">
                          <a:solidFill>
                            <a:srgbClr val="1F2328"/>
                          </a:solidFill>
                          <a:effectLst/>
                          <a:latin typeface="Mona Sans VF"/>
                        </a:rPr>
                        <a:t> (zh-CN)</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Phonem/Silbe/Wort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 NBestPhonemes</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 nicht publiziert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3708451013"/>
                  </a:ext>
                </a:extLst>
              </a:tr>
              <a:tr h="0">
                <a:tc>
                  <a:txBody>
                    <a:bodyPr/>
                    <a:lstStyle/>
                    <a:p>
                      <a:pPr algn="l">
                        <a:spcAft>
                          <a:spcPts val="1200"/>
                        </a:spcAft>
                        <a:buNone/>
                      </a:pPr>
                      <a:r>
                        <a:rPr lang="de-DE" sz="1200" b="1" i="0">
                          <a:solidFill>
                            <a:srgbClr val="1F2328"/>
                          </a:solidFill>
                          <a:effectLst/>
                          <a:latin typeface="Mona Sans VF"/>
                        </a:rPr>
                        <a:t>SpeakGoodChinese</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 (Praat-basiert)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Mono-/Bisilbe</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dirty="0">
                          <a:solidFill>
                            <a:srgbClr val="1F2328"/>
                          </a:solidFill>
                          <a:effectLst/>
                          <a:latin typeface="Mona Sans VF"/>
                        </a:rPr>
                        <a:t>~85 % (Studie, native)</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1515297320"/>
                  </a:ext>
                </a:extLst>
              </a:tr>
            </a:tbl>
          </a:graphicData>
        </a:graphic>
      </p:graphicFrame>
      <p:sp>
        <p:nvSpPr>
          <p:cNvPr id="6" name="TextBox 5">
            <a:extLst>
              <a:ext uri="{FF2B5EF4-FFF2-40B4-BE49-F238E27FC236}">
                <a16:creationId xmlns:a16="http://schemas.microsoft.com/office/drawing/2014/main" id="{C8FA33B8-B09C-C4D0-E5DD-231D111D986A}"/>
              </a:ext>
            </a:extLst>
          </p:cNvPr>
          <p:cNvSpPr txBox="1"/>
          <p:nvPr/>
        </p:nvSpPr>
        <p:spPr>
          <a:xfrm>
            <a:off x="1062318" y="3967565"/>
            <a:ext cx="9748046" cy="2031325"/>
          </a:xfrm>
          <a:prstGeom prst="rect">
            <a:avLst/>
          </a:prstGeom>
          <a:noFill/>
        </p:spPr>
        <p:txBody>
          <a:bodyPr wrap="square" rtlCol="0">
            <a:spAutoFit/>
          </a:bodyPr>
          <a:lstStyle/>
          <a:p>
            <a:pPr marL="285750" indent="-285750">
              <a:buFont typeface="Arial" panose="020B0604020202020204" pitchFamily="34" charset="0"/>
              <a:buChar char="•"/>
            </a:pPr>
            <a:r>
              <a:rPr lang="de-DE" b="1" dirty="0" err="1"/>
              <a:t>SpeechSuper</a:t>
            </a:r>
            <a:r>
              <a:rPr lang="de-DE" b="1" dirty="0"/>
              <a:t>/</a:t>
            </a:r>
            <a:r>
              <a:rPr lang="de-DE" b="1" dirty="0" err="1"/>
              <a:t>iFlytek</a:t>
            </a:r>
            <a:r>
              <a:rPr lang="de-DE" dirty="0"/>
              <a:t> sind dem chinesischen </a:t>
            </a:r>
            <a:r>
              <a:rPr lang="de-DE" dirty="0" err="1"/>
              <a:t>EdTech</a:t>
            </a:r>
            <a:r>
              <a:rPr lang="de-DE" dirty="0"/>
              <a:t>-Markt entsprungen → </a:t>
            </a:r>
            <a:r>
              <a:rPr lang="de-DE" b="1" dirty="0"/>
              <a:t>echte, getrennte Ton-Bewertung</a:t>
            </a:r>
            <a:r>
              <a:rPr lang="de-DE" dirty="0"/>
              <a:t> (Initial / Final / Ton). </a:t>
            </a:r>
            <a:r>
              <a:rPr lang="de-DE" dirty="0" err="1"/>
              <a:t>iFlytek</a:t>
            </a:r>
            <a:r>
              <a:rPr lang="de-DE" dirty="0"/>
              <a:t> treibt das offizielle PSC-Staatsexamen.</a:t>
            </a:r>
          </a:p>
          <a:p>
            <a:pPr marL="285750" indent="-285750">
              <a:buFont typeface="Arial" panose="020B0604020202020204" pitchFamily="34" charset="0"/>
              <a:buChar char="•"/>
            </a:pPr>
            <a:r>
              <a:rPr lang="de-DE" b="1" dirty="0"/>
              <a:t>Azure</a:t>
            </a:r>
            <a:r>
              <a:rPr lang="de-DE" dirty="0"/>
              <a:t> ist stark bei Segmenten (N-Best-Phoneme im IPA-Format), hat aber </a:t>
            </a:r>
            <a:r>
              <a:rPr lang="de-DE" b="1" dirty="0"/>
              <a:t>keinen separaten Ton-Score</a:t>
            </a:r>
            <a:r>
              <a:rPr lang="de-DE" dirty="0"/>
              <a:t> für Chinesisch → Tonfehler verstecken sich im Phonem-Score.</a:t>
            </a:r>
          </a:p>
          <a:p>
            <a:pPr marL="285750" indent="-285750">
              <a:buFont typeface="Arial" panose="020B0604020202020204" pitchFamily="34" charset="0"/>
              <a:buChar char="•"/>
            </a:pPr>
            <a:r>
              <a:rPr lang="de-DE" b="1" dirty="0"/>
              <a:t>Black-Box-Problem:</a:t>
            </a:r>
            <a:r>
              <a:rPr lang="de-DE" dirty="0"/>
              <a:t> Keine dieser APIs publiziert </a:t>
            </a:r>
            <a:r>
              <a:rPr lang="de-DE" b="1" dirty="0"/>
              <a:t>unabhängig verifizierte Tonfehlerraten</a:t>
            </a:r>
            <a:r>
              <a:rPr lang="de-DE" dirty="0"/>
              <a:t> für L2 → vor Nutzung selbst auf Pilotstichprobe validieren.</a:t>
            </a:r>
          </a:p>
          <a:p>
            <a:endParaRPr lang="de-DE" dirty="0"/>
          </a:p>
        </p:txBody>
      </p:sp>
    </p:spTree>
    <p:extLst>
      <p:ext uri="{BB962C8B-B14F-4D97-AF65-F5344CB8AC3E}">
        <p14:creationId xmlns:p14="http://schemas.microsoft.com/office/powerpoint/2010/main" val="27787670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F900FB-A2E5-E6E3-0C9F-1019D7597FB1}"/>
              </a:ext>
            </a:extLst>
          </p:cNvPr>
          <p:cNvSpPr>
            <a:spLocks noGrp="1"/>
          </p:cNvSpPr>
          <p:nvPr>
            <p:ph type="title"/>
          </p:nvPr>
        </p:nvSpPr>
        <p:spPr/>
        <p:txBody>
          <a:bodyPr/>
          <a:lstStyle/>
          <a:p>
            <a:r>
              <a:rPr lang="de-DE" dirty="0"/>
              <a:t>Tier B (akademisch) — Native + isolierte Silben: praktisch gelöst</a:t>
            </a:r>
          </a:p>
        </p:txBody>
      </p:sp>
      <p:sp>
        <p:nvSpPr>
          <p:cNvPr id="3" name="Content Placeholder 2">
            <a:extLst>
              <a:ext uri="{FF2B5EF4-FFF2-40B4-BE49-F238E27FC236}">
                <a16:creationId xmlns:a16="http://schemas.microsoft.com/office/drawing/2014/main" id="{97C028C7-6D03-FF77-7C97-627FED5ED753}"/>
              </a:ext>
            </a:extLst>
          </p:cNvPr>
          <p:cNvSpPr>
            <a:spLocks noGrp="1"/>
          </p:cNvSpPr>
          <p:nvPr>
            <p:ph idx="1"/>
          </p:nvPr>
        </p:nvSpPr>
        <p:spPr>
          <a:xfrm>
            <a:off x="838200" y="1825625"/>
            <a:ext cx="4244009" cy="4351338"/>
          </a:xfrm>
        </p:spPr>
        <p:txBody>
          <a:bodyPr>
            <a:normAutofit fontScale="77500" lnSpcReduction="20000"/>
          </a:bodyPr>
          <a:lstStyle/>
          <a:p>
            <a:r>
              <a:rPr lang="de-DE" dirty="0"/>
              <a:t>Für </a:t>
            </a:r>
            <a:r>
              <a:rPr lang="de-DE" b="1" dirty="0"/>
              <a:t>Phase 1 (Tone Perfect, native)</a:t>
            </a:r>
            <a:r>
              <a:rPr lang="de-DE" dirty="0"/>
              <a:t> kann ein CNN als </a:t>
            </a:r>
            <a:r>
              <a:rPr lang="de-DE" b="1" dirty="0"/>
              <a:t>automatischer Cross-Check</a:t>
            </a:r>
            <a:r>
              <a:rPr lang="de-DE" dirty="0"/>
              <a:t> dienen (≈99 % gegen menschliche Labels, frei reproduzierbar)</a:t>
            </a:r>
          </a:p>
          <a:p>
            <a:r>
              <a:rPr lang="de-DE" b="1" dirty="0"/>
              <a:t>Schwellenwert:</a:t>
            </a:r>
            <a:r>
              <a:rPr lang="de-DE" dirty="0"/>
              <a:t> Wenn Klassifikator-Genauigkeit gegen Tone-Perfect-Labels &gt;98 %, ist manuelle Annotation für Phase 1 verzichtbar</a:t>
            </a:r>
          </a:p>
          <a:p>
            <a:r>
              <a:rPr lang="de-DE" dirty="0"/>
              <a:t>Diese Werte sind die </a:t>
            </a:r>
            <a:r>
              <a:rPr lang="de-DE" b="1" dirty="0"/>
              <a:t>idealen Nicht-LLM-Baselines</a:t>
            </a:r>
            <a:r>
              <a:rPr lang="de-DE" dirty="0"/>
              <a:t> für meine Vergleichstabelle (Spezialmodell ~99 % vs. LLM ?)</a:t>
            </a:r>
          </a:p>
          <a:p>
            <a:endParaRPr lang="de-DE" dirty="0"/>
          </a:p>
        </p:txBody>
      </p:sp>
      <p:graphicFrame>
        <p:nvGraphicFramePr>
          <p:cNvPr id="4" name="Table 3">
            <a:extLst>
              <a:ext uri="{FF2B5EF4-FFF2-40B4-BE49-F238E27FC236}">
                <a16:creationId xmlns:a16="http://schemas.microsoft.com/office/drawing/2014/main" id="{0F8F43A1-7D99-B510-189F-4AAC1874C2BE}"/>
              </a:ext>
            </a:extLst>
          </p:cNvPr>
          <p:cNvGraphicFramePr>
            <a:graphicFrameLocks noGrp="1"/>
          </p:cNvGraphicFramePr>
          <p:nvPr>
            <p:extLst>
              <p:ext uri="{D42A27DB-BD31-4B8C-83A1-F6EECF244321}">
                <p14:modId xmlns:p14="http://schemas.microsoft.com/office/powerpoint/2010/main" val="4260992199"/>
              </p:ext>
            </p:extLst>
          </p:nvPr>
        </p:nvGraphicFramePr>
        <p:xfrm>
          <a:off x="5247859" y="1748424"/>
          <a:ext cx="5946915" cy="2743200"/>
        </p:xfrm>
        <a:graphic>
          <a:graphicData uri="http://schemas.openxmlformats.org/drawingml/2006/table">
            <a:tbl>
              <a:tblPr/>
              <a:tblGrid>
                <a:gridCol w="1189383">
                  <a:extLst>
                    <a:ext uri="{9D8B030D-6E8A-4147-A177-3AD203B41FA5}">
                      <a16:colId xmlns:a16="http://schemas.microsoft.com/office/drawing/2014/main" val="1594600585"/>
                    </a:ext>
                  </a:extLst>
                </a:gridCol>
                <a:gridCol w="1189383">
                  <a:extLst>
                    <a:ext uri="{9D8B030D-6E8A-4147-A177-3AD203B41FA5}">
                      <a16:colId xmlns:a16="http://schemas.microsoft.com/office/drawing/2014/main" val="1718507744"/>
                    </a:ext>
                  </a:extLst>
                </a:gridCol>
                <a:gridCol w="1189383">
                  <a:extLst>
                    <a:ext uri="{9D8B030D-6E8A-4147-A177-3AD203B41FA5}">
                      <a16:colId xmlns:a16="http://schemas.microsoft.com/office/drawing/2014/main" val="3082994770"/>
                    </a:ext>
                  </a:extLst>
                </a:gridCol>
                <a:gridCol w="1189383">
                  <a:extLst>
                    <a:ext uri="{9D8B030D-6E8A-4147-A177-3AD203B41FA5}">
                      <a16:colId xmlns:a16="http://schemas.microsoft.com/office/drawing/2014/main" val="308535247"/>
                    </a:ext>
                  </a:extLst>
                </a:gridCol>
                <a:gridCol w="1189383">
                  <a:extLst>
                    <a:ext uri="{9D8B030D-6E8A-4147-A177-3AD203B41FA5}">
                      <a16:colId xmlns:a16="http://schemas.microsoft.com/office/drawing/2014/main" val="1392868364"/>
                    </a:ext>
                  </a:extLst>
                </a:gridCol>
              </a:tblGrid>
              <a:tr h="0">
                <a:tc>
                  <a:txBody>
                    <a:bodyPr/>
                    <a:lstStyle/>
                    <a:p>
                      <a:pPr algn="l">
                        <a:spcAft>
                          <a:spcPts val="1200"/>
                        </a:spcAft>
                        <a:buNone/>
                      </a:pPr>
                      <a:r>
                        <a:rPr lang="de-DE" sz="1200" b="1" i="0">
                          <a:solidFill>
                            <a:srgbClr val="1F2328"/>
                          </a:solidFill>
                          <a:effectLst/>
                          <a:latin typeface="Mona Sans VF"/>
                        </a:rPr>
                        <a:t>Modell</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a:solidFill>
                            <a:srgbClr val="1F2328"/>
                          </a:solidFill>
                          <a:effectLst/>
                          <a:latin typeface="Mona Sans VF"/>
                        </a:rPr>
                        <a:t>Architektur</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a:solidFill>
                            <a:srgbClr val="1F2328"/>
                          </a:solidFill>
                          <a:effectLst/>
                          <a:latin typeface="Mona Sans VF"/>
                        </a:rPr>
                        <a:t>Datensatz</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a:solidFill>
                            <a:srgbClr val="1F2328"/>
                          </a:solidFill>
                          <a:effectLst/>
                          <a:latin typeface="Mona Sans VF"/>
                        </a:rPr>
                        <a:t>Genauigkeit / TER</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a:solidFill>
                            <a:srgbClr val="1F2328"/>
                          </a:solidFill>
                          <a:effectLst/>
                          <a:latin typeface="Mona Sans VF"/>
                        </a:rPr>
                        <a:t>Sprecher</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18461044"/>
                  </a:ext>
                </a:extLst>
              </a:tr>
              <a:tr h="0">
                <a:tc>
                  <a:txBody>
                    <a:bodyPr/>
                    <a:lstStyle/>
                    <a:p>
                      <a:pPr algn="l">
                        <a:spcAft>
                          <a:spcPts val="1200"/>
                        </a:spcAft>
                        <a:buNone/>
                      </a:pPr>
                      <a:r>
                        <a:rPr lang="de-DE" sz="1200" b="1" i="0">
                          <a:solidFill>
                            <a:srgbClr val="1F2328"/>
                          </a:solidFill>
                          <a:effectLst/>
                          <a:latin typeface="Mona Sans VF"/>
                        </a:rPr>
                        <a:t>CNN</a:t>
                      </a:r>
                      <a:r>
                        <a:rPr lang="de-DE" sz="1200" b="0" i="0">
                          <a:solidFill>
                            <a:srgbClr val="1F2328"/>
                          </a:solidFill>
                          <a:effectLst/>
                          <a:latin typeface="Mona Sans VF"/>
                        </a:rPr>
                        <a:t> (alicex2020)</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5-Layer CNN</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Tone Perfect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a:solidFill>
                            <a:srgbClr val="1F2328"/>
                          </a:solidFill>
                          <a:effectLst/>
                          <a:latin typeface="Mona Sans VF"/>
                        </a:rPr>
                        <a:t>99,8 %</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native</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2542937425"/>
                  </a:ext>
                </a:extLst>
              </a:tr>
              <a:tr h="0">
                <a:tc>
                  <a:txBody>
                    <a:bodyPr/>
                    <a:lstStyle/>
                    <a:p>
                      <a:pPr algn="l">
                        <a:spcAft>
                          <a:spcPts val="1200"/>
                        </a:spcAft>
                        <a:buNone/>
                      </a:pPr>
                      <a:r>
                        <a:rPr lang="de-DE" sz="1200" b="1" i="0">
                          <a:solidFill>
                            <a:srgbClr val="1F2328"/>
                          </a:solidFill>
                          <a:effectLst/>
                          <a:latin typeface="Mona Sans VF"/>
                        </a:rPr>
                        <a:t>HuBERT-Tonklassifik.</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fine-getunt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Tone Perfect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~100 % Ton, 98 % Silbe</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native</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1987282212"/>
                  </a:ext>
                </a:extLst>
              </a:tr>
              <a:tr h="0">
                <a:tc>
                  <a:txBody>
                    <a:bodyPr/>
                    <a:lstStyle/>
                    <a:p>
                      <a:pPr algn="l">
                        <a:spcAft>
                          <a:spcPts val="1200"/>
                        </a:spcAft>
                        <a:buNone/>
                      </a:pPr>
                      <a:r>
                        <a:rPr lang="de-DE" sz="1200" b="1" i="0" dirty="0" err="1">
                          <a:solidFill>
                            <a:srgbClr val="1F2328"/>
                          </a:solidFill>
                          <a:effectLst/>
                          <a:latin typeface="Mona Sans VF"/>
                        </a:rPr>
                        <a:t>ToneNet</a:t>
                      </a:r>
                      <a:r>
                        <a:rPr lang="de-DE" sz="1200" b="0" i="0" dirty="0">
                          <a:solidFill>
                            <a:srgbClr val="1F2328"/>
                          </a:solidFill>
                          <a:effectLst/>
                          <a:latin typeface="Mona Sans VF"/>
                        </a:rPr>
                        <a:t> (IS 2019)</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CNN + MLP</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SCSC</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97–99,16 %</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native</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1469125557"/>
                  </a:ext>
                </a:extLst>
              </a:tr>
              <a:tr h="0">
                <a:tc>
                  <a:txBody>
                    <a:bodyPr/>
                    <a:lstStyle/>
                    <a:p>
                      <a:pPr algn="l">
                        <a:spcAft>
                          <a:spcPts val="1200"/>
                        </a:spcAft>
                        <a:buNone/>
                      </a:pPr>
                      <a:r>
                        <a:rPr lang="de-DE" sz="1200" b="1" i="0">
                          <a:solidFill>
                            <a:srgbClr val="1F2328"/>
                          </a:solidFill>
                          <a:effectLst/>
                          <a:latin typeface="Mona Sans VF"/>
                        </a:rPr>
                        <a:t>wav2vec2</a:t>
                      </a:r>
                      <a:r>
                        <a:rPr lang="de-DE" sz="1200" b="0" i="0">
                          <a:solidFill>
                            <a:srgbClr val="1F2328"/>
                          </a:solidFill>
                          <a:effectLst/>
                          <a:latin typeface="Mona Sans VF"/>
                        </a:rPr>
                        <a:t> (Yuan 2021)</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fine-getunt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Mandarin</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1" i="0">
                          <a:solidFill>
                            <a:srgbClr val="1F2328"/>
                          </a:solidFill>
                          <a:effectLst/>
                          <a:latin typeface="Mona Sans VF"/>
                        </a:rPr>
                        <a:t>6 % TER</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native</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141628403"/>
                  </a:ext>
                </a:extLst>
              </a:tr>
              <a:tr h="0">
                <a:tc>
                  <a:txBody>
                    <a:bodyPr/>
                    <a:lstStyle/>
                    <a:p>
                      <a:pPr algn="l">
                        <a:spcAft>
                          <a:spcPts val="1200"/>
                        </a:spcAft>
                        <a:buNone/>
                      </a:pPr>
                      <a:r>
                        <a:rPr lang="de-DE" sz="1200" b="1" i="0">
                          <a:solidFill>
                            <a:srgbClr val="1F2328"/>
                          </a:solidFill>
                          <a:effectLst/>
                          <a:latin typeface="Mona Sans VF"/>
                        </a:rPr>
                        <a:t>Systematic Review 2025</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61 Studien (PRISMA)</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div.</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Ø DL 88,8 % vs. klassisch 83,1 %</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dirty="0">
                          <a:solidFill>
                            <a:srgbClr val="1F2328"/>
                          </a:solidFill>
                          <a:effectLst/>
                          <a:latin typeface="Mona Sans VF"/>
                        </a:rPr>
                        <a:t>meist native</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1565593711"/>
                  </a:ext>
                </a:extLst>
              </a:tr>
            </a:tbl>
          </a:graphicData>
        </a:graphic>
      </p:graphicFrame>
      <p:pic>
        <p:nvPicPr>
          <p:cNvPr id="6" name="Picture 5">
            <a:extLst>
              <a:ext uri="{FF2B5EF4-FFF2-40B4-BE49-F238E27FC236}">
                <a16:creationId xmlns:a16="http://schemas.microsoft.com/office/drawing/2014/main" id="{4351243A-E268-174E-E379-2999DEAD68DC}"/>
              </a:ext>
            </a:extLst>
          </p:cNvPr>
          <p:cNvPicPr>
            <a:picLocks noChangeAspect="1"/>
          </p:cNvPicPr>
          <p:nvPr/>
        </p:nvPicPr>
        <p:blipFill>
          <a:blip r:embed="rId3"/>
          <a:stretch>
            <a:fillRect/>
          </a:stretch>
        </p:blipFill>
        <p:spPr>
          <a:xfrm>
            <a:off x="5841671" y="5215537"/>
            <a:ext cx="5014395" cy="495343"/>
          </a:xfrm>
          <a:prstGeom prst="rect">
            <a:avLst/>
          </a:prstGeom>
        </p:spPr>
      </p:pic>
    </p:spTree>
    <p:extLst>
      <p:ext uri="{BB962C8B-B14F-4D97-AF65-F5344CB8AC3E}">
        <p14:creationId xmlns:p14="http://schemas.microsoft.com/office/powerpoint/2010/main" val="414269326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CB92BF-7914-B537-E683-00D8B3F3DBBC}"/>
              </a:ext>
            </a:extLst>
          </p:cNvPr>
          <p:cNvSpPr>
            <a:spLocks noGrp="1"/>
          </p:cNvSpPr>
          <p:nvPr>
            <p:ph type="title"/>
          </p:nvPr>
        </p:nvSpPr>
        <p:spPr/>
        <p:txBody>
          <a:bodyPr/>
          <a:lstStyle/>
          <a:p>
            <a:r>
              <a:rPr lang="de-DE" dirty="0"/>
              <a:t>L2-Lerner — hier brechen ALLE Tools ein (DER 26–32 %)</a:t>
            </a:r>
          </a:p>
        </p:txBody>
      </p:sp>
      <p:sp>
        <p:nvSpPr>
          <p:cNvPr id="3" name="Content Placeholder 2">
            <a:extLst>
              <a:ext uri="{FF2B5EF4-FFF2-40B4-BE49-F238E27FC236}">
                <a16:creationId xmlns:a16="http://schemas.microsoft.com/office/drawing/2014/main" id="{332AE67A-E4A2-462E-4268-80E064EB0528}"/>
              </a:ext>
            </a:extLst>
          </p:cNvPr>
          <p:cNvSpPr>
            <a:spLocks noGrp="1"/>
          </p:cNvSpPr>
          <p:nvPr>
            <p:ph idx="1"/>
          </p:nvPr>
        </p:nvSpPr>
        <p:spPr>
          <a:xfrm>
            <a:off x="838200" y="1825625"/>
            <a:ext cx="5363817" cy="4351338"/>
          </a:xfrm>
        </p:spPr>
        <p:txBody>
          <a:bodyPr>
            <a:normAutofit fontScale="70000" lnSpcReduction="20000"/>
          </a:bodyPr>
          <a:lstStyle/>
          <a:p>
            <a:r>
              <a:rPr lang="de-DE" b="1" dirty="0"/>
              <a:t>Warum?</a:t>
            </a:r>
            <a:r>
              <a:rPr lang="de-DE" dirty="0"/>
              <a:t> L2-Realisierungen weichen stark ab (aspiriert/</a:t>
            </a:r>
            <a:r>
              <a:rPr lang="de-DE" dirty="0" err="1"/>
              <a:t>unaspiriert</a:t>
            </a:r>
            <a:r>
              <a:rPr lang="de-DE" dirty="0"/>
              <a:t> verwechselt, Ton 3 zu flach → klingt wie Ton 2), + Datenknappheit</a:t>
            </a:r>
          </a:p>
          <a:p>
            <a:r>
              <a:rPr lang="de-DE" b="1" dirty="0"/>
              <a:t>Konsequenz für Phase 2 (L2):</a:t>
            </a:r>
            <a:r>
              <a:rPr lang="de-DE" dirty="0"/>
              <a:t> Menschliche Annotation </a:t>
            </a:r>
            <a:r>
              <a:rPr lang="de-DE" b="1" dirty="0"/>
              <a:t>bleibt nötig</a:t>
            </a:r>
            <a:r>
              <a:rPr lang="de-DE" dirty="0"/>
              <a:t>; Tool nur als Vorab-Label + Doppelannotation</a:t>
            </a:r>
          </a:p>
          <a:p>
            <a:r>
              <a:rPr lang="de-DE" b="1" dirty="0"/>
              <a:t>Schwellenwert für Vollautomatik:</a:t>
            </a:r>
            <a:r>
              <a:rPr lang="de-DE" dirty="0"/>
              <a:t> erst wenn Tool–Mensch-Agreement (Cohens κ) &gt;0,85 auf Pilotstichprobe</a:t>
            </a:r>
          </a:p>
          <a:p>
            <a:r>
              <a:rPr lang="de-DE" b="1" dirty="0"/>
              <a:t>Das ist genau, warum mein L2-Experiment wertvoll ist:</a:t>
            </a:r>
            <a:r>
              <a:rPr lang="de-DE" dirty="0"/>
              <a:t> Können LLMs hier besser/anders abschneiden als spezialisierte MDD-Systeme?</a:t>
            </a:r>
          </a:p>
          <a:p>
            <a:br>
              <a:rPr lang="de-DE" dirty="0"/>
            </a:br>
            <a:endParaRPr lang="de-DE" dirty="0"/>
          </a:p>
        </p:txBody>
      </p:sp>
      <p:graphicFrame>
        <p:nvGraphicFramePr>
          <p:cNvPr id="4" name="Table 3">
            <a:extLst>
              <a:ext uri="{FF2B5EF4-FFF2-40B4-BE49-F238E27FC236}">
                <a16:creationId xmlns:a16="http://schemas.microsoft.com/office/drawing/2014/main" id="{34A2D4BE-1BFB-44F1-19FF-D8E6C364A682}"/>
              </a:ext>
            </a:extLst>
          </p:cNvPr>
          <p:cNvGraphicFramePr>
            <a:graphicFrameLocks noGrp="1"/>
          </p:cNvGraphicFramePr>
          <p:nvPr>
            <p:extLst>
              <p:ext uri="{D42A27DB-BD31-4B8C-83A1-F6EECF244321}">
                <p14:modId xmlns:p14="http://schemas.microsoft.com/office/powerpoint/2010/main" val="3615309172"/>
              </p:ext>
            </p:extLst>
          </p:nvPr>
        </p:nvGraphicFramePr>
        <p:xfrm>
          <a:off x="6261652" y="1690688"/>
          <a:ext cx="5092148" cy="2651760"/>
        </p:xfrm>
        <a:graphic>
          <a:graphicData uri="http://schemas.openxmlformats.org/drawingml/2006/table">
            <a:tbl>
              <a:tblPr/>
              <a:tblGrid>
                <a:gridCol w="1273037">
                  <a:extLst>
                    <a:ext uri="{9D8B030D-6E8A-4147-A177-3AD203B41FA5}">
                      <a16:colId xmlns:a16="http://schemas.microsoft.com/office/drawing/2014/main" val="946399996"/>
                    </a:ext>
                  </a:extLst>
                </a:gridCol>
                <a:gridCol w="1273037">
                  <a:extLst>
                    <a:ext uri="{9D8B030D-6E8A-4147-A177-3AD203B41FA5}">
                      <a16:colId xmlns:a16="http://schemas.microsoft.com/office/drawing/2014/main" val="4037872834"/>
                    </a:ext>
                  </a:extLst>
                </a:gridCol>
                <a:gridCol w="1273037">
                  <a:extLst>
                    <a:ext uri="{9D8B030D-6E8A-4147-A177-3AD203B41FA5}">
                      <a16:colId xmlns:a16="http://schemas.microsoft.com/office/drawing/2014/main" val="2321334432"/>
                    </a:ext>
                  </a:extLst>
                </a:gridCol>
                <a:gridCol w="1273037">
                  <a:extLst>
                    <a:ext uri="{9D8B030D-6E8A-4147-A177-3AD203B41FA5}">
                      <a16:colId xmlns:a16="http://schemas.microsoft.com/office/drawing/2014/main" val="2445377445"/>
                    </a:ext>
                  </a:extLst>
                </a:gridCol>
              </a:tblGrid>
              <a:tr h="0">
                <a:tc>
                  <a:txBody>
                    <a:bodyPr/>
                    <a:lstStyle/>
                    <a:p>
                      <a:pPr algn="l">
                        <a:spcAft>
                          <a:spcPts val="1200"/>
                        </a:spcAft>
                        <a:buNone/>
                      </a:pPr>
                      <a:r>
                        <a:rPr lang="de-DE" sz="1200" b="1" i="0">
                          <a:solidFill>
                            <a:srgbClr val="1F2328"/>
                          </a:solidFill>
                          <a:effectLst/>
                          <a:latin typeface="Mona Sans VF"/>
                        </a:rPr>
                        <a:t>System</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a:solidFill>
                            <a:srgbClr val="1F2328"/>
                          </a:solidFill>
                          <a:effectLst/>
                          <a:latin typeface="Mona Sans VF"/>
                        </a:rPr>
                        <a:t>Architektur</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a:solidFill>
                            <a:srgbClr val="1F2328"/>
                          </a:solidFill>
                          <a:effectLst/>
                          <a:latin typeface="Mona Sans VF"/>
                        </a:rPr>
                        <a:t>Eval-Korpus (L2)</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a:solidFill>
                            <a:srgbClr val="1F2328"/>
                          </a:solidFill>
                          <a:effectLst/>
                          <a:latin typeface="Mona Sans VF"/>
                        </a:rPr>
                        <a:t>Diagnose-Fehlerrate (DER)</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3563509823"/>
                  </a:ext>
                </a:extLst>
              </a:tr>
              <a:tr h="0">
                <a:tc>
                  <a:txBody>
                    <a:bodyPr/>
                    <a:lstStyle/>
                    <a:p>
                      <a:pPr algn="l">
                        <a:spcAft>
                          <a:spcPts val="1200"/>
                        </a:spcAft>
                        <a:buNone/>
                      </a:pPr>
                      <a:r>
                        <a:rPr lang="de-DE" sz="1200" b="1" i="0">
                          <a:solidFill>
                            <a:srgbClr val="1F2328"/>
                          </a:solidFill>
                          <a:effectLst/>
                          <a:latin typeface="Mona Sans VF"/>
                        </a:rPr>
                        <a:t>Pitch-Aware RNN-T</a:t>
                      </a:r>
                      <a:r>
                        <a:rPr lang="de-DE" sz="1200" b="0" i="0">
                          <a:solidFill>
                            <a:srgbClr val="1F2328"/>
                          </a:solidFill>
                          <a:effectLst/>
                          <a:latin typeface="Mona Sans VF"/>
                        </a:rPr>
                        <a:t> (Wang, IS 2024)</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HuBERT + Pitch-Fusion</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LATIC</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a:solidFill>
                            <a:srgbClr val="1F2328"/>
                          </a:solidFill>
                          <a:effectLst/>
                          <a:latin typeface="Mona Sans VF"/>
                        </a:rPr>
                        <a:t>31,80 %</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134108717"/>
                  </a:ext>
                </a:extLst>
              </a:tr>
              <a:tr h="0">
                <a:tc>
                  <a:txBody>
                    <a:bodyPr/>
                    <a:lstStyle/>
                    <a:p>
                      <a:pPr algn="l">
                        <a:spcAft>
                          <a:spcPts val="1200"/>
                        </a:spcAft>
                        <a:buNone/>
                      </a:pPr>
                      <a:r>
                        <a:rPr lang="de-DE" sz="1200" b="1" i="0">
                          <a:solidFill>
                            <a:srgbClr val="1F2328"/>
                          </a:solidFill>
                          <a:effectLst/>
                          <a:latin typeface="Mona Sans VF"/>
                        </a:rPr>
                        <a:t>Tone-CAT</a:t>
                      </a:r>
                      <a:r>
                        <a:rPr lang="de-DE" sz="1200" b="0" i="0">
                          <a:solidFill>
                            <a:srgbClr val="1F2328"/>
                          </a:solidFill>
                          <a:effectLst/>
                          <a:latin typeface="Mona Sans VF"/>
                        </a:rPr>
                        <a:t> (arXiv 2606.22022)</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Phonolog. wav2vec2</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LATIC</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1" i="0">
                          <a:solidFill>
                            <a:srgbClr val="1F2328"/>
                          </a:solidFill>
                          <a:effectLst/>
                          <a:latin typeface="Mona Sans VF"/>
                        </a:rPr>
                        <a:t>27,86 %</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4225685601"/>
                  </a:ext>
                </a:extLst>
              </a:tr>
              <a:tr h="0">
                <a:tc>
                  <a:txBody>
                    <a:bodyPr/>
                    <a:lstStyle/>
                    <a:p>
                      <a:pPr algn="l">
                        <a:spcAft>
                          <a:spcPts val="1200"/>
                        </a:spcAft>
                        <a:buNone/>
                      </a:pPr>
                      <a:r>
                        <a:rPr lang="de-DE" sz="1200" b="1" i="0">
                          <a:solidFill>
                            <a:srgbClr val="1F2328"/>
                          </a:solidFill>
                          <a:effectLst/>
                          <a:latin typeface="Mona Sans VF"/>
                        </a:rPr>
                        <a:t>Tone-PT</a:t>
                      </a:r>
                      <a:r>
                        <a:rPr lang="de-DE" sz="1200" b="0" i="0">
                          <a:solidFill>
                            <a:srgbClr val="1F2328"/>
                          </a:solidFill>
                          <a:effectLst/>
                          <a:latin typeface="Mona Sans VF"/>
                        </a:rPr>
                        <a:t> (arXiv 2606.22022)</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Phonolog. wav2vec2</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LATIC</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a:solidFill>
                            <a:srgbClr val="1F2328"/>
                          </a:solidFill>
                          <a:effectLst/>
                          <a:latin typeface="Mona Sans VF"/>
                        </a:rPr>
                        <a:t>26,05 %</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3756510629"/>
                  </a:ext>
                </a:extLst>
              </a:tr>
              <a:tr h="0">
                <a:tc>
                  <a:txBody>
                    <a:bodyPr/>
                    <a:lstStyle/>
                    <a:p>
                      <a:pPr algn="l">
                        <a:spcAft>
                          <a:spcPts val="1200"/>
                        </a:spcAft>
                        <a:buNone/>
                      </a:pPr>
                      <a:r>
                        <a:rPr lang="de-DE" sz="1200" b="1" i="0">
                          <a:solidFill>
                            <a:srgbClr val="1F2328"/>
                          </a:solidFill>
                          <a:effectLst/>
                          <a:latin typeface="Mona Sans VF"/>
                        </a:rPr>
                        <a:t>Siamese ResNet</a:t>
                      </a:r>
                      <a:r>
                        <a:rPr lang="de-DE" sz="1200" b="0" i="0">
                          <a:solidFill>
                            <a:srgbClr val="1F2328"/>
                          </a:solidFill>
                          <a:effectLst/>
                          <a:latin typeface="Mona Sans VF"/>
                        </a:rPr>
                        <a:t> (2025)</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Referenz-vs-Test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dirty="0">
                          <a:solidFill>
                            <a:srgbClr val="1F2328"/>
                          </a:solidFill>
                          <a:effectLst/>
                          <a:latin typeface="Mona Sans VF"/>
                        </a:rPr>
                        <a:t>MSE 0,189 (korreliert mit Mensch)</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2271224805"/>
                  </a:ext>
                </a:extLst>
              </a:tr>
            </a:tbl>
          </a:graphicData>
        </a:graphic>
      </p:graphicFrame>
      <p:pic>
        <p:nvPicPr>
          <p:cNvPr id="6" name="Picture 5">
            <a:extLst>
              <a:ext uri="{FF2B5EF4-FFF2-40B4-BE49-F238E27FC236}">
                <a16:creationId xmlns:a16="http://schemas.microsoft.com/office/drawing/2014/main" id="{F8551738-6510-C16E-D5B8-7DC153F859D0}"/>
              </a:ext>
            </a:extLst>
          </p:cNvPr>
          <p:cNvPicPr>
            <a:picLocks noChangeAspect="1"/>
          </p:cNvPicPr>
          <p:nvPr/>
        </p:nvPicPr>
        <p:blipFill>
          <a:blip r:embed="rId3"/>
          <a:stretch>
            <a:fillRect/>
          </a:stretch>
        </p:blipFill>
        <p:spPr>
          <a:xfrm>
            <a:off x="5823951" y="5157373"/>
            <a:ext cx="4930567" cy="708721"/>
          </a:xfrm>
          <a:prstGeom prst="rect">
            <a:avLst/>
          </a:prstGeom>
        </p:spPr>
      </p:pic>
    </p:spTree>
    <p:extLst>
      <p:ext uri="{BB962C8B-B14F-4D97-AF65-F5344CB8AC3E}">
        <p14:creationId xmlns:p14="http://schemas.microsoft.com/office/powerpoint/2010/main" val="221428943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5ABEB-C88C-EFB3-5A45-34B9700802AC}"/>
              </a:ext>
            </a:extLst>
          </p:cNvPr>
          <p:cNvSpPr>
            <a:spLocks noGrp="1"/>
          </p:cNvSpPr>
          <p:nvPr>
            <p:ph type="title"/>
          </p:nvPr>
        </p:nvSpPr>
        <p:spPr/>
        <p:txBody>
          <a:bodyPr/>
          <a:lstStyle/>
          <a:p>
            <a:r>
              <a:rPr lang="de-DE" dirty="0"/>
              <a:t>Tier C — Pitch-Analyse: </a:t>
            </a:r>
            <a:r>
              <a:rPr lang="de-DE" dirty="0" err="1"/>
              <a:t>Praat</a:t>
            </a:r>
            <a:r>
              <a:rPr lang="de-DE" dirty="0"/>
              <a:t>, </a:t>
            </a:r>
            <a:r>
              <a:rPr lang="de-DE" dirty="0" err="1"/>
              <a:t>Parselmouth</a:t>
            </a:r>
            <a:r>
              <a:rPr lang="de-DE" dirty="0"/>
              <a:t>, </a:t>
            </a:r>
            <a:r>
              <a:rPr lang="de-DE" dirty="0" err="1"/>
              <a:t>ProsodyPro</a:t>
            </a:r>
            <a:r>
              <a:rPr lang="de-DE" dirty="0"/>
              <a:t>, MFA</a:t>
            </a:r>
          </a:p>
        </p:txBody>
      </p:sp>
      <p:sp>
        <p:nvSpPr>
          <p:cNvPr id="3" name="Content Placeholder 2">
            <a:extLst>
              <a:ext uri="{FF2B5EF4-FFF2-40B4-BE49-F238E27FC236}">
                <a16:creationId xmlns:a16="http://schemas.microsoft.com/office/drawing/2014/main" id="{81CC8D10-C308-CB3F-2CF5-4C8C44CF7E62}"/>
              </a:ext>
            </a:extLst>
          </p:cNvPr>
          <p:cNvSpPr>
            <a:spLocks noGrp="1"/>
          </p:cNvSpPr>
          <p:nvPr>
            <p:ph idx="1"/>
          </p:nvPr>
        </p:nvSpPr>
        <p:spPr>
          <a:xfrm>
            <a:off x="838200" y="1825625"/>
            <a:ext cx="5973417" cy="4351338"/>
          </a:xfrm>
        </p:spPr>
        <p:txBody>
          <a:bodyPr>
            <a:normAutofit fontScale="85000" lnSpcReduction="20000"/>
          </a:bodyPr>
          <a:lstStyle/>
          <a:p>
            <a:r>
              <a:rPr lang="de-DE" b="1" dirty="0"/>
              <a:t>Pipeline:</a:t>
            </a:r>
            <a:r>
              <a:rPr lang="de-DE" dirty="0"/>
              <a:t> MFA (Segmentierung) → </a:t>
            </a:r>
            <a:r>
              <a:rPr lang="de-DE" dirty="0" err="1"/>
              <a:t>Parselmouth</a:t>
            </a:r>
            <a:r>
              <a:rPr lang="de-DE" dirty="0"/>
              <a:t>/</a:t>
            </a:r>
            <a:r>
              <a:rPr lang="de-DE" dirty="0" err="1"/>
              <a:t>ProsodyPro</a:t>
            </a:r>
            <a:r>
              <a:rPr lang="de-DE" dirty="0"/>
              <a:t> (F0) → Vergleich gegen Tone-Perfect-Referenzkonturen</a:t>
            </a:r>
          </a:p>
          <a:p>
            <a:r>
              <a:rPr lang="de-DE" dirty="0"/>
              <a:t>Liefert </a:t>
            </a:r>
            <a:r>
              <a:rPr lang="de-DE" b="1" dirty="0"/>
              <a:t>quantitatives, erklärbares</a:t>
            </a:r>
            <a:r>
              <a:rPr lang="de-DE" dirty="0"/>
              <a:t> Feedback: „Ton-2-Anstieg begann zu spät" — Rohdaten für künftigen Vokabeltrainer</a:t>
            </a:r>
          </a:p>
          <a:p>
            <a:r>
              <a:rPr lang="de-DE" b="1" dirty="0"/>
              <a:t>Aber:</a:t>
            </a:r>
            <a:r>
              <a:rPr lang="de-DE" dirty="0"/>
              <a:t> Tier C </a:t>
            </a:r>
            <a:r>
              <a:rPr lang="de-DE" b="1" dirty="0"/>
              <a:t>klassifiziert nicht selbst</a:t>
            </a:r>
            <a:r>
              <a:rPr lang="de-DE" dirty="0"/>
              <a:t> in Tonkategorien — das muss man aufsetzen (CNN oder Regel)</a:t>
            </a:r>
          </a:p>
          <a:p>
            <a:r>
              <a:rPr lang="de-DE" b="1" dirty="0"/>
              <a:t>MFA-Einschränkung:</a:t>
            </a:r>
            <a:r>
              <a:rPr lang="de-DE" dirty="0"/>
              <a:t> Akustikmodelle sind auf native Aussprache trainiert → bei starken L2-Abweichungen kann das Alignment verfehlen</a:t>
            </a:r>
          </a:p>
          <a:p>
            <a:endParaRPr lang="de-DE" dirty="0"/>
          </a:p>
        </p:txBody>
      </p:sp>
      <p:graphicFrame>
        <p:nvGraphicFramePr>
          <p:cNvPr id="4" name="Table 3">
            <a:extLst>
              <a:ext uri="{FF2B5EF4-FFF2-40B4-BE49-F238E27FC236}">
                <a16:creationId xmlns:a16="http://schemas.microsoft.com/office/drawing/2014/main" id="{8BD9BDCB-B56B-3CA8-B51F-9B23ABF1570D}"/>
              </a:ext>
            </a:extLst>
          </p:cNvPr>
          <p:cNvGraphicFramePr>
            <a:graphicFrameLocks noGrp="1"/>
          </p:cNvGraphicFramePr>
          <p:nvPr>
            <p:extLst>
              <p:ext uri="{D42A27DB-BD31-4B8C-83A1-F6EECF244321}">
                <p14:modId xmlns:p14="http://schemas.microsoft.com/office/powerpoint/2010/main" val="2957694650"/>
              </p:ext>
            </p:extLst>
          </p:nvPr>
        </p:nvGraphicFramePr>
        <p:xfrm>
          <a:off x="6811617" y="1764989"/>
          <a:ext cx="4754216" cy="3200400"/>
        </p:xfrm>
        <a:graphic>
          <a:graphicData uri="http://schemas.openxmlformats.org/drawingml/2006/table">
            <a:tbl>
              <a:tblPr/>
              <a:tblGrid>
                <a:gridCol w="1188554">
                  <a:extLst>
                    <a:ext uri="{9D8B030D-6E8A-4147-A177-3AD203B41FA5}">
                      <a16:colId xmlns:a16="http://schemas.microsoft.com/office/drawing/2014/main" val="1394526414"/>
                    </a:ext>
                  </a:extLst>
                </a:gridCol>
                <a:gridCol w="1188554">
                  <a:extLst>
                    <a:ext uri="{9D8B030D-6E8A-4147-A177-3AD203B41FA5}">
                      <a16:colId xmlns:a16="http://schemas.microsoft.com/office/drawing/2014/main" val="2208954697"/>
                    </a:ext>
                  </a:extLst>
                </a:gridCol>
                <a:gridCol w="1188554">
                  <a:extLst>
                    <a:ext uri="{9D8B030D-6E8A-4147-A177-3AD203B41FA5}">
                      <a16:colId xmlns:a16="http://schemas.microsoft.com/office/drawing/2014/main" val="454426983"/>
                    </a:ext>
                  </a:extLst>
                </a:gridCol>
                <a:gridCol w="1188554">
                  <a:extLst>
                    <a:ext uri="{9D8B030D-6E8A-4147-A177-3AD203B41FA5}">
                      <a16:colId xmlns:a16="http://schemas.microsoft.com/office/drawing/2014/main" val="3109166364"/>
                    </a:ext>
                  </a:extLst>
                </a:gridCol>
              </a:tblGrid>
              <a:tr h="0">
                <a:tc>
                  <a:txBody>
                    <a:bodyPr/>
                    <a:lstStyle/>
                    <a:p>
                      <a:pPr algn="l">
                        <a:spcAft>
                          <a:spcPts val="1200"/>
                        </a:spcAft>
                        <a:buNone/>
                      </a:pPr>
                      <a:r>
                        <a:rPr lang="de-DE" sz="1200" b="1" i="0">
                          <a:solidFill>
                            <a:srgbClr val="1F2328"/>
                          </a:solidFill>
                          <a:effectLst/>
                          <a:latin typeface="Mona Sans VF"/>
                        </a:rPr>
                        <a:t>Tool</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a:solidFill>
                            <a:srgbClr val="1F2328"/>
                          </a:solidFill>
                          <a:effectLst/>
                          <a:latin typeface="Mona Sans VF"/>
                        </a:rPr>
                        <a:t>Aufgabe</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a:solidFill>
                            <a:srgbClr val="1F2328"/>
                          </a:solidFill>
                          <a:effectLst/>
                          <a:latin typeface="Mona Sans VF"/>
                        </a:rPr>
                        <a:t>Output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a:solidFill>
                            <a:srgbClr val="1F2328"/>
                          </a:solidFill>
                          <a:effectLst/>
                          <a:latin typeface="Mona Sans VF"/>
                        </a:rPr>
                        <a:t>Für unsere Arbeit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2732646823"/>
                  </a:ext>
                </a:extLst>
              </a:tr>
              <a:tr h="0">
                <a:tc>
                  <a:txBody>
                    <a:bodyPr/>
                    <a:lstStyle/>
                    <a:p>
                      <a:pPr algn="l">
                        <a:spcAft>
                          <a:spcPts val="1200"/>
                        </a:spcAft>
                        <a:buNone/>
                      </a:pPr>
                      <a:r>
                        <a:rPr lang="de-DE" sz="1200" b="1" i="0" dirty="0" err="1">
                          <a:solidFill>
                            <a:srgbClr val="1F2328"/>
                          </a:solidFill>
                          <a:effectLst/>
                          <a:latin typeface="Mona Sans VF"/>
                        </a:rPr>
                        <a:t>Praat</a:t>
                      </a:r>
                      <a:endParaRPr lang="de-DE" sz="1200" b="0" i="0" dirty="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F0-Extraktion (Autokorrelation)</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Pitch-Kontur, Spektrogramm</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Goldstandard, manuelle L2-Stichprobe</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3951131871"/>
                  </a:ext>
                </a:extLst>
              </a:tr>
              <a:tr h="0">
                <a:tc>
                  <a:txBody>
                    <a:bodyPr/>
                    <a:lstStyle/>
                    <a:p>
                      <a:pPr algn="l">
                        <a:spcAft>
                          <a:spcPts val="1200"/>
                        </a:spcAft>
                        <a:buNone/>
                      </a:pPr>
                      <a:r>
                        <a:rPr lang="de-DE" sz="1200" b="1" i="0">
                          <a:solidFill>
                            <a:srgbClr val="1F2328"/>
                          </a:solidFill>
                          <a:effectLst/>
                          <a:latin typeface="Mona Sans VF"/>
                        </a:rPr>
                        <a:t>Parselmouth</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Praat-Kern in Python</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F0-Werte programmatisch</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1" i="0">
                          <a:solidFill>
                            <a:srgbClr val="1F2328"/>
                          </a:solidFill>
                          <a:effectLst/>
                          <a:latin typeface="Mona Sans VF"/>
                        </a:rPr>
                        <a:t>Batch-Pipeline</a:t>
                      </a:r>
                      <a:r>
                        <a:rPr lang="de-DE" sz="1200" b="0" i="0">
                          <a:solidFill>
                            <a:srgbClr val="1F2328"/>
                          </a:solidFill>
                          <a:effectLst/>
                          <a:latin typeface="Mona Sans VF"/>
                        </a:rPr>
                        <a:t> für alle Samples</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1490800421"/>
                  </a:ext>
                </a:extLst>
              </a:tr>
              <a:tr h="0">
                <a:tc>
                  <a:txBody>
                    <a:bodyPr/>
                    <a:lstStyle/>
                    <a:p>
                      <a:pPr algn="l">
                        <a:spcAft>
                          <a:spcPts val="1200"/>
                        </a:spcAft>
                        <a:buNone/>
                      </a:pPr>
                      <a:r>
                        <a:rPr lang="de-DE" sz="1200" b="1" i="0">
                          <a:solidFill>
                            <a:srgbClr val="1F2328"/>
                          </a:solidFill>
                          <a:effectLst/>
                          <a:latin typeface="Mona Sans VF"/>
                        </a:rPr>
                        <a:t>ProsodyPro</a:t>
                      </a:r>
                      <a:r>
                        <a:rPr lang="de-DE" sz="1200" b="0" i="0">
                          <a:solidFill>
                            <a:srgbClr val="1F2328"/>
                          </a:solidFill>
                          <a:effectLst/>
                          <a:latin typeface="Mona Sans VF"/>
                        </a:rPr>
                        <a:t> (Yi Xu)</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zeitnormalisierte F0</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10 Punkte/Silbe, F0-Velocity, Range</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a:solidFill>
                            <a:srgbClr val="1F2328"/>
                          </a:solidFill>
                          <a:effectLst/>
                          <a:latin typeface="Mona Sans VF"/>
                        </a:rPr>
                        <a:t>Soll-vs-Ist-Konturvergleich</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1909335298"/>
                  </a:ext>
                </a:extLst>
              </a:tr>
              <a:tr h="0">
                <a:tc>
                  <a:txBody>
                    <a:bodyPr/>
                    <a:lstStyle/>
                    <a:p>
                      <a:pPr algn="l">
                        <a:spcAft>
                          <a:spcPts val="1200"/>
                        </a:spcAft>
                        <a:buNone/>
                      </a:pPr>
                      <a:r>
                        <a:rPr lang="de-DE" sz="1200" b="1" i="0">
                          <a:solidFill>
                            <a:srgbClr val="1F2328"/>
                          </a:solidFill>
                          <a:effectLst/>
                          <a:latin typeface="Mona Sans VF"/>
                        </a:rPr>
                        <a:t>MFA</a:t>
                      </a:r>
                      <a:r>
                        <a:rPr lang="de-DE" sz="1200" b="0" i="0">
                          <a:solidFill>
                            <a:srgbClr val="1F2328"/>
                          </a:solidFill>
                          <a:effectLst/>
                          <a:latin typeface="Mona Sans VF"/>
                        </a:rPr>
                        <a:t> (Montreal Forced Aligner)</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Audio+Text→Zeitgrenzen</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TextGrid (Phonem-Timing)</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1" i="0" dirty="0">
                          <a:solidFill>
                            <a:srgbClr val="1F2328"/>
                          </a:solidFill>
                          <a:effectLst/>
                          <a:latin typeface="Mona Sans VF"/>
                        </a:rPr>
                        <a:t>Segmentierung</a:t>
                      </a:r>
                      <a:r>
                        <a:rPr lang="de-DE" sz="1200" b="0" i="0" dirty="0">
                          <a:solidFill>
                            <a:srgbClr val="1F2328"/>
                          </a:solidFill>
                          <a:effectLst/>
                          <a:latin typeface="Mona Sans VF"/>
                        </a:rPr>
                        <a:t> vor F0-Analyse</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3580739557"/>
                  </a:ext>
                </a:extLst>
              </a:tr>
            </a:tbl>
          </a:graphicData>
        </a:graphic>
      </p:graphicFrame>
      <p:pic>
        <p:nvPicPr>
          <p:cNvPr id="6" name="Picture 5">
            <a:extLst>
              <a:ext uri="{FF2B5EF4-FFF2-40B4-BE49-F238E27FC236}">
                <a16:creationId xmlns:a16="http://schemas.microsoft.com/office/drawing/2014/main" id="{53DA416D-75D5-6EF7-FFA6-C4D8732B62CB}"/>
              </a:ext>
            </a:extLst>
          </p:cNvPr>
          <p:cNvPicPr>
            <a:picLocks noChangeAspect="1"/>
          </p:cNvPicPr>
          <p:nvPr/>
        </p:nvPicPr>
        <p:blipFill>
          <a:blip r:embed="rId3"/>
          <a:stretch>
            <a:fillRect/>
          </a:stretch>
        </p:blipFill>
        <p:spPr>
          <a:xfrm>
            <a:off x="5560199" y="5902619"/>
            <a:ext cx="5723116" cy="548688"/>
          </a:xfrm>
          <a:prstGeom prst="rect">
            <a:avLst/>
          </a:prstGeom>
        </p:spPr>
      </p:pic>
    </p:spTree>
    <p:extLst>
      <p:ext uri="{BB962C8B-B14F-4D97-AF65-F5344CB8AC3E}">
        <p14:creationId xmlns:p14="http://schemas.microsoft.com/office/powerpoint/2010/main" val="384738863"/>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71A357-373D-6DE1-8BB7-55870E567DD0}"/>
              </a:ext>
            </a:extLst>
          </p:cNvPr>
          <p:cNvSpPr>
            <a:spLocks noGrp="1"/>
          </p:cNvSpPr>
          <p:nvPr>
            <p:ph type="title"/>
          </p:nvPr>
        </p:nvSpPr>
        <p:spPr/>
        <p:txBody>
          <a:bodyPr/>
          <a:lstStyle/>
          <a:p>
            <a:r>
              <a:rPr lang="de-DE" dirty="0"/>
              <a:t>Die naheliegende Pipeline (Whisper→g2pW) — und ihr blinder Fleck</a:t>
            </a:r>
          </a:p>
        </p:txBody>
      </p:sp>
      <p:sp>
        <p:nvSpPr>
          <p:cNvPr id="3" name="Content Placeholder 2">
            <a:extLst>
              <a:ext uri="{FF2B5EF4-FFF2-40B4-BE49-F238E27FC236}">
                <a16:creationId xmlns:a16="http://schemas.microsoft.com/office/drawing/2014/main" id="{576A5772-5A2C-FAA2-9954-E598AF00659F}"/>
              </a:ext>
            </a:extLst>
          </p:cNvPr>
          <p:cNvSpPr>
            <a:spLocks noGrp="1"/>
          </p:cNvSpPr>
          <p:nvPr>
            <p:ph idx="1"/>
          </p:nvPr>
        </p:nvSpPr>
        <p:spPr>
          <a:xfrm>
            <a:off x="838200" y="1825625"/>
            <a:ext cx="4191000" cy="4351338"/>
          </a:xfrm>
        </p:spPr>
        <p:txBody>
          <a:bodyPr>
            <a:normAutofit fontScale="70000" lnSpcReduction="20000"/>
          </a:bodyPr>
          <a:lstStyle/>
          <a:p>
            <a:r>
              <a:rPr lang="de-DE" b="1" dirty="0"/>
              <a:t>Standard-ASR (Whisper, </a:t>
            </a:r>
            <a:r>
              <a:rPr lang="de-DE" b="1" dirty="0" err="1"/>
              <a:t>iFlytek</a:t>
            </a:r>
            <a:r>
              <a:rPr lang="de-DE" b="1" dirty="0"/>
              <a:t>-ASR) gibt Zeichen aus</a:t>
            </a:r>
            <a:r>
              <a:rPr lang="de-DE" dirty="0"/>
              <a:t>, keine expliziten Tonlabels → für Ton-Cross-Check ungeeignet ohne Nachbearbeitung</a:t>
            </a:r>
          </a:p>
          <a:p>
            <a:r>
              <a:rPr lang="de-DE" dirty="0"/>
              <a:t>Die Pipeline Whisper→g2pW „repariert" L2-Fehler unbeabsichtigt → </a:t>
            </a:r>
            <a:r>
              <a:rPr lang="de-DE" b="1" dirty="0"/>
              <a:t>Tonfehler werden unsichtbar</a:t>
            </a:r>
            <a:endParaRPr lang="de-DE" dirty="0"/>
          </a:p>
          <a:p>
            <a:r>
              <a:rPr lang="de-DE" dirty="0"/>
              <a:t>Spezielle Pinyin-ASR (</a:t>
            </a:r>
            <a:r>
              <a:rPr lang="de-DE" dirty="0" err="1"/>
              <a:t>Whisper+LoRA</a:t>
            </a:r>
            <a:r>
              <a:rPr lang="de-DE" dirty="0"/>
              <a:t> ~6,5 % WER, </a:t>
            </a:r>
            <a:r>
              <a:rPr lang="de-DE" dirty="0" err="1"/>
              <a:t>Branchformer</a:t>
            </a:r>
            <a:r>
              <a:rPr lang="de-DE" dirty="0"/>
              <a:t> 4,7 %) verbessert Pinyin, löst aber </a:t>
            </a:r>
            <a:r>
              <a:rPr lang="de-DE" b="1" dirty="0"/>
              <a:t>nicht</a:t>
            </a:r>
            <a:r>
              <a:rPr lang="de-DE" dirty="0"/>
              <a:t> das L2-Ton-Diagnoseproblem</a:t>
            </a:r>
          </a:p>
          <a:p>
            <a:r>
              <a:rPr lang="de-DE" b="1" dirty="0"/>
              <a:t>Unser direkter Weg</a:t>
            </a:r>
            <a:r>
              <a:rPr lang="de-DE" dirty="0"/>
              <a:t> (</a:t>
            </a:r>
            <a:r>
              <a:rPr lang="de-DE" dirty="0" err="1"/>
              <a:t>Audio→Pinyin+Ton</a:t>
            </a:r>
            <a:r>
              <a:rPr lang="de-DE" dirty="0"/>
              <a:t> via LLM) hält Tonfehler </a:t>
            </a:r>
            <a:r>
              <a:rPr lang="de-DE" b="1" dirty="0"/>
              <a:t>sichtbar</a:t>
            </a:r>
            <a:endParaRPr lang="de-DE" dirty="0"/>
          </a:p>
          <a:p>
            <a:endParaRPr lang="de-DE" dirty="0"/>
          </a:p>
        </p:txBody>
      </p:sp>
      <p:pic>
        <p:nvPicPr>
          <p:cNvPr id="5" name="Picture 4">
            <a:extLst>
              <a:ext uri="{FF2B5EF4-FFF2-40B4-BE49-F238E27FC236}">
                <a16:creationId xmlns:a16="http://schemas.microsoft.com/office/drawing/2014/main" id="{929DAE42-C0A7-BE5C-47A5-A9D2E4B51546}"/>
              </a:ext>
            </a:extLst>
          </p:cNvPr>
          <p:cNvPicPr>
            <a:picLocks noChangeAspect="1"/>
          </p:cNvPicPr>
          <p:nvPr/>
        </p:nvPicPr>
        <p:blipFill>
          <a:blip r:embed="rId3"/>
          <a:stretch>
            <a:fillRect/>
          </a:stretch>
        </p:blipFill>
        <p:spPr>
          <a:xfrm>
            <a:off x="5714588" y="2302627"/>
            <a:ext cx="5692633" cy="2385267"/>
          </a:xfrm>
          <a:prstGeom prst="rect">
            <a:avLst/>
          </a:prstGeom>
        </p:spPr>
      </p:pic>
    </p:spTree>
    <p:extLst>
      <p:ext uri="{BB962C8B-B14F-4D97-AF65-F5344CB8AC3E}">
        <p14:creationId xmlns:p14="http://schemas.microsoft.com/office/powerpoint/2010/main" val="400119621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6C2436-800B-C150-815A-B4F5CC6B5D76}"/>
              </a:ext>
            </a:extLst>
          </p:cNvPr>
          <p:cNvSpPr>
            <a:spLocks noGrp="1"/>
          </p:cNvSpPr>
          <p:nvPr>
            <p:ph type="title"/>
          </p:nvPr>
        </p:nvSpPr>
        <p:spPr/>
        <p:txBody>
          <a:bodyPr/>
          <a:lstStyle/>
          <a:p>
            <a:r>
              <a:rPr lang="de-DE" dirty="0"/>
              <a:t>Die Benchmark-Lücke — LLMs sind bei Phonologie schwach &amp; ungetestet</a:t>
            </a:r>
          </a:p>
        </p:txBody>
      </p:sp>
      <p:graphicFrame>
        <p:nvGraphicFramePr>
          <p:cNvPr id="4" name="Content Placeholder 3">
            <a:extLst>
              <a:ext uri="{FF2B5EF4-FFF2-40B4-BE49-F238E27FC236}">
                <a16:creationId xmlns:a16="http://schemas.microsoft.com/office/drawing/2014/main" id="{4747B2EE-17A9-864F-23AD-040B71F10671}"/>
              </a:ext>
            </a:extLst>
          </p:cNvPr>
          <p:cNvGraphicFramePr>
            <a:graphicFrameLocks noGrp="1"/>
          </p:cNvGraphicFramePr>
          <p:nvPr>
            <p:ph idx="1"/>
            <p:extLst>
              <p:ext uri="{D42A27DB-BD31-4B8C-83A1-F6EECF244321}">
                <p14:modId xmlns:p14="http://schemas.microsoft.com/office/powerpoint/2010/main" val="2108231088"/>
              </p:ext>
            </p:extLst>
          </p:nvPr>
        </p:nvGraphicFramePr>
        <p:xfrm>
          <a:off x="838200" y="2073102"/>
          <a:ext cx="10515600" cy="1828800"/>
        </p:xfrm>
        <a:graphic>
          <a:graphicData uri="http://schemas.openxmlformats.org/drawingml/2006/table">
            <a:tbl>
              <a:tblPr/>
              <a:tblGrid>
                <a:gridCol w="2628900">
                  <a:extLst>
                    <a:ext uri="{9D8B030D-6E8A-4147-A177-3AD203B41FA5}">
                      <a16:colId xmlns:a16="http://schemas.microsoft.com/office/drawing/2014/main" val="815338205"/>
                    </a:ext>
                  </a:extLst>
                </a:gridCol>
                <a:gridCol w="2628900">
                  <a:extLst>
                    <a:ext uri="{9D8B030D-6E8A-4147-A177-3AD203B41FA5}">
                      <a16:colId xmlns:a16="http://schemas.microsoft.com/office/drawing/2014/main" val="1179325259"/>
                    </a:ext>
                  </a:extLst>
                </a:gridCol>
                <a:gridCol w="2628900">
                  <a:extLst>
                    <a:ext uri="{9D8B030D-6E8A-4147-A177-3AD203B41FA5}">
                      <a16:colId xmlns:a16="http://schemas.microsoft.com/office/drawing/2014/main" val="1052879557"/>
                    </a:ext>
                  </a:extLst>
                </a:gridCol>
                <a:gridCol w="2628900">
                  <a:extLst>
                    <a:ext uri="{9D8B030D-6E8A-4147-A177-3AD203B41FA5}">
                      <a16:colId xmlns:a16="http://schemas.microsoft.com/office/drawing/2014/main" val="1265980978"/>
                    </a:ext>
                  </a:extLst>
                </a:gridCol>
              </a:tblGrid>
              <a:tr h="0">
                <a:tc>
                  <a:txBody>
                    <a:bodyPr/>
                    <a:lstStyle/>
                    <a:p>
                      <a:pPr algn="l">
                        <a:spcAft>
                          <a:spcPts val="1200"/>
                        </a:spcAft>
                        <a:buNone/>
                      </a:pPr>
                      <a:r>
                        <a:rPr lang="de-DE" sz="1200" b="1" i="0">
                          <a:solidFill>
                            <a:srgbClr val="1F2328"/>
                          </a:solidFill>
                          <a:effectLst/>
                          <a:latin typeface="Mona Sans VF"/>
                        </a:rPr>
                        <a:t>Benchmark</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a:solidFill>
                            <a:srgbClr val="1F2328"/>
                          </a:solidFill>
                          <a:effectLst/>
                          <a:latin typeface="Mona Sans VF"/>
                        </a:rPr>
                        <a:t>Was getestet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a:solidFill>
                            <a:srgbClr val="1F2328"/>
                          </a:solidFill>
                          <a:effectLst/>
                          <a:latin typeface="Mona Sans VF"/>
                        </a:rPr>
                        <a:t>Bestes LLM</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a:solidFill>
                            <a:srgbClr val="1F2328"/>
                          </a:solidFill>
                          <a:effectLst/>
                          <a:latin typeface="Mona Sans VF"/>
                        </a:rPr>
                        <a:t>Mandarin-Ton isoliert?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2675394075"/>
                  </a:ext>
                </a:extLst>
              </a:tr>
              <a:tr h="0">
                <a:tc>
                  <a:txBody>
                    <a:bodyPr/>
                    <a:lstStyle/>
                    <a:p>
                      <a:pPr algn="l">
                        <a:spcAft>
                          <a:spcPts val="1200"/>
                        </a:spcAft>
                        <a:buNone/>
                      </a:pPr>
                      <a:r>
                        <a:rPr lang="de-DE" sz="1200" b="1" i="0">
                          <a:solidFill>
                            <a:srgbClr val="1F2328"/>
                          </a:solidFill>
                          <a:effectLst/>
                          <a:latin typeface="Mona Sans VF"/>
                        </a:rPr>
                        <a:t>MMSU</a:t>
                      </a:r>
                      <a:r>
                        <a:rPr lang="de-DE" sz="1200" b="0" i="0">
                          <a:solidFill>
                            <a:srgbClr val="1F2328"/>
                          </a:solidFill>
                          <a:effectLst/>
                          <a:latin typeface="Mona Sans VF"/>
                        </a:rPr>
                        <a:t> (CUHK, ICLR 2026)</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47 Tasks, inkl. Phonologie</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Gemini-1.5-Pro </a:t>
                      </a:r>
                      <a:r>
                        <a:rPr lang="de-DE" sz="1200" b="1" i="0">
                          <a:solidFill>
                            <a:srgbClr val="1F2328"/>
                          </a:solidFill>
                          <a:effectLst/>
                          <a:latin typeface="Mona Sans VF"/>
                        </a:rPr>
                        <a:t>60,68 %</a:t>
                      </a:r>
                      <a:r>
                        <a:rPr lang="de-DE" sz="1200" b="0" i="0">
                          <a:solidFill>
                            <a:srgbClr val="1F2328"/>
                          </a:solidFill>
                          <a:effectLst/>
                          <a:latin typeface="Mona Sans VF"/>
                        </a:rPr>
                        <a:t> (Mensch 89,72 %)</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 aggregiert, real-world</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412267003"/>
                  </a:ext>
                </a:extLst>
              </a:tr>
              <a:tr h="0">
                <a:tc>
                  <a:txBody>
                    <a:bodyPr/>
                    <a:lstStyle/>
                    <a:p>
                      <a:pPr algn="l">
                        <a:spcAft>
                          <a:spcPts val="1200"/>
                        </a:spcAft>
                        <a:buNone/>
                      </a:pPr>
                      <a:r>
                        <a:rPr lang="de-DE" sz="1200" b="0" i="0">
                          <a:solidFill>
                            <a:srgbClr val="1F2328"/>
                          </a:solidFill>
                          <a:effectLst/>
                          <a:latin typeface="Mona Sans VF"/>
                        </a:rPr>
                        <a:t>→ Phonologie-Domäne</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dirty="0">
                          <a:solidFill>
                            <a:srgbClr val="1F2328"/>
                          </a:solidFill>
                          <a:effectLst/>
                          <a:latin typeface="Mona Sans VF"/>
                        </a:rPr>
                        <a:t>Ton/Prosodie/Phoneme</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nur </a:t>
                      </a:r>
                      <a:r>
                        <a:rPr lang="de-DE" sz="1200" b="1" i="0">
                          <a:solidFill>
                            <a:srgbClr val="1F2328"/>
                          </a:solidFill>
                          <a:effectLst/>
                          <a:latin typeface="Mona Sans VF"/>
                        </a:rPr>
                        <a:t>53,60 %</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 keine Per-Ton-Zahlen</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3880961129"/>
                  </a:ext>
                </a:extLst>
              </a:tr>
              <a:tr h="0">
                <a:tc>
                  <a:txBody>
                    <a:bodyPr/>
                    <a:lstStyle/>
                    <a:p>
                      <a:pPr algn="l">
                        <a:spcAft>
                          <a:spcPts val="1200"/>
                        </a:spcAft>
                        <a:buNone/>
                      </a:pPr>
                      <a:r>
                        <a:rPr lang="de-DE" sz="1200" b="0" i="0">
                          <a:solidFill>
                            <a:srgbClr val="1F2328"/>
                          </a:solidFill>
                          <a:effectLst/>
                          <a:latin typeface="Mona Sans VF"/>
                        </a:rPr>
                        <a:t>→ GPT-4o-Audio</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a:solidFill>
                            <a:srgbClr val="1F2328"/>
                          </a:solidFill>
                          <a:effectLst/>
                          <a:latin typeface="Mona Sans VF"/>
                        </a:rPr>
                        <a:t>56,38 %</a:t>
                      </a:r>
                      <a:r>
                        <a:rPr lang="de-DE" sz="1200" b="0" i="0">
                          <a:solidFill>
                            <a:srgbClr val="1F2328"/>
                          </a:solidFill>
                          <a:effectLst/>
                          <a:latin typeface="Mona Sans VF"/>
                        </a:rPr>
                        <a:t> (&lt; Open-Source!)</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1315441380"/>
                  </a:ext>
                </a:extLst>
              </a:tr>
              <a:tr h="0">
                <a:tc>
                  <a:txBody>
                    <a:bodyPr/>
                    <a:lstStyle/>
                    <a:p>
                      <a:pPr algn="l">
                        <a:spcAft>
                          <a:spcPts val="1200"/>
                        </a:spcAft>
                        <a:buNone/>
                      </a:pPr>
                      <a:r>
                        <a:rPr lang="de-DE" sz="1200" b="1" i="0">
                          <a:solidFill>
                            <a:srgbClr val="1F2328"/>
                          </a:solidFill>
                          <a:effectLst/>
                          <a:latin typeface="Mona Sans VF"/>
                        </a:rPr>
                        <a:t>PRiSM</a:t>
                      </a:r>
                      <a:r>
                        <a:rPr lang="de-DE" sz="1200" b="0" i="0">
                          <a:solidFill>
                            <a:srgbClr val="1F2328"/>
                          </a:solidFill>
                          <a:effectLst/>
                          <a:latin typeface="Mona Sans VF"/>
                        </a:rPr>
                        <a:t> (2026)</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Phonerkennung + LALMs</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„LALMs lag behind specialized"</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 multilingual/IPA</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3851518335"/>
                  </a:ext>
                </a:extLst>
              </a:tr>
              <a:tr h="0">
                <a:tc>
                  <a:txBody>
                    <a:bodyPr/>
                    <a:lstStyle/>
                    <a:p>
                      <a:pPr algn="l">
                        <a:spcAft>
                          <a:spcPts val="1200"/>
                        </a:spcAft>
                        <a:buNone/>
                      </a:pPr>
                      <a:r>
                        <a:rPr lang="de-DE" sz="1200" b="1" i="0">
                          <a:solidFill>
                            <a:srgbClr val="1F2328"/>
                          </a:solidFill>
                          <a:effectLst/>
                          <a:latin typeface="Mona Sans VF"/>
                        </a:rPr>
                        <a:t>SSL-Probing</a:t>
                      </a:r>
                      <a:r>
                        <a:rPr lang="de-DE" sz="1200" b="0" i="0">
                          <a:solidFill>
                            <a:srgbClr val="1F2328"/>
                          </a:solidFill>
                          <a:effectLst/>
                          <a:latin typeface="Mona Sans VF"/>
                        </a:rPr>
                        <a:t> (2024–26)</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Ton in HuBERT-Layern</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F1 0,80–0,87 (mittlere Layer)</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dirty="0">
                          <a:solidFill>
                            <a:srgbClr val="1F2328"/>
                          </a:solidFill>
                          <a:effectLst/>
                          <a:latin typeface="Mona Sans VF"/>
                        </a:rPr>
                        <a:t>⚠️ zeigt: Tokenisierung zerstört Ton</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2074660198"/>
                  </a:ext>
                </a:extLst>
              </a:tr>
            </a:tbl>
          </a:graphicData>
        </a:graphic>
      </p:graphicFrame>
      <p:pic>
        <p:nvPicPr>
          <p:cNvPr id="6" name="Picture 5">
            <a:extLst>
              <a:ext uri="{FF2B5EF4-FFF2-40B4-BE49-F238E27FC236}">
                <a16:creationId xmlns:a16="http://schemas.microsoft.com/office/drawing/2014/main" id="{040C2781-C944-471A-7B26-60EAAF3DD3F9}"/>
              </a:ext>
            </a:extLst>
          </p:cNvPr>
          <p:cNvPicPr>
            <a:picLocks noChangeAspect="1"/>
          </p:cNvPicPr>
          <p:nvPr/>
        </p:nvPicPr>
        <p:blipFill>
          <a:blip r:embed="rId3"/>
          <a:stretch>
            <a:fillRect/>
          </a:stretch>
        </p:blipFill>
        <p:spPr>
          <a:xfrm>
            <a:off x="3383045" y="4565999"/>
            <a:ext cx="5425910" cy="853514"/>
          </a:xfrm>
          <a:prstGeom prst="rect">
            <a:avLst/>
          </a:prstGeom>
        </p:spPr>
      </p:pic>
    </p:spTree>
    <p:extLst>
      <p:ext uri="{BB962C8B-B14F-4D97-AF65-F5344CB8AC3E}">
        <p14:creationId xmlns:p14="http://schemas.microsoft.com/office/powerpoint/2010/main" val="7982160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8630FF-B0CB-17FF-89D3-D08E40E9A994}"/>
              </a:ext>
            </a:extLst>
          </p:cNvPr>
          <p:cNvSpPr>
            <a:spLocks noGrp="1"/>
          </p:cNvSpPr>
          <p:nvPr>
            <p:ph type="title"/>
          </p:nvPr>
        </p:nvSpPr>
        <p:spPr/>
        <p:txBody>
          <a:bodyPr/>
          <a:lstStyle/>
          <a:p>
            <a:r>
              <a:rPr lang="de-DE" dirty="0"/>
              <a:t>Was genau fehlt — und wie wir uns abgrenzen</a:t>
            </a:r>
          </a:p>
        </p:txBody>
      </p:sp>
      <p:graphicFrame>
        <p:nvGraphicFramePr>
          <p:cNvPr id="4" name="Content Placeholder 3">
            <a:extLst>
              <a:ext uri="{FF2B5EF4-FFF2-40B4-BE49-F238E27FC236}">
                <a16:creationId xmlns:a16="http://schemas.microsoft.com/office/drawing/2014/main" id="{BEE56FC2-B1F5-548E-D9B9-20ABC4E821C9}"/>
              </a:ext>
            </a:extLst>
          </p:cNvPr>
          <p:cNvGraphicFramePr>
            <a:graphicFrameLocks noGrp="1"/>
          </p:cNvGraphicFramePr>
          <p:nvPr>
            <p:ph idx="1"/>
          </p:nvPr>
        </p:nvGraphicFramePr>
        <p:xfrm>
          <a:off x="838200" y="3086894"/>
          <a:ext cx="10515600" cy="1828800"/>
        </p:xfrm>
        <a:graphic>
          <a:graphicData uri="http://schemas.openxmlformats.org/drawingml/2006/table">
            <a:tbl>
              <a:tblPr/>
              <a:tblGrid>
                <a:gridCol w="1752600">
                  <a:extLst>
                    <a:ext uri="{9D8B030D-6E8A-4147-A177-3AD203B41FA5}">
                      <a16:colId xmlns:a16="http://schemas.microsoft.com/office/drawing/2014/main" val="85670419"/>
                    </a:ext>
                  </a:extLst>
                </a:gridCol>
                <a:gridCol w="1752600">
                  <a:extLst>
                    <a:ext uri="{9D8B030D-6E8A-4147-A177-3AD203B41FA5}">
                      <a16:colId xmlns:a16="http://schemas.microsoft.com/office/drawing/2014/main" val="1174891834"/>
                    </a:ext>
                  </a:extLst>
                </a:gridCol>
                <a:gridCol w="1752600">
                  <a:extLst>
                    <a:ext uri="{9D8B030D-6E8A-4147-A177-3AD203B41FA5}">
                      <a16:colId xmlns:a16="http://schemas.microsoft.com/office/drawing/2014/main" val="2634948933"/>
                    </a:ext>
                  </a:extLst>
                </a:gridCol>
                <a:gridCol w="1752600">
                  <a:extLst>
                    <a:ext uri="{9D8B030D-6E8A-4147-A177-3AD203B41FA5}">
                      <a16:colId xmlns:a16="http://schemas.microsoft.com/office/drawing/2014/main" val="3395737053"/>
                    </a:ext>
                  </a:extLst>
                </a:gridCol>
                <a:gridCol w="1752600">
                  <a:extLst>
                    <a:ext uri="{9D8B030D-6E8A-4147-A177-3AD203B41FA5}">
                      <a16:colId xmlns:a16="http://schemas.microsoft.com/office/drawing/2014/main" val="819205861"/>
                    </a:ext>
                  </a:extLst>
                </a:gridCol>
                <a:gridCol w="1752600">
                  <a:extLst>
                    <a:ext uri="{9D8B030D-6E8A-4147-A177-3AD203B41FA5}">
                      <a16:colId xmlns:a16="http://schemas.microsoft.com/office/drawing/2014/main" val="3173158377"/>
                    </a:ext>
                  </a:extLst>
                </a:gridCol>
              </a:tblGrid>
              <a:tr h="0">
                <a:tc>
                  <a:txBody>
                    <a:bodyPr/>
                    <a:lstStyle/>
                    <a:p>
                      <a:pPr algn="l">
                        <a:spcAft>
                          <a:spcPts val="1200"/>
                        </a:spcAft>
                        <a:buNone/>
                      </a:pPr>
                      <a:r>
                        <a:rPr lang="de-DE" sz="1200" b="1" i="0">
                          <a:solidFill>
                            <a:srgbClr val="1F2328"/>
                          </a:solidFill>
                          <a:effectLst/>
                          <a:latin typeface="Mona Sans VF"/>
                        </a:rPr>
                        <a:t>Arbeit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a:solidFill>
                            <a:srgbClr val="1F2328"/>
                          </a:solidFill>
                          <a:effectLst/>
                          <a:latin typeface="Mona Sans VF"/>
                        </a:rPr>
                        <a:t>LLM?</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a:solidFill>
                            <a:srgbClr val="1F2328"/>
                          </a:solidFill>
                          <a:effectLst/>
                          <a:latin typeface="Mona Sans VF"/>
                        </a:rPr>
                        <a:t>Audio→Pinyin+Ton?</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a:solidFill>
                            <a:srgbClr val="1F2328"/>
                          </a:solidFill>
                          <a:effectLst/>
                          <a:latin typeface="Mona Sans VF"/>
                        </a:rPr>
                        <a:t>Isolierte Silbe?</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a:solidFill>
                            <a:srgbClr val="1F2328"/>
                          </a:solidFill>
                          <a:effectLst/>
                          <a:latin typeface="Mona Sans VF"/>
                        </a:rPr>
                        <a:t>Per-Ton?</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a:solidFill>
                            <a:srgbClr val="1F2328"/>
                          </a:solidFill>
                          <a:effectLst/>
                          <a:latin typeface="Mona Sans VF"/>
                        </a:rPr>
                        <a:t>L2?</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2868153806"/>
                  </a:ext>
                </a:extLst>
              </a:tr>
              <a:tr h="0">
                <a:tc>
                  <a:txBody>
                    <a:bodyPr/>
                    <a:lstStyle/>
                    <a:p>
                      <a:pPr algn="l">
                        <a:spcAft>
                          <a:spcPts val="1200"/>
                        </a:spcAft>
                        <a:buNone/>
                      </a:pPr>
                      <a:r>
                        <a:rPr lang="de-DE" sz="1200" b="1" i="0">
                          <a:solidFill>
                            <a:srgbClr val="1F2328"/>
                          </a:solidFill>
                          <a:effectLst/>
                          <a:latin typeface="Mona Sans VF"/>
                        </a:rPr>
                        <a:t>CNN/HuBERT</a:t>
                      </a:r>
                      <a:r>
                        <a:rPr lang="de-DE" sz="1200" b="0" i="0">
                          <a:solidFill>
                            <a:srgbClr val="1F2328"/>
                          </a:solidFill>
                          <a:effectLst/>
                          <a:latin typeface="Mona Sans VF"/>
                        </a:rPr>
                        <a:t> (Tone Perfect)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 nur Ton-Klasse</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4068671875"/>
                  </a:ext>
                </a:extLst>
              </a:tr>
              <a:tr h="0">
                <a:tc>
                  <a:txBody>
                    <a:bodyPr/>
                    <a:lstStyle/>
                    <a:p>
                      <a:pPr algn="l">
                        <a:spcAft>
                          <a:spcPts val="1200"/>
                        </a:spcAft>
                        <a:buNone/>
                      </a:pPr>
                      <a:r>
                        <a:rPr lang="de-DE" sz="1200" b="1" i="0">
                          <a:solidFill>
                            <a:srgbClr val="1F2328"/>
                          </a:solidFill>
                          <a:effectLst/>
                          <a:latin typeface="Mona Sans VF"/>
                        </a:rPr>
                        <a:t>SpeechSuper/iFlytek</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 Ton-Score</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 Black-Box</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2585966151"/>
                  </a:ext>
                </a:extLst>
              </a:tr>
              <a:tr h="0">
                <a:tc>
                  <a:txBody>
                    <a:bodyPr/>
                    <a:lstStyle/>
                    <a:p>
                      <a:pPr algn="l">
                        <a:spcAft>
                          <a:spcPts val="1200"/>
                        </a:spcAft>
                        <a:buNone/>
                      </a:pPr>
                      <a:r>
                        <a:rPr lang="de-DE" sz="1200" b="1" i="0">
                          <a:solidFill>
                            <a:srgbClr val="1F2328"/>
                          </a:solidFill>
                          <a:effectLst/>
                          <a:latin typeface="Mona Sans VF"/>
                        </a:rPr>
                        <a:t>MMSU</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 aggregiert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3307183642"/>
                  </a:ext>
                </a:extLst>
              </a:tr>
              <a:tr h="0">
                <a:tc>
                  <a:txBody>
                    <a:bodyPr/>
                    <a:lstStyle/>
                    <a:p>
                      <a:pPr algn="l">
                        <a:spcAft>
                          <a:spcPts val="1200"/>
                        </a:spcAft>
                        <a:buNone/>
                      </a:pPr>
                      <a:r>
                        <a:rPr lang="de-DE" sz="1200" b="1" i="0">
                          <a:solidFill>
                            <a:srgbClr val="1F2328"/>
                          </a:solidFill>
                          <a:effectLst/>
                          <a:latin typeface="Mona Sans VF"/>
                        </a:rPr>
                        <a:t>Tone-CAT/PT</a:t>
                      </a:r>
                      <a:r>
                        <a:rPr lang="de-DE" sz="1200" b="0" i="0">
                          <a:solidFill>
                            <a:srgbClr val="1F2328"/>
                          </a:solidFill>
                          <a:effectLst/>
                          <a:latin typeface="Mona Sans VF"/>
                        </a:rPr>
                        <a:t> (MDD)</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 Diagnose</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 DER 26 %</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2862253686"/>
                  </a:ext>
                </a:extLst>
              </a:tr>
              <a:tr h="0">
                <a:tc>
                  <a:txBody>
                    <a:bodyPr/>
                    <a:lstStyle/>
                    <a:p>
                      <a:pPr algn="l">
                        <a:spcAft>
                          <a:spcPts val="1200"/>
                        </a:spcAft>
                        <a:buNone/>
                      </a:pPr>
                      <a:r>
                        <a:rPr lang="de-DE" sz="1200" b="1" i="0">
                          <a:solidFill>
                            <a:srgbClr val="1F2328"/>
                          </a:solidFill>
                          <a:effectLst/>
                          <a:latin typeface="Mona Sans VF"/>
                        </a:rPr>
                        <a:t>Unsere Arbeit</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 direkt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 Tone Perfect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 TER + Konfusion</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dirty="0">
                          <a:solidFill>
                            <a:srgbClr val="1F2328"/>
                          </a:solidFill>
                          <a:effectLst/>
                          <a:latin typeface="Mona Sans VF"/>
                        </a:rPr>
                        <a:t>✅ LATIC</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3001024633"/>
                  </a:ext>
                </a:extLst>
              </a:tr>
            </a:tbl>
          </a:graphicData>
        </a:graphic>
      </p:graphicFrame>
      <p:sp>
        <p:nvSpPr>
          <p:cNvPr id="5" name="TextBox 4">
            <a:extLst>
              <a:ext uri="{FF2B5EF4-FFF2-40B4-BE49-F238E27FC236}">
                <a16:creationId xmlns:a16="http://schemas.microsoft.com/office/drawing/2014/main" id="{2FE0F7E3-ACE2-AFC0-71DA-BCF552FF3638}"/>
              </a:ext>
            </a:extLst>
          </p:cNvPr>
          <p:cNvSpPr txBox="1"/>
          <p:nvPr/>
        </p:nvSpPr>
        <p:spPr>
          <a:xfrm>
            <a:off x="1775791" y="5559287"/>
            <a:ext cx="10266050" cy="923330"/>
          </a:xfrm>
          <a:prstGeom prst="rect">
            <a:avLst/>
          </a:prstGeom>
          <a:noFill/>
        </p:spPr>
        <p:txBody>
          <a:bodyPr wrap="square" rtlCol="0">
            <a:spAutoFit/>
          </a:bodyPr>
          <a:lstStyle/>
          <a:p>
            <a:r>
              <a:rPr lang="de-DE" dirty="0"/>
              <a:t>„Erstes systematisches </a:t>
            </a:r>
            <a:r>
              <a:rPr lang="de-DE" b="1" dirty="0"/>
              <a:t>isolierte-Silben-Mandarin-Ton-+-Phonem-Benchmark von Frontier-Audio-LLMs</a:t>
            </a:r>
            <a:r>
              <a:rPr lang="de-DE" dirty="0"/>
              <a:t> — abgegrenzt von MMSU (aggregierte Phonologie), </a:t>
            </a:r>
            <a:r>
              <a:rPr lang="de-DE" dirty="0" err="1"/>
              <a:t>PRiSM</a:t>
            </a:r>
            <a:r>
              <a:rPr lang="de-DE" dirty="0"/>
              <a:t> (multilinguale Phonerkennung) und SSL-Probing (kein </a:t>
            </a:r>
            <a:r>
              <a:rPr lang="de-DE" dirty="0" err="1"/>
              <a:t>instruction-tuned</a:t>
            </a:r>
            <a:r>
              <a:rPr lang="de-DE" dirty="0"/>
              <a:t> LLM)."</a:t>
            </a:r>
          </a:p>
        </p:txBody>
      </p:sp>
    </p:spTree>
    <p:extLst>
      <p:ext uri="{BB962C8B-B14F-4D97-AF65-F5344CB8AC3E}">
        <p14:creationId xmlns:p14="http://schemas.microsoft.com/office/powerpoint/2010/main" val="131319642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49662-7F20-98CC-5A12-F9017D809836}"/>
              </a:ext>
            </a:extLst>
          </p:cNvPr>
          <p:cNvSpPr>
            <a:spLocks noGrp="1"/>
          </p:cNvSpPr>
          <p:nvPr>
            <p:ph type="title"/>
          </p:nvPr>
        </p:nvSpPr>
        <p:spPr/>
        <p:txBody>
          <a:bodyPr/>
          <a:lstStyle/>
          <a:p>
            <a:r>
              <a:rPr lang="de-DE" dirty="0"/>
              <a:t>Wie wir die Tools nutzen — drei Rollen</a:t>
            </a:r>
          </a:p>
        </p:txBody>
      </p:sp>
      <p:sp>
        <p:nvSpPr>
          <p:cNvPr id="3" name="Content Placeholder 2">
            <a:extLst>
              <a:ext uri="{FF2B5EF4-FFF2-40B4-BE49-F238E27FC236}">
                <a16:creationId xmlns:a16="http://schemas.microsoft.com/office/drawing/2014/main" id="{B870E567-1BE6-7E26-5BDC-FCA987C87FA7}"/>
              </a:ext>
            </a:extLst>
          </p:cNvPr>
          <p:cNvSpPr>
            <a:spLocks noGrp="1"/>
          </p:cNvSpPr>
          <p:nvPr>
            <p:ph idx="1"/>
          </p:nvPr>
        </p:nvSpPr>
        <p:spPr>
          <a:xfrm>
            <a:off x="838200" y="1825625"/>
            <a:ext cx="5257800" cy="4351338"/>
          </a:xfrm>
        </p:spPr>
        <p:txBody>
          <a:bodyPr>
            <a:normAutofit fontScale="92500" lnSpcReduction="20000"/>
          </a:bodyPr>
          <a:lstStyle/>
          <a:p>
            <a:r>
              <a:rPr lang="de-DE" b="1" dirty="0"/>
              <a:t>Komplett kostenlos möglich:</a:t>
            </a:r>
            <a:r>
              <a:rPr lang="de-DE" dirty="0"/>
              <a:t> g2pW, CNN, MFA, </a:t>
            </a:r>
            <a:r>
              <a:rPr lang="de-DE" dirty="0" err="1"/>
              <a:t>Parselmouth</a:t>
            </a:r>
            <a:r>
              <a:rPr lang="de-DE" dirty="0"/>
              <a:t>, </a:t>
            </a:r>
            <a:r>
              <a:rPr lang="de-DE" dirty="0" err="1"/>
              <a:t>ProsodyPro</a:t>
            </a:r>
            <a:r>
              <a:rPr lang="de-DE" dirty="0"/>
              <a:t>, </a:t>
            </a:r>
            <a:r>
              <a:rPr lang="de-DE" dirty="0" err="1"/>
              <a:t>PanPhon</a:t>
            </a:r>
            <a:r>
              <a:rPr lang="de-DE" dirty="0"/>
              <a:t> = Open Source; CAPT-APIs nur als optionaler Gegencheck (Free-Trials)</a:t>
            </a:r>
          </a:p>
          <a:p>
            <a:r>
              <a:rPr lang="de-DE" b="1" dirty="0"/>
              <a:t>Kostenkontrolle (passt zum &lt;50 €-Budget):</a:t>
            </a:r>
            <a:r>
              <a:rPr lang="de-DE" dirty="0"/>
              <a:t> keine teuren manuellen </a:t>
            </a:r>
            <a:r>
              <a:rPr lang="de-DE" dirty="0" err="1"/>
              <a:t>Annotatoren</a:t>
            </a:r>
            <a:r>
              <a:rPr lang="de-DE" dirty="0"/>
              <a:t> für Phase 1</a:t>
            </a:r>
          </a:p>
          <a:p>
            <a:r>
              <a:rPr lang="de-DE" b="1" dirty="0" err="1"/>
              <a:t>PanPhon</a:t>
            </a:r>
            <a:r>
              <a:rPr lang="de-DE" dirty="0"/>
              <a:t> bleibt zentral für faire </a:t>
            </a:r>
            <a:r>
              <a:rPr lang="de-DE" b="1" dirty="0"/>
              <a:t>PFER</a:t>
            </a:r>
            <a:r>
              <a:rPr lang="de-DE" dirty="0"/>
              <a:t> (Near-Miss </a:t>
            </a:r>
            <a:r>
              <a:rPr lang="de-DE" dirty="0" err="1"/>
              <a:t>m↔n</a:t>
            </a:r>
            <a:r>
              <a:rPr lang="de-DE" dirty="0"/>
              <a:t> wird milder bestraft als </a:t>
            </a:r>
            <a:r>
              <a:rPr lang="de-DE" dirty="0" err="1"/>
              <a:t>m↔ts</a:t>
            </a:r>
            <a:r>
              <a:rPr lang="de-DE" dirty="0"/>
              <a:t>)</a:t>
            </a:r>
          </a:p>
          <a:p>
            <a:endParaRPr lang="de-DE" dirty="0"/>
          </a:p>
        </p:txBody>
      </p:sp>
      <p:pic>
        <p:nvPicPr>
          <p:cNvPr id="5" name="Picture 4">
            <a:extLst>
              <a:ext uri="{FF2B5EF4-FFF2-40B4-BE49-F238E27FC236}">
                <a16:creationId xmlns:a16="http://schemas.microsoft.com/office/drawing/2014/main" id="{C314EF11-EBA7-6441-3D7B-3EE598A97219}"/>
              </a:ext>
            </a:extLst>
          </p:cNvPr>
          <p:cNvPicPr>
            <a:picLocks noChangeAspect="1"/>
          </p:cNvPicPr>
          <p:nvPr/>
        </p:nvPicPr>
        <p:blipFill>
          <a:blip r:embed="rId3"/>
          <a:stretch>
            <a:fillRect/>
          </a:stretch>
        </p:blipFill>
        <p:spPr>
          <a:xfrm>
            <a:off x="5821128" y="2414948"/>
            <a:ext cx="6370872" cy="2187130"/>
          </a:xfrm>
          <a:prstGeom prst="rect">
            <a:avLst/>
          </a:prstGeom>
        </p:spPr>
      </p:pic>
    </p:spTree>
    <p:extLst>
      <p:ext uri="{BB962C8B-B14F-4D97-AF65-F5344CB8AC3E}">
        <p14:creationId xmlns:p14="http://schemas.microsoft.com/office/powerpoint/2010/main" val="1864106422"/>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CFA103-EF65-3A4F-F516-41504D5E6B8F}"/>
              </a:ext>
            </a:extLst>
          </p:cNvPr>
          <p:cNvSpPr>
            <a:spLocks noGrp="1"/>
          </p:cNvSpPr>
          <p:nvPr>
            <p:ph type="title"/>
          </p:nvPr>
        </p:nvSpPr>
        <p:spPr/>
        <p:txBody>
          <a:bodyPr/>
          <a:lstStyle/>
          <a:p>
            <a:endParaRPr lang="de-DE"/>
          </a:p>
        </p:txBody>
      </p:sp>
      <p:sp>
        <p:nvSpPr>
          <p:cNvPr id="3" name="Content Placeholder 2">
            <a:extLst>
              <a:ext uri="{FF2B5EF4-FFF2-40B4-BE49-F238E27FC236}">
                <a16:creationId xmlns:a16="http://schemas.microsoft.com/office/drawing/2014/main" id="{8D2A26E2-B3DC-ED97-AC49-E5AC8425F101}"/>
              </a:ext>
            </a:extLst>
          </p:cNvPr>
          <p:cNvSpPr>
            <a:spLocks noGrp="1"/>
          </p:cNvSpPr>
          <p:nvPr>
            <p:ph idx="1"/>
          </p:nvPr>
        </p:nvSpPr>
        <p:spPr/>
        <p:txBody>
          <a:bodyPr/>
          <a:lstStyle/>
          <a:p>
            <a:endParaRPr lang="de-DE"/>
          </a:p>
        </p:txBody>
      </p:sp>
    </p:spTree>
    <p:extLst>
      <p:ext uri="{BB962C8B-B14F-4D97-AF65-F5344CB8AC3E}">
        <p14:creationId xmlns:p14="http://schemas.microsoft.com/office/powerpoint/2010/main" val="344502003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772C71-51BF-2BB7-F4B2-5F8499C1BEF7}"/>
              </a:ext>
            </a:extLst>
          </p:cNvPr>
          <p:cNvSpPr>
            <a:spLocks noGrp="1"/>
          </p:cNvSpPr>
          <p:nvPr>
            <p:ph type="title"/>
          </p:nvPr>
        </p:nvSpPr>
        <p:spPr/>
        <p:txBody>
          <a:bodyPr/>
          <a:lstStyle/>
          <a:p>
            <a:r>
              <a:rPr lang="de-DE" dirty="0"/>
              <a:t>Transkribierungssysteme für Mandarin</a:t>
            </a:r>
          </a:p>
        </p:txBody>
      </p:sp>
      <p:sp>
        <p:nvSpPr>
          <p:cNvPr id="3" name="Content Placeholder 2">
            <a:extLst>
              <a:ext uri="{FF2B5EF4-FFF2-40B4-BE49-F238E27FC236}">
                <a16:creationId xmlns:a16="http://schemas.microsoft.com/office/drawing/2014/main" id="{89CFA775-2C0E-38B7-D92E-DD4F25488C3E}"/>
              </a:ext>
            </a:extLst>
          </p:cNvPr>
          <p:cNvSpPr>
            <a:spLocks noGrp="1"/>
          </p:cNvSpPr>
          <p:nvPr>
            <p:ph idx="1"/>
          </p:nvPr>
        </p:nvSpPr>
        <p:spPr/>
        <p:txBody>
          <a:bodyPr/>
          <a:lstStyle/>
          <a:p>
            <a:endParaRPr lang="de-DE"/>
          </a:p>
        </p:txBody>
      </p:sp>
    </p:spTree>
    <p:extLst>
      <p:ext uri="{BB962C8B-B14F-4D97-AF65-F5344CB8AC3E}">
        <p14:creationId xmlns:p14="http://schemas.microsoft.com/office/powerpoint/2010/main" val="146583415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C3E6E1-A6AD-307E-A413-E3920694AE9E}"/>
              </a:ext>
            </a:extLst>
          </p:cNvPr>
          <p:cNvSpPr>
            <a:spLocks noGrp="1"/>
          </p:cNvSpPr>
          <p:nvPr>
            <p:ph type="title"/>
          </p:nvPr>
        </p:nvSpPr>
        <p:spPr/>
        <p:txBody>
          <a:bodyPr/>
          <a:lstStyle/>
          <a:p>
            <a:r>
              <a:rPr lang="de-DE" dirty="0"/>
              <a:t>All </a:t>
            </a:r>
            <a:r>
              <a:rPr lang="de-DE" dirty="0" err="1"/>
              <a:t>Phonetic</a:t>
            </a:r>
            <a:r>
              <a:rPr lang="de-DE" dirty="0"/>
              <a:t> </a:t>
            </a:r>
            <a:r>
              <a:rPr lang="de-DE" dirty="0" err="1"/>
              <a:t>Transcription</a:t>
            </a:r>
            <a:r>
              <a:rPr lang="de-DE" dirty="0"/>
              <a:t> Systems </a:t>
            </a:r>
            <a:r>
              <a:rPr lang="de-DE" dirty="0" err="1"/>
              <a:t>for</a:t>
            </a:r>
            <a:r>
              <a:rPr lang="de-DE" dirty="0"/>
              <a:t> Mandarin Chinese</a:t>
            </a:r>
          </a:p>
        </p:txBody>
      </p:sp>
      <p:sp>
        <p:nvSpPr>
          <p:cNvPr id="3" name="Content Placeholder 2">
            <a:extLst>
              <a:ext uri="{FF2B5EF4-FFF2-40B4-BE49-F238E27FC236}">
                <a16:creationId xmlns:a16="http://schemas.microsoft.com/office/drawing/2014/main" id="{594FD6DD-908E-CB52-2873-0E768B0CAC93}"/>
              </a:ext>
            </a:extLst>
          </p:cNvPr>
          <p:cNvSpPr>
            <a:spLocks noGrp="1"/>
          </p:cNvSpPr>
          <p:nvPr>
            <p:ph idx="1"/>
          </p:nvPr>
        </p:nvSpPr>
        <p:spPr>
          <a:xfrm>
            <a:off x="838200" y="1825625"/>
            <a:ext cx="10515600" cy="612775"/>
          </a:xfrm>
        </p:spPr>
        <p:txBody>
          <a:bodyPr/>
          <a:lstStyle/>
          <a:p>
            <a:r>
              <a:rPr lang="de-DE" b="1" dirty="0"/>
              <a:t>Aktive Systeme (in der Literatur oder Praxis verwendet)</a:t>
            </a:r>
            <a:endParaRPr lang="de-DE" dirty="0"/>
          </a:p>
        </p:txBody>
      </p:sp>
      <p:graphicFrame>
        <p:nvGraphicFramePr>
          <p:cNvPr id="4" name="Table 3">
            <a:extLst>
              <a:ext uri="{FF2B5EF4-FFF2-40B4-BE49-F238E27FC236}">
                <a16:creationId xmlns:a16="http://schemas.microsoft.com/office/drawing/2014/main" id="{A34AA385-36E9-D3F1-C2EA-DBAADB7426E2}"/>
              </a:ext>
            </a:extLst>
          </p:cNvPr>
          <p:cNvGraphicFramePr>
            <a:graphicFrameLocks noGrp="1"/>
          </p:cNvGraphicFramePr>
          <p:nvPr/>
        </p:nvGraphicFramePr>
        <p:xfrm>
          <a:off x="838200" y="2446814"/>
          <a:ext cx="10515600" cy="3108960"/>
        </p:xfrm>
        <a:graphic>
          <a:graphicData uri="http://schemas.openxmlformats.org/drawingml/2006/table">
            <a:tbl>
              <a:tblPr/>
              <a:tblGrid>
                <a:gridCol w="2103120">
                  <a:extLst>
                    <a:ext uri="{9D8B030D-6E8A-4147-A177-3AD203B41FA5}">
                      <a16:colId xmlns:a16="http://schemas.microsoft.com/office/drawing/2014/main" val="3832734840"/>
                    </a:ext>
                  </a:extLst>
                </a:gridCol>
                <a:gridCol w="2103120">
                  <a:extLst>
                    <a:ext uri="{9D8B030D-6E8A-4147-A177-3AD203B41FA5}">
                      <a16:colId xmlns:a16="http://schemas.microsoft.com/office/drawing/2014/main" val="4158190726"/>
                    </a:ext>
                  </a:extLst>
                </a:gridCol>
                <a:gridCol w="2103120">
                  <a:extLst>
                    <a:ext uri="{9D8B030D-6E8A-4147-A177-3AD203B41FA5}">
                      <a16:colId xmlns:a16="http://schemas.microsoft.com/office/drawing/2014/main" val="1751767443"/>
                    </a:ext>
                  </a:extLst>
                </a:gridCol>
                <a:gridCol w="2103120">
                  <a:extLst>
                    <a:ext uri="{9D8B030D-6E8A-4147-A177-3AD203B41FA5}">
                      <a16:colId xmlns:a16="http://schemas.microsoft.com/office/drawing/2014/main" val="4064969235"/>
                    </a:ext>
                  </a:extLst>
                </a:gridCol>
                <a:gridCol w="2103120">
                  <a:extLst>
                    <a:ext uri="{9D8B030D-6E8A-4147-A177-3AD203B41FA5}">
                      <a16:colId xmlns:a16="http://schemas.microsoft.com/office/drawing/2014/main" val="4122966598"/>
                    </a:ext>
                  </a:extLst>
                </a:gridCol>
              </a:tblGrid>
              <a:tr h="0">
                <a:tc>
                  <a:txBody>
                    <a:bodyPr/>
                    <a:lstStyle/>
                    <a:p>
                      <a:pPr algn="l">
                        <a:spcAft>
                          <a:spcPts val="1200"/>
                        </a:spcAft>
                        <a:buNone/>
                      </a:pPr>
                      <a:r>
                        <a:rPr lang="de-DE" sz="1200" b="1" i="0">
                          <a:solidFill>
                            <a:srgbClr val="1F2328"/>
                          </a:solidFill>
                          <a:effectLst/>
                          <a:latin typeface="Mona Sans VF"/>
                        </a:rPr>
                        <a:t>System</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a:solidFill>
                            <a:srgbClr val="1F2328"/>
                          </a:solidFill>
                          <a:effectLst/>
                          <a:latin typeface="Mona Sans VF"/>
                        </a:rPr>
                        <a:t>Beispiel: 妈/麻/马/骂</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a:solidFill>
                            <a:srgbClr val="1F2328"/>
                          </a:solidFill>
                          <a:effectLst/>
                          <a:latin typeface="Mona Sans VF"/>
                        </a:rPr>
                        <a:t>Zeichen</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a:solidFill>
                            <a:srgbClr val="1F2328"/>
                          </a:solidFill>
                          <a:effectLst/>
                          <a:latin typeface="Mona Sans VF"/>
                        </a:rPr>
                        <a:t>Verbreitung</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a:solidFill>
                            <a:srgbClr val="1F2328"/>
                          </a:solidFill>
                          <a:effectLst/>
                          <a:latin typeface="Mona Sans VF"/>
                        </a:rPr>
                        <a:t>LLM-Trainingsdaten</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4138461761"/>
                  </a:ext>
                </a:extLst>
              </a:tr>
              <a:tr h="0">
                <a:tc>
                  <a:txBody>
                    <a:bodyPr/>
                    <a:lstStyle/>
                    <a:p>
                      <a:pPr algn="l">
                        <a:spcAft>
                          <a:spcPts val="1200"/>
                        </a:spcAft>
                        <a:buNone/>
                      </a:pPr>
                      <a:r>
                        <a:rPr lang="de-DE" sz="1200" b="1" i="0">
                          <a:solidFill>
                            <a:srgbClr val="1F2328"/>
                          </a:solidFill>
                          <a:effectLst/>
                          <a:latin typeface="Mona Sans VF"/>
                        </a:rPr>
                        <a:t>Hanyu Pinyin</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mā, má, mǎ, mà</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26 lat. Buchstaben + Diakritika</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 Internationaler Standard (UN, ISO 7098, seit 1958)</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 Massiv</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2264775652"/>
                  </a:ext>
                </a:extLst>
              </a:tr>
              <a:tr h="0">
                <a:tc>
                  <a:txBody>
                    <a:bodyPr/>
                    <a:lstStyle/>
                    <a:p>
                      <a:pPr algn="l">
                        <a:spcAft>
                          <a:spcPts val="1200"/>
                        </a:spcAft>
                        <a:buNone/>
                      </a:pPr>
                      <a:r>
                        <a:rPr lang="de-DE" sz="1200" b="1" i="0">
                          <a:solidFill>
                            <a:srgbClr val="1F2328"/>
                          </a:solidFill>
                          <a:effectLst/>
                          <a:latin typeface="Mona Sans VF"/>
                        </a:rPr>
                        <a:t>Pinyin + Tonnummer</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ma1, ma2, ma3, ma4</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26 lat. Buchstaben + Ziffern</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 Standard (digital/didaktisch)</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 Massiv</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1681955149"/>
                  </a:ext>
                </a:extLst>
              </a:tr>
              <a:tr h="0">
                <a:tc>
                  <a:txBody>
                    <a:bodyPr/>
                    <a:lstStyle/>
                    <a:p>
                      <a:pPr algn="l">
                        <a:spcAft>
                          <a:spcPts val="1200"/>
                        </a:spcAft>
                        <a:buNone/>
                      </a:pPr>
                      <a:r>
                        <a:rPr lang="de-DE" sz="1200" b="1" i="0">
                          <a:solidFill>
                            <a:srgbClr val="1F2328"/>
                          </a:solidFill>
                          <a:effectLst/>
                          <a:latin typeface="Mona Sans VF"/>
                        </a:rPr>
                        <a:t>IPA + Tone Letters</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[ma˥], [ma˧˥], [ma˨˩˦], [ma˥˩]</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~100+ IPA-Symbole + Unicode</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 Linguistik-Fachtexte</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 Wenig</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2386441953"/>
                  </a:ext>
                </a:extLst>
              </a:tr>
              <a:tr h="0">
                <a:tc>
                  <a:txBody>
                    <a:bodyPr/>
                    <a:lstStyle/>
                    <a:p>
                      <a:pPr algn="l">
                        <a:spcAft>
                          <a:spcPts val="1200"/>
                        </a:spcAft>
                        <a:buNone/>
                      </a:pPr>
                      <a:r>
                        <a:rPr lang="de-DE" sz="1200" b="1" i="0">
                          <a:solidFill>
                            <a:srgbClr val="1F2328"/>
                          </a:solidFill>
                          <a:effectLst/>
                          <a:latin typeface="Mona Sans VF"/>
                        </a:rPr>
                        <a:t>IPA + Chao-Nummern</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[ma55], [ma35], [ma214], [ma51]</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~100+ Symbole + Ziffern</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 Sinologie/Tonforschung</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 Wenig</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2908190845"/>
                  </a:ext>
                </a:extLst>
              </a:tr>
              <a:tr h="0">
                <a:tc>
                  <a:txBody>
                    <a:bodyPr/>
                    <a:lstStyle/>
                    <a:p>
                      <a:pPr algn="l">
                        <a:spcAft>
                          <a:spcPts val="1200"/>
                        </a:spcAft>
                        <a:buNone/>
                      </a:pPr>
                      <a:r>
                        <a:rPr lang="de-DE" sz="1200" b="1" i="0">
                          <a:solidFill>
                            <a:srgbClr val="1F2328"/>
                          </a:solidFill>
                          <a:effectLst/>
                          <a:latin typeface="Mona Sans VF"/>
                        </a:rPr>
                        <a:t>Zhuyin (Bopomofo)</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ㄇㄚ, ㄇㄚˊ, ㄇㄚˇ, ㄇㄚˋ</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37 Symbole + Tonmarken</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 Taiwan (Schulunterricht)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 Taiwan-only</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721818889"/>
                  </a:ext>
                </a:extLst>
              </a:tr>
              <a:tr h="0">
                <a:tc>
                  <a:txBody>
                    <a:bodyPr/>
                    <a:lstStyle/>
                    <a:p>
                      <a:pPr algn="l">
                        <a:spcAft>
                          <a:spcPts val="1200"/>
                        </a:spcAft>
                        <a:buNone/>
                      </a:pPr>
                      <a:r>
                        <a:rPr lang="de-DE" sz="1200" b="1" i="0">
                          <a:solidFill>
                            <a:srgbClr val="1F2328"/>
                          </a:solidFill>
                          <a:effectLst/>
                          <a:latin typeface="Mona Sans VF"/>
                        </a:rPr>
                        <a:t>Wade-Giles</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ma¹, ma², ma³, ma⁴</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26 lat. Buchstaben + Hochzahlen</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 Historisch (vor 1979)</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 Ältere Texte</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1845374226"/>
                  </a:ext>
                </a:extLst>
              </a:tr>
              <a:tr h="0">
                <a:tc>
                  <a:txBody>
                    <a:bodyPr/>
                    <a:lstStyle/>
                    <a:p>
                      <a:pPr algn="l">
                        <a:spcAft>
                          <a:spcPts val="1200"/>
                        </a:spcAft>
                        <a:buNone/>
                      </a:pPr>
                      <a:r>
                        <a:rPr lang="de-DE" sz="1200" b="1" i="0">
                          <a:solidFill>
                            <a:srgbClr val="1F2328"/>
                          </a:solidFill>
                          <a:effectLst/>
                          <a:latin typeface="Mona Sans VF"/>
                        </a:rPr>
                        <a:t>Gwoyeu Romatzyh (GR)</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ma, mar, maa, mah</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26 lat. Buchstaben (Ton im Buchstaben)</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 Veraltet (Y.R. Chao, 1928)</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dirty="0">
                          <a:solidFill>
                            <a:srgbClr val="1F2328"/>
                          </a:solidFill>
                          <a:effectLst/>
                          <a:latin typeface="Mona Sans VF"/>
                        </a:rPr>
                        <a:t>❌ Sehr selten</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4099847475"/>
                  </a:ext>
                </a:extLst>
              </a:tr>
            </a:tbl>
          </a:graphicData>
        </a:graphic>
      </p:graphicFrame>
    </p:spTree>
    <p:extLst>
      <p:ext uri="{BB962C8B-B14F-4D97-AF65-F5344CB8AC3E}">
        <p14:creationId xmlns:p14="http://schemas.microsoft.com/office/powerpoint/2010/main" val="362430334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7BDC38-D33F-0D72-DD55-B93738341C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646832-F957-8D82-D56C-DFDF117B394D}"/>
              </a:ext>
            </a:extLst>
          </p:cNvPr>
          <p:cNvSpPr>
            <a:spLocks noGrp="1"/>
          </p:cNvSpPr>
          <p:nvPr>
            <p:ph type="title"/>
          </p:nvPr>
        </p:nvSpPr>
        <p:spPr/>
        <p:txBody>
          <a:bodyPr/>
          <a:lstStyle/>
          <a:p>
            <a:r>
              <a:rPr lang="de-DE" dirty="0"/>
              <a:t>All </a:t>
            </a:r>
            <a:r>
              <a:rPr lang="de-DE" dirty="0" err="1"/>
              <a:t>Phonetic</a:t>
            </a:r>
            <a:r>
              <a:rPr lang="de-DE" dirty="0"/>
              <a:t> </a:t>
            </a:r>
            <a:r>
              <a:rPr lang="de-DE" dirty="0" err="1"/>
              <a:t>Transcription</a:t>
            </a:r>
            <a:r>
              <a:rPr lang="de-DE" dirty="0"/>
              <a:t> Systems </a:t>
            </a:r>
            <a:r>
              <a:rPr lang="de-DE" dirty="0" err="1"/>
              <a:t>for</a:t>
            </a:r>
            <a:r>
              <a:rPr lang="de-DE" dirty="0"/>
              <a:t> Mandarin Chinese</a:t>
            </a:r>
          </a:p>
        </p:txBody>
      </p:sp>
      <p:sp>
        <p:nvSpPr>
          <p:cNvPr id="3" name="Content Placeholder 2">
            <a:extLst>
              <a:ext uri="{FF2B5EF4-FFF2-40B4-BE49-F238E27FC236}">
                <a16:creationId xmlns:a16="http://schemas.microsoft.com/office/drawing/2014/main" id="{4C7961D3-935C-4084-B832-A68F4E4DC2CF}"/>
              </a:ext>
            </a:extLst>
          </p:cNvPr>
          <p:cNvSpPr>
            <a:spLocks noGrp="1"/>
          </p:cNvSpPr>
          <p:nvPr>
            <p:ph idx="1"/>
          </p:nvPr>
        </p:nvSpPr>
        <p:spPr>
          <a:xfrm>
            <a:off x="838200" y="1825625"/>
            <a:ext cx="10515600" cy="612775"/>
          </a:xfrm>
        </p:spPr>
        <p:txBody>
          <a:bodyPr/>
          <a:lstStyle/>
          <a:p>
            <a:r>
              <a:rPr lang="de-DE" b="1" dirty="0"/>
              <a:t>Historische/regionale Systeme (nicht mehr aktiv)</a:t>
            </a:r>
            <a:endParaRPr lang="de-DE" dirty="0"/>
          </a:p>
        </p:txBody>
      </p:sp>
      <p:graphicFrame>
        <p:nvGraphicFramePr>
          <p:cNvPr id="5" name="Table 4">
            <a:extLst>
              <a:ext uri="{FF2B5EF4-FFF2-40B4-BE49-F238E27FC236}">
                <a16:creationId xmlns:a16="http://schemas.microsoft.com/office/drawing/2014/main" id="{9EA6B433-160E-EA08-00A8-A902AF3B81D6}"/>
              </a:ext>
            </a:extLst>
          </p:cNvPr>
          <p:cNvGraphicFramePr>
            <a:graphicFrameLocks noGrp="1"/>
          </p:cNvGraphicFramePr>
          <p:nvPr>
            <p:extLst>
              <p:ext uri="{D42A27DB-BD31-4B8C-83A1-F6EECF244321}">
                <p14:modId xmlns:p14="http://schemas.microsoft.com/office/powerpoint/2010/main" val="141906043"/>
              </p:ext>
            </p:extLst>
          </p:nvPr>
        </p:nvGraphicFramePr>
        <p:xfrm>
          <a:off x="838200" y="2438400"/>
          <a:ext cx="10515600" cy="1737360"/>
        </p:xfrm>
        <a:graphic>
          <a:graphicData uri="http://schemas.openxmlformats.org/drawingml/2006/table">
            <a:tbl>
              <a:tblPr/>
              <a:tblGrid>
                <a:gridCol w="2628900">
                  <a:extLst>
                    <a:ext uri="{9D8B030D-6E8A-4147-A177-3AD203B41FA5}">
                      <a16:colId xmlns:a16="http://schemas.microsoft.com/office/drawing/2014/main" val="2864638204"/>
                    </a:ext>
                  </a:extLst>
                </a:gridCol>
                <a:gridCol w="2628900">
                  <a:extLst>
                    <a:ext uri="{9D8B030D-6E8A-4147-A177-3AD203B41FA5}">
                      <a16:colId xmlns:a16="http://schemas.microsoft.com/office/drawing/2014/main" val="87944387"/>
                    </a:ext>
                  </a:extLst>
                </a:gridCol>
                <a:gridCol w="2628900">
                  <a:extLst>
                    <a:ext uri="{9D8B030D-6E8A-4147-A177-3AD203B41FA5}">
                      <a16:colId xmlns:a16="http://schemas.microsoft.com/office/drawing/2014/main" val="3839025194"/>
                    </a:ext>
                  </a:extLst>
                </a:gridCol>
                <a:gridCol w="2628900">
                  <a:extLst>
                    <a:ext uri="{9D8B030D-6E8A-4147-A177-3AD203B41FA5}">
                      <a16:colId xmlns:a16="http://schemas.microsoft.com/office/drawing/2014/main" val="3682085670"/>
                    </a:ext>
                  </a:extLst>
                </a:gridCol>
              </a:tblGrid>
              <a:tr h="0">
                <a:tc>
                  <a:txBody>
                    <a:bodyPr/>
                    <a:lstStyle/>
                    <a:p>
                      <a:pPr algn="l">
                        <a:spcAft>
                          <a:spcPts val="1200"/>
                        </a:spcAft>
                        <a:buNone/>
                      </a:pPr>
                      <a:r>
                        <a:rPr lang="de-DE" sz="1200" b="1" i="0">
                          <a:solidFill>
                            <a:srgbClr val="1F2328"/>
                          </a:solidFill>
                          <a:effectLst/>
                          <a:latin typeface="Mona Sans VF"/>
                        </a:rPr>
                        <a:t>System</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a:solidFill>
                            <a:srgbClr val="1F2328"/>
                          </a:solidFill>
                          <a:effectLst/>
                          <a:latin typeface="Mona Sans VF"/>
                        </a:rPr>
                        <a:t>Beispiel</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a:solidFill>
                            <a:srgbClr val="1F2328"/>
                          </a:solidFill>
                          <a:effectLst/>
                          <a:latin typeface="Mona Sans VF"/>
                        </a:rPr>
                        <a:t>Zeitraum</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a:solidFill>
                            <a:srgbClr val="1F2328"/>
                          </a:solidFill>
                          <a:effectLst/>
                          <a:latin typeface="Mona Sans VF"/>
                        </a:rPr>
                        <a:t>LLM-Daten</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427374588"/>
                  </a:ext>
                </a:extLst>
              </a:tr>
              <a:tr h="0">
                <a:tc>
                  <a:txBody>
                    <a:bodyPr/>
                    <a:lstStyle/>
                    <a:p>
                      <a:pPr algn="l">
                        <a:spcAft>
                          <a:spcPts val="1200"/>
                        </a:spcAft>
                        <a:buNone/>
                      </a:pPr>
                      <a:r>
                        <a:rPr lang="de-DE" sz="1200" b="1" i="0" dirty="0">
                          <a:solidFill>
                            <a:srgbClr val="1F2328"/>
                          </a:solidFill>
                          <a:effectLst/>
                          <a:latin typeface="Mona Sans VF"/>
                        </a:rPr>
                        <a:t>Yale </a:t>
                      </a:r>
                      <a:r>
                        <a:rPr lang="de-DE" sz="1200" b="1" i="0" dirty="0" err="1">
                          <a:solidFill>
                            <a:srgbClr val="1F2328"/>
                          </a:solidFill>
                          <a:effectLst/>
                          <a:latin typeface="Mona Sans VF"/>
                        </a:rPr>
                        <a:t>Romanization</a:t>
                      </a:r>
                      <a:endParaRPr lang="de-DE" sz="1200" b="0" i="0" dirty="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mā, má, mǎ, mà (eigene Konventionen)</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1960er–1980er, Yale-Kurse</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 Minimal</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1325491230"/>
                  </a:ext>
                </a:extLst>
              </a:tr>
              <a:tr h="0">
                <a:tc>
                  <a:txBody>
                    <a:bodyPr/>
                    <a:lstStyle/>
                    <a:p>
                      <a:pPr algn="l">
                        <a:spcAft>
                          <a:spcPts val="1200"/>
                        </a:spcAft>
                        <a:buNone/>
                      </a:pPr>
                      <a:r>
                        <a:rPr lang="de-DE" sz="1200" b="1" i="0">
                          <a:solidFill>
                            <a:srgbClr val="1F2328"/>
                          </a:solidFill>
                          <a:effectLst/>
                          <a:latin typeface="Mona Sans VF"/>
                        </a:rPr>
                        <a:t>Tongyong Pinyin</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ma, má, mǎ, mà (ähnlich Hanyu, 22 Abweichungen)</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1998–2008, Taiwan (offiziell 2002–2008)</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 Gering</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3582349142"/>
                  </a:ext>
                </a:extLst>
              </a:tr>
              <a:tr h="0">
                <a:tc>
                  <a:txBody>
                    <a:bodyPr/>
                    <a:lstStyle/>
                    <a:p>
                      <a:pPr algn="l">
                        <a:spcAft>
                          <a:spcPts val="1200"/>
                        </a:spcAft>
                        <a:buNone/>
                      </a:pPr>
                      <a:r>
                        <a:rPr lang="de-DE" sz="1200" b="1" i="0">
                          <a:solidFill>
                            <a:srgbClr val="1F2328"/>
                          </a:solidFill>
                          <a:effectLst/>
                          <a:latin typeface="Mona Sans VF"/>
                        </a:rPr>
                        <a:t>Postal Romanization</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Ma (ohne Ton)</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~1906–1960er, Postamt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 Nur historische Karten</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1594345306"/>
                  </a:ext>
                </a:extLst>
              </a:tr>
              <a:tr h="0">
                <a:tc>
                  <a:txBody>
                    <a:bodyPr/>
                    <a:lstStyle/>
                    <a:p>
                      <a:pPr algn="l">
                        <a:spcAft>
                          <a:spcPts val="1200"/>
                        </a:spcAft>
                        <a:buNone/>
                      </a:pPr>
                      <a:r>
                        <a:rPr lang="de-DE" sz="1200" b="1" i="0">
                          <a:solidFill>
                            <a:srgbClr val="1F2328"/>
                          </a:solidFill>
                          <a:effectLst/>
                          <a:latin typeface="Mona Sans VF"/>
                        </a:rPr>
                        <a:t>Latinxua Sin Wenz</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ma, mar, maa, mah (ähnlich GR)</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1931–1950er, sowjetischer Einfluss</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dirty="0">
                          <a:solidFill>
                            <a:srgbClr val="1F2328"/>
                          </a:solidFill>
                          <a:effectLst/>
                          <a:latin typeface="Mona Sans VF"/>
                        </a:rPr>
                        <a:t>❌ Nahezu null</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967252911"/>
                  </a:ext>
                </a:extLst>
              </a:tr>
            </a:tbl>
          </a:graphicData>
        </a:graphic>
      </p:graphicFrame>
    </p:spTree>
    <p:extLst>
      <p:ext uri="{BB962C8B-B14F-4D97-AF65-F5344CB8AC3E}">
        <p14:creationId xmlns:p14="http://schemas.microsoft.com/office/powerpoint/2010/main" val="1191002613"/>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D3B68C-06CD-B58D-398C-7A2209496921}"/>
              </a:ext>
            </a:extLst>
          </p:cNvPr>
          <p:cNvSpPr>
            <a:spLocks noGrp="1"/>
          </p:cNvSpPr>
          <p:nvPr>
            <p:ph type="title"/>
          </p:nvPr>
        </p:nvSpPr>
        <p:spPr/>
        <p:txBody>
          <a:bodyPr/>
          <a:lstStyle/>
          <a:p>
            <a:r>
              <a:rPr lang="de-DE" dirty="0"/>
              <a:t>7 Ways </a:t>
            </a:r>
            <a:r>
              <a:rPr lang="de-DE" dirty="0" err="1"/>
              <a:t>to</a:t>
            </a:r>
            <a:r>
              <a:rPr lang="de-DE" dirty="0"/>
              <a:t> </a:t>
            </a:r>
            <a:r>
              <a:rPr lang="de-DE" dirty="0" err="1"/>
              <a:t>Represent</a:t>
            </a:r>
            <a:r>
              <a:rPr lang="de-DE" dirty="0"/>
              <a:t> Mandarin Tones (nach Hacking Chinese + Literatur)</a:t>
            </a:r>
          </a:p>
        </p:txBody>
      </p:sp>
      <p:graphicFrame>
        <p:nvGraphicFramePr>
          <p:cNvPr id="4" name="Content Placeholder 3">
            <a:extLst>
              <a:ext uri="{FF2B5EF4-FFF2-40B4-BE49-F238E27FC236}">
                <a16:creationId xmlns:a16="http://schemas.microsoft.com/office/drawing/2014/main" id="{32622AB0-2B6A-BA8E-8192-1AA3A09C13C5}"/>
              </a:ext>
            </a:extLst>
          </p:cNvPr>
          <p:cNvGraphicFramePr>
            <a:graphicFrameLocks noGrp="1"/>
          </p:cNvGraphicFramePr>
          <p:nvPr>
            <p:ph idx="1"/>
          </p:nvPr>
        </p:nvGraphicFramePr>
        <p:xfrm>
          <a:off x="838200" y="2812574"/>
          <a:ext cx="10515600" cy="2377440"/>
        </p:xfrm>
        <a:graphic>
          <a:graphicData uri="http://schemas.openxmlformats.org/drawingml/2006/table">
            <a:tbl>
              <a:tblPr/>
              <a:tblGrid>
                <a:gridCol w="2103120">
                  <a:extLst>
                    <a:ext uri="{9D8B030D-6E8A-4147-A177-3AD203B41FA5}">
                      <a16:colId xmlns:a16="http://schemas.microsoft.com/office/drawing/2014/main" val="2386570074"/>
                    </a:ext>
                  </a:extLst>
                </a:gridCol>
                <a:gridCol w="2103120">
                  <a:extLst>
                    <a:ext uri="{9D8B030D-6E8A-4147-A177-3AD203B41FA5}">
                      <a16:colId xmlns:a16="http://schemas.microsoft.com/office/drawing/2014/main" val="1017221508"/>
                    </a:ext>
                  </a:extLst>
                </a:gridCol>
                <a:gridCol w="2103120">
                  <a:extLst>
                    <a:ext uri="{9D8B030D-6E8A-4147-A177-3AD203B41FA5}">
                      <a16:colId xmlns:a16="http://schemas.microsoft.com/office/drawing/2014/main" val="2930367805"/>
                    </a:ext>
                  </a:extLst>
                </a:gridCol>
                <a:gridCol w="2103120">
                  <a:extLst>
                    <a:ext uri="{9D8B030D-6E8A-4147-A177-3AD203B41FA5}">
                      <a16:colId xmlns:a16="http://schemas.microsoft.com/office/drawing/2014/main" val="3114007395"/>
                    </a:ext>
                  </a:extLst>
                </a:gridCol>
                <a:gridCol w="2103120">
                  <a:extLst>
                    <a:ext uri="{9D8B030D-6E8A-4147-A177-3AD203B41FA5}">
                      <a16:colId xmlns:a16="http://schemas.microsoft.com/office/drawing/2014/main" val="669538080"/>
                    </a:ext>
                  </a:extLst>
                </a:gridCol>
              </a:tblGrid>
              <a:tr h="0">
                <a:tc>
                  <a:txBody>
                    <a:bodyPr/>
                    <a:lstStyle/>
                    <a:p>
                      <a:pPr algn="l">
                        <a:spcAft>
                          <a:spcPts val="1200"/>
                        </a:spcAft>
                        <a:buNone/>
                      </a:pPr>
                      <a:r>
                        <a:rPr lang="de-DE" sz="1200" b="1" i="0">
                          <a:solidFill>
                            <a:srgbClr val="1F2328"/>
                          </a:solidFill>
                          <a:effectLst/>
                          <a:latin typeface="Mona Sans VF"/>
                        </a:rPr>
                        <a: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a:solidFill>
                            <a:srgbClr val="1F2328"/>
                          </a:solidFill>
                          <a:effectLst/>
                          <a:latin typeface="Mona Sans VF"/>
                        </a:rPr>
                        <a:t>Methode</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a:solidFill>
                            <a:srgbClr val="1F2328"/>
                          </a:solidFill>
                          <a:effectLst/>
                          <a:latin typeface="Mona Sans VF"/>
                        </a:rPr>
                        <a:t>Beispiel (T1/T2/T3/T4)</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a:solidFill>
                            <a:srgbClr val="1F2328"/>
                          </a:solidFill>
                          <a:effectLst/>
                          <a:latin typeface="Mona Sans VF"/>
                        </a:rPr>
                        <a:t>Maschinenlesbar?</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a:solidFill>
                            <a:srgbClr val="1F2328"/>
                          </a:solidFill>
                          <a:effectLst/>
                          <a:latin typeface="Mona Sans VF"/>
                        </a:rPr>
                        <a:t>LLM-geeignet?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873429879"/>
                  </a:ext>
                </a:extLst>
              </a:tr>
              <a:tr h="0">
                <a:tc>
                  <a:txBody>
                    <a:bodyPr/>
                    <a:lstStyle/>
                    <a:p>
                      <a:pPr algn="l">
                        <a:spcAft>
                          <a:spcPts val="1200"/>
                        </a:spcAft>
                        <a:buNone/>
                      </a:pPr>
                      <a:r>
                        <a:rPr lang="de-DE" sz="1200" b="0" i="0">
                          <a:solidFill>
                            <a:srgbClr val="1F2328"/>
                          </a:solidFill>
                          <a:effectLst/>
                          <a:latin typeface="Mona Sans VF"/>
                        </a:rPr>
                        <a:t>1</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a:solidFill>
                            <a:srgbClr val="1F2328"/>
                          </a:solidFill>
                          <a:effectLst/>
                          <a:latin typeface="Mona Sans VF"/>
                        </a:rPr>
                        <a:t>Pinyin-Diakritika</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mā, má, mǎ, mà</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 Unicode nötig</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 Token-Fragmentierung</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573505670"/>
                  </a:ext>
                </a:extLst>
              </a:tr>
              <a:tr h="0">
                <a:tc>
                  <a:txBody>
                    <a:bodyPr/>
                    <a:lstStyle/>
                    <a:p>
                      <a:pPr algn="l">
                        <a:spcAft>
                          <a:spcPts val="1200"/>
                        </a:spcAft>
                        <a:buNone/>
                      </a:pPr>
                      <a:r>
                        <a:rPr lang="de-DE" sz="1200" b="0" i="0">
                          <a:solidFill>
                            <a:srgbClr val="1F2328"/>
                          </a:solidFill>
                          <a:effectLst/>
                          <a:latin typeface="Mona Sans VF"/>
                        </a:rPr>
                        <a:t>2</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1" i="0">
                          <a:solidFill>
                            <a:srgbClr val="1F2328"/>
                          </a:solidFill>
                          <a:effectLst/>
                          <a:latin typeface="Mona Sans VF"/>
                        </a:rPr>
                        <a:t>Tonnummern (1-4)</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ma1, ma2, ma3, ma4</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 Klar</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 </a:t>
                      </a:r>
                      <a:r>
                        <a:rPr lang="de-DE" sz="1200" b="1" i="0">
                          <a:solidFill>
                            <a:srgbClr val="1F2328"/>
                          </a:solidFill>
                          <a:effectLst/>
                          <a:latin typeface="Mona Sans VF"/>
                        </a:rPr>
                        <a:t>Optimal</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819405416"/>
                  </a:ext>
                </a:extLst>
              </a:tr>
              <a:tr h="0">
                <a:tc>
                  <a:txBody>
                    <a:bodyPr/>
                    <a:lstStyle/>
                    <a:p>
                      <a:pPr algn="l">
                        <a:spcAft>
                          <a:spcPts val="1200"/>
                        </a:spcAft>
                        <a:buNone/>
                      </a:pPr>
                      <a:r>
                        <a:rPr lang="de-DE" sz="1200" b="0" i="0">
                          <a:solidFill>
                            <a:srgbClr val="1F2328"/>
                          </a:solidFill>
                          <a:effectLst/>
                          <a:latin typeface="Mona Sans VF"/>
                        </a:rPr>
                        <a:t>3</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a:solidFill>
                            <a:srgbClr val="1F2328"/>
                          </a:solidFill>
                          <a:effectLst/>
                          <a:latin typeface="Mona Sans VF"/>
                        </a:rPr>
                        <a:t>Chao-Tonnummern</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ma55, ma35, ma214, ma51</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 Präzise</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 Ungewöhnlich</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3902698160"/>
                  </a:ext>
                </a:extLst>
              </a:tr>
              <a:tr h="0">
                <a:tc>
                  <a:txBody>
                    <a:bodyPr/>
                    <a:lstStyle/>
                    <a:p>
                      <a:pPr algn="l">
                        <a:spcAft>
                          <a:spcPts val="1200"/>
                        </a:spcAft>
                        <a:buNone/>
                      </a:pPr>
                      <a:r>
                        <a:rPr lang="de-DE" sz="1200" b="0" i="0">
                          <a:solidFill>
                            <a:srgbClr val="1F2328"/>
                          </a:solidFill>
                          <a:effectLst/>
                          <a:latin typeface="Mona Sans VF"/>
                        </a:rPr>
                        <a:t>4</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1" i="0">
                          <a:solidFill>
                            <a:srgbClr val="1F2328"/>
                          </a:solidFill>
                          <a:effectLst/>
                          <a:latin typeface="Mona Sans VF"/>
                        </a:rPr>
                        <a:t>IPA Tone Letters</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ma˥, ma˧˥, ma˨˩˦, ma˥˩</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 Exotisch</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 Seltene Unicode-Zeichen</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2754369787"/>
                  </a:ext>
                </a:extLst>
              </a:tr>
              <a:tr h="0">
                <a:tc>
                  <a:txBody>
                    <a:bodyPr/>
                    <a:lstStyle/>
                    <a:p>
                      <a:pPr algn="l">
                        <a:spcAft>
                          <a:spcPts val="1200"/>
                        </a:spcAft>
                        <a:buNone/>
                      </a:pPr>
                      <a:r>
                        <a:rPr lang="de-DE" sz="1200" b="0" i="0">
                          <a:solidFill>
                            <a:srgbClr val="1F2328"/>
                          </a:solidFill>
                          <a:effectLst/>
                          <a:latin typeface="Mona Sans VF"/>
                        </a:rPr>
                        <a:t>5</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a:solidFill>
                            <a:srgbClr val="1F2328"/>
                          </a:solidFill>
                          <a:effectLst/>
                          <a:latin typeface="Mona Sans VF"/>
                        </a:rPr>
                        <a:t>IPA-Diakritika</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[mā], [mǎ] etc.</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 IPA-Standard</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 Selten in Trainingsdaten</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2780108379"/>
                  </a:ext>
                </a:extLst>
              </a:tr>
              <a:tr h="0">
                <a:tc>
                  <a:txBody>
                    <a:bodyPr/>
                    <a:lstStyle/>
                    <a:p>
                      <a:pPr algn="l">
                        <a:spcAft>
                          <a:spcPts val="1200"/>
                        </a:spcAft>
                        <a:buNone/>
                      </a:pPr>
                      <a:r>
                        <a:rPr lang="de-DE" sz="1200" b="0" i="0">
                          <a:solidFill>
                            <a:srgbClr val="1F2328"/>
                          </a:solidFill>
                          <a:effectLst/>
                          <a:latin typeface="Mona Sans VF"/>
                        </a:rPr>
                        <a:t>6</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1" i="0">
                          <a:solidFill>
                            <a:srgbClr val="1F2328"/>
                          </a:solidFill>
                          <a:effectLst/>
                          <a:latin typeface="Mona Sans VF"/>
                        </a:rPr>
                        <a:t>Bopomofo-Tonmarken</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ㄇㄚ (T1=keine), ㄇㄚˊ, ㄇㄚˇ, ㄇㄚˋ</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 Nur Zhuyin</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 Nur Taiwan-Texte</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3054476585"/>
                  </a:ext>
                </a:extLst>
              </a:tr>
              <a:tr h="0">
                <a:tc>
                  <a:txBody>
                    <a:bodyPr/>
                    <a:lstStyle/>
                    <a:p>
                      <a:pPr algn="l">
                        <a:spcAft>
                          <a:spcPts val="1200"/>
                        </a:spcAft>
                        <a:buNone/>
                      </a:pPr>
                      <a:r>
                        <a:rPr lang="de-DE" sz="1200" b="0" i="0">
                          <a:solidFill>
                            <a:srgbClr val="1F2328"/>
                          </a:solidFill>
                          <a:effectLst/>
                          <a:latin typeface="Mona Sans VF"/>
                        </a:rPr>
                        <a:t>7</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a:solidFill>
                            <a:srgbClr val="1F2328"/>
                          </a:solidFill>
                          <a:effectLst/>
                          <a:latin typeface="Mona Sans VF"/>
                        </a:rPr>
                        <a:t>GR-Tonspelling</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ma, mar, maa, mah</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 ASCII-only</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dirty="0">
                          <a:solidFill>
                            <a:srgbClr val="1F2328"/>
                          </a:solidFill>
                          <a:effectLst/>
                          <a:latin typeface="Mona Sans VF"/>
                        </a:rPr>
                        <a:t>❌ Veraltet, mehrdeutig</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2719307880"/>
                  </a:ext>
                </a:extLst>
              </a:tr>
            </a:tbl>
          </a:graphicData>
        </a:graphic>
      </p:graphicFrame>
      <p:pic>
        <p:nvPicPr>
          <p:cNvPr id="6" name="Picture 5">
            <a:extLst>
              <a:ext uri="{FF2B5EF4-FFF2-40B4-BE49-F238E27FC236}">
                <a16:creationId xmlns:a16="http://schemas.microsoft.com/office/drawing/2014/main" id="{7EA5A36A-4A5E-B703-E108-DF103DD076F7}"/>
              </a:ext>
            </a:extLst>
          </p:cNvPr>
          <p:cNvPicPr>
            <a:picLocks noChangeAspect="1"/>
          </p:cNvPicPr>
          <p:nvPr/>
        </p:nvPicPr>
        <p:blipFill>
          <a:blip r:embed="rId3"/>
          <a:stretch>
            <a:fillRect/>
          </a:stretch>
        </p:blipFill>
        <p:spPr>
          <a:xfrm>
            <a:off x="4011117" y="5526110"/>
            <a:ext cx="3467400" cy="1066892"/>
          </a:xfrm>
          <a:prstGeom prst="rect">
            <a:avLst/>
          </a:prstGeom>
        </p:spPr>
      </p:pic>
    </p:spTree>
    <p:extLst>
      <p:ext uri="{BB962C8B-B14F-4D97-AF65-F5344CB8AC3E}">
        <p14:creationId xmlns:p14="http://schemas.microsoft.com/office/powerpoint/2010/main" val="185786416"/>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FADE44-0F87-A07D-A8C0-9798137118B0}"/>
              </a:ext>
            </a:extLst>
          </p:cNvPr>
          <p:cNvSpPr>
            <a:spLocks noGrp="1"/>
          </p:cNvSpPr>
          <p:nvPr>
            <p:ph type="title"/>
          </p:nvPr>
        </p:nvSpPr>
        <p:spPr/>
        <p:txBody>
          <a:bodyPr/>
          <a:lstStyle/>
          <a:p>
            <a:r>
              <a:rPr lang="de-DE" dirty="0"/>
              <a:t>Mandarin </a:t>
            </a:r>
            <a:r>
              <a:rPr lang="de-DE" dirty="0" err="1"/>
              <a:t>Syllable</a:t>
            </a:r>
            <a:r>
              <a:rPr lang="de-DE" dirty="0"/>
              <a:t> </a:t>
            </a:r>
            <a:r>
              <a:rPr lang="de-DE" dirty="0" err="1"/>
              <a:t>Structure</a:t>
            </a:r>
            <a:r>
              <a:rPr lang="de-DE" dirty="0"/>
              <a:t>: </a:t>
            </a:r>
            <a:r>
              <a:rPr lang="de-DE" dirty="0" err="1"/>
              <a:t>What</a:t>
            </a:r>
            <a:r>
              <a:rPr lang="de-DE" dirty="0"/>
              <a:t> </a:t>
            </a:r>
            <a:r>
              <a:rPr lang="de-DE" dirty="0" err="1"/>
              <a:t>We</a:t>
            </a:r>
            <a:r>
              <a:rPr lang="de-DE" dirty="0"/>
              <a:t> </a:t>
            </a:r>
            <a:r>
              <a:rPr lang="de-DE" dirty="0" err="1"/>
              <a:t>Evaluate</a:t>
            </a:r>
            <a:endParaRPr lang="de-DE" dirty="0"/>
          </a:p>
        </p:txBody>
      </p:sp>
      <p:pic>
        <p:nvPicPr>
          <p:cNvPr id="5" name="Content Placeholder 4">
            <a:extLst>
              <a:ext uri="{FF2B5EF4-FFF2-40B4-BE49-F238E27FC236}">
                <a16:creationId xmlns:a16="http://schemas.microsoft.com/office/drawing/2014/main" id="{B370BE7E-95D4-998C-6D1B-023ADD468E1E}"/>
              </a:ext>
            </a:extLst>
          </p:cNvPr>
          <p:cNvPicPr>
            <a:picLocks noGrp="1" noChangeAspect="1"/>
          </p:cNvPicPr>
          <p:nvPr>
            <p:ph idx="1"/>
          </p:nvPr>
        </p:nvPicPr>
        <p:blipFill>
          <a:blip r:embed="rId3"/>
          <a:stretch>
            <a:fillRect/>
          </a:stretch>
        </p:blipFill>
        <p:spPr>
          <a:xfrm>
            <a:off x="4198455" y="1920853"/>
            <a:ext cx="3795089" cy="4160881"/>
          </a:xfrm>
          <a:prstGeom prst="rect">
            <a:avLst/>
          </a:prstGeom>
        </p:spPr>
      </p:pic>
    </p:spTree>
    <p:extLst>
      <p:ext uri="{BB962C8B-B14F-4D97-AF65-F5344CB8AC3E}">
        <p14:creationId xmlns:p14="http://schemas.microsoft.com/office/powerpoint/2010/main" val="165326663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915ED-3726-F303-9969-79179E7A3D8E}"/>
              </a:ext>
            </a:extLst>
          </p:cNvPr>
          <p:cNvSpPr>
            <a:spLocks noGrp="1"/>
          </p:cNvSpPr>
          <p:nvPr>
            <p:ph type="title"/>
          </p:nvPr>
        </p:nvSpPr>
        <p:spPr/>
        <p:txBody>
          <a:bodyPr/>
          <a:lstStyle/>
          <a:p>
            <a:r>
              <a:rPr lang="de-DE" dirty="0" err="1"/>
              <a:t>Our</a:t>
            </a:r>
            <a:r>
              <a:rPr lang="de-DE" dirty="0"/>
              <a:t> Choice: Pinyin + Tone Numbers — Why?</a:t>
            </a:r>
          </a:p>
        </p:txBody>
      </p:sp>
      <p:graphicFrame>
        <p:nvGraphicFramePr>
          <p:cNvPr id="4" name="Content Placeholder 3">
            <a:extLst>
              <a:ext uri="{FF2B5EF4-FFF2-40B4-BE49-F238E27FC236}">
                <a16:creationId xmlns:a16="http://schemas.microsoft.com/office/drawing/2014/main" id="{8F984AD1-B294-9579-3E4A-952A2BAC5862}"/>
              </a:ext>
            </a:extLst>
          </p:cNvPr>
          <p:cNvGraphicFramePr>
            <a:graphicFrameLocks noGrp="1"/>
          </p:cNvGraphicFramePr>
          <p:nvPr>
            <p:ph idx="1"/>
          </p:nvPr>
        </p:nvGraphicFramePr>
        <p:xfrm>
          <a:off x="838200" y="2766854"/>
          <a:ext cx="10515600" cy="2468880"/>
        </p:xfrm>
        <a:graphic>
          <a:graphicData uri="http://schemas.openxmlformats.org/drawingml/2006/table">
            <a:tbl>
              <a:tblPr/>
              <a:tblGrid>
                <a:gridCol w="2628900">
                  <a:extLst>
                    <a:ext uri="{9D8B030D-6E8A-4147-A177-3AD203B41FA5}">
                      <a16:colId xmlns:a16="http://schemas.microsoft.com/office/drawing/2014/main" val="1867766561"/>
                    </a:ext>
                  </a:extLst>
                </a:gridCol>
                <a:gridCol w="2628900">
                  <a:extLst>
                    <a:ext uri="{9D8B030D-6E8A-4147-A177-3AD203B41FA5}">
                      <a16:colId xmlns:a16="http://schemas.microsoft.com/office/drawing/2014/main" val="288237010"/>
                    </a:ext>
                  </a:extLst>
                </a:gridCol>
                <a:gridCol w="2628900">
                  <a:extLst>
                    <a:ext uri="{9D8B030D-6E8A-4147-A177-3AD203B41FA5}">
                      <a16:colId xmlns:a16="http://schemas.microsoft.com/office/drawing/2014/main" val="1848452075"/>
                    </a:ext>
                  </a:extLst>
                </a:gridCol>
                <a:gridCol w="2628900">
                  <a:extLst>
                    <a:ext uri="{9D8B030D-6E8A-4147-A177-3AD203B41FA5}">
                      <a16:colId xmlns:a16="http://schemas.microsoft.com/office/drawing/2014/main" val="2764693713"/>
                    </a:ext>
                  </a:extLst>
                </a:gridCol>
              </a:tblGrid>
              <a:tr h="0">
                <a:tc>
                  <a:txBody>
                    <a:bodyPr/>
                    <a:lstStyle/>
                    <a:p>
                      <a:pPr algn="l">
                        <a:spcAft>
                          <a:spcPts val="1200"/>
                        </a:spcAft>
                        <a:buNone/>
                      </a:pPr>
                      <a:r>
                        <a:rPr lang="de-DE" sz="1200" b="1" i="0">
                          <a:solidFill>
                            <a:srgbClr val="1F2328"/>
                          </a:solidFill>
                          <a:effectLst/>
                          <a:latin typeface="Mona Sans VF"/>
                        </a:rPr>
                        <a:t>Kriterium</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a:solidFill>
                            <a:srgbClr val="1F2328"/>
                          </a:solidFill>
                          <a:effectLst/>
                          <a:latin typeface="Mona Sans VF"/>
                        </a:rPr>
                        <a:t>Pinyin+Ton#</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a:solidFill>
                            <a:srgbClr val="1F2328"/>
                          </a:solidFill>
                          <a:effectLst/>
                          <a:latin typeface="Mona Sans VF"/>
                        </a:rPr>
                        <a:t>IPA+Chao</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a:solidFill>
                            <a:srgbClr val="1F2328"/>
                          </a:solidFill>
                          <a:effectLst/>
                          <a:latin typeface="Mona Sans VF"/>
                        </a:rPr>
                        <a:t>Pinyin+Diakritika</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177528558"/>
                  </a:ext>
                </a:extLst>
              </a:tr>
              <a:tr h="0">
                <a:tc>
                  <a:txBody>
                    <a:bodyPr/>
                    <a:lstStyle/>
                    <a:p>
                      <a:pPr algn="l">
                        <a:spcAft>
                          <a:spcPts val="1200"/>
                        </a:spcAft>
                        <a:buNone/>
                      </a:pPr>
                      <a:r>
                        <a:rPr lang="de-DE" sz="1200" b="1" i="0">
                          <a:solidFill>
                            <a:srgbClr val="1F2328"/>
                          </a:solidFill>
                          <a:effectLst/>
                          <a:latin typeface="Mona Sans VF"/>
                        </a:rPr>
                        <a:t>LLM-Training</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 Massiv (Wikipedia, Lehrbücher, Online-Kurse)</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 Selten (Linguistik-Fachtexte)</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 Häufig</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401812392"/>
                  </a:ext>
                </a:extLst>
              </a:tr>
              <a:tr h="0">
                <a:tc>
                  <a:txBody>
                    <a:bodyPr/>
                    <a:lstStyle/>
                    <a:p>
                      <a:pPr algn="l">
                        <a:spcAft>
                          <a:spcPts val="1200"/>
                        </a:spcAft>
                        <a:buNone/>
                      </a:pPr>
                      <a:r>
                        <a:rPr lang="de-DE" sz="1200" b="1" i="0">
                          <a:solidFill>
                            <a:srgbClr val="1F2328"/>
                          </a:solidFill>
                          <a:effectLst/>
                          <a:latin typeface="Mona Sans VF"/>
                        </a:rPr>
                        <a:t>Tokenisierung</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 "ma1" = klares Token</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 "[ma˥]" = Subword-Fragmentierung</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 "mā" = Unicode-abhängig</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2336826099"/>
                  </a:ext>
                </a:extLst>
              </a:tr>
              <a:tr h="0">
                <a:tc>
                  <a:txBody>
                    <a:bodyPr/>
                    <a:lstStyle/>
                    <a:p>
                      <a:pPr algn="l">
                        <a:spcAft>
                          <a:spcPts val="1200"/>
                        </a:spcAft>
                        <a:buNone/>
                      </a:pPr>
                      <a:r>
                        <a:rPr lang="de-DE" sz="1200" b="1" i="0">
                          <a:solidFill>
                            <a:srgbClr val="1F2328"/>
                          </a:solidFill>
                          <a:effectLst/>
                          <a:latin typeface="Mona Sans VF"/>
                        </a:rPr>
                        <a:t>Maschinen-Parsing</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 Regex: </a:t>
                      </a:r>
                      <a:r>
                        <a:rPr lang="de-DE" sz="1020" b="0" i="0">
                          <a:solidFill>
                            <a:srgbClr val="1F2328"/>
                          </a:solidFill>
                          <a:effectLst/>
                          <a:latin typeface="Monaspace Neon"/>
                        </a:rPr>
                        <a:t>([a-z]+)(\d)</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 IPA-Parser nötig</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 Unicode-Normalisierung nötig</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211037038"/>
                  </a:ext>
                </a:extLst>
              </a:tr>
              <a:tr h="0">
                <a:tc>
                  <a:txBody>
                    <a:bodyPr/>
                    <a:lstStyle/>
                    <a:p>
                      <a:pPr algn="l">
                        <a:spcAft>
                          <a:spcPts val="1200"/>
                        </a:spcAft>
                        <a:buNone/>
                      </a:pPr>
                      <a:r>
                        <a:rPr lang="de-DE" sz="1200" b="1" i="0">
                          <a:solidFill>
                            <a:srgbClr val="1F2328"/>
                          </a:solidFill>
                          <a:effectLst/>
                          <a:latin typeface="Mona Sans VF"/>
                        </a:rPr>
                        <a:t>Ton-Evaluation</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 Ton als eigene Ziffer → TER trivial</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 Chao-Nummern → aber LLM-Output unzuverlässig</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 Diakritika-Extraktion nötig</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3745416863"/>
                  </a:ext>
                </a:extLst>
              </a:tr>
              <a:tr h="0">
                <a:tc>
                  <a:txBody>
                    <a:bodyPr/>
                    <a:lstStyle/>
                    <a:p>
                      <a:pPr algn="l">
                        <a:spcAft>
                          <a:spcPts val="1200"/>
                        </a:spcAft>
                        <a:buNone/>
                      </a:pPr>
                      <a:r>
                        <a:rPr lang="de-DE" sz="1200" b="1" i="0">
                          <a:solidFill>
                            <a:srgbClr val="1F2328"/>
                          </a:solidFill>
                          <a:effectLst/>
                          <a:latin typeface="Mona Sans VF"/>
                        </a:rPr>
                        <a:t>Literatur-Standard</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 5 von 7 Pinyin-Papers</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 2 Papers (ZIPA, Chirkova)</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 2 Papers (PY-GEC, PERL)</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458252776"/>
                  </a:ext>
                </a:extLst>
              </a:tr>
              <a:tr h="0">
                <a:tc>
                  <a:txBody>
                    <a:bodyPr/>
                    <a:lstStyle/>
                    <a:p>
                      <a:pPr algn="l">
                        <a:spcAft>
                          <a:spcPts val="1200"/>
                        </a:spcAft>
                        <a:buNone/>
                      </a:pPr>
                      <a:r>
                        <a:rPr lang="de-DE" sz="1200" b="1" i="0">
                          <a:solidFill>
                            <a:srgbClr val="1F2328"/>
                          </a:solidFill>
                          <a:effectLst/>
                          <a:latin typeface="Mona Sans VF"/>
                        </a:rPr>
                        <a:t>Nutzer-Verständlichkeit</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 Jeder Mandarin-Lernende kennt es</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 Nur Linguisten</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dirty="0">
                          <a:solidFill>
                            <a:srgbClr val="1F2328"/>
                          </a:solidFill>
                          <a:effectLst/>
                          <a:latin typeface="Mona Sans VF"/>
                        </a:rPr>
                        <a:t>✅ Standard</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1197485659"/>
                  </a:ext>
                </a:extLst>
              </a:tr>
            </a:tbl>
          </a:graphicData>
        </a:graphic>
      </p:graphicFrame>
      <p:sp>
        <p:nvSpPr>
          <p:cNvPr id="5" name="TextBox 4">
            <a:extLst>
              <a:ext uri="{FF2B5EF4-FFF2-40B4-BE49-F238E27FC236}">
                <a16:creationId xmlns:a16="http://schemas.microsoft.com/office/drawing/2014/main" id="{FB355992-2882-4DEC-0E4C-22A4BFBFBFCC}"/>
              </a:ext>
            </a:extLst>
          </p:cNvPr>
          <p:cNvSpPr txBox="1"/>
          <p:nvPr/>
        </p:nvSpPr>
        <p:spPr>
          <a:xfrm>
            <a:off x="1729409" y="5605670"/>
            <a:ext cx="4647747" cy="369332"/>
          </a:xfrm>
          <a:prstGeom prst="rect">
            <a:avLst/>
          </a:prstGeom>
          <a:noFill/>
        </p:spPr>
        <p:txBody>
          <a:bodyPr wrap="none" rtlCol="0">
            <a:spAutoFit/>
          </a:bodyPr>
          <a:lstStyle/>
          <a:p>
            <a:r>
              <a:rPr lang="de-DE" b="1" dirty="0"/>
              <a:t>Unsere Entscheidung:</a:t>
            </a:r>
            <a:r>
              <a:rPr lang="de-DE" dirty="0"/>
              <a:t> ma1, ma2, ma3, ma4</a:t>
            </a:r>
          </a:p>
        </p:txBody>
      </p:sp>
    </p:spTree>
    <p:extLst>
      <p:ext uri="{BB962C8B-B14F-4D97-AF65-F5344CB8AC3E}">
        <p14:creationId xmlns:p14="http://schemas.microsoft.com/office/powerpoint/2010/main" val="1938686333"/>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76BEA3-86E0-F6B2-1450-8D41CAB1A595}"/>
              </a:ext>
            </a:extLst>
          </p:cNvPr>
          <p:cNvSpPr>
            <a:spLocks noGrp="1"/>
          </p:cNvSpPr>
          <p:nvPr>
            <p:ph type="title"/>
          </p:nvPr>
        </p:nvSpPr>
        <p:spPr/>
        <p:txBody>
          <a:bodyPr/>
          <a:lstStyle/>
          <a:p>
            <a:r>
              <a:rPr lang="de-DE" dirty="0"/>
              <a:t>Chirkova (2025): The Only </a:t>
            </a:r>
            <a:r>
              <a:rPr lang="de-DE" dirty="0" err="1"/>
              <a:t>Systematic</a:t>
            </a:r>
            <a:r>
              <a:rPr lang="de-DE" dirty="0"/>
              <a:t> </a:t>
            </a:r>
            <a:r>
              <a:rPr lang="de-DE" dirty="0" err="1"/>
              <a:t>Comparison</a:t>
            </a:r>
            <a:endParaRPr lang="de-DE" dirty="0"/>
          </a:p>
        </p:txBody>
      </p:sp>
      <p:graphicFrame>
        <p:nvGraphicFramePr>
          <p:cNvPr id="4" name="Content Placeholder 3">
            <a:extLst>
              <a:ext uri="{FF2B5EF4-FFF2-40B4-BE49-F238E27FC236}">
                <a16:creationId xmlns:a16="http://schemas.microsoft.com/office/drawing/2014/main" id="{287C4159-A6C1-511E-72CB-9FA1A5CC379E}"/>
              </a:ext>
            </a:extLst>
          </p:cNvPr>
          <p:cNvGraphicFramePr>
            <a:graphicFrameLocks noGrp="1"/>
          </p:cNvGraphicFramePr>
          <p:nvPr>
            <p:ph idx="1"/>
            <p:extLst>
              <p:ext uri="{D42A27DB-BD31-4B8C-83A1-F6EECF244321}">
                <p14:modId xmlns:p14="http://schemas.microsoft.com/office/powerpoint/2010/main" val="3738254909"/>
              </p:ext>
            </p:extLst>
          </p:nvPr>
        </p:nvGraphicFramePr>
        <p:xfrm>
          <a:off x="646043" y="2206950"/>
          <a:ext cx="10515600" cy="1097280"/>
        </p:xfrm>
        <a:graphic>
          <a:graphicData uri="http://schemas.openxmlformats.org/drawingml/2006/table">
            <a:tbl>
              <a:tblPr/>
              <a:tblGrid>
                <a:gridCol w="2628900">
                  <a:extLst>
                    <a:ext uri="{9D8B030D-6E8A-4147-A177-3AD203B41FA5}">
                      <a16:colId xmlns:a16="http://schemas.microsoft.com/office/drawing/2014/main" val="79412209"/>
                    </a:ext>
                  </a:extLst>
                </a:gridCol>
                <a:gridCol w="2628900">
                  <a:extLst>
                    <a:ext uri="{9D8B030D-6E8A-4147-A177-3AD203B41FA5}">
                      <a16:colId xmlns:a16="http://schemas.microsoft.com/office/drawing/2014/main" val="1150587407"/>
                    </a:ext>
                  </a:extLst>
                </a:gridCol>
                <a:gridCol w="2628900">
                  <a:extLst>
                    <a:ext uri="{9D8B030D-6E8A-4147-A177-3AD203B41FA5}">
                      <a16:colId xmlns:a16="http://schemas.microsoft.com/office/drawing/2014/main" val="1537807355"/>
                    </a:ext>
                  </a:extLst>
                </a:gridCol>
                <a:gridCol w="2628900">
                  <a:extLst>
                    <a:ext uri="{9D8B030D-6E8A-4147-A177-3AD203B41FA5}">
                      <a16:colId xmlns:a16="http://schemas.microsoft.com/office/drawing/2014/main" val="3844876087"/>
                    </a:ext>
                  </a:extLst>
                </a:gridCol>
              </a:tblGrid>
              <a:tr h="0">
                <a:tc>
                  <a:txBody>
                    <a:bodyPr/>
                    <a:lstStyle/>
                    <a:p>
                      <a:pPr algn="l">
                        <a:spcAft>
                          <a:spcPts val="1200"/>
                        </a:spcAft>
                        <a:buNone/>
                      </a:pPr>
                      <a:r>
                        <a:rPr lang="de-DE" sz="1200" b="1" i="0" dirty="0">
                          <a:solidFill>
                            <a:srgbClr val="1F2328"/>
                          </a:solidFill>
                          <a:effectLst/>
                          <a:latin typeface="Mona Sans VF"/>
                        </a:rPr>
                        <a:t>System</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a:solidFill>
                            <a:srgbClr val="1F2328"/>
                          </a:solidFill>
                          <a:effectLst/>
                          <a:latin typeface="Mona Sans VF"/>
                        </a:rPr>
                        <a:t>Char CER</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a:solidFill>
                            <a:srgbClr val="1F2328"/>
                          </a:solidFill>
                          <a:effectLst/>
                          <a:latin typeface="Mona Sans VF"/>
                        </a:rPr>
                        <a:t>Tonal CER</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a:solidFill>
                            <a:srgbClr val="1F2328"/>
                          </a:solidFill>
                          <a:effectLst/>
                          <a:latin typeface="Mona Sans VF"/>
                        </a:rPr>
                        <a:t>Tonal WER</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2579353913"/>
                  </a:ext>
                </a:extLst>
              </a:tr>
              <a:tr h="0">
                <a:tc>
                  <a:txBody>
                    <a:bodyPr/>
                    <a:lstStyle/>
                    <a:p>
                      <a:pPr algn="l">
                        <a:spcAft>
                          <a:spcPts val="1200"/>
                        </a:spcAft>
                        <a:buNone/>
                      </a:pPr>
                      <a:r>
                        <a:rPr lang="de-DE" sz="1200" b="1" i="0">
                          <a:solidFill>
                            <a:srgbClr val="1F2328"/>
                          </a:solidFill>
                          <a:effectLst/>
                          <a:latin typeface="Mona Sans VF"/>
                        </a:rPr>
                        <a:t>IPA + Chao</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a:solidFill>
                            <a:srgbClr val="1F2328"/>
                          </a:solidFill>
                          <a:effectLst/>
                          <a:latin typeface="Mona Sans VF"/>
                        </a:rPr>
                        <a:t>Niedrigste</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a:solidFill>
                            <a:srgbClr val="1F2328"/>
                          </a:solidFill>
                          <a:effectLst/>
                          <a:latin typeface="Mona Sans VF"/>
                        </a:rPr>
                        <a:t>20</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a:solidFill>
                            <a:srgbClr val="1F2328"/>
                          </a:solidFill>
                          <a:effectLst/>
                          <a:latin typeface="Mona Sans VF"/>
                        </a:rPr>
                        <a:t>Niedrigste</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1280270134"/>
                  </a:ext>
                </a:extLst>
              </a:tr>
              <a:tr h="0">
                <a:tc>
                  <a:txBody>
                    <a:bodyPr/>
                    <a:lstStyle/>
                    <a:p>
                      <a:pPr algn="l">
                        <a:spcAft>
                          <a:spcPts val="1200"/>
                        </a:spcAft>
                        <a:buNone/>
                      </a:pPr>
                      <a:r>
                        <a:rPr lang="de-DE" sz="1200" b="1" i="0">
                          <a:solidFill>
                            <a:srgbClr val="1F2328"/>
                          </a:solidFill>
                          <a:effectLst/>
                          <a:latin typeface="Mona Sans VF"/>
                        </a:rPr>
                        <a:t>Pinyin-style</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+2,7%</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28</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Höher</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1339018251"/>
                  </a:ext>
                </a:extLst>
              </a:tr>
              <a:tr h="0">
                <a:tc>
                  <a:txBody>
                    <a:bodyPr/>
                    <a:lstStyle/>
                    <a:p>
                      <a:pPr algn="l">
                        <a:spcAft>
                          <a:spcPts val="1200"/>
                        </a:spcAft>
                        <a:buNone/>
                      </a:pPr>
                      <a:r>
                        <a:rPr lang="de-DE" sz="1200" b="1" i="0">
                          <a:solidFill>
                            <a:srgbClr val="1F2328"/>
                          </a:solidFill>
                          <a:effectLst/>
                          <a:latin typeface="Mona Sans VF"/>
                        </a:rPr>
                        <a:t>Simple (ohne Ton)</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+5,0%</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31</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dirty="0">
                          <a:solidFill>
                            <a:srgbClr val="1F2328"/>
                          </a:solidFill>
                          <a:effectLst/>
                          <a:latin typeface="Mona Sans VF"/>
                        </a:rPr>
                        <a:t>Höchste</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831489016"/>
                  </a:ext>
                </a:extLst>
              </a:tr>
            </a:tbl>
          </a:graphicData>
        </a:graphic>
      </p:graphicFrame>
      <p:sp>
        <p:nvSpPr>
          <p:cNvPr id="5" name="TextBox 4">
            <a:extLst>
              <a:ext uri="{FF2B5EF4-FFF2-40B4-BE49-F238E27FC236}">
                <a16:creationId xmlns:a16="http://schemas.microsoft.com/office/drawing/2014/main" id="{4D3C89F4-D71D-8976-FEE5-A6BA685F6B71}"/>
              </a:ext>
            </a:extLst>
          </p:cNvPr>
          <p:cNvSpPr txBox="1"/>
          <p:nvPr/>
        </p:nvSpPr>
        <p:spPr>
          <a:xfrm>
            <a:off x="838200" y="3803374"/>
            <a:ext cx="11129682" cy="2308324"/>
          </a:xfrm>
          <a:prstGeom prst="rect">
            <a:avLst/>
          </a:prstGeom>
          <a:noFill/>
        </p:spPr>
        <p:txBody>
          <a:bodyPr wrap="square" rtlCol="0">
            <a:spAutoFit/>
          </a:bodyPr>
          <a:lstStyle/>
          <a:p>
            <a:r>
              <a:rPr lang="de-DE" dirty="0"/>
              <a:t>"IPA </a:t>
            </a:r>
            <a:r>
              <a:rPr lang="de-DE" dirty="0" err="1"/>
              <a:t>is</a:t>
            </a:r>
            <a:r>
              <a:rPr lang="de-DE" dirty="0"/>
              <a:t> </a:t>
            </a:r>
            <a:r>
              <a:rPr lang="de-DE" dirty="0" err="1"/>
              <a:t>again</a:t>
            </a:r>
            <a:r>
              <a:rPr lang="de-DE" dirty="0"/>
              <a:t> </a:t>
            </a:r>
            <a:r>
              <a:rPr lang="de-DE" dirty="0" err="1"/>
              <a:t>the</a:t>
            </a:r>
            <a:r>
              <a:rPr lang="de-DE" dirty="0"/>
              <a:t> </a:t>
            </a:r>
            <a:r>
              <a:rPr lang="de-DE" dirty="0" err="1"/>
              <a:t>transcription</a:t>
            </a:r>
            <a:r>
              <a:rPr lang="de-DE" dirty="0"/>
              <a:t> </a:t>
            </a:r>
            <a:r>
              <a:rPr lang="de-DE" dirty="0" err="1"/>
              <a:t>with</a:t>
            </a:r>
            <a:r>
              <a:rPr lang="de-DE" dirty="0"/>
              <a:t> </a:t>
            </a:r>
            <a:r>
              <a:rPr lang="de-DE" dirty="0" err="1"/>
              <a:t>the</a:t>
            </a:r>
            <a:r>
              <a:rPr lang="de-DE" dirty="0"/>
              <a:t> least </a:t>
            </a:r>
            <a:r>
              <a:rPr lang="de-DE" dirty="0" err="1"/>
              <a:t>error</a:t>
            </a:r>
            <a:r>
              <a:rPr lang="de-DE" dirty="0"/>
              <a:t>. </a:t>
            </a:r>
            <a:r>
              <a:rPr lang="de-DE" dirty="0" err="1"/>
              <a:t>For</a:t>
            </a:r>
            <a:r>
              <a:rPr lang="de-DE" dirty="0"/>
              <a:t> tonal CER, IPA </a:t>
            </a:r>
            <a:r>
              <a:rPr lang="de-DE" dirty="0" err="1"/>
              <a:t>has</a:t>
            </a:r>
            <a:r>
              <a:rPr lang="de-DE" dirty="0"/>
              <a:t> tonal CER=20, </a:t>
            </a:r>
            <a:r>
              <a:rPr lang="de-DE" dirty="0" err="1"/>
              <a:t>compared</a:t>
            </a:r>
            <a:r>
              <a:rPr lang="de-DE" dirty="0"/>
              <a:t> </a:t>
            </a:r>
            <a:r>
              <a:rPr lang="de-DE" dirty="0" err="1"/>
              <a:t>to</a:t>
            </a:r>
            <a:r>
              <a:rPr lang="de-DE" dirty="0"/>
              <a:t> Pinyin tonal CER=28 and Simple tonal CER=31 (χ²(2)=28, p&lt;0.0001)." (</a:t>
            </a:r>
            <a:r>
              <a:rPr lang="de-DE" dirty="0" err="1"/>
              <a:t>Section</a:t>
            </a:r>
            <a:r>
              <a:rPr lang="de-DE" dirty="0"/>
              <a:t> 3)</a:t>
            </a:r>
          </a:p>
          <a:p>
            <a:endParaRPr lang="de-DE" dirty="0"/>
          </a:p>
          <a:p>
            <a:r>
              <a:rPr lang="de-DE" b="1" dirty="0"/>
              <a:t>Aber:</a:t>
            </a:r>
            <a:r>
              <a:rPr lang="de-DE" dirty="0"/>
              <a:t> Chirkova nutzte Wav2Vec2/Whisper (traditionelle ASR), nicht LLMs!</a:t>
            </a:r>
          </a:p>
          <a:p>
            <a:r>
              <a:rPr lang="de-DE" b="1" dirty="0"/>
              <a:t>Offene Frage für unsere Arbeit:</a:t>
            </a:r>
            <a:endParaRPr lang="de-DE" dirty="0"/>
          </a:p>
          <a:p>
            <a:pPr marL="285750" indent="-285750">
              <a:buFont typeface="Arial" panose="020B0604020202020204" pitchFamily="34" charset="0"/>
              <a:buChar char="•"/>
            </a:pPr>
            <a:r>
              <a:rPr lang="de-DE" i="1" dirty="0"/>
              <a:t>Gilt dieses Ergebnis auch bei multimodalen LLMs?</a:t>
            </a:r>
            <a:endParaRPr lang="de-DE" dirty="0"/>
          </a:p>
          <a:p>
            <a:pPr marL="285750" indent="-285750">
              <a:buFont typeface="Arial" panose="020B0604020202020204" pitchFamily="34" charset="0"/>
              <a:buChar char="•"/>
            </a:pPr>
            <a:r>
              <a:rPr lang="de-DE" i="1" dirty="0"/>
              <a:t>Oder kehrt sich das Ergebnis um, weil LLMs mehr Pinyin als IPA in den Trainingsdaten haben?</a:t>
            </a:r>
            <a:endParaRPr lang="de-DE" dirty="0"/>
          </a:p>
          <a:p>
            <a:endParaRPr lang="de-DE" dirty="0"/>
          </a:p>
        </p:txBody>
      </p:sp>
    </p:spTree>
    <p:extLst>
      <p:ext uri="{BB962C8B-B14F-4D97-AF65-F5344CB8AC3E}">
        <p14:creationId xmlns:p14="http://schemas.microsoft.com/office/powerpoint/2010/main" val="17001745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94E1F-4CB2-7C4C-4833-4970E9B673FC}"/>
              </a:ext>
            </a:extLst>
          </p:cNvPr>
          <p:cNvSpPr>
            <a:spLocks noGrp="1"/>
          </p:cNvSpPr>
          <p:nvPr>
            <p:ph type="title"/>
          </p:nvPr>
        </p:nvSpPr>
        <p:spPr/>
        <p:txBody>
          <a:bodyPr/>
          <a:lstStyle/>
          <a:p>
            <a:r>
              <a:rPr lang="de-DE" dirty="0"/>
              <a:t>Pilot Experiment: </a:t>
            </a:r>
            <a:r>
              <a:rPr lang="de-DE" dirty="0" err="1"/>
              <a:t>Which</a:t>
            </a:r>
            <a:r>
              <a:rPr lang="de-DE" dirty="0"/>
              <a:t> </a:t>
            </a:r>
            <a:r>
              <a:rPr lang="de-DE" dirty="0" err="1"/>
              <a:t>Transcription</a:t>
            </a:r>
            <a:r>
              <a:rPr lang="de-DE" dirty="0"/>
              <a:t> Format Works Best </a:t>
            </a:r>
            <a:r>
              <a:rPr lang="de-DE" dirty="0" err="1"/>
              <a:t>with</a:t>
            </a:r>
            <a:r>
              <a:rPr lang="de-DE" dirty="0"/>
              <a:t> LLMs?</a:t>
            </a:r>
          </a:p>
        </p:txBody>
      </p:sp>
      <p:graphicFrame>
        <p:nvGraphicFramePr>
          <p:cNvPr id="4" name="Content Placeholder 3">
            <a:extLst>
              <a:ext uri="{FF2B5EF4-FFF2-40B4-BE49-F238E27FC236}">
                <a16:creationId xmlns:a16="http://schemas.microsoft.com/office/drawing/2014/main" id="{6D702FC5-AAD8-41A8-6466-465FBAF69650}"/>
              </a:ext>
            </a:extLst>
          </p:cNvPr>
          <p:cNvGraphicFramePr>
            <a:graphicFrameLocks noGrp="1"/>
          </p:cNvGraphicFramePr>
          <p:nvPr>
            <p:ph idx="1"/>
            <p:extLst>
              <p:ext uri="{D42A27DB-BD31-4B8C-83A1-F6EECF244321}">
                <p14:modId xmlns:p14="http://schemas.microsoft.com/office/powerpoint/2010/main" val="3954752257"/>
              </p:ext>
            </p:extLst>
          </p:nvPr>
        </p:nvGraphicFramePr>
        <p:xfrm>
          <a:off x="1782174" y="1681310"/>
          <a:ext cx="9571628" cy="2653272"/>
        </p:xfrm>
        <a:graphic>
          <a:graphicData uri="http://schemas.openxmlformats.org/drawingml/2006/table">
            <a:tbl>
              <a:tblPr/>
              <a:tblGrid>
                <a:gridCol w="636348">
                  <a:extLst>
                    <a:ext uri="{9D8B030D-6E8A-4147-A177-3AD203B41FA5}">
                      <a16:colId xmlns:a16="http://schemas.microsoft.com/office/drawing/2014/main" val="2392704303"/>
                    </a:ext>
                  </a:extLst>
                </a:gridCol>
                <a:gridCol w="2650435">
                  <a:extLst>
                    <a:ext uri="{9D8B030D-6E8A-4147-A177-3AD203B41FA5}">
                      <a16:colId xmlns:a16="http://schemas.microsoft.com/office/drawing/2014/main" val="20047548"/>
                    </a:ext>
                  </a:extLst>
                </a:gridCol>
                <a:gridCol w="1967947">
                  <a:extLst>
                    <a:ext uri="{9D8B030D-6E8A-4147-A177-3AD203B41FA5}">
                      <a16:colId xmlns:a16="http://schemas.microsoft.com/office/drawing/2014/main" val="2511347332"/>
                    </a:ext>
                  </a:extLst>
                </a:gridCol>
                <a:gridCol w="4316898">
                  <a:extLst>
                    <a:ext uri="{9D8B030D-6E8A-4147-A177-3AD203B41FA5}">
                      <a16:colId xmlns:a16="http://schemas.microsoft.com/office/drawing/2014/main" val="3330880095"/>
                    </a:ext>
                  </a:extLst>
                </a:gridCol>
              </a:tblGrid>
              <a:tr h="183296">
                <a:tc>
                  <a:txBody>
                    <a:bodyPr/>
                    <a:lstStyle/>
                    <a:p>
                      <a:pPr>
                        <a:spcAft>
                          <a:spcPts val="1200"/>
                        </a:spcAft>
                        <a:buNone/>
                      </a:pPr>
                      <a:r>
                        <a:rPr lang="de-DE" sz="1500" b="1" dirty="0">
                          <a:effectLst/>
                        </a:rPr>
                        <a:t>#</a:t>
                      </a:r>
                    </a:p>
                  </a:txBody>
                  <a:tcPr marL="81275" marR="81275" marT="37512" marB="37512"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spcAft>
                          <a:spcPts val="1200"/>
                        </a:spcAft>
                        <a:buNone/>
                      </a:pPr>
                      <a:r>
                        <a:rPr lang="de-DE" sz="1500" b="1">
                          <a:effectLst/>
                        </a:rPr>
                        <a:t>Format</a:t>
                      </a:r>
                    </a:p>
                  </a:txBody>
                  <a:tcPr marL="81275" marR="81275" marT="37512" marB="37512"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spcAft>
                          <a:spcPts val="1200"/>
                        </a:spcAft>
                        <a:buNone/>
                      </a:pPr>
                      <a:r>
                        <a:rPr lang="de-DE" sz="1500" b="1">
                          <a:effectLst/>
                        </a:rPr>
                        <a:t>Beispiel (mā, Ton 1)</a:t>
                      </a:r>
                    </a:p>
                  </a:txBody>
                  <a:tcPr marL="81275" marR="81275" marT="37512" marB="37512"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spcAft>
                          <a:spcPts val="1200"/>
                        </a:spcAft>
                        <a:buNone/>
                      </a:pPr>
                      <a:r>
                        <a:rPr lang="de-DE" sz="1500" b="1">
                          <a:effectLst/>
                        </a:rPr>
                        <a:t>Prompt-Anweisung</a:t>
                      </a:r>
                    </a:p>
                  </a:txBody>
                  <a:tcPr marL="81275" marR="81275" marT="37512" marB="37512"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1074869189"/>
                  </a:ext>
                </a:extLst>
              </a:tr>
              <a:tr h="321300">
                <a:tc>
                  <a:txBody>
                    <a:bodyPr/>
                    <a:lstStyle/>
                    <a:p>
                      <a:pPr>
                        <a:spcAft>
                          <a:spcPts val="1200"/>
                        </a:spcAft>
                        <a:buNone/>
                      </a:pPr>
                      <a:r>
                        <a:rPr lang="de-DE" sz="1500">
                          <a:effectLst/>
                        </a:rPr>
                        <a:t>A</a:t>
                      </a:r>
                    </a:p>
                  </a:txBody>
                  <a:tcPr marL="81275" marR="81275" marT="37512" marB="37512"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spcAft>
                          <a:spcPts val="1200"/>
                        </a:spcAft>
                        <a:buNone/>
                      </a:pPr>
                      <a:r>
                        <a:rPr lang="de-DE" sz="1500" b="1">
                          <a:effectLst/>
                        </a:rPr>
                        <a:t>Pinyin + Tonnummer</a:t>
                      </a:r>
                      <a:endParaRPr lang="de-DE" sz="1500">
                        <a:effectLst/>
                      </a:endParaRPr>
                    </a:p>
                  </a:txBody>
                  <a:tcPr marL="81275" marR="81275" marT="37512" marB="37512"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spcAft>
                          <a:spcPts val="1200"/>
                        </a:spcAft>
                        <a:buNone/>
                      </a:pPr>
                      <a:r>
                        <a:rPr lang="de-DE" sz="1500">
                          <a:effectLst/>
                        </a:rPr>
                        <a:t>ma1</a:t>
                      </a:r>
                    </a:p>
                  </a:txBody>
                  <a:tcPr marL="81275" marR="81275" marT="37512" marB="37512"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spcAft>
                          <a:spcPts val="1200"/>
                        </a:spcAft>
                        <a:buNone/>
                      </a:pPr>
                      <a:r>
                        <a:rPr lang="de-DE" sz="1500">
                          <a:effectLst/>
                        </a:rPr>
                        <a:t>"Transcribe as Pinyin with tone numbers (1-4)"</a:t>
                      </a:r>
                    </a:p>
                  </a:txBody>
                  <a:tcPr marL="81275" marR="81275" marT="37512" marB="37512"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1122734202"/>
                  </a:ext>
                </a:extLst>
              </a:tr>
              <a:tr h="321300">
                <a:tc>
                  <a:txBody>
                    <a:bodyPr/>
                    <a:lstStyle/>
                    <a:p>
                      <a:pPr>
                        <a:spcAft>
                          <a:spcPts val="1200"/>
                        </a:spcAft>
                        <a:buNone/>
                      </a:pPr>
                      <a:r>
                        <a:rPr lang="de-DE" sz="1500">
                          <a:effectLst/>
                        </a:rPr>
                        <a:t>B</a:t>
                      </a:r>
                    </a:p>
                  </a:txBody>
                  <a:tcPr marL="81275" marR="81275" marT="37512" marB="37512"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spcAft>
                          <a:spcPts val="1200"/>
                        </a:spcAft>
                        <a:buNone/>
                      </a:pPr>
                      <a:r>
                        <a:rPr lang="de-DE" sz="1500" b="1">
                          <a:effectLst/>
                        </a:rPr>
                        <a:t>Pinyin + Diakritika</a:t>
                      </a:r>
                      <a:endParaRPr lang="de-DE" sz="1500">
                        <a:effectLst/>
                      </a:endParaRPr>
                    </a:p>
                  </a:txBody>
                  <a:tcPr marL="81275" marR="81275" marT="37512" marB="37512"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spcAft>
                          <a:spcPts val="1200"/>
                        </a:spcAft>
                        <a:buNone/>
                      </a:pPr>
                      <a:r>
                        <a:rPr lang="de-DE" sz="1500">
                          <a:effectLst/>
                        </a:rPr>
                        <a:t>mā</a:t>
                      </a:r>
                    </a:p>
                  </a:txBody>
                  <a:tcPr marL="81275" marR="81275" marT="37512" marB="37512"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spcAft>
                          <a:spcPts val="1200"/>
                        </a:spcAft>
                        <a:buNone/>
                      </a:pPr>
                      <a:r>
                        <a:rPr lang="de-DE" sz="1500">
                          <a:effectLst/>
                        </a:rPr>
                        <a:t>"Transcribe as Pinyin with tone marks (ā á ǎ à)"</a:t>
                      </a:r>
                    </a:p>
                  </a:txBody>
                  <a:tcPr marL="81275" marR="81275" marT="37512" marB="37512"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3067420491"/>
                  </a:ext>
                </a:extLst>
              </a:tr>
              <a:tr h="321300">
                <a:tc>
                  <a:txBody>
                    <a:bodyPr/>
                    <a:lstStyle/>
                    <a:p>
                      <a:pPr>
                        <a:spcAft>
                          <a:spcPts val="1200"/>
                        </a:spcAft>
                        <a:buNone/>
                      </a:pPr>
                      <a:r>
                        <a:rPr lang="de-DE" sz="1500">
                          <a:effectLst/>
                        </a:rPr>
                        <a:t>C</a:t>
                      </a:r>
                    </a:p>
                  </a:txBody>
                  <a:tcPr marL="81275" marR="81275" marT="37512" marB="37512"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spcAft>
                          <a:spcPts val="1200"/>
                        </a:spcAft>
                        <a:buNone/>
                      </a:pPr>
                      <a:r>
                        <a:rPr lang="de-DE" sz="1500" b="1">
                          <a:effectLst/>
                        </a:rPr>
                        <a:t>Pinyin ohne Töne</a:t>
                      </a:r>
                      <a:endParaRPr lang="de-DE" sz="1500">
                        <a:effectLst/>
                      </a:endParaRPr>
                    </a:p>
                  </a:txBody>
                  <a:tcPr marL="81275" marR="81275" marT="37512" marB="37512"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spcAft>
                          <a:spcPts val="1200"/>
                        </a:spcAft>
                        <a:buNone/>
                      </a:pPr>
                      <a:r>
                        <a:rPr lang="de-DE" sz="1500">
                          <a:effectLst/>
                        </a:rPr>
                        <a:t>ma</a:t>
                      </a:r>
                    </a:p>
                  </a:txBody>
                  <a:tcPr marL="81275" marR="81275" marT="37512" marB="37512"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spcAft>
                          <a:spcPts val="1200"/>
                        </a:spcAft>
                        <a:buNone/>
                      </a:pPr>
                      <a:r>
                        <a:rPr lang="de-DE" sz="1500">
                          <a:effectLst/>
                        </a:rPr>
                        <a:t>"Transcribe as Pinyin without tones" (Baseline)</a:t>
                      </a:r>
                    </a:p>
                  </a:txBody>
                  <a:tcPr marL="81275" marR="81275" marT="37512" marB="37512"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1862499830"/>
                  </a:ext>
                </a:extLst>
              </a:tr>
              <a:tr h="459305">
                <a:tc>
                  <a:txBody>
                    <a:bodyPr/>
                    <a:lstStyle/>
                    <a:p>
                      <a:pPr>
                        <a:spcAft>
                          <a:spcPts val="1200"/>
                        </a:spcAft>
                        <a:buNone/>
                      </a:pPr>
                      <a:r>
                        <a:rPr lang="de-DE" sz="1500">
                          <a:effectLst/>
                        </a:rPr>
                        <a:t>D</a:t>
                      </a:r>
                    </a:p>
                  </a:txBody>
                  <a:tcPr marL="81275" marR="81275" marT="37512" marB="37512"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spcAft>
                          <a:spcPts val="1200"/>
                        </a:spcAft>
                        <a:buNone/>
                      </a:pPr>
                      <a:r>
                        <a:rPr lang="de-DE" sz="1500" b="1">
                          <a:effectLst/>
                        </a:rPr>
                        <a:t>IPA + Chao-Nummern</a:t>
                      </a:r>
                      <a:endParaRPr lang="de-DE" sz="1500">
                        <a:effectLst/>
                      </a:endParaRPr>
                    </a:p>
                  </a:txBody>
                  <a:tcPr marL="81275" marR="81275" marT="37512" marB="37512"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spcAft>
                          <a:spcPts val="1200"/>
                        </a:spcAft>
                        <a:buNone/>
                      </a:pPr>
                      <a:r>
                        <a:rPr lang="de-DE" sz="1500">
                          <a:effectLst/>
                        </a:rPr>
                        <a:t>[ma55]</a:t>
                      </a:r>
                    </a:p>
                  </a:txBody>
                  <a:tcPr marL="81275" marR="81275" marT="37512" marB="37512"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spcAft>
                          <a:spcPts val="1200"/>
                        </a:spcAft>
                        <a:buNone/>
                      </a:pPr>
                      <a:r>
                        <a:rPr lang="de-DE" sz="1500">
                          <a:effectLst/>
                        </a:rPr>
                        <a:t>"Transcribe in IPA with Chao tone numbers (55, 35, 214, 51)"</a:t>
                      </a:r>
                    </a:p>
                  </a:txBody>
                  <a:tcPr marL="81275" marR="81275" marT="37512" marB="37512"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571564219"/>
                  </a:ext>
                </a:extLst>
              </a:tr>
              <a:tr h="321300">
                <a:tc>
                  <a:txBody>
                    <a:bodyPr/>
                    <a:lstStyle/>
                    <a:p>
                      <a:pPr>
                        <a:spcAft>
                          <a:spcPts val="1200"/>
                        </a:spcAft>
                        <a:buNone/>
                      </a:pPr>
                      <a:r>
                        <a:rPr lang="de-DE" sz="1500">
                          <a:effectLst/>
                        </a:rPr>
                        <a:t>E</a:t>
                      </a:r>
                    </a:p>
                  </a:txBody>
                  <a:tcPr marL="81275" marR="81275" marT="37512" marB="37512"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spcAft>
                          <a:spcPts val="1200"/>
                        </a:spcAft>
                        <a:buNone/>
                      </a:pPr>
                      <a:r>
                        <a:rPr lang="de-DE" sz="1500" b="1">
                          <a:effectLst/>
                        </a:rPr>
                        <a:t>IPA + Tone Letters</a:t>
                      </a:r>
                      <a:endParaRPr lang="de-DE" sz="1500">
                        <a:effectLst/>
                      </a:endParaRPr>
                    </a:p>
                  </a:txBody>
                  <a:tcPr marL="81275" marR="81275" marT="37512" marB="37512"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spcAft>
                          <a:spcPts val="1200"/>
                        </a:spcAft>
                        <a:buNone/>
                      </a:pPr>
                      <a:r>
                        <a:rPr lang="de-DE" sz="1500">
                          <a:effectLst/>
                        </a:rPr>
                        <a:t>[ma˥]</a:t>
                      </a:r>
                    </a:p>
                  </a:txBody>
                  <a:tcPr marL="81275" marR="81275" marT="37512" marB="37512"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spcAft>
                          <a:spcPts val="1200"/>
                        </a:spcAft>
                        <a:buNone/>
                      </a:pPr>
                      <a:r>
                        <a:rPr lang="de-DE" sz="1500">
                          <a:effectLst/>
                        </a:rPr>
                        <a:t>"Transcribe in IPA with tone letters (˥ ˧˥ ˨˩˦ ˥˩)"</a:t>
                      </a:r>
                    </a:p>
                  </a:txBody>
                  <a:tcPr marL="81275" marR="81275" marT="37512" marB="37512"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2968078186"/>
                  </a:ext>
                </a:extLst>
              </a:tr>
              <a:tr h="459305">
                <a:tc>
                  <a:txBody>
                    <a:bodyPr/>
                    <a:lstStyle/>
                    <a:p>
                      <a:pPr>
                        <a:spcAft>
                          <a:spcPts val="1200"/>
                        </a:spcAft>
                        <a:buNone/>
                      </a:pPr>
                      <a:r>
                        <a:rPr lang="de-DE" sz="1500">
                          <a:effectLst/>
                        </a:rPr>
                        <a:t>F</a:t>
                      </a:r>
                    </a:p>
                  </a:txBody>
                  <a:tcPr marL="81275" marR="81275" marT="37512" marB="37512"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spcAft>
                          <a:spcPts val="1200"/>
                        </a:spcAft>
                        <a:buNone/>
                      </a:pPr>
                      <a:r>
                        <a:rPr lang="de-DE" sz="1500" b="1">
                          <a:effectLst/>
                        </a:rPr>
                        <a:t>Chao-Nummern separat</a:t>
                      </a:r>
                      <a:endParaRPr lang="de-DE" sz="1500">
                        <a:effectLst/>
                      </a:endParaRPr>
                    </a:p>
                  </a:txBody>
                  <a:tcPr marL="81275" marR="81275" marT="37512" marB="37512"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spcAft>
                          <a:spcPts val="1200"/>
                        </a:spcAft>
                        <a:buNone/>
                      </a:pPr>
                      <a:r>
                        <a:rPr lang="de-DE" sz="1500">
                          <a:effectLst/>
                        </a:rPr>
                        <a:t>ma_55</a:t>
                      </a:r>
                    </a:p>
                  </a:txBody>
                  <a:tcPr marL="81275" marR="81275" marT="37512" marB="37512"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spcAft>
                          <a:spcPts val="1200"/>
                        </a:spcAft>
                        <a:buNone/>
                      </a:pPr>
                      <a:r>
                        <a:rPr lang="de-DE" sz="1500" dirty="0">
                          <a:effectLst/>
                        </a:rPr>
                        <a:t>"</a:t>
                      </a:r>
                      <a:r>
                        <a:rPr lang="de-DE" sz="1500" dirty="0" err="1">
                          <a:effectLst/>
                        </a:rPr>
                        <a:t>Transcribe</a:t>
                      </a:r>
                      <a:r>
                        <a:rPr lang="de-DE" sz="1500" dirty="0">
                          <a:effectLst/>
                        </a:rPr>
                        <a:t> </a:t>
                      </a:r>
                      <a:r>
                        <a:rPr lang="de-DE" sz="1500" dirty="0" err="1">
                          <a:effectLst/>
                        </a:rPr>
                        <a:t>syllable</a:t>
                      </a:r>
                      <a:r>
                        <a:rPr lang="de-DE" sz="1500" dirty="0">
                          <a:effectLst/>
                        </a:rPr>
                        <a:t> in Pinyin, tone </a:t>
                      </a:r>
                      <a:r>
                        <a:rPr lang="de-DE" sz="1500" dirty="0" err="1">
                          <a:effectLst/>
                        </a:rPr>
                        <a:t>as</a:t>
                      </a:r>
                      <a:r>
                        <a:rPr lang="de-DE" sz="1500" dirty="0">
                          <a:effectLst/>
                        </a:rPr>
                        <a:t> Chao </a:t>
                      </a:r>
                      <a:r>
                        <a:rPr lang="de-DE" sz="1500" dirty="0" err="1">
                          <a:effectLst/>
                        </a:rPr>
                        <a:t>numbers</a:t>
                      </a:r>
                      <a:r>
                        <a:rPr lang="de-DE" sz="1500" dirty="0">
                          <a:effectLst/>
                        </a:rPr>
                        <a:t>"</a:t>
                      </a:r>
                    </a:p>
                  </a:txBody>
                  <a:tcPr marL="81275" marR="81275" marT="37512" marB="37512"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657898215"/>
                  </a:ext>
                </a:extLst>
              </a:tr>
            </a:tbl>
          </a:graphicData>
        </a:graphic>
      </p:graphicFrame>
      <p:sp>
        <p:nvSpPr>
          <p:cNvPr id="6" name="TextBox 5">
            <a:extLst>
              <a:ext uri="{FF2B5EF4-FFF2-40B4-BE49-F238E27FC236}">
                <a16:creationId xmlns:a16="http://schemas.microsoft.com/office/drawing/2014/main" id="{A34066EA-9432-6885-2186-560C4CB3BDDB}"/>
              </a:ext>
            </a:extLst>
          </p:cNvPr>
          <p:cNvSpPr txBox="1"/>
          <p:nvPr/>
        </p:nvSpPr>
        <p:spPr>
          <a:xfrm>
            <a:off x="960783" y="4579094"/>
            <a:ext cx="6096000" cy="1354217"/>
          </a:xfrm>
          <a:prstGeom prst="rect">
            <a:avLst/>
          </a:prstGeom>
          <a:noFill/>
        </p:spPr>
        <p:txBody>
          <a:bodyPr wrap="square">
            <a:spAutoFit/>
          </a:bodyPr>
          <a:lstStyle/>
          <a:p>
            <a:pPr indent="0" algn="l">
              <a:spcAft>
                <a:spcPts val="1200"/>
              </a:spcAft>
              <a:buNone/>
            </a:pPr>
            <a:r>
              <a:rPr lang="de-DE" sz="1800" b="1" i="0" dirty="0">
                <a:solidFill>
                  <a:srgbClr val="1F2328"/>
                </a:solidFill>
                <a:effectLst/>
                <a:latin typeface="Mona Sans VF"/>
              </a:rPr>
              <a:t>Hypothese:</a:t>
            </a:r>
            <a:r>
              <a:rPr lang="de-DE" sz="1800" b="0" i="0" dirty="0">
                <a:solidFill>
                  <a:srgbClr val="1F2328"/>
                </a:solidFill>
                <a:effectLst/>
                <a:latin typeface="Mona Sans VF"/>
              </a:rPr>
              <a:t> </a:t>
            </a:r>
            <a:r>
              <a:rPr lang="de-DE" sz="1800" b="0" i="1" dirty="0">
                <a:solidFill>
                  <a:srgbClr val="1F2328"/>
                </a:solidFill>
                <a:effectLst/>
                <a:latin typeface="Mona Sans VF"/>
              </a:rPr>
              <a:t>Bei LLMs könnte </a:t>
            </a:r>
            <a:r>
              <a:rPr lang="de-DE" sz="1800" b="0" i="1" dirty="0" err="1">
                <a:solidFill>
                  <a:srgbClr val="1F2328"/>
                </a:solidFill>
                <a:effectLst/>
                <a:latin typeface="Mona Sans VF"/>
              </a:rPr>
              <a:t>Pinyin+Tonnummern</a:t>
            </a:r>
            <a:r>
              <a:rPr lang="de-DE" sz="1800" b="0" i="1" dirty="0">
                <a:solidFill>
                  <a:srgbClr val="1F2328"/>
                </a:solidFill>
                <a:effectLst/>
                <a:latin typeface="Mona Sans VF"/>
              </a:rPr>
              <a:t> besser sein als IPA — gegenteilig zu </a:t>
            </a:r>
            <a:r>
              <a:rPr lang="de-DE" sz="1800" b="0" i="1" dirty="0" err="1">
                <a:solidFill>
                  <a:srgbClr val="1F2328"/>
                </a:solidFill>
                <a:effectLst/>
                <a:latin typeface="Mona Sans VF"/>
              </a:rPr>
              <a:t>Chirkovas</a:t>
            </a:r>
            <a:r>
              <a:rPr lang="de-DE" sz="1800" b="0" i="1" dirty="0">
                <a:solidFill>
                  <a:srgbClr val="1F2328"/>
                </a:solidFill>
                <a:effectLst/>
                <a:latin typeface="Mona Sans VF"/>
              </a:rPr>
              <a:t> Ergebnis (2025) — weil LLMs massiv mehr Pinyin im Training haben.</a:t>
            </a:r>
            <a:endParaRPr lang="de-DE" sz="1800" b="0" i="0" dirty="0">
              <a:solidFill>
                <a:srgbClr val="1F2328"/>
              </a:solidFill>
              <a:effectLst/>
              <a:latin typeface="Mona Sans VF"/>
            </a:endParaRPr>
          </a:p>
          <a:p>
            <a:pPr indent="0" algn="l">
              <a:spcAft>
                <a:spcPts val="1200"/>
              </a:spcAft>
              <a:buNone/>
            </a:pPr>
            <a:r>
              <a:rPr lang="de-DE" sz="1800" b="1" i="0" dirty="0">
                <a:solidFill>
                  <a:srgbClr val="1F2328"/>
                </a:solidFill>
                <a:effectLst/>
                <a:latin typeface="Mona Sans VF"/>
              </a:rPr>
              <a:t>6 Format-Konfigurationen:</a:t>
            </a:r>
            <a:endParaRPr lang="de-DE" sz="1800" b="0" i="0" dirty="0">
              <a:solidFill>
                <a:srgbClr val="1F2328"/>
              </a:solidFill>
              <a:effectLst/>
              <a:latin typeface="Mona Sans VF"/>
            </a:endParaRPr>
          </a:p>
        </p:txBody>
      </p:sp>
      <p:pic>
        <p:nvPicPr>
          <p:cNvPr id="8" name="Picture 7">
            <a:extLst>
              <a:ext uri="{FF2B5EF4-FFF2-40B4-BE49-F238E27FC236}">
                <a16:creationId xmlns:a16="http://schemas.microsoft.com/office/drawing/2014/main" id="{8BE82830-5247-1A30-E674-0D4796DD1FAE}"/>
              </a:ext>
            </a:extLst>
          </p:cNvPr>
          <p:cNvPicPr>
            <a:picLocks noChangeAspect="1"/>
          </p:cNvPicPr>
          <p:nvPr/>
        </p:nvPicPr>
        <p:blipFill>
          <a:blip r:embed="rId3"/>
          <a:stretch>
            <a:fillRect/>
          </a:stretch>
        </p:blipFill>
        <p:spPr>
          <a:xfrm>
            <a:off x="7408956" y="4901209"/>
            <a:ext cx="3894157" cy="1028789"/>
          </a:xfrm>
          <a:prstGeom prst="rect">
            <a:avLst/>
          </a:prstGeom>
        </p:spPr>
      </p:pic>
    </p:spTree>
    <p:extLst>
      <p:ext uri="{BB962C8B-B14F-4D97-AF65-F5344CB8AC3E}">
        <p14:creationId xmlns:p14="http://schemas.microsoft.com/office/powerpoint/2010/main" val="4164078010"/>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ED9F8-DF78-C1F3-67A3-241E28CF8D3F}"/>
              </a:ext>
            </a:extLst>
          </p:cNvPr>
          <p:cNvSpPr>
            <a:spLocks noGrp="1"/>
          </p:cNvSpPr>
          <p:nvPr>
            <p:ph type="title"/>
          </p:nvPr>
        </p:nvSpPr>
        <p:spPr/>
        <p:txBody>
          <a:bodyPr/>
          <a:lstStyle/>
          <a:p>
            <a:r>
              <a:rPr lang="de-DE" dirty="0"/>
              <a:t>Pilot Design: 400 Samples × 3 Models × 6 Formats</a:t>
            </a:r>
          </a:p>
        </p:txBody>
      </p:sp>
      <p:sp>
        <p:nvSpPr>
          <p:cNvPr id="3" name="Content Placeholder 2">
            <a:extLst>
              <a:ext uri="{FF2B5EF4-FFF2-40B4-BE49-F238E27FC236}">
                <a16:creationId xmlns:a16="http://schemas.microsoft.com/office/drawing/2014/main" id="{6186614D-751B-1065-D3F5-244150153E14}"/>
              </a:ext>
            </a:extLst>
          </p:cNvPr>
          <p:cNvSpPr>
            <a:spLocks noGrp="1"/>
          </p:cNvSpPr>
          <p:nvPr>
            <p:ph idx="1"/>
          </p:nvPr>
        </p:nvSpPr>
        <p:spPr>
          <a:xfrm>
            <a:off x="838200" y="1825625"/>
            <a:ext cx="10515600" cy="983836"/>
          </a:xfrm>
        </p:spPr>
        <p:txBody>
          <a:bodyPr/>
          <a:lstStyle/>
          <a:p>
            <a:r>
              <a:rPr lang="de-DE" b="1" dirty="0"/>
              <a:t>Stichprobe (aus Tone Perfect, 9.840 Silben):</a:t>
            </a:r>
            <a:endParaRPr lang="de-DE" dirty="0"/>
          </a:p>
        </p:txBody>
      </p:sp>
      <p:pic>
        <p:nvPicPr>
          <p:cNvPr id="5" name="Picture 4">
            <a:extLst>
              <a:ext uri="{FF2B5EF4-FFF2-40B4-BE49-F238E27FC236}">
                <a16:creationId xmlns:a16="http://schemas.microsoft.com/office/drawing/2014/main" id="{D2AA8C10-E1EB-F80C-FD34-45128B3BC4D6}"/>
              </a:ext>
            </a:extLst>
          </p:cNvPr>
          <p:cNvPicPr>
            <a:picLocks noChangeAspect="1"/>
          </p:cNvPicPr>
          <p:nvPr/>
        </p:nvPicPr>
        <p:blipFill>
          <a:blip r:embed="rId3"/>
          <a:stretch>
            <a:fillRect/>
          </a:stretch>
        </p:blipFill>
        <p:spPr>
          <a:xfrm>
            <a:off x="8862355" y="1786392"/>
            <a:ext cx="3071656" cy="1062302"/>
          </a:xfrm>
          <a:prstGeom prst="rect">
            <a:avLst/>
          </a:prstGeom>
        </p:spPr>
      </p:pic>
      <p:graphicFrame>
        <p:nvGraphicFramePr>
          <p:cNvPr id="8" name="Table 7">
            <a:extLst>
              <a:ext uri="{FF2B5EF4-FFF2-40B4-BE49-F238E27FC236}">
                <a16:creationId xmlns:a16="http://schemas.microsoft.com/office/drawing/2014/main" id="{EA158DFF-C5AE-3F67-1F74-B3D67AB42CF5}"/>
              </a:ext>
            </a:extLst>
          </p:cNvPr>
          <p:cNvGraphicFramePr>
            <a:graphicFrameLocks noGrp="1"/>
          </p:cNvGraphicFramePr>
          <p:nvPr>
            <p:extLst>
              <p:ext uri="{D42A27DB-BD31-4B8C-83A1-F6EECF244321}">
                <p14:modId xmlns:p14="http://schemas.microsoft.com/office/powerpoint/2010/main" val="72480743"/>
              </p:ext>
            </p:extLst>
          </p:nvPr>
        </p:nvGraphicFramePr>
        <p:xfrm>
          <a:off x="838200" y="3283026"/>
          <a:ext cx="4899990" cy="2286000"/>
        </p:xfrm>
        <a:graphic>
          <a:graphicData uri="http://schemas.openxmlformats.org/drawingml/2006/table">
            <a:tbl>
              <a:tblPr/>
              <a:tblGrid>
                <a:gridCol w="1633330">
                  <a:extLst>
                    <a:ext uri="{9D8B030D-6E8A-4147-A177-3AD203B41FA5}">
                      <a16:colId xmlns:a16="http://schemas.microsoft.com/office/drawing/2014/main" val="2870350060"/>
                    </a:ext>
                  </a:extLst>
                </a:gridCol>
                <a:gridCol w="1633330">
                  <a:extLst>
                    <a:ext uri="{9D8B030D-6E8A-4147-A177-3AD203B41FA5}">
                      <a16:colId xmlns:a16="http://schemas.microsoft.com/office/drawing/2014/main" val="3444633396"/>
                    </a:ext>
                  </a:extLst>
                </a:gridCol>
                <a:gridCol w="1633330">
                  <a:extLst>
                    <a:ext uri="{9D8B030D-6E8A-4147-A177-3AD203B41FA5}">
                      <a16:colId xmlns:a16="http://schemas.microsoft.com/office/drawing/2014/main" val="1487561873"/>
                    </a:ext>
                  </a:extLst>
                </a:gridCol>
              </a:tblGrid>
              <a:tr h="320587">
                <a:tc>
                  <a:txBody>
                    <a:bodyPr/>
                    <a:lstStyle/>
                    <a:p>
                      <a:pPr>
                        <a:spcAft>
                          <a:spcPts val="1200"/>
                        </a:spcAft>
                        <a:buNone/>
                      </a:pPr>
                      <a:r>
                        <a:rPr lang="de-DE" b="1" dirty="0">
                          <a:effectLst/>
                        </a:rPr>
                        <a:t>Modell</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spcAft>
                          <a:spcPts val="1200"/>
                        </a:spcAft>
                        <a:buNone/>
                      </a:pPr>
                      <a:r>
                        <a:rPr lang="de-DE" b="1">
                          <a:effectLst/>
                        </a:rPr>
                        <a:t>Markt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spcAft>
                          <a:spcPts val="1200"/>
                        </a:spcAft>
                        <a:buNone/>
                      </a:pPr>
                      <a:r>
                        <a:rPr lang="de-DE" b="1">
                          <a:effectLst/>
                        </a:rPr>
                        <a:t>Kosten/1k Calls</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3133680158"/>
                  </a:ext>
                </a:extLst>
              </a:tr>
              <a:tr h="320587">
                <a:tc>
                  <a:txBody>
                    <a:bodyPr/>
                    <a:lstStyle/>
                    <a:p>
                      <a:pPr>
                        <a:spcAft>
                          <a:spcPts val="1200"/>
                        </a:spcAft>
                        <a:buNone/>
                      </a:pPr>
                      <a:r>
                        <a:rPr lang="de-DE" dirty="0">
                          <a:effectLst/>
                        </a:rPr>
                        <a:t>Gemini 2.5 Flash</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spcAft>
                          <a:spcPts val="1200"/>
                        </a:spcAft>
                        <a:buNone/>
                      </a:pPr>
                      <a:r>
                        <a:rPr lang="de-DE">
                          <a:effectLst/>
                        </a:rPr>
                        <a:t>USA</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spcAft>
                          <a:spcPts val="1200"/>
                        </a:spcAft>
                        <a:buNone/>
                      </a:pPr>
                      <a:r>
                        <a:rPr lang="de-DE">
                          <a:effectLst/>
                        </a:rPr>
                        <a:t>~$0.15</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2073892386"/>
                  </a:ext>
                </a:extLst>
              </a:tr>
              <a:tr h="320587">
                <a:tc>
                  <a:txBody>
                    <a:bodyPr/>
                    <a:lstStyle/>
                    <a:p>
                      <a:pPr>
                        <a:spcAft>
                          <a:spcPts val="1200"/>
                        </a:spcAft>
                        <a:buNone/>
                      </a:pPr>
                      <a:r>
                        <a:rPr lang="de-DE" dirty="0">
                          <a:effectLst/>
                        </a:rPr>
                        <a:t>DeepSeek V3</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spcAft>
                          <a:spcPts val="1200"/>
                        </a:spcAft>
                        <a:buNone/>
                      </a:pPr>
                      <a:r>
                        <a:rPr lang="de-DE">
                          <a:effectLst/>
                        </a:rPr>
                        <a:t>China</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spcAft>
                          <a:spcPts val="1200"/>
                        </a:spcAft>
                        <a:buNone/>
                      </a:pPr>
                      <a:r>
                        <a:rPr lang="de-DE">
                          <a:effectLst/>
                        </a:rPr>
                        <a:t>~$0.05</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4235559234"/>
                  </a:ext>
                </a:extLst>
              </a:tr>
              <a:tr h="320587">
                <a:tc>
                  <a:txBody>
                    <a:bodyPr/>
                    <a:lstStyle/>
                    <a:p>
                      <a:pPr>
                        <a:spcAft>
                          <a:spcPts val="1200"/>
                        </a:spcAft>
                        <a:buNone/>
                      </a:pPr>
                      <a:r>
                        <a:rPr lang="de-DE">
                          <a:effectLst/>
                        </a:rPr>
                        <a:t>Qwen2-Audio-7B</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spcAft>
                          <a:spcPts val="1200"/>
                        </a:spcAft>
                        <a:buNone/>
                      </a:pPr>
                      <a:r>
                        <a:rPr lang="de-DE">
                          <a:effectLst/>
                        </a:rPr>
                        <a:t>China</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spcAft>
                          <a:spcPts val="1200"/>
                        </a:spcAft>
                        <a:buNone/>
                      </a:pPr>
                      <a:r>
                        <a:rPr lang="de-DE" dirty="0">
                          <a:effectLst/>
                        </a:rPr>
                        <a:t>~$0.10</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2675298857"/>
                  </a:ext>
                </a:extLst>
              </a:tr>
            </a:tbl>
          </a:graphicData>
        </a:graphic>
      </p:graphicFrame>
      <p:sp>
        <p:nvSpPr>
          <p:cNvPr id="12" name="TextBox 11">
            <a:extLst>
              <a:ext uri="{FF2B5EF4-FFF2-40B4-BE49-F238E27FC236}">
                <a16:creationId xmlns:a16="http://schemas.microsoft.com/office/drawing/2014/main" id="{EDA7A940-C208-785D-509E-DDEE28E255D3}"/>
              </a:ext>
            </a:extLst>
          </p:cNvPr>
          <p:cNvSpPr txBox="1"/>
          <p:nvPr/>
        </p:nvSpPr>
        <p:spPr>
          <a:xfrm>
            <a:off x="940904" y="2848694"/>
            <a:ext cx="3793218" cy="369332"/>
          </a:xfrm>
          <a:prstGeom prst="rect">
            <a:avLst/>
          </a:prstGeom>
          <a:noFill/>
        </p:spPr>
        <p:txBody>
          <a:bodyPr wrap="none" rtlCol="0">
            <a:spAutoFit/>
          </a:bodyPr>
          <a:lstStyle/>
          <a:p>
            <a:r>
              <a:rPr lang="de-DE" b="1" dirty="0"/>
              <a:t>Modelle (3, aus Hauptexperiment):</a:t>
            </a:r>
            <a:endParaRPr lang="de-DE" dirty="0"/>
          </a:p>
        </p:txBody>
      </p:sp>
      <p:graphicFrame>
        <p:nvGraphicFramePr>
          <p:cNvPr id="13" name="Table 12">
            <a:extLst>
              <a:ext uri="{FF2B5EF4-FFF2-40B4-BE49-F238E27FC236}">
                <a16:creationId xmlns:a16="http://schemas.microsoft.com/office/drawing/2014/main" id="{06723483-8FDC-FB26-5647-C2573F210F3A}"/>
              </a:ext>
            </a:extLst>
          </p:cNvPr>
          <p:cNvGraphicFramePr>
            <a:graphicFrameLocks noGrp="1"/>
          </p:cNvGraphicFramePr>
          <p:nvPr>
            <p:extLst>
              <p:ext uri="{D42A27DB-BD31-4B8C-83A1-F6EECF244321}">
                <p14:modId xmlns:p14="http://schemas.microsoft.com/office/powerpoint/2010/main" val="3571793822"/>
              </p:ext>
            </p:extLst>
          </p:nvPr>
        </p:nvGraphicFramePr>
        <p:xfrm>
          <a:off x="6672470" y="3313904"/>
          <a:ext cx="4528929" cy="2560320"/>
        </p:xfrm>
        <a:graphic>
          <a:graphicData uri="http://schemas.openxmlformats.org/drawingml/2006/table">
            <a:tbl>
              <a:tblPr/>
              <a:tblGrid>
                <a:gridCol w="1509643">
                  <a:extLst>
                    <a:ext uri="{9D8B030D-6E8A-4147-A177-3AD203B41FA5}">
                      <a16:colId xmlns:a16="http://schemas.microsoft.com/office/drawing/2014/main" val="3517720756"/>
                    </a:ext>
                  </a:extLst>
                </a:gridCol>
                <a:gridCol w="1509643">
                  <a:extLst>
                    <a:ext uri="{9D8B030D-6E8A-4147-A177-3AD203B41FA5}">
                      <a16:colId xmlns:a16="http://schemas.microsoft.com/office/drawing/2014/main" val="1999762810"/>
                    </a:ext>
                  </a:extLst>
                </a:gridCol>
                <a:gridCol w="1509643">
                  <a:extLst>
                    <a:ext uri="{9D8B030D-6E8A-4147-A177-3AD203B41FA5}">
                      <a16:colId xmlns:a16="http://schemas.microsoft.com/office/drawing/2014/main" val="1889321888"/>
                    </a:ext>
                  </a:extLst>
                </a:gridCol>
              </a:tblGrid>
              <a:tr h="0">
                <a:tc>
                  <a:txBody>
                    <a:bodyPr/>
                    <a:lstStyle/>
                    <a:p>
                      <a:pPr algn="l">
                        <a:spcAft>
                          <a:spcPts val="1200"/>
                        </a:spcAft>
                        <a:buNone/>
                      </a:pPr>
                      <a:r>
                        <a:rPr lang="de-DE" sz="1200" b="1" i="0">
                          <a:solidFill>
                            <a:srgbClr val="1F2328"/>
                          </a:solidFill>
                          <a:effectLst/>
                          <a:latin typeface="Mona Sans VF"/>
                        </a:rPr>
                        <a:t>Metrik</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a:solidFill>
                            <a:srgbClr val="1F2328"/>
                          </a:solidFill>
                          <a:effectLst/>
                          <a:latin typeface="Mona Sans VF"/>
                        </a:rPr>
                        <a:t>Was sie misst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a:solidFill>
                            <a:srgbClr val="1F2328"/>
                          </a:solidFill>
                          <a:effectLst/>
                          <a:latin typeface="Mona Sans VF"/>
                        </a:rPr>
                        <a:t>Berechnung</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2257964095"/>
                  </a:ext>
                </a:extLst>
              </a:tr>
              <a:tr h="0">
                <a:tc>
                  <a:txBody>
                    <a:bodyPr/>
                    <a:lstStyle/>
                    <a:p>
                      <a:pPr algn="l">
                        <a:spcAft>
                          <a:spcPts val="1200"/>
                        </a:spcAft>
                        <a:buNone/>
                      </a:pPr>
                      <a:r>
                        <a:rPr lang="de-DE" sz="1200" b="1" i="0" dirty="0" err="1">
                          <a:solidFill>
                            <a:srgbClr val="1F2328"/>
                          </a:solidFill>
                          <a:effectLst/>
                          <a:latin typeface="Mona Sans VF"/>
                        </a:rPr>
                        <a:t>Syllable</a:t>
                      </a:r>
                      <a:r>
                        <a:rPr lang="de-DE" sz="1200" b="1" i="0" dirty="0">
                          <a:solidFill>
                            <a:srgbClr val="1F2328"/>
                          </a:solidFill>
                          <a:effectLst/>
                          <a:latin typeface="Mona Sans VF"/>
                        </a:rPr>
                        <a:t> </a:t>
                      </a:r>
                      <a:r>
                        <a:rPr lang="de-DE" sz="1200" b="1" i="0" dirty="0" err="1">
                          <a:solidFill>
                            <a:srgbClr val="1F2328"/>
                          </a:solidFill>
                          <a:effectLst/>
                          <a:latin typeface="Mona Sans VF"/>
                        </a:rPr>
                        <a:t>Accuracy</a:t>
                      </a:r>
                      <a:endParaRPr lang="de-DE" sz="1200" b="0" i="0" dirty="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Silbe korrekt (Initial+Final)</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Exact Match auf Pinyin-Silbe</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4148680939"/>
                  </a:ext>
                </a:extLst>
              </a:tr>
              <a:tr h="0">
                <a:tc>
                  <a:txBody>
                    <a:bodyPr/>
                    <a:lstStyle/>
                    <a:p>
                      <a:pPr algn="l">
                        <a:spcAft>
                          <a:spcPts val="1200"/>
                        </a:spcAft>
                        <a:buNone/>
                      </a:pPr>
                      <a:r>
                        <a:rPr lang="de-DE" sz="1200" b="1" i="0">
                          <a:solidFill>
                            <a:srgbClr val="1F2328"/>
                          </a:solidFill>
                          <a:effectLst/>
                          <a:latin typeface="Mona Sans VF"/>
                        </a:rPr>
                        <a:t>Tone Accuracy</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Ton korrekt (1-4)</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Exact Match auf Tonnummer</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3350279021"/>
                  </a:ext>
                </a:extLst>
              </a:tr>
              <a:tr h="0">
                <a:tc>
                  <a:txBody>
                    <a:bodyPr/>
                    <a:lstStyle/>
                    <a:p>
                      <a:pPr algn="l">
                        <a:spcAft>
                          <a:spcPts val="1200"/>
                        </a:spcAft>
                        <a:buNone/>
                      </a:pPr>
                      <a:r>
                        <a:rPr lang="de-DE" sz="1200" b="1" i="0">
                          <a:solidFill>
                            <a:srgbClr val="1F2328"/>
                          </a:solidFill>
                          <a:effectLst/>
                          <a:latin typeface="Mona Sans VF"/>
                        </a:rPr>
                        <a:t>Combined Accuracy</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Silbe UND Ton korrekt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Beide korrekt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1139008067"/>
                  </a:ext>
                </a:extLst>
              </a:tr>
              <a:tr h="0">
                <a:tc>
                  <a:txBody>
                    <a:bodyPr/>
                    <a:lstStyle/>
                    <a:p>
                      <a:pPr algn="l">
                        <a:spcAft>
                          <a:spcPts val="1200"/>
                        </a:spcAft>
                        <a:buNone/>
                      </a:pPr>
                      <a:r>
                        <a:rPr lang="de-DE" sz="1200" b="1" i="0">
                          <a:solidFill>
                            <a:srgbClr val="1F2328"/>
                          </a:solidFill>
                          <a:effectLst/>
                          <a:latin typeface="Mona Sans VF"/>
                        </a:rPr>
                        <a:t>PER</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Phone Error Rate</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Levenshtein(Initial+Final)</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2775869826"/>
                  </a:ext>
                </a:extLst>
              </a:tr>
              <a:tr h="0">
                <a:tc>
                  <a:txBody>
                    <a:bodyPr/>
                    <a:lstStyle/>
                    <a:p>
                      <a:pPr algn="l">
                        <a:spcAft>
                          <a:spcPts val="1200"/>
                        </a:spcAft>
                        <a:buNone/>
                      </a:pPr>
                      <a:r>
                        <a:rPr lang="de-DE" sz="1200" b="1" i="0">
                          <a:solidFill>
                            <a:srgbClr val="1F2328"/>
                          </a:solidFill>
                          <a:effectLst/>
                          <a:latin typeface="Mona Sans VF"/>
                        </a:rPr>
                        <a:t>Tone Confusion Matrix</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Welche Töne verwechselt?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dirty="0">
                          <a:solidFill>
                            <a:srgbClr val="1F2328"/>
                          </a:solidFill>
                          <a:effectLst/>
                          <a:latin typeface="Mona Sans VF"/>
                        </a:rPr>
                        <a:t>T2↔T3, T1↔T4, etc.</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594785115"/>
                  </a:ext>
                </a:extLst>
              </a:tr>
            </a:tbl>
          </a:graphicData>
        </a:graphic>
      </p:graphicFrame>
      <p:sp>
        <p:nvSpPr>
          <p:cNvPr id="14" name="TextBox 13">
            <a:extLst>
              <a:ext uri="{FF2B5EF4-FFF2-40B4-BE49-F238E27FC236}">
                <a16:creationId xmlns:a16="http://schemas.microsoft.com/office/drawing/2014/main" id="{CBFDD70C-8A78-990B-7BDE-8D10EC8899F5}"/>
              </a:ext>
            </a:extLst>
          </p:cNvPr>
          <p:cNvSpPr txBox="1"/>
          <p:nvPr/>
        </p:nvSpPr>
        <p:spPr>
          <a:xfrm>
            <a:off x="6672470" y="2886694"/>
            <a:ext cx="1349921" cy="369332"/>
          </a:xfrm>
          <a:prstGeom prst="rect">
            <a:avLst/>
          </a:prstGeom>
          <a:noFill/>
        </p:spPr>
        <p:txBody>
          <a:bodyPr wrap="none" rtlCol="0">
            <a:spAutoFit/>
          </a:bodyPr>
          <a:lstStyle/>
          <a:p>
            <a:r>
              <a:rPr lang="de-DE" b="1" dirty="0"/>
              <a:t>5 Metriken:</a:t>
            </a:r>
            <a:endParaRPr lang="de-DE" dirty="0"/>
          </a:p>
        </p:txBody>
      </p:sp>
      <p:sp>
        <p:nvSpPr>
          <p:cNvPr id="15" name="TextBox 14">
            <a:extLst>
              <a:ext uri="{FF2B5EF4-FFF2-40B4-BE49-F238E27FC236}">
                <a16:creationId xmlns:a16="http://schemas.microsoft.com/office/drawing/2014/main" id="{52892A2F-7181-8E7E-546D-9B28F51BDDE8}"/>
              </a:ext>
            </a:extLst>
          </p:cNvPr>
          <p:cNvSpPr txBox="1"/>
          <p:nvPr/>
        </p:nvSpPr>
        <p:spPr>
          <a:xfrm>
            <a:off x="710100" y="5640003"/>
            <a:ext cx="6925870" cy="1477328"/>
          </a:xfrm>
          <a:prstGeom prst="rect">
            <a:avLst/>
          </a:prstGeom>
          <a:noFill/>
        </p:spPr>
        <p:txBody>
          <a:bodyPr wrap="none" rtlCol="0">
            <a:spAutoFit/>
          </a:bodyPr>
          <a:lstStyle/>
          <a:p>
            <a:r>
              <a:rPr lang="de-DE" b="1" dirty="0"/>
              <a:t>Aufwand:</a:t>
            </a:r>
            <a:endParaRPr lang="de-DE" dirty="0"/>
          </a:p>
          <a:p>
            <a:pPr marL="285750" indent="-285750">
              <a:buFont typeface="Arial" panose="020B0604020202020204" pitchFamily="34" charset="0"/>
              <a:buChar char="•"/>
            </a:pPr>
            <a:r>
              <a:rPr lang="de-DE" dirty="0"/>
              <a:t>3 Modelle × 6 Formate × 400 Samples = </a:t>
            </a:r>
            <a:r>
              <a:rPr lang="de-DE" b="1" dirty="0"/>
              <a:t>7.200 API-Calls</a:t>
            </a:r>
            <a:endParaRPr lang="de-DE" dirty="0"/>
          </a:p>
          <a:p>
            <a:pPr marL="285750" indent="-285750">
              <a:buFont typeface="Arial" panose="020B0604020202020204" pitchFamily="34" charset="0"/>
              <a:buChar char="•"/>
            </a:pPr>
            <a:r>
              <a:rPr lang="de-DE" dirty="0"/>
              <a:t>Geschätzte Kosten: </a:t>
            </a:r>
            <a:r>
              <a:rPr lang="de-DE" b="1" dirty="0"/>
              <a:t>&lt;$10</a:t>
            </a:r>
            <a:r>
              <a:rPr lang="de-DE" dirty="0"/>
              <a:t> (DeepSeek ~$1, Gemini ~$5, Qwen ~$3)</a:t>
            </a:r>
          </a:p>
          <a:p>
            <a:pPr marL="285750" indent="-285750">
              <a:buFont typeface="Arial" panose="020B0604020202020204" pitchFamily="34" charset="0"/>
              <a:buChar char="•"/>
            </a:pPr>
            <a:r>
              <a:rPr lang="de-DE" dirty="0"/>
              <a:t>Geschätzte Zeit: </a:t>
            </a:r>
            <a:r>
              <a:rPr lang="de-DE" b="1" dirty="0"/>
              <a:t>1-2 Tage</a:t>
            </a:r>
            <a:r>
              <a:rPr lang="de-DE" dirty="0"/>
              <a:t> (inkl. Programmierung + Rate-</a:t>
            </a:r>
            <a:r>
              <a:rPr lang="de-DE" dirty="0" err="1"/>
              <a:t>Limiting</a:t>
            </a:r>
            <a:r>
              <a:rPr lang="de-DE" dirty="0"/>
              <a:t>)</a:t>
            </a:r>
          </a:p>
          <a:p>
            <a:endParaRPr lang="de-DE" dirty="0"/>
          </a:p>
        </p:txBody>
      </p:sp>
    </p:spTree>
    <p:extLst>
      <p:ext uri="{BB962C8B-B14F-4D97-AF65-F5344CB8AC3E}">
        <p14:creationId xmlns:p14="http://schemas.microsoft.com/office/powerpoint/2010/main" val="385215289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6C62C1-971E-D928-5A6D-552D7C0C2316}"/>
              </a:ext>
            </a:extLst>
          </p:cNvPr>
          <p:cNvSpPr>
            <a:spLocks noGrp="1"/>
          </p:cNvSpPr>
          <p:nvPr>
            <p:ph type="title"/>
          </p:nvPr>
        </p:nvSpPr>
        <p:spPr/>
        <p:txBody>
          <a:bodyPr/>
          <a:lstStyle/>
          <a:p>
            <a:r>
              <a:rPr lang="de-DE" dirty="0" err="1"/>
              <a:t>What</a:t>
            </a:r>
            <a:r>
              <a:rPr lang="de-DE" dirty="0"/>
              <a:t> </a:t>
            </a:r>
            <a:r>
              <a:rPr lang="de-DE" dirty="0" err="1"/>
              <a:t>the</a:t>
            </a:r>
            <a:r>
              <a:rPr lang="de-DE" dirty="0"/>
              <a:t> Pilot </a:t>
            </a:r>
            <a:r>
              <a:rPr lang="de-DE" dirty="0" err="1"/>
              <a:t>Could</a:t>
            </a:r>
            <a:r>
              <a:rPr lang="de-DE" dirty="0"/>
              <a:t> Tell </a:t>
            </a:r>
            <a:r>
              <a:rPr lang="de-DE" dirty="0" err="1"/>
              <a:t>Us</a:t>
            </a:r>
            <a:endParaRPr lang="de-DE" dirty="0"/>
          </a:p>
        </p:txBody>
      </p:sp>
      <p:graphicFrame>
        <p:nvGraphicFramePr>
          <p:cNvPr id="4" name="Content Placeholder 3">
            <a:extLst>
              <a:ext uri="{FF2B5EF4-FFF2-40B4-BE49-F238E27FC236}">
                <a16:creationId xmlns:a16="http://schemas.microsoft.com/office/drawing/2014/main" id="{3D696199-0E34-8C7F-C04A-9E7441B62946}"/>
              </a:ext>
            </a:extLst>
          </p:cNvPr>
          <p:cNvGraphicFramePr>
            <a:graphicFrameLocks noGrp="1"/>
          </p:cNvGraphicFramePr>
          <p:nvPr>
            <p:ph idx="1"/>
            <p:extLst>
              <p:ext uri="{D42A27DB-BD31-4B8C-83A1-F6EECF244321}">
                <p14:modId xmlns:p14="http://schemas.microsoft.com/office/powerpoint/2010/main" val="2765190989"/>
              </p:ext>
            </p:extLst>
          </p:nvPr>
        </p:nvGraphicFramePr>
        <p:xfrm>
          <a:off x="692426" y="1755713"/>
          <a:ext cx="10515600" cy="1920240"/>
        </p:xfrm>
        <a:graphic>
          <a:graphicData uri="http://schemas.openxmlformats.org/drawingml/2006/table">
            <a:tbl>
              <a:tblPr/>
              <a:tblGrid>
                <a:gridCol w="5257800">
                  <a:extLst>
                    <a:ext uri="{9D8B030D-6E8A-4147-A177-3AD203B41FA5}">
                      <a16:colId xmlns:a16="http://schemas.microsoft.com/office/drawing/2014/main" val="122493381"/>
                    </a:ext>
                  </a:extLst>
                </a:gridCol>
                <a:gridCol w="5257800">
                  <a:extLst>
                    <a:ext uri="{9D8B030D-6E8A-4147-A177-3AD203B41FA5}">
                      <a16:colId xmlns:a16="http://schemas.microsoft.com/office/drawing/2014/main" val="4253806024"/>
                    </a:ext>
                  </a:extLst>
                </a:gridCol>
              </a:tblGrid>
              <a:tr h="0">
                <a:tc>
                  <a:txBody>
                    <a:bodyPr/>
                    <a:lstStyle/>
                    <a:p>
                      <a:pPr algn="l">
                        <a:spcAft>
                          <a:spcPts val="1200"/>
                        </a:spcAft>
                        <a:buNone/>
                      </a:pPr>
                      <a:r>
                        <a:rPr lang="de-DE" sz="1200" b="1" i="0">
                          <a:solidFill>
                            <a:srgbClr val="1F2328"/>
                          </a:solidFill>
                          <a:effectLst/>
                          <a:latin typeface="Mona Sans VF"/>
                        </a:rPr>
                        <a:t>Ergebnis</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1" i="0">
                          <a:solidFill>
                            <a:srgbClr val="1F2328"/>
                          </a:solidFill>
                          <a:effectLst/>
                          <a:latin typeface="Mona Sans VF"/>
                        </a:rPr>
                        <a:t>Schlussfolgerung für Hauptexperiment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735909387"/>
                  </a:ext>
                </a:extLst>
              </a:tr>
              <a:tr h="0">
                <a:tc>
                  <a:txBody>
                    <a:bodyPr/>
                    <a:lstStyle/>
                    <a:p>
                      <a:pPr algn="l">
                        <a:spcAft>
                          <a:spcPts val="1200"/>
                        </a:spcAft>
                        <a:buNone/>
                      </a:pPr>
                      <a:r>
                        <a:rPr lang="de-DE" sz="1200" b="1" i="0">
                          <a:solidFill>
                            <a:srgbClr val="1F2328"/>
                          </a:solidFill>
                          <a:effectLst/>
                          <a:latin typeface="Mona Sans VF"/>
                        </a:rPr>
                        <a:t>Pinyin+Ton# &gt; IPA</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LLMs nutzen lateinische Vertrautheit → Pinyin als beste Wahl (</a:t>
                      </a:r>
                      <a:r>
                        <a:rPr lang="de-DE" sz="1200" b="1" i="0">
                          <a:solidFill>
                            <a:srgbClr val="1F2328"/>
                          </a:solidFill>
                          <a:effectLst/>
                          <a:latin typeface="Mona Sans VF"/>
                        </a:rPr>
                        <a:t>Chirkova-Umkehr</a:t>
                      </a:r>
                      <a:r>
                        <a:rPr lang="de-DE" sz="1200" b="0" i="0">
                          <a:solidFill>
                            <a:srgbClr val="1F2328"/>
                          </a:solidFill>
                          <a:effectLst/>
                          <a:latin typeface="Mona Sans VF"/>
                        </a:rPr>
                        <a: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3043380964"/>
                  </a:ext>
                </a:extLst>
              </a:tr>
              <a:tr h="0">
                <a:tc>
                  <a:txBody>
                    <a:bodyPr/>
                    <a:lstStyle/>
                    <a:p>
                      <a:pPr algn="l">
                        <a:spcAft>
                          <a:spcPts val="1200"/>
                        </a:spcAft>
                        <a:buNone/>
                      </a:pPr>
                      <a:r>
                        <a:rPr lang="de-DE" sz="1200" b="1" i="0">
                          <a:solidFill>
                            <a:srgbClr val="1F2328"/>
                          </a:solidFill>
                          <a:effectLst/>
                          <a:latin typeface="Mona Sans VF"/>
                        </a:rPr>
                        <a:t>IPA &gt; Pinyin</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Bestätigt Chirkova (2025) → IPA ist auch bei LLMs überlegen</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4028052617"/>
                  </a:ext>
                </a:extLst>
              </a:tr>
              <a:tr h="0">
                <a:tc>
                  <a:txBody>
                    <a:bodyPr/>
                    <a:lstStyle/>
                    <a:p>
                      <a:pPr algn="l">
                        <a:spcAft>
                          <a:spcPts val="1200"/>
                        </a:spcAft>
                        <a:buNone/>
                      </a:pPr>
                      <a:r>
                        <a:rPr lang="de-DE" sz="1200" b="1" i="0">
                          <a:solidFill>
                            <a:srgbClr val="1F2328"/>
                          </a:solidFill>
                          <a:effectLst/>
                          <a:latin typeface="Mona Sans VF"/>
                        </a:rPr>
                        <a:t>Pinyin+Diakritika = Pinyin+Ton#</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Töne werden trotz Diakritika korrekt erkannt → Format-Wahl flexibel</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943469965"/>
                  </a:ext>
                </a:extLst>
              </a:tr>
              <a:tr h="0">
                <a:tc>
                  <a:txBody>
                    <a:bodyPr/>
                    <a:lstStyle/>
                    <a:p>
                      <a:pPr algn="l">
                        <a:spcAft>
                          <a:spcPts val="1200"/>
                        </a:spcAft>
                        <a:buNone/>
                      </a:pPr>
                      <a:r>
                        <a:rPr lang="de-DE" sz="1200" b="1" i="0">
                          <a:solidFill>
                            <a:srgbClr val="1F2328"/>
                          </a:solidFill>
                          <a:effectLst/>
                          <a:latin typeface="Mona Sans VF"/>
                        </a:rPr>
                        <a:t>Chao-Nummern separat am besten</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a:solidFill>
                            <a:srgbClr val="1F2328"/>
                          </a:solidFill>
                          <a:effectLst/>
                          <a:latin typeface="Mona Sans VF"/>
                        </a:rPr>
                        <a:t>Trennung Silbe/Ton hilft dem Modell → Hybrid-Format für Hauptexperiment</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3750506870"/>
                  </a:ext>
                </a:extLst>
              </a:tr>
              <a:tr h="0">
                <a:tc>
                  <a:txBody>
                    <a:bodyPr/>
                    <a:lstStyle/>
                    <a:p>
                      <a:pPr algn="l">
                        <a:spcAft>
                          <a:spcPts val="1200"/>
                        </a:spcAft>
                        <a:buNone/>
                      </a:pPr>
                      <a:r>
                        <a:rPr lang="de-DE" sz="1200" b="1" i="0">
                          <a:solidFill>
                            <a:srgbClr val="1F2328"/>
                          </a:solidFill>
                          <a:effectLst/>
                          <a:latin typeface="Mona Sans VF"/>
                        </a:rPr>
                        <a:t>Alle Formate gleich gut</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tc>
                  <a:txBody>
                    <a:bodyPr/>
                    <a:lstStyle/>
                    <a:p>
                      <a:pPr algn="l">
                        <a:spcAft>
                          <a:spcPts val="1200"/>
                        </a:spcAft>
                        <a:buNone/>
                      </a:pPr>
                      <a:r>
                        <a:rPr lang="de-DE" sz="1200" b="0" i="0">
                          <a:solidFill>
                            <a:srgbClr val="1F2328"/>
                          </a:solidFill>
                          <a:effectLst/>
                          <a:latin typeface="Mona Sans VF"/>
                        </a:rPr>
                        <a:t>Format spielt keine Rolle → einfachstes Format (Pinyin+Ton#) wählen</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FFFFF"/>
                    </a:solidFill>
                  </a:tcPr>
                </a:tc>
                <a:extLst>
                  <a:ext uri="{0D108BD9-81ED-4DB2-BD59-A6C34878D82A}">
                    <a16:rowId xmlns:a16="http://schemas.microsoft.com/office/drawing/2014/main" val="3245546442"/>
                  </a:ext>
                </a:extLst>
              </a:tr>
              <a:tr h="0">
                <a:tc>
                  <a:txBody>
                    <a:bodyPr/>
                    <a:lstStyle/>
                    <a:p>
                      <a:pPr algn="l">
                        <a:spcAft>
                          <a:spcPts val="1200"/>
                        </a:spcAft>
                        <a:buNone/>
                      </a:pPr>
                      <a:r>
                        <a:rPr lang="de-DE" sz="1200" b="1" i="0">
                          <a:solidFill>
                            <a:srgbClr val="1F2328"/>
                          </a:solidFill>
                          <a:effectLst/>
                          <a:latin typeface="Mona Sans VF"/>
                        </a:rPr>
                        <a:t>Alle Formate schlecht</a:t>
                      </a:r>
                      <a:endParaRPr lang="de-DE" sz="1200" b="0" i="0">
                        <a:solidFill>
                          <a:srgbClr val="1F2328"/>
                        </a:solidFill>
                        <a:effectLst/>
                        <a:latin typeface="Mona Sans VF"/>
                      </a:endParaRP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tc>
                  <a:txBody>
                    <a:bodyPr/>
                    <a:lstStyle/>
                    <a:p>
                      <a:pPr algn="l">
                        <a:spcAft>
                          <a:spcPts val="1200"/>
                        </a:spcAft>
                        <a:buNone/>
                      </a:pPr>
                      <a:r>
                        <a:rPr lang="de-DE" sz="1200" b="0" i="0" dirty="0">
                          <a:solidFill>
                            <a:srgbClr val="1F2328"/>
                          </a:solidFill>
                          <a:effectLst/>
                          <a:latin typeface="Mona Sans VF"/>
                        </a:rPr>
                        <a:t>LLMs können Töne generell nicht → fundamentales Ergebnis, negiert RQ-Prämisse</a:t>
                      </a:r>
                    </a:p>
                  </a:txBody>
                  <a:tcPr marL="99060" marR="99060" anchor="ctr">
                    <a:lnL w="6767" cap="flat" cmpd="sng" algn="ctr">
                      <a:solidFill>
                        <a:srgbClr val="D1D9E0"/>
                      </a:solidFill>
                      <a:prstDash val="solid"/>
                      <a:round/>
                      <a:headEnd type="none" w="med" len="med"/>
                      <a:tailEnd type="none" w="med" len="med"/>
                    </a:lnL>
                    <a:lnR w="6767" cap="flat" cmpd="sng" algn="ctr">
                      <a:solidFill>
                        <a:srgbClr val="D1D9E0"/>
                      </a:solidFill>
                      <a:prstDash val="solid"/>
                      <a:round/>
                      <a:headEnd type="none" w="med" len="med"/>
                      <a:tailEnd type="none" w="med" len="med"/>
                    </a:lnR>
                    <a:lnT w="6767" cap="flat" cmpd="sng" algn="ctr">
                      <a:solidFill>
                        <a:srgbClr val="D1D9E0"/>
                      </a:solidFill>
                      <a:prstDash val="solid"/>
                      <a:round/>
                      <a:headEnd type="none" w="med" len="med"/>
                      <a:tailEnd type="none" w="med" len="med"/>
                    </a:lnT>
                    <a:lnB w="6767" cap="flat" cmpd="sng" algn="ctr">
                      <a:solidFill>
                        <a:srgbClr val="D1D9E0"/>
                      </a:solidFill>
                      <a:prstDash val="solid"/>
                      <a:round/>
                      <a:headEnd type="none" w="med" len="med"/>
                      <a:tailEnd type="none" w="med" len="med"/>
                    </a:lnB>
                    <a:solidFill>
                      <a:srgbClr val="F6F8FA"/>
                    </a:solidFill>
                  </a:tcPr>
                </a:tc>
                <a:extLst>
                  <a:ext uri="{0D108BD9-81ED-4DB2-BD59-A6C34878D82A}">
                    <a16:rowId xmlns:a16="http://schemas.microsoft.com/office/drawing/2014/main" val="4047253515"/>
                  </a:ext>
                </a:extLst>
              </a:tr>
            </a:tbl>
          </a:graphicData>
        </a:graphic>
      </p:graphicFrame>
      <p:sp>
        <p:nvSpPr>
          <p:cNvPr id="5" name="TextBox 4">
            <a:extLst>
              <a:ext uri="{FF2B5EF4-FFF2-40B4-BE49-F238E27FC236}">
                <a16:creationId xmlns:a16="http://schemas.microsoft.com/office/drawing/2014/main" id="{8AB22878-9019-7692-5CA0-6A8AAAF3E5B1}"/>
              </a:ext>
            </a:extLst>
          </p:cNvPr>
          <p:cNvSpPr txBox="1"/>
          <p:nvPr/>
        </p:nvSpPr>
        <p:spPr>
          <a:xfrm>
            <a:off x="1828801" y="4410831"/>
            <a:ext cx="8766348" cy="1754326"/>
          </a:xfrm>
          <a:prstGeom prst="rect">
            <a:avLst/>
          </a:prstGeom>
          <a:noFill/>
        </p:spPr>
        <p:txBody>
          <a:bodyPr wrap="square" rtlCol="0">
            <a:spAutoFit/>
          </a:bodyPr>
          <a:lstStyle/>
          <a:p>
            <a:r>
              <a:rPr lang="de-DE" b="1" dirty="0"/>
              <a:t>In der Thesis:</a:t>
            </a:r>
            <a:endParaRPr lang="de-DE" dirty="0"/>
          </a:p>
          <a:p>
            <a:r>
              <a:rPr lang="de-DE" dirty="0"/>
              <a:t>"</a:t>
            </a:r>
            <a:r>
              <a:rPr lang="de-DE" dirty="0" err="1"/>
              <a:t>To</a:t>
            </a:r>
            <a:r>
              <a:rPr lang="de-DE" dirty="0"/>
              <a:t> </a:t>
            </a:r>
            <a:r>
              <a:rPr lang="de-DE" dirty="0" err="1"/>
              <a:t>determine</a:t>
            </a:r>
            <a:r>
              <a:rPr lang="de-DE" dirty="0"/>
              <a:t> </a:t>
            </a:r>
            <a:r>
              <a:rPr lang="de-DE" dirty="0" err="1"/>
              <a:t>the</a:t>
            </a:r>
            <a:r>
              <a:rPr lang="de-DE" dirty="0"/>
              <a:t> optimal </a:t>
            </a:r>
            <a:r>
              <a:rPr lang="de-DE" dirty="0" err="1"/>
              <a:t>phonetic</a:t>
            </a:r>
            <a:r>
              <a:rPr lang="de-DE" dirty="0"/>
              <a:t> </a:t>
            </a:r>
            <a:r>
              <a:rPr lang="de-DE" dirty="0" err="1"/>
              <a:t>transcription</a:t>
            </a:r>
            <a:r>
              <a:rPr lang="de-DE" dirty="0"/>
              <a:t> </a:t>
            </a:r>
            <a:r>
              <a:rPr lang="de-DE" dirty="0" err="1"/>
              <a:t>format</a:t>
            </a:r>
            <a:r>
              <a:rPr lang="de-DE" dirty="0"/>
              <a:t> </a:t>
            </a:r>
            <a:r>
              <a:rPr lang="de-DE" dirty="0" err="1"/>
              <a:t>for</a:t>
            </a:r>
            <a:r>
              <a:rPr lang="de-DE" dirty="0"/>
              <a:t> </a:t>
            </a:r>
            <a:r>
              <a:rPr lang="de-DE" dirty="0" err="1"/>
              <a:t>evaluating</a:t>
            </a:r>
            <a:r>
              <a:rPr lang="de-DE" dirty="0"/>
              <a:t> multimodal LLMs on Mandarin tone </a:t>
            </a:r>
            <a:r>
              <a:rPr lang="de-DE" dirty="0" err="1"/>
              <a:t>transcription</a:t>
            </a:r>
            <a:r>
              <a:rPr lang="de-DE" dirty="0"/>
              <a:t>, </a:t>
            </a:r>
            <a:r>
              <a:rPr lang="de-DE" dirty="0" err="1"/>
              <a:t>we</a:t>
            </a:r>
            <a:r>
              <a:rPr lang="de-DE" dirty="0"/>
              <a:t> </a:t>
            </a:r>
            <a:r>
              <a:rPr lang="de-DE" dirty="0" err="1"/>
              <a:t>conducted</a:t>
            </a:r>
            <a:r>
              <a:rPr lang="de-DE" dirty="0"/>
              <a:t> a </a:t>
            </a:r>
            <a:r>
              <a:rPr lang="de-DE" dirty="0" err="1"/>
              <a:t>pilot</a:t>
            </a:r>
            <a:r>
              <a:rPr lang="de-DE" dirty="0"/>
              <a:t> </a:t>
            </a:r>
            <a:r>
              <a:rPr lang="de-DE" dirty="0" err="1"/>
              <a:t>experiment</a:t>
            </a:r>
            <a:r>
              <a:rPr lang="de-DE" dirty="0"/>
              <a:t> </a:t>
            </a:r>
            <a:r>
              <a:rPr lang="de-DE" dirty="0" err="1"/>
              <a:t>comparing</a:t>
            </a:r>
            <a:r>
              <a:rPr lang="de-DE" dirty="0"/>
              <a:t> 6 </a:t>
            </a:r>
            <a:r>
              <a:rPr lang="de-DE" dirty="0" err="1"/>
              <a:t>transcription</a:t>
            </a:r>
            <a:r>
              <a:rPr lang="de-DE" dirty="0"/>
              <a:t> </a:t>
            </a:r>
            <a:r>
              <a:rPr lang="de-DE" dirty="0" err="1"/>
              <a:t>formats</a:t>
            </a:r>
            <a:r>
              <a:rPr lang="de-DE" dirty="0"/>
              <a:t> </a:t>
            </a:r>
            <a:r>
              <a:rPr lang="de-DE" dirty="0" err="1"/>
              <a:t>across</a:t>
            </a:r>
            <a:r>
              <a:rPr lang="de-DE" dirty="0"/>
              <a:t> 3 </a:t>
            </a:r>
            <a:r>
              <a:rPr lang="de-DE" dirty="0" err="1"/>
              <a:t>models</a:t>
            </a:r>
            <a:r>
              <a:rPr lang="de-DE" dirty="0"/>
              <a:t>. </a:t>
            </a:r>
            <a:r>
              <a:rPr lang="de-DE" dirty="0" err="1"/>
              <a:t>Based</a:t>
            </a:r>
            <a:r>
              <a:rPr lang="de-DE" dirty="0"/>
              <a:t> on </a:t>
            </a:r>
            <a:r>
              <a:rPr lang="de-DE" dirty="0" err="1"/>
              <a:t>the</a:t>
            </a:r>
            <a:r>
              <a:rPr lang="de-DE" dirty="0"/>
              <a:t> </a:t>
            </a:r>
            <a:r>
              <a:rPr lang="de-DE" dirty="0" err="1"/>
              <a:t>results</a:t>
            </a:r>
            <a:r>
              <a:rPr lang="de-DE" dirty="0"/>
              <a:t>, </a:t>
            </a:r>
            <a:r>
              <a:rPr lang="de-DE" dirty="0" err="1"/>
              <a:t>we</a:t>
            </a:r>
            <a:r>
              <a:rPr lang="de-DE" dirty="0"/>
              <a:t> </a:t>
            </a:r>
            <a:r>
              <a:rPr lang="de-DE" dirty="0" err="1"/>
              <a:t>selected</a:t>
            </a:r>
            <a:r>
              <a:rPr lang="de-DE" dirty="0"/>
              <a:t> [FORMAT] </a:t>
            </a:r>
            <a:r>
              <a:rPr lang="de-DE" dirty="0" err="1"/>
              <a:t>for</a:t>
            </a:r>
            <a:r>
              <a:rPr lang="de-DE" dirty="0"/>
              <a:t> </a:t>
            </a:r>
            <a:r>
              <a:rPr lang="de-DE" dirty="0" err="1"/>
              <a:t>the</a:t>
            </a:r>
            <a:r>
              <a:rPr lang="de-DE" dirty="0"/>
              <a:t> </a:t>
            </a:r>
            <a:r>
              <a:rPr lang="de-DE" dirty="0" err="1"/>
              <a:t>main</a:t>
            </a:r>
            <a:r>
              <a:rPr lang="de-DE" dirty="0"/>
              <a:t> </a:t>
            </a:r>
            <a:r>
              <a:rPr lang="de-DE" dirty="0" err="1"/>
              <a:t>experiments</a:t>
            </a:r>
            <a:r>
              <a:rPr lang="de-DE" dirty="0"/>
              <a:t> (RQ1–RQ5)."</a:t>
            </a:r>
          </a:p>
          <a:p>
            <a:endParaRPr lang="de-DE" dirty="0"/>
          </a:p>
        </p:txBody>
      </p:sp>
    </p:spTree>
    <p:extLst>
      <p:ext uri="{BB962C8B-B14F-4D97-AF65-F5344CB8AC3E}">
        <p14:creationId xmlns:p14="http://schemas.microsoft.com/office/powerpoint/2010/main" val="205161089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3EBC37-807D-CCB9-B444-0B3C02DDA679}"/>
              </a:ext>
            </a:extLst>
          </p:cNvPr>
          <p:cNvSpPr>
            <a:spLocks noGrp="1"/>
          </p:cNvSpPr>
          <p:nvPr>
            <p:ph type="title"/>
          </p:nvPr>
        </p:nvSpPr>
        <p:spPr/>
        <p:txBody>
          <a:bodyPr/>
          <a:lstStyle/>
          <a:p>
            <a:endParaRPr lang="de-DE"/>
          </a:p>
        </p:txBody>
      </p:sp>
      <p:sp>
        <p:nvSpPr>
          <p:cNvPr id="3" name="Content Placeholder 2">
            <a:extLst>
              <a:ext uri="{FF2B5EF4-FFF2-40B4-BE49-F238E27FC236}">
                <a16:creationId xmlns:a16="http://schemas.microsoft.com/office/drawing/2014/main" id="{5251CB6A-EE2E-1E14-CB63-CD7702F11B21}"/>
              </a:ext>
            </a:extLst>
          </p:cNvPr>
          <p:cNvSpPr>
            <a:spLocks noGrp="1"/>
          </p:cNvSpPr>
          <p:nvPr>
            <p:ph idx="1"/>
          </p:nvPr>
        </p:nvSpPr>
        <p:spPr/>
        <p:txBody>
          <a:bodyPr/>
          <a:lstStyle/>
          <a:p>
            <a:endParaRPr lang="de-DE"/>
          </a:p>
        </p:txBody>
      </p:sp>
    </p:spTree>
    <p:extLst>
      <p:ext uri="{BB962C8B-B14F-4D97-AF65-F5344CB8AC3E}">
        <p14:creationId xmlns:p14="http://schemas.microsoft.com/office/powerpoint/2010/main" val="2161251149"/>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21A8C-41FD-18DE-CE3D-5A745019F9DF}"/>
              </a:ext>
            </a:extLst>
          </p:cNvPr>
          <p:cNvSpPr>
            <a:spLocks noGrp="1"/>
          </p:cNvSpPr>
          <p:nvPr>
            <p:ph type="title"/>
          </p:nvPr>
        </p:nvSpPr>
        <p:spPr/>
        <p:txBody>
          <a:bodyPr/>
          <a:lstStyle/>
          <a:p>
            <a:r>
              <a:rPr lang="de-DE" dirty="0"/>
              <a:t>Experiment</a:t>
            </a:r>
          </a:p>
        </p:txBody>
      </p:sp>
      <p:sp>
        <p:nvSpPr>
          <p:cNvPr id="3" name="Content Placeholder 2">
            <a:extLst>
              <a:ext uri="{FF2B5EF4-FFF2-40B4-BE49-F238E27FC236}">
                <a16:creationId xmlns:a16="http://schemas.microsoft.com/office/drawing/2014/main" id="{4181182F-00F2-207D-3490-D1C1B91A8906}"/>
              </a:ext>
            </a:extLst>
          </p:cNvPr>
          <p:cNvSpPr>
            <a:spLocks noGrp="1"/>
          </p:cNvSpPr>
          <p:nvPr>
            <p:ph idx="1"/>
          </p:nvPr>
        </p:nvSpPr>
        <p:spPr/>
        <p:txBody>
          <a:bodyPr/>
          <a:lstStyle/>
          <a:p>
            <a:endParaRPr lang="de-DE"/>
          </a:p>
        </p:txBody>
      </p:sp>
    </p:spTree>
    <p:extLst>
      <p:ext uri="{BB962C8B-B14F-4D97-AF65-F5344CB8AC3E}">
        <p14:creationId xmlns:p14="http://schemas.microsoft.com/office/powerpoint/2010/main" val="151002648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A7C7BE-288E-4A06-B90A-2319569BC2F4}"/>
              </a:ext>
            </a:extLst>
          </p:cNvPr>
          <p:cNvSpPr>
            <a:spLocks noGrp="1"/>
          </p:cNvSpPr>
          <p:nvPr>
            <p:ph type="title"/>
          </p:nvPr>
        </p:nvSpPr>
        <p:spPr/>
        <p:txBody>
          <a:bodyPr/>
          <a:lstStyle/>
          <a:p>
            <a:r>
              <a:rPr lang="de-DE" dirty="0"/>
              <a:t>5 Forschungsfragen — 3 Bewertungsachsen statt nur CER</a:t>
            </a:r>
          </a:p>
        </p:txBody>
      </p:sp>
      <p:pic>
        <p:nvPicPr>
          <p:cNvPr id="5" name="Content Placeholder 4">
            <a:extLst>
              <a:ext uri="{FF2B5EF4-FFF2-40B4-BE49-F238E27FC236}">
                <a16:creationId xmlns:a16="http://schemas.microsoft.com/office/drawing/2014/main" id="{40FAF2CA-9EF4-FE3B-2F20-E8DD192D6B9A}"/>
              </a:ext>
            </a:extLst>
          </p:cNvPr>
          <p:cNvPicPr>
            <a:picLocks noGrp="1" noChangeAspect="1"/>
          </p:cNvPicPr>
          <p:nvPr>
            <p:ph idx="1"/>
          </p:nvPr>
        </p:nvPicPr>
        <p:blipFill>
          <a:blip r:embed="rId3"/>
          <a:stretch>
            <a:fillRect/>
          </a:stretch>
        </p:blipFill>
        <p:spPr>
          <a:xfrm>
            <a:off x="2308147" y="2271715"/>
            <a:ext cx="6096528" cy="1455546"/>
          </a:xfrm>
          <a:prstGeom prst="rect">
            <a:avLst/>
          </a:prstGeom>
        </p:spPr>
      </p:pic>
      <p:pic>
        <p:nvPicPr>
          <p:cNvPr id="7" name="Picture 6">
            <a:extLst>
              <a:ext uri="{FF2B5EF4-FFF2-40B4-BE49-F238E27FC236}">
                <a16:creationId xmlns:a16="http://schemas.microsoft.com/office/drawing/2014/main" id="{A12BA5F8-48BE-1A60-265C-31C26D0B042B}"/>
              </a:ext>
            </a:extLst>
          </p:cNvPr>
          <p:cNvPicPr>
            <a:picLocks noChangeAspect="1"/>
          </p:cNvPicPr>
          <p:nvPr/>
        </p:nvPicPr>
        <p:blipFill>
          <a:blip r:embed="rId4"/>
          <a:stretch>
            <a:fillRect/>
          </a:stretch>
        </p:blipFill>
        <p:spPr>
          <a:xfrm>
            <a:off x="2361552" y="3995723"/>
            <a:ext cx="4618120" cy="1623201"/>
          </a:xfrm>
          <a:prstGeom prst="rect">
            <a:avLst/>
          </a:prstGeom>
        </p:spPr>
      </p:pic>
    </p:spTree>
    <p:extLst>
      <p:ext uri="{BB962C8B-B14F-4D97-AF65-F5344CB8AC3E}">
        <p14:creationId xmlns:p14="http://schemas.microsoft.com/office/powerpoint/2010/main" val="777585531"/>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30721C-5E3E-81D2-B270-8E317BC5479F}"/>
              </a:ext>
            </a:extLst>
          </p:cNvPr>
          <p:cNvSpPr>
            <a:spLocks noGrp="1"/>
          </p:cNvSpPr>
          <p:nvPr>
            <p:ph type="title"/>
          </p:nvPr>
        </p:nvSpPr>
        <p:spPr/>
        <p:txBody>
          <a:bodyPr/>
          <a:lstStyle/>
          <a:p>
            <a:r>
              <a:rPr lang="de-DE" dirty="0"/>
              <a:t>Die Experimente — 5 Pflicht + 2 Kür</a:t>
            </a:r>
          </a:p>
        </p:txBody>
      </p:sp>
      <p:pic>
        <p:nvPicPr>
          <p:cNvPr id="5" name="Content Placeholder 4">
            <a:extLst>
              <a:ext uri="{FF2B5EF4-FFF2-40B4-BE49-F238E27FC236}">
                <a16:creationId xmlns:a16="http://schemas.microsoft.com/office/drawing/2014/main" id="{CE261626-A388-F3DD-1018-B5BA9FD5CF1D}"/>
              </a:ext>
            </a:extLst>
          </p:cNvPr>
          <p:cNvPicPr>
            <a:picLocks noGrp="1" noChangeAspect="1"/>
          </p:cNvPicPr>
          <p:nvPr>
            <p:ph idx="1"/>
          </p:nvPr>
        </p:nvPicPr>
        <p:blipFill>
          <a:blip r:embed="rId3"/>
          <a:stretch>
            <a:fillRect/>
          </a:stretch>
        </p:blipFill>
        <p:spPr>
          <a:xfrm>
            <a:off x="3607946" y="1825625"/>
            <a:ext cx="4976107" cy="4351338"/>
          </a:xfrm>
          <a:prstGeom prst="rect">
            <a:avLst/>
          </a:prstGeom>
        </p:spPr>
      </p:pic>
    </p:spTree>
    <p:extLst>
      <p:ext uri="{BB962C8B-B14F-4D97-AF65-F5344CB8AC3E}">
        <p14:creationId xmlns:p14="http://schemas.microsoft.com/office/powerpoint/2010/main" val="3117273142"/>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24FD5C-3EDE-A046-E059-9DF1C9AD3DB9}"/>
              </a:ext>
            </a:extLst>
          </p:cNvPr>
          <p:cNvSpPr>
            <a:spLocks noGrp="1"/>
          </p:cNvSpPr>
          <p:nvPr>
            <p:ph type="title"/>
          </p:nvPr>
        </p:nvSpPr>
        <p:spPr/>
        <p:txBody>
          <a:bodyPr/>
          <a:lstStyle/>
          <a:p>
            <a:r>
              <a:rPr lang="de-DE" dirty="0"/>
              <a:t>Modellauswahl — 3 Märkte × 3 Systemtypen</a:t>
            </a:r>
          </a:p>
        </p:txBody>
      </p:sp>
      <p:pic>
        <p:nvPicPr>
          <p:cNvPr id="5" name="Content Placeholder 4">
            <a:extLst>
              <a:ext uri="{FF2B5EF4-FFF2-40B4-BE49-F238E27FC236}">
                <a16:creationId xmlns:a16="http://schemas.microsoft.com/office/drawing/2014/main" id="{32052371-5906-7BA8-9635-951DBA443E53}"/>
              </a:ext>
            </a:extLst>
          </p:cNvPr>
          <p:cNvPicPr>
            <a:picLocks noGrp="1" noChangeAspect="1"/>
          </p:cNvPicPr>
          <p:nvPr>
            <p:ph idx="1"/>
          </p:nvPr>
        </p:nvPicPr>
        <p:blipFill>
          <a:blip r:embed="rId3"/>
          <a:stretch>
            <a:fillRect/>
          </a:stretch>
        </p:blipFill>
        <p:spPr>
          <a:xfrm>
            <a:off x="3543773" y="1825625"/>
            <a:ext cx="5104453" cy="4351338"/>
          </a:xfrm>
          <a:prstGeom prst="rect">
            <a:avLst/>
          </a:prstGeom>
        </p:spPr>
      </p:pic>
    </p:spTree>
    <p:extLst>
      <p:ext uri="{BB962C8B-B14F-4D97-AF65-F5344CB8AC3E}">
        <p14:creationId xmlns:p14="http://schemas.microsoft.com/office/powerpoint/2010/main" val="1469081608"/>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EC0744-43F9-52FE-782D-04ED18C80B4D}"/>
              </a:ext>
            </a:extLst>
          </p:cNvPr>
          <p:cNvSpPr>
            <a:spLocks noGrp="1"/>
          </p:cNvSpPr>
          <p:nvPr>
            <p:ph type="title"/>
          </p:nvPr>
        </p:nvSpPr>
        <p:spPr/>
        <p:txBody>
          <a:bodyPr/>
          <a:lstStyle/>
          <a:p>
            <a:r>
              <a:rPr lang="de-DE" dirty="0"/>
              <a:t>Welche Daten? — Pflicht-Korpora + Kür-Korpus</a:t>
            </a:r>
          </a:p>
        </p:txBody>
      </p:sp>
      <p:pic>
        <p:nvPicPr>
          <p:cNvPr id="5" name="Content Placeholder 4">
            <a:extLst>
              <a:ext uri="{FF2B5EF4-FFF2-40B4-BE49-F238E27FC236}">
                <a16:creationId xmlns:a16="http://schemas.microsoft.com/office/drawing/2014/main" id="{D8885F49-DD2C-F3F8-05AD-E6C79F707AA6}"/>
              </a:ext>
            </a:extLst>
          </p:cNvPr>
          <p:cNvPicPr>
            <a:picLocks noGrp="1" noChangeAspect="1"/>
          </p:cNvPicPr>
          <p:nvPr>
            <p:ph idx="1"/>
          </p:nvPr>
        </p:nvPicPr>
        <p:blipFill>
          <a:blip r:embed="rId3"/>
          <a:stretch>
            <a:fillRect/>
          </a:stretch>
        </p:blipFill>
        <p:spPr>
          <a:xfrm>
            <a:off x="3597322" y="1825625"/>
            <a:ext cx="4997355" cy="4351338"/>
          </a:xfrm>
          <a:prstGeom prst="rect">
            <a:avLst/>
          </a:prstGeom>
        </p:spPr>
      </p:pic>
    </p:spTree>
    <p:extLst>
      <p:ext uri="{BB962C8B-B14F-4D97-AF65-F5344CB8AC3E}">
        <p14:creationId xmlns:p14="http://schemas.microsoft.com/office/powerpoint/2010/main" val="1450883187"/>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744D0-B507-1548-D3C4-4B55016ED338}"/>
              </a:ext>
            </a:extLst>
          </p:cNvPr>
          <p:cNvSpPr>
            <a:spLocks noGrp="1"/>
          </p:cNvSpPr>
          <p:nvPr>
            <p:ph type="title"/>
          </p:nvPr>
        </p:nvSpPr>
        <p:spPr/>
        <p:txBody>
          <a:bodyPr/>
          <a:lstStyle/>
          <a:p>
            <a:r>
              <a:rPr lang="de-DE" dirty="0"/>
              <a:t>API-Kosten — Pflicht-Kern für 15–30 €</a:t>
            </a:r>
          </a:p>
        </p:txBody>
      </p:sp>
      <p:pic>
        <p:nvPicPr>
          <p:cNvPr id="5" name="Content Placeholder 4">
            <a:extLst>
              <a:ext uri="{FF2B5EF4-FFF2-40B4-BE49-F238E27FC236}">
                <a16:creationId xmlns:a16="http://schemas.microsoft.com/office/drawing/2014/main" id="{3A065561-6520-D5BC-BEBF-DBCE185694D8}"/>
              </a:ext>
            </a:extLst>
          </p:cNvPr>
          <p:cNvPicPr>
            <a:picLocks noGrp="1" noChangeAspect="1"/>
          </p:cNvPicPr>
          <p:nvPr>
            <p:ph idx="1"/>
          </p:nvPr>
        </p:nvPicPr>
        <p:blipFill>
          <a:blip r:embed="rId3"/>
          <a:stretch>
            <a:fillRect/>
          </a:stretch>
        </p:blipFill>
        <p:spPr>
          <a:xfrm>
            <a:off x="3741216" y="2160904"/>
            <a:ext cx="4709568" cy="3680779"/>
          </a:xfrm>
          <a:prstGeom prst="rect">
            <a:avLst/>
          </a:prstGeom>
        </p:spPr>
      </p:pic>
    </p:spTree>
    <p:extLst>
      <p:ext uri="{BB962C8B-B14F-4D97-AF65-F5344CB8AC3E}">
        <p14:creationId xmlns:p14="http://schemas.microsoft.com/office/powerpoint/2010/main" val="384566546"/>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D5ECC6-B73C-8683-84B8-803424275434}"/>
              </a:ext>
            </a:extLst>
          </p:cNvPr>
          <p:cNvSpPr>
            <a:spLocks noGrp="1"/>
          </p:cNvSpPr>
          <p:nvPr>
            <p:ph type="title"/>
          </p:nvPr>
        </p:nvSpPr>
        <p:spPr/>
        <p:txBody>
          <a:bodyPr/>
          <a:lstStyle/>
          <a:p>
            <a:r>
              <a:rPr lang="de-DE" dirty="0"/>
              <a:t>Phasenstrategie — günstig → teuer → Kür</a:t>
            </a:r>
          </a:p>
        </p:txBody>
      </p:sp>
      <p:pic>
        <p:nvPicPr>
          <p:cNvPr id="5" name="Content Placeholder 4">
            <a:extLst>
              <a:ext uri="{FF2B5EF4-FFF2-40B4-BE49-F238E27FC236}">
                <a16:creationId xmlns:a16="http://schemas.microsoft.com/office/drawing/2014/main" id="{80655781-25E5-0253-F917-FF683E7035C2}"/>
              </a:ext>
            </a:extLst>
          </p:cNvPr>
          <p:cNvPicPr>
            <a:picLocks noGrp="1" noChangeAspect="1"/>
          </p:cNvPicPr>
          <p:nvPr>
            <p:ph idx="1"/>
          </p:nvPr>
        </p:nvPicPr>
        <p:blipFill>
          <a:blip r:embed="rId3"/>
          <a:stretch>
            <a:fillRect/>
          </a:stretch>
        </p:blipFill>
        <p:spPr>
          <a:xfrm>
            <a:off x="3780171" y="1825625"/>
            <a:ext cx="4631658" cy="4351338"/>
          </a:xfrm>
          <a:prstGeom prst="rect">
            <a:avLst/>
          </a:prstGeom>
        </p:spPr>
      </p:pic>
    </p:spTree>
    <p:extLst>
      <p:ext uri="{BB962C8B-B14F-4D97-AF65-F5344CB8AC3E}">
        <p14:creationId xmlns:p14="http://schemas.microsoft.com/office/powerpoint/2010/main" val="152306710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541963-6240-D805-3980-4E69CC6CD97E}"/>
              </a:ext>
            </a:extLst>
          </p:cNvPr>
          <p:cNvSpPr>
            <a:spLocks noGrp="1"/>
          </p:cNvSpPr>
          <p:nvPr>
            <p:ph type="title"/>
          </p:nvPr>
        </p:nvSpPr>
        <p:spPr/>
        <p:txBody>
          <a:bodyPr/>
          <a:lstStyle/>
          <a:p>
            <a:r>
              <a:rPr lang="de-DE" dirty="0"/>
              <a:t>Was MUSS rein, was KANN rein?</a:t>
            </a:r>
          </a:p>
        </p:txBody>
      </p:sp>
      <p:pic>
        <p:nvPicPr>
          <p:cNvPr id="5" name="Content Placeholder 4">
            <a:extLst>
              <a:ext uri="{FF2B5EF4-FFF2-40B4-BE49-F238E27FC236}">
                <a16:creationId xmlns:a16="http://schemas.microsoft.com/office/drawing/2014/main" id="{B5C3898C-AE03-09DF-6E9A-E1D53673FA00}"/>
              </a:ext>
            </a:extLst>
          </p:cNvPr>
          <p:cNvPicPr>
            <a:picLocks noGrp="1" noChangeAspect="1"/>
          </p:cNvPicPr>
          <p:nvPr>
            <p:ph idx="1"/>
          </p:nvPr>
        </p:nvPicPr>
        <p:blipFill>
          <a:blip r:embed="rId3"/>
          <a:stretch>
            <a:fillRect/>
          </a:stretch>
        </p:blipFill>
        <p:spPr>
          <a:xfrm>
            <a:off x="3687871" y="2012301"/>
            <a:ext cx="4816257" cy="3977985"/>
          </a:xfrm>
          <a:prstGeom prst="rect">
            <a:avLst/>
          </a:prstGeom>
        </p:spPr>
      </p:pic>
    </p:spTree>
    <p:extLst>
      <p:ext uri="{BB962C8B-B14F-4D97-AF65-F5344CB8AC3E}">
        <p14:creationId xmlns:p14="http://schemas.microsoft.com/office/powerpoint/2010/main" val="177631215"/>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58EA1-0E48-AC70-A480-D1FB6D678948}"/>
              </a:ext>
            </a:extLst>
          </p:cNvPr>
          <p:cNvSpPr>
            <a:spLocks noGrp="1"/>
          </p:cNvSpPr>
          <p:nvPr>
            <p:ph type="title"/>
          </p:nvPr>
        </p:nvSpPr>
        <p:spPr/>
        <p:txBody>
          <a:bodyPr/>
          <a:lstStyle/>
          <a:p>
            <a:r>
              <a:rPr lang="de-DE" dirty="0"/>
              <a:t>Kür — Eigener L2-Korpus: 8–12 deutsche Lerner</a:t>
            </a:r>
          </a:p>
        </p:txBody>
      </p:sp>
      <p:pic>
        <p:nvPicPr>
          <p:cNvPr id="5" name="Content Placeholder 4">
            <a:extLst>
              <a:ext uri="{FF2B5EF4-FFF2-40B4-BE49-F238E27FC236}">
                <a16:creationId xmlns:a16="http://schemas.microsoft.com/office/drawing/2014/main" id="{FA49BA7C-EDF8-8D56-C0C9-73C29FC860DC}"/>
              </a:ext>
            </a:extLst>
          </p:cNvPr>
          <p:cNvPicPr>
            <a:picLocks noGrp="1" noChangeAspect="1"/>
          </p:cNvPicPr>
          <p:nvPr>
            <p:ph idx="1"/>
          </p:nvPr>
        </p:nvPicPr>
        <p:blipFill>
          <a:blip r:embed="rId3"/>
          <a:stretch>
            <a:fillRect/>
          </a:stretch>
        </p:blipFill>
        <p:spPr>
          <a:xfrm>
            <a:off x="3657388" y="1894181"/>
            <a:ext cx="4877223" cy="4214225"/>
          </a:xfrm>
          <a:prstGeom prst="rect">
            <a:avLst/>
          </a:prstGeom>
        </p:spPr>
      </p:pic>
    </p:spTree>
    <p:extLst>
      <p:ext uri="{BB962C8B-B14F-4D97-AF65-F5344CB8AC3E}">
        <p14:creationId xmlns:p14="http://schemas.microsoft.com/office/powerpoint/2010/main" val="2378592696"/>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278917-854D-16AA-6A9B-B472DB0BAB20}"/>
              </a:ext>
            </a:extLst>
          </p:cNvPr>
          <p:cNvSpPr>
            <a:spLocks noGrp="1"/>
          </p:cNvSpPr>
          <p:nvPr>
            <p:ph type="title"/>
          </p:nvPr>
        </p:nvSpPr>
        <p:spPr/>
        <p:txBody>
          <a:bodyPr/>
          <a:lstStyle/>
          <a:p>
            <a:r>
              <a:rPr lang="de-DE" dirty="0"/>
              <a:t>Kür — Annotationsworkflow: perzeptiv, halbautomatisch</a:t>
            </a:r>
          </a:p>
        </p:txBody>
      </p:sp>
      <p:pic>
        <p:nvPicPr>
          <p:cNvPr id="5" name="Content Placeholder 4">
            <a:extLst>
              <a:ext uri="{FF2B5EF4-FFF2-40B4-BE49-F238E27FC236}">
                <a16:creationId xmlns:a16="http://schemas.microsoft.com/office/drawing/2014/main" id="{36C73EE2-0189-EA75-4093-6807AB564C68}"/>
              </a:ext>
            </a:extLst>
          </p:cNvPr>
          <p:cNvPicPr>
            <a:picLocks noGrp="1" noChangeAspect="1"/>
          </p:cNvPicPr>
          <p:nvPr>
            <p:ph idx="1"/>
          </p:nvPr>
        </p:nvPicPr>
        <p:blipFill>
          <a:blip r:embed="rId3"/>
          <a:stretch>
            <a:fillRect/>
          </a:stretch>
        </p:blipFill>
        <p:spPr>
          <a:xfrm>
            <a:off x="3363993" y="1867509"/>
            <a:ext cx="5464013" cy="4267570"/>
          </a:xfrm>
          <a:prstGeom prst="rect">
            <a:avLst/>
          </a:prstGeom>
        </p:spPr>
      </p:pic>
    </p:spTree>
    <p:extLst>
      <p:ext uri="{BB962C8B-B14F-4D97-AF65-F5344CB8AC3E}">
        <p14:creationId xmlns:p14="http://schemas.microsoft.com/office/powerpoint/2010/main" val="417332143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BEA495-D606-B3A7-2CA3-F770D9103F3C}"/>
              </a:ext>
            </a:extLst>
          </p:cNvPr>
          <p:cNvSpPr>
            <a:spLocks noGrp="1"/>
          </p:cNvSpPr>
          <p:nvPr>
            <p:ph type="title"/>
          </p:nvPr>
        </p:nvSpPr>
        <p:spPr/>
        <p:txBody>
          <a:bodyPr/>
          <a:lstStyle/>
          <a:p>
            <a:r>
              <a:rPr lang="de-DE" dirty="0"/>
              <a:t>6 Metriken — Ton, Phonem, Zeichen</a:t>
            </a:r>
          </a:p>
        </p:txBody>
      </p:sp>
      <p:pic>
        <p:nvPicPr>
          <p:cNvPr id="5" name="Content Placeholder 4">
            <a:extLst>
              <a:ext uri="{FF2B5EF4-FFF2-40B4-BE49-F238E27FC236}">
                <a16:creationId xmlns:a16="http://schemas.microsoft.com/office/drawing/2014/main" id="{7BABE018-39D1-C465-B8D5-1DF8160FC1CD}"/>
              </a:ext>
            </a:extLst>
          </p:cNvPr>
          <p:cNvPicPr>
            <a:picLocks noGrp="1" noChangeAspect="1"/>
          </p:cNvPicPr>
          <p:nvPr>
            <p:ph idx="1"/>
          </p:nvPr>
        </p:nvPicPr>
        <p:blipFill>
          <a:blip r:embed="rId3"/>
          <a:stretch>
            <a:fillRect/>
          </a:stretch>
        </p:blipFill>
        <p:spPr>
          <a:xfrm>
            <a:off x="3423351" y="1825625"/>
            <a:ext cx="5345298" cy="4351338"/>
          </a:xfrm>
          <a:prstGeom prst="rect">
            <a:avLst/>
          </a:prstGeom>
        </p:spPr>
      </p:pic>
    </p:spTree>
    <p:extLst>
      <p:ext uri="{BB962C8B-B14F-4D97-AF65-F5344CB8AC3E}">
        <p14:creationId xmlns:p14="http://schemas.microsoft.com/office/powerpoint/2010/main" val="133068633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72B1AE-7508-B47C-FD0F-A9297939F489}"/>
              </a:ext>
            </a:extLst>
          </p:cNvPr>
          <p:cNvSpPr>
            <a:spLocks noGrp="1"/>
          </p:cNvSpPr>
          <p:nvPr>
            <p:ph type="title"/>
          </p:nvPr>
        </p:nvSpPr>
        <p:spPr/>
        <p:txBody>
          <a:bodyPr/>
          <a:lstStyle/>
          <a:p>
            <a:r>
              <a:rPr lang="de-DE" dirty="0"/>
              <a:t>Zeitplan — 8 Wochen Pflicht + 4 Wochen Puffer/Kür</a:t>
            </a:r>
          </a:p>
        </p:txBody>
      </p:sp>
      <p:pic>
        <p:nvPicPr>
          <p:cNvPr id="5" name="Content Placeholder 4">
            <a:extLst>
              <a:ext uri="{FF2B5EF4-FFF2-40B4-BE49-F238E27FC236}">
                <a16:creationId xmlns:a16="http://schemas.microsoft.com/office/drawing/2014/main" id="{9DBF379F-40C9-983D-3B8B-FDCFF690587D}"/>
              </a:ext>
            </a:extLst>
          </p:cNvPr>
          <p:cNvPicPr>
            <a:picLocks noGrp="1" noChangeAspect="1"/>
          </p:cNvPicPr>
          <p:nvPr>
            <p:ph idx="1"/>
          </p:nvPr>
        </p:nvPicPr>
        <p:blipFill>
          <a:blip r:embed="rId3"/>
          <a:stretch>
            <a:fillRect/>
          </a:stretch>
        </p:blipFill>
        <p:spPr>
          <a:xfrm>
            <a:off x="3863863" y="1825625"/>
            <a:ext cx="4464273" cy="4351338"/>
          </a:xfrm>
          <a:prstGeom prst="rect">
            <a:avLst/>
          </a:prstGeom>
        </p:spPr>
      </p:pic>
    </p:spTree>
    <p:extLst>
      <p:ext uri="{BB962C8B-B14F-4D97-AF65-F5344CB8AC3E}">
        <p14:creationId xmlns:p14="http://schemas.microsoft.com/office/powerpoint/2010/main" val="1954550917"/>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F294D8-CB30-1AB0-0340-6AE4C56E0A98}"/>
              </a:ext>
            </a:extLst>
          </p:cNvPr>
          <p:cNvSpPr>
            <a:spLocks noGrp="1"/>
          </p:cNvSpPr>
          <p:nvPr>
            <p:ph type="title"/>
          </p:nvPr>
        </p:nvSpPr>
        <p:spPr/>
        <p:txBody>
          <a:bodyPr/>
          <a:lstStyle/>
          <a:p>
            <a:r>
              <a:rPr lang="de-DE" dirty="0"/>
              <a:t>Methodik auf einen Blick</a:t>
            </a:r>
          </a:p>
        </p:txBody>
      </p:sp>
      <p:pic>
        <p:nvPicPr>
          <p:cNvPr id="5" name="Content Placeholder 4">
            <a:extLst>
              <a:ext uri="{FF2B5EF4-FFF2-40B4-BE49-F238E27FC236}">
                <a16:creationId xmlns:a16="http://schemas.microsoft.com/office/drawing/2014/main" id="{4EEF5AAE-CEDE-335B-9DD0-C78C38D7A08E}"/>
              </a:ext>
            </a:extLst>
          </p:cNvPr>
          <p:cNvPicPr>
            <a:picLocks noGrp="1" noChangeAspect="1"/>
          </p:cNvPicPr>
          <p:nvPr>
            <p:ph idx="1"/>
          </p:nvPr>
        </p:nvPicPr>
        <p:blipFill>
          <a:blip r:embed="rId3"/>
          <a:stretch>
            <a:fillRect/>
          </a:stretch>
        </p:blipFill>
        <p:spPr>
          <a:xfrm>
            <a:off x="3573561" y="2237111"/>
            <a:ext cx="5044877" cy="3528366"/>
          </a:xfrm>
          <a:prstGeom prst="rect">
            <a:avLst/>
          </a:prstGeom>
        </p:spPr>
      </p:pic>
    </p:spTree>
    <p:extLst>
      <p:ext uri="{BB962C8B-B14F-4D97-AF65-F5344CB8AC3E}">
        <p14:creationId xmlns:p14="http://schemas.microsoft.com/office/powerpoint/2010/main" val="2895702656"/>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85C2D-097B-68BB-1966-A55528F15DE8}"/>
              </a:ext>
            </a:extLst>
          </p:cNvPr>
          <p:cNvSpPr>
            <a:spLocks noGrp="1"/>
          </p:cNvSpPr>
          <p:nvPr>
            <p:ph type="title"/>
          </p:nvPr>
        </p:nvSpPr>
        <p:spPr/>
        <p:txBody>
          <a:bodyPr/>
          <a:lstStyle/>
          <a:p>
            <a:endParaRPr lang="de-DE"/>
          </a:p>
        </p:txBody>
      </p:sp>
      <p:sp>
        <p:nvSpPr>
          <p:cNvPr id="3" name="Content Placeholder 2">
            <a:extLst>
              <a:ext uri="{FF2B5EF4-FFF2-40B4-BE49-F238E27FC236}">
                <a16:creationId xmlns:a16="http://schemas.microsoft.com/office/drawing/2014/main" id="{9D3351D1-80DE-DDA9-2E47-B461EFA2AD00}"/>
              </a:ext>
            </a:extLst>
          </p:cNvPr>
          <p:cNvSpPr>
            <a:spLocks noGrp="1"/>
          </p:cNvSpPr>
          <p:nvPr>
            <p:ph idx="1"/>
          </p:nvPr>
        </p:nvSpPr>
        <p:spPr/>
        <p:txBody>
          <a:bodyPr/>
          <a:lstStyle/>
          <a:p>
            <a:endParaRPr lang="de-DE"/>
          </a:p>
        </p:txBody>
      </p:sp>
    </p:spTree>
    <p:extLst>
      <p:ext uri="{BB962C8B-B14F-4D97-AF65-F5344CB8AC3E}">
        <p14:creationId xmlns:p14="http://schemas.microsoft.com/office/powerpoint/2010/main" val="3117997230"/>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8EAD59-16F3-3D7B-F77B-1A5259B5D4F6}"/>
              </a:ext>
            </a:extLst>
          </p:cNvPr>
          <p:cNvSpPr>
            <a:spLocks noGrp="1"/>
          </p:cNvSpPr>
          <p:nvPr>
            <p:ph type="title"/>
          </p:nvPr>
        </p:nvSpPr>
        <p:spPr/>
        <p:txBody>
          <a:bodyPr/>
          <a:lstStyle/>
          <a:p>
            <a:endParaRPr lang="de-DE"/>
          </a:p>
        </p:txBody>
      </p:sp>
      <p:sp>
        <p:nvSpPr>
          <p:cNvPr id="3" name="Content Placeholder 2">
            <a:extLst>
              <a:ext uri="{FF2B5EF4-FFF2-40B4-BE49-F238E27FC236}">
                <a16:creationId xmlns:a16="http://schemas.microsoft.com/office/drawing/2014/main" id="{B8A55763-DCE3-9EF1-AD08-62AC79F837CB}"/>
              </a:ext>
            </a:extLst>
          </p:cNvPr>
          <p:cNvSpPr>
            <a:spLocks noGrp="1"/>
          </p:cNvSpPr>
          <p:nvPr>
            <p:ph idx="1"/>
          </p:nvPr>
        </p:nvSpPr>
        <p:spPr/>
        <p:txBody>
          <a:bodyPr/>
          <a:lstStyle/>
          <a:p>
            <a:endParaRPr lang="de-DE"/>
          </a:p>
        </p:txBody>
      </p:sp>
    </p:spTree>
    <p:extLst>
      <p:ext uri="{BB962C8B-B14F-4D97-AF65-F5344CB8AC3E}">
        <p14:creationId xmlns:p14="http://schemas.microsoft.com/office/powerpoint/2010/main" val="337801025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13DCC1-42B5-B0B4-F9C3-30CA05339F5B}"/>
              </a:ext>
            </a:extLst>
          </p:cNvPr>
          <p:cNvSpPr>
            <a:spLocks noGrp="1"/>
          </p:cNvSpPr>
          <p:nvPr>
            <p:ph type="title"/>
          </p:nvPr>
        </p:nvSpPr>
        <p:spPr>
          <a:xfrm>
            <a:off x="444909" y="-353961"/>
            <a:ext cx="10515600" cy="1325563"/>
          </a:xfrm>
        </p:spPr>
        <p:txBody>
          <a:bodyPr/>
          <a:lstStyle/>
          <a:p>
            <a:r>
              <a:rPr lang="de-DE" dirty="0"/>
              <a:t>Schlüsselworte</a:t>
            </a:r>
          </a:p>
        </p:txBody>
      </p:sp>
      <p:graphicFrame>
        <p:nvGraphicFramePr>
          <p:cNvPr id="7" name="Content Placeholder 6">
            <a:extLst>
              <a:ext uri="{FF2B5EF4-FFF2-40B4-BE49-F238E27FC236}">
                <a16:creationId xmlns:a16="http://schemas.microsoft.com/office/drawing/2014/main" id="{78D0601D-6D11-6872-C6A2-8C02D4C01CFE}"/>
              </a:ext>
            </a:extLst>
          </p:cNvPr>
          <p:cNvGraphicFramePr>
            <a:graphicFrameLocks noGrp="1"/>
          </p:cNvGraphicFramePr>
          <p:nvPr>
            <p:ph idx="1"/>
            <p:extLst>
              <p:ext uri="{D42A27DB-BD31-4B8C-83A1-F6EECF244321}">
                <p14:modId xmlns:p14="http://schemas.microsoft.com/office/powerpoint/2010/main" val="616595232"/>
              </p:ext>
            </p:extLst>
          </p:nvPr>
        </p:nvGraphicFramePr>
        <p:xfrm>
          <a:off x="838200" y="734142"/>
          <a:ext cx="10515600" cy="5765800"/>
        </p:xfrm>
        <a:graphic>
          <a:graphicData uri="http://schemas.openxmlformats.org/drawingml/2006/table">
            <a:tbl>
              <a:tblPr firstRow="1" bandRow="1">
                <a:tableStyleId>{5C22544A-7EE6-4342-B048-85BDC9FD1C3A}</a:tableStyleId>
              </a:tblPr>
              <a:tblGrid>
                <a:gridCol w="2103120">
                  <a:extLst>
                    <a:ext uri="{9D8B030D-6E8A-4147-A177-3AD203B41FA5}">
                      <a16:colId xmlns:a16="http://schemas.microsoft.com/office/drawing/2014/main" val="4236377768"/>
                    </a:ext>
                  </a:extLst>
                </a:gridCol>
                <a:gridCol w="2103120">
                  <a:extLst>
                    <a:ext uri="{9D8B030D-6E8A-4147-A177-3AD203B41FA5}">
                      <a16:colId xmlns:a16="http://schemas.microsoft.com/office/drawing/2014/main" val="966401797"/>
                    </a:ext>
                  </a:extLst>
                </a:gridCol>
                <a:gridCol w="2103120">
                  <a:extLst>
                    <a:ext uri="{9D8B030D-6E8A-4147-A177-3AD203B41FA5}">
                      <a16:colId xmlns:a16="http://schemas.microsoft.com/office/drawing/2014/main" val="3536242759"/>
                    </a:ext>
                  </a:extLst>
                </a:gridCol>
                <a:gridCol w="2103120">
                  <a:extLst>
                    <a:ext uri="{9D8B030D-6E8A-4147-A177-3AD203B41FA5}">
                      <a16:colId xmlns:a16="http://schemas.microsoft.com/office/drawing/2014/main" val="2280825445"/>
                    </a:ext>
                  </a:extLst>
                </a:gridCol>
                <a:gridCol w="2103120">
                  <a:extLst>
                    <a:ext uri="{9D8B030D-6E8A-4147-A177-3AD203B41FA5}">
                      <a16:colId xmlns:a16="http://schemas.microsoft.com/office/drawing/2014/main" val="3724738041"/>
                    </a:ext>
                  </a:extLst>
                </a:gridCol>
              </a:tblGrid>
              <a:tr h="370840">
                <a:tc>
                  <a:txBody>
                    <a:bodyPr/>
                    <a:lstStyle/>
                    <a:p>
                      <a:r>
                        <a:rPr lang="de-DE" sz="1000" dirty="0"/>
                        <a:t>Abkürzung</a:t>
                      </a:r>
                    </a:p>
                  </a:txBody>
                  <a:tcPr/>
                </a:tc>
                <a:tc>
                  <a:txBody>
                    <a:bodyPr/>
                    <a:lstStyle/>
                    <a:p>
                      <a:r>
                        <a:rPr lang="de-DE" sz="1000" dirty="0"/>
                        <a:t>Bedeutung</a:t>
                      </a:r>
                    </a:p>
                  </a:txBody>
                  <a:tcPr/>
                </a:tc>
                <a:tc>
                  <a:txBody>
                    <a:bodyPr/>
                    <a:lstStyle/>
                    <a:p>
                      <a:endParaRPr lang="de-DE" sz="1000" dirty="0"/>
                    </a:p>
                  </a:txBody>
                  <a:tcPr/>
                </a:tc>
                <a:tc>
                  <a:txBody>
                    <a:bodyPr/>
                    <a:lstStyle/>
                    <a:p>
                      <a:r>
                        <a:rPr lang="de-DE" sz="1000" dirty="0"/>
                        <a:t>Abkürzung</a:t>
                      </a:r>
                    </a:p>
                  </a:txBody>
                  <a:tcPr/>
                </a:tc>
                <a:tc>
                  <a:txBody>
                    <a:bodyPr/>
                    <a:lstStyle/>
                    <a:p>
                      <a:r>
                        <a:rPr lang="de-DE" sz="1000" dirty="0"/>
                        <a:t>Bedeutung</a:t>
                      </a:r>
                    </a:p>
                  </a:txBody>
                  <a:tcPr/>
                </a:tc>
                <a:extLst>
                  <a:ext uri="{0D108BD9-81ED-4DB2-BD59-A6C34878D82A}">
                    <a16:rowId xmlns:a16="http://schemas.microsoft.com/office/drawing/2014/main" val="2047566029"/>
                  </a:ext>
                </a:extLst>
              </a:tr>
              <a:tr h="370840">
                <a:tc>
                  <a:txBody>
                    <a:bodyPr/>
                    <a:lstStyle/>
                    <a:p>
                      <a:r>
                        <a:rPr lang="de-DE" sz="1000" dirty="0"/>
                        <a:t>LALM</a:t>
                      </a:r>
                    </a:p>
                  </a:txBody>
                  <a:tcPr/>
                </a:tc>
                <a:tc>
                  <a:txBody>
                    <a:bodyPr/>
                    <a:lstStyle/>
                    <a:p>
                      <a:r>
                        <a:rPr lang="de-DE" sz="1000" dirty="0"/>
                        <a:t>Large Audio Language Models</a:t>
                      </a:r>
                    </a:p>
                  </a:txBody>
                  <a:tcPr/>
                </a:tc>
                <a:tc>
                  <a:txBody>
                    <a:bodyPr/>
                    <a:lstStyle/>
                    <a:p>
                      <a:endParaRPr lang="de-DE" sz="1000"/>
                    </a:p>
                  </a:txBody>
                  <a:tcPr/>
                </a:tc>
                <a:tc>
                  <a:txBody>
                    <a:bodyPr/>
                    <a:lstStyle/>
                    <a:p>
                      <a:r>
                        <a:rPr lang="de-DE" sz="1000" dirty="0"/>
                        <a:t>---</a:t>
                      </a:r>
                    </a:p>
                  </a:txBody>
                  <a:tcPr/>
                </a:tc>
                <a:tc>
                  <a:txBody>
                    <a:bodyPr/>
                    <a:lstStyle/>
                    <a:p>
                      <a:r>
                        <a:rPr lang="de-DE" sz="1000" dirty="0"/>
                        <a:t>Speech LLM</a:t>
                      </a:r>
                    </a:p>
                  </a:txBody>
                  <a:tcPr/>
                </a:tc>
                <a:extLst>
                  <a:ext uri="{0D108BD9-81ED-4DB2-BD59-A6C34878D82A}">
                    <a16:rowId xmlns:a16="http://schemas.microsoft.com/office/drawing/2014/main" val="2100949882"/>
                  </a:ext>
                </a:extLst>
              </a:tr>
              <a:tr h="370840">
                <a:tc>
                  <a:txBody>
                    <a:bodyPr/>
                    <a:lstStyle/>
                    <a:p>
                      <a:r>
                        <a:rPr lang="de-DE" sz="1000" dirty="0"/>
                        <a:t>MLLMs</a:t>
                      </a:r>
                    </a:p>
                  </a:txBody>
                  <a:tcPr/>
                </a:tc>
                <a:tc>
                  <a:txBody>
                    <a:bodyPr/>
                    <a:lstStyle/>
                    <a:p>
                      <a:r>
                        <a:rPr lang="de-DE" sz="1000" dirty="0"/>
                        <a:t>Multimodal Large Language Models</a:t>
                      </a:r>
                    </a:p>
                  </a:txBody>
                  <a:tcPr/>
                </a:tc>
                <a:tc>
                  <a:txBody>
                    <a:bodyPr/>
                    <a:lstStyle/>
                    <a:p>
                      <a:endParaRPr lang="de-DE" sz="1000"/>
                    </a:p>
                  </a:txBody>
                  <a:tcPr/>
                </a:tc>
                <a:tc>
                  <a:txBody>
                    <a:bodyPr/>
                    <a:lstStyle/>
                    <a:p>
                      <a:r>
                        <a:rPr lang="de-DE" sz="1000" dirty="0"/>
                        <a:t>SLMs</a:t>
                      </a:r>
                    </a:p>
                  </a:txBody>
                  <a:tcPr/>
                </a:tc>
                <a:tc>
                  <a:txBody>
                    <a:bodyPr/>
                    <a:lstStyle/>
                    <a:p>
                      <a:r>
                        <a:rPr lang="de-DE" sz="1000" dirty="0"/>
                        <a:t>spoken </a:t>
                      </a:r>
                      <a:r>
                        <a:rPr lang="de-DE" sz="1000" dirty="0" err="1"/>
                        <a:t>language</a:t>
                      </a:r>
                      <a:r>
                        <a:rPr lang="de-DE" sz="1000" dirty="0"/>
                        <a:t> </a:t>
                      </a:r>
                      <a:r>
                        <a:rPr lang="de-DE" sz="1000" dirty="0" err="1"/>
                        <a:t>models</a:t>
                      </a:r>
                      <a:endParaRPr lang="de-DE" sz="1000" dirty="0"/>
                    </a:p>
                  </a:txBody>
                  <a:tcPr/>
                </a:tc>
                <a:extLst>
                  <a:ext uri="{0D108BD9-81ED-4DB2-BD59-A6C34878D82A}">
                    <a16:rowId xmlns:a16="http://schemas.microsoft.com/office/drawing/2014/main" val="4086787189"/>
                  </a:ext>
                </a:extLst>
              </a:tr>
              <a:tr h="370840">
                <a:tc>
                  <a:txBody>
                    <a:bodyPr/>
                    <a:lstStyle/>
                    <a:p>
                      <a:r>
                        <a:rPr lang="de-DE" sz="1000" dirty="0"/>
                        <a:t>ASR</a:t>
                      </a:r>
                    </a:p>
                  </a:txBody>
                  <a:tcPr/>
                </a:tc>
                <a:tc>
                  <a:txBody>
                    <a:bodyPr/>
                    <a:lstStyle/>
                    <a:p>
                      <a:r>
                        <a:rPr lang="de-DE" sz="1000" dirty="0" err="1"/>
                        <a:t>Automatic</a:t>
                      </a:r>
                      <a:r>
                        <a:rPr lang="de-DE" sz="1000" dirty="0"/>
                        <a:t> Speech Recognition</a:t>
                      </a:r>
                    </a:p>
                  </a:txBody>
                  <a:tcPr/>
                </a:tc>
                <a:tc>
                  <a:txBody>
                    <a:bodyPr/>
                    <a:lstStyle/>
                    <a:p>
                      <a:endParaRPr lang="de-DE" sz="1000"/>
                    </a:p>
                  </a:txBody>
                  <a:tcPr/>
                </a:tc>
                <a:tc>
                  <a:txBody>
                    <a:bodyPr/>
                    <a:lstStyle/>
                    <a:p>
                      <a:r>
                        <a:rPr lang="de-DE" sz="1000" dirty="0"/>
                        <a:t>CAPT</a:t>
                      </a:r>
                    </a:p>
                  </a:txBody>
                  <a:tcPr/>
                </a:tc>
                <a:tc>
                  <a:txBody>
                    <a:bodyPr/>
                    <a:lstStyle/>
                    <a:p>
                      <a:r>
                        <a:rPr lang="de-DE" sz="1000" dirty="0"/>
                        <a:t>computer-</a:t>
                      </a:r>
                      <a:r>
                        <a:rPr lang="de-DE" sz="1000" dirty="0" err="1"/>
                        <a:t>assisted</a:t>
                      </a:r>
                      <a:r>
                        <a:rPr lang="de-DE" sz="1000" dirty="0"/>
                        <a:t> </a:t>
                      </a:r>
                      <a:r>
                        <a:rPr lang="de-DE" sz="1000" dirty="0" err="1"/>
                        <a:t>pronunciation</a:t>
                      </a:r>
                      <a:r>
                        <a:rPr lang="de-DE" sz="1000" dirty="0"/>
                        <a:t> </a:t>
                      </a:r>
                      <a:r>
                        <a:rPr lang="de-DE" sz="1000" dirty="0" err="1"/>
                        <a:t>training</a:t>
                      </a:r>
                      <a:endParaRPr lang="de-DE" sz="1000" dirty="0"/>
                    </a:p>
                  </a:txBody>
                  <a:tcPr/>
                </a:tc>
                <a:extLst>
                  <a:ext uri="{0D108BD9-81ED-4DB2-BD59-A6C34878D82A}">
                    <a16:rowId xmlns:a16="http://schemas.microsoft.com/office/drawing/2014/main" val="4120526296"/>
                  </a:ext>
                </a:extLst>
              </a:tr>
              <a:tr h="370840">
                <a:tc>
                  <a:txBody>
                    <a:bodyPr/>
                    <a:lstStyle/>
                    <a:p>
                      <a:r>
                        <a:rPr lang="de-DE" sz="1000" dirty="0"/>
                        <a:t>MDD</a:t>
                      </a:r>
                    </a:p>
                  </a:txBody>
                  <a:tcPr/>
                </a:tc>
                <a:tc>
                  <a:txBody>
                    <a:bodyPr/>
                    <a:lstStyle/>
                    <a:p>
                      <a:r>
                        <a:rPr lang="de-DE" sz="1000" dirty="0" err="1"/>
                        <a:t>Mispronunciation</a:t>
                      </a:r>
                      <a:r>
                        <a:rPr lang="de-DE" sz="1000" dirty="0"/>
                        <a:t> </a:t>
                      </a:r>
                      <a:r>
                        <a:rPr lang="de-DE" sz="1000" dirty="0" err="1"/>
                        <a:t>Detection</a:t>
                      </a:r>
                      <a:r>
                        <a:rPr lang="de-DE" sz="1000" dirty="0"/>
                        <a:t> &amp; Diagnosis</a:t>
                      </a:r>
                    </a:p>
                  </a:txBody>
                  <a:tcPr/>
                </a:tc>
                <a:tc>
                  <a:txBody>
                    <a:bodyPr/>
                    <a:lstStyle/>
                    <a:p>
                      <a:endParaRPr lang="de-DE" sz="1000"/>
                    </a:p>
                  </a:txBody>
                  <a:tcPr/>
                </a:tc>
                <a:tc>
                  <a:txBody>
                    <a:bodyPr/>
                    <a:lstStyle/>
                    <a:p>
                      <a:r>
                        <a:rPr lang="de-DE" sz="1000" dirty="0"/>
                        <a:t>APA</a:t>
                      </a:r>
                    </a:p>
                  </a:txBody>
                  <a:tcPr/>
                </a:tc>
                <a:tc>
                  <a:txBody>
                    <a:bodyPr/>
                    <a:lstStyle/>
                    <a:p>
                      <a:r>
                        <a:rPr lang="de-DE" sz="1000" dirty="0" err="1"/>
                        <a:t>Automatic</a:t>
                      </a:r>
                      <a:r>
                        <a:rPr lang="de-DE" sz="1000" dirty="0"/>
                        <a:t> </a:t>
                      </a:r>
                      <a:r>
                        <a:rPr lang="de-DE" sz="1000" dirty="0" err="1"/>
                        <a:t>Pronunciation</a:t>
                      </a:r>
                      <a:r>
                        <a:rPr lang="de-DE" sz="1000" dirty="0"/>
                        <a:t> Assessment</a:t>
                      </a:r>
                    </a:p>
                  </a:txBody>
                  <a:tcPr/>
                </a:tc>
                <a:extLst>
                  <a:ext uri="{0D108BD9-81ED-4DB2-BD59-A6C34878D82A}">
                    <a16:rowId xmlns:a16="http://schemas.microsoft.com/office/drawing/2014/main" val="3786830944"/>
                  </a:ext>
                </a:extLst>
              </a:tr>
              <a:tr h="370840">
                <a:tc>
                  <a:txBody>
                    <a:bodyPr/>
                    <a:lstStyle/>
                    <a:p>
                      <a:r>
                        <a:rPr lang="de-DE" sz="1000" dirty="0"/>
                        <a:t>---</a:t>
                      </a:r>
                    </a:p>
                  </a:txBody>
                  <a:tcPr/>
                </a:tc>
                <a:tc>
                  <a:txBody>
                    <a:bodyPr/>
                    <a:lstStyle/>
                    <a:p>
                      <a:r>
                        <a:rPr lang="de-DE" sz="1000" dirty="0"/>
                        <a:t>Evaluation, Survey</a:t>
                      </a:r>
                    </a:p>
                  </a:txBody>
                  <a:tcPr/>
                </a:tc>
                <a:tc>
                  <a:txBody>
                    <a:bodyPr/>
                    <a:lstStyle/>
                    <a:p>
                      <a:endParaRPr lang="de-DE" sz="1000"/>
                    </a:p>
                  </a:txBody>
                  <a:tcPr/>
                </a:tc>
                <a:tc>
                  <a:txBody>
                    <a:bodyPr/>
                    <a:lstStyle/>
                    <a:p>
                      <a:r>
                        <a:rPr lang="de-DE" sz="1000" dirty="0"/>
                        <a:t>---</a:t>
                      </a:r>
                    </a:p>
                  </a:txBody>
                  <a:tcPr/>
                </a:tc>
                <a:tc>
                  <a:txBody>
                    <a:bodyPr/>
                    <a:lstStyle/>
                    <a:p>
                      <a:r>
                        <a:rPr lang="de-DE" sz="1000" dirty="0" err="1"/>
                        <a:t>speech</a:t>
                      </a:r>
                      <a:r>
                        <a:rPr lang="de-DE" sz="1000" dirty="0"/>
                        <a:t> </a:t>
                      </a:r>
                      <a:r>
                        <a:rPr lang="de-DE" sz="1000" dirty="0" err="1"/>
                        <a:t>recognition</a:t>
                      </a:r>
                      <a:endParaRPr lang="de-DE" sz="1000" dirty="0"/>
                    </a:p>
                  </a:txBody>
                  <a:tcPr/>
                </a:tc>
                <a:extLst>
                  <a:ext uri="{0D108BD9-81ED-4DB2-BD59-A6C34878D82A}">
                    <a16:rowId xmlns:a16="http://schemas.microsoft.com/office/drawing/2014/main" val="1517587278"/>
                  </a:ext>
                </a:extLst>
              </a:tr>
              <a:tr h="370840">
                <a:tc>
                  <a:txBody>
                    <a:bodyPr/>
                    <a:lstStyle/>
                    <a:p>
                      <a:r>
                        <a:rPr lang="de-DE" sz="1000" dirty="0"/>
                        <a:t>WER</a:t>
                      </a:r>
                    </a:p>
                  </a:txBody>
                  <a:tcPr/>
                </a:tc>
                <a:tc>
                  <a:txBody>
                    <a:bodyPr/>
                    <a:lstStyle/>
                    <a:p>
                      <a:r>
                        <a:rPr lang="de-DE" sz="1000" dirty="0" err="1"/>
                        <a:t>word</a:t>
                      </a:r>
                      <a:r>
                        <a:rPr lang="de-DE" sz="1000" dirty="0"/>
                        <a:t> </a:t>
                      </a:r>
                      <a:r>
                        <a:rPr lang="de-DE" sz="1000" dirty="0" err="1"/>
                        <a:t>error</a:t>
                      </a:r>
                      <a:r>
                        <a:rPr lang="de-DE" sz="1000" dirty="0"/>
                        <a:t> rate</a:t>
                      </a:r>
                    </a:p>
                  </a:txBody>
                  <a:tcPr/>
                </a:tc>
                <a:tc>
                  <a:txBody>
                    <a:bodyPr/>
                    <a:lstStyle/>
                    <a:p>
                      <a:endParaRPr lang="de-DE" sz="1000" dirty="0"/>
                    </a:p>
                  </a:txBody>
                  <a:tcPr/>
                </a:tc>
                <a:tc>
                  <a:txBody>
                    <a:bodyPr/>
                    <a:lstStyle/>
                    <a:p>
                      <a:r>
                        <a:rPr lang="de-DE" sz="1000" dirty="0"/>
                        <a:t>CER</a:t>
                      </a:r>
                    </a:p>
                  </a:txBody>
                  <a:tcPr/>
                </a:tc>
                <a:tc>
                  <a:txBody>
                    <a:bodyPr/>
                    <a:lstStyle/>
                    <a:p>
                      <a:r>
                        <a:rPr lang="de-DE" sz="1000" dirty="0" err="1"/>
                        <a:t>character</a:t>
                      </a:r>
                      <a:r>
                        <a:rPr lang="de-DE" sz="1000" dirty="0"/>
                        <a:t> </a:t>
                      </a:r>
                      <a:r>
                        <a:rPr lang="de-DE" sz="1000" dirty="0" err="1"/>
                        <a:t>error</a:t>
                      </a:r>
                      <a:r>
                        <a:rPr lang="de-DE" sz="1000" dirty="0"/>
                        <a:t> rate</a:t>
                      </a:r>
                    </a:p>
                  </a:txBody>
                  <a:tcPr/>
                </a:tc>
                <a:extLst>
                  <a:ext uri="{0D108BD9-81ED-4DB2-BD59-A6C34878D82A}">
                    <a16:rowId xmlns:a16="http://schemas.microsoft.com/office/drawing/2014/main" val="463307487"/>
                  </a:ext>
                </a:extLst>
              </a:tr>
              <a:tr h="370840">
                <a:tc>
                  <a:txBody>
                    <a:bodyPr/>
                    <a:lstStyle/>
                    <a:p>
                      <a:r>
                        <a:rPr lang="de-DE" sz="1000" dirty="0"/>
                        <a:t>---</a:t>
                      </a:r>
                    </a:p>
                  </a:txBody>
                  <a:tcPr/>
                </a:tc>
                <a:tc>
                  <a:txBody>
                    <a:bodyPr/>
                    <a:lstStyle/>
                    <a:p>
                      <a:r>
                        <a:rPr lang="de-DE" sz="1000" dirty="0" err="1"/>
                        <a:t>isolated</a:t>
                      </a:r>
                      <a:r>
                        <a:rPr lang="de-DE" sz="1000" dirty="0"/>
                        <a:t> </a:t>
                      </a:r>
                      <a:r>
                        <a:rPr lang="de-DE" sz="1000" dirty="0" err="1"/>
                        <a:t>word</a:t>
                      </a:r>
                      <a:r>
                        <a:rPr lang="de-DE" sz="1000" dirty="0"/>
                        <a:t> </a:t>
                      </a:r>
                      <a:r>
                        <a:rPr lang="de-DE" sz="1000" dirty="0" err="1"/>
                        <a:t>recognition</a:t>
                      </a:r>
                      <a:endParaRPr lang="de-DE" sz="1000" dirty="0"/>
                    </a:p>
                  </a:txBody>
                  <a:tcPr/>
                </a:tc>
                <a:tc>
                  <a:txBody>
                    <a:bodyPr/>
                    <a:lstStyle/>
                    <a:p>
                      <a:endParaRPr lang="de-DE" sz="1000" dirty="0"/>
                    </a:p>
                  </a:txBody>
                  <a:tcPr/>
                </a:tc>
                <a:tc>
                  <a:txBody>
                    <a:bodyPr/>
                    <a:lstStyle/>
                    <a:p>
                      <a:r>
                        <a:rPr lang="de-DE" sz="1000" dirty="0"/>
                        <a:t>---</a:t>
                      </a:r>
                    </a:p>
                  </a:txBody>
                  <a:tcPr/>
                </a:tc>
                <a:tc>
                  <a:txBody>
                    <a:bodyPr/>
                    <a:lstStyle/>
                    <a:p>
                      <a:r>
                        <a:rPr lang="de-DE" sz="1000" dirty="0"/>
                        <a:t>phonetische Transkription vs. orthographische Transkription</a:t>
                      </a:r>
                    </a:p>
                  </a:txBody>
                  <a:tcPr/>
                </a:tc>
                <a:extLst>
                  <a:ext uri="{0D108BD9-81ED-4DB2-BD59-A6C34878D82A}">
                    <a16:rowId xmlns:a16="http://schemas.microsoft.com/office/drawing/2014/main" val="1378740688"/>
                  </a:ext>
                </a:extLst>
              </a:tr>
              <a:tr h="370840">
                <a:tc>
                  <a:txBody>
                    <a:bodyPr/>
                    <a:lstStyle/>
                    <a:p>
                      <a:r>
                        <a:rPr lang="de-DE" sz="1000" dirty="0"/>
                        <a:t>PER</a:t>
                      </a:r>
                    </a:p>
                  </a:txBody>
                  <a:tcPr/>
                </a:tc>
                <a:tc>
                  <a:txBody>
                    <a:bodyPr/>
                    <a:lstStyle/>
                    <a:p>
                      <a:r>
                        <a:rPr lang="de-DE" sz="1000" dirty="0"/>
                        <a:t>Phone Error Rate</a:t>
                      </a:r>
                    </a:p>
                  </a:txBody>
                  <a:tcPr/>
                </a:tc>
                <a:tc>
                  <a:txBody>
                    <a:bodyPr/>
                    <a:lstStyle/>
                    <a:p>
                      <a:endParaRPr lang="de-DE" sz="1000" dirty="0"/>
                    </a:p>
                  </a:txBody>
                  <a:tcPr/>
                </a:tc>
                <a:tc>
                  <a:txBody>
                    <a:bodyPr/>
                    <a:lstStyle/>
                    <a:p>
                      <a:r>
                        <a:rPr lang="de-DE" sz="1000" dirty="0"/>
                        <a:t>---</a:t>
                      </a:r>
                    </a:p>
                  </a:txBody>
                  <a:tcPr/>
                </a:tc>
                <a:tc>
                  <a:txBody>
                    <a:bodyPr/>
                    <a:lstStyle/>
                    <a:p>
                      <a:r>
                        <a:rPr lang="de-DE" sz="1000" dirty="0"/>
                        <a:t>Benchmark: TIMIT</a:t>
                      </a:r>
                    </a:p>
                  </a:txBody>
                  <a:tcPr/>
                </a:tc>
                <a:extLst>
                  <a:ext uri="{0D108BD9-81ED-4DB2-BD59-A6C34878D82A}">
                    <a16:rowId xmlns:a16="http://schemas.microsoft.com/office/drawing/2014/main" val="249991559"/>
                  </a:ext>
                </a:extLst>
              </a:tr>
              <a:tr h="370840">
                <a:tc>
                  <a:txBody>
                    <a:bodyPr/>
                    <a:lstStyle/>
                    <a:p>
                      <a:r>
                        <a:rPr lang="de-DE" sz="1000" dirty="0"/>
                        <a:t>---</a:t>
                      </a:r>
                    </a:p>
                  </a:txBody>
                  <a:tcPr/>
                </a:tc>
                <a:tc>
                  <a:txBody>
                    <a:bodyPr/>
                    <a:lstStyle/>
                    <a:p>
                      <a:r>
                        <a:rPr lang="de-DE" sz="1000" dirty="0" err="1"/>
                        <a:t>syllable</a:t>
                      </a:r>
                      <a:r>
                        <a:rPr lang="de-DE" sz="1000" dirty="0"/>
                        <a:t> </a:t>
                      </a:r>
                      <a:r>
                        <a:rPr lang="de-DE" sz="1000" dirty="0" err="1"/>
                        <a:t>recognition</a:t>
                      </a:r>
                      <a:endParaRPr lang="de-DE" sz="1000" dirty="0"/>
                    </a:p>
                  </a:txBody>
                  <a:tcPr/>
                </a:tc>
                <a:tc>
                  <a:txBody>
                    <a:bodyPr/>
                    <a:lstStyle/>
                    <a:p>
                      <a:endParaRPr lang="de-DE" sz="1000" dirty="0"/>
                    </a:p>
                  </a:txBody>
                  <a:tcPr/>
                </a:tc>
                <a:tc>
                  <a:txBody>
                    <a:bodyPr/>
                    <a:lstStyle/>
                    <a:p>
                      <a:r>
                        <a:rPr lang="de-DE" sz="1000" dirty="0"/>
                        <a:t>---</a:t>
                      </a:r>
                    </a:p>
                  </a:txBody>
                  <a:tcPr/>
                </a:tc>
                <a:tc>
                  <a:txBody>
                    <a:bodyPr/>
                    <a:lstStyle/>
                    <a:p>
                      <a:r>
                        <a:rPr lang="de-DE" sz="1000" dirty="0"/>
                        <a:t>Initial-Final-Erkennung</a:t>
                      </a:r>
                    </a:p>
                  </a:txBody>
                  <a:tcPr/>
                </a:tc>
                <a:extLst>
                  <a:ext uri="{0D108BD9-81ED-4DB2-BD59-A6C34878D82A}">
                    <a16:rowId xmlns:a16="http://schemas.microsoft.com/office/drawing/2014/main" val="4231320610"/>
                  </a:ext>
                </a:extLst>
              </a:tr>
              <a:tr h="370840">
                <a:tc>
                  <a:txBody>
                    <a:bodyPr/>
                    <a:lstStyle/>
                    <a:p>
                      <a:r>
                        <a:rPr lang="de-DE" sz="1000" dirty="0"/>
                        <a:t>---</a:t>
                      </a:r>
                    </a:p>
                  </a:txBody>
                  <a:tcPr/>
                </a:tc>
                <a:tc>
                  <a:txBody>
                    <a:bodyPr/>
                    <a:lstStyle/>
                    <a:p>
                      <a:r>
                        <a:rPr lang="de-DE" sz="1000" dirty="0"/>
                        <a:t>tone </a:t>
                      </a:r>
                      <a:r>
                        <a:rPr lang="de-DE" sz="1000" dirty="0" err="1"/>
                        <a:t>recognition</a:t>
                      </a:r>
                      <a:r>
                        <a:rPr lang="de-DE" sz="1000" dirty="0"/>
                        <a:t> / tone </a:t>
                      </a:r>
                      <a:r>
                        <a:rPr lang="de-DE" sz="1000" dirty="0" err="1"/>
                        <a:t>classification</a:t>
                      </a:r>
                      <a:endParaRPr lang="de-DE" sz="1000" dirty="0"/>
                    </a:p>
                  </a:txBody>
                  <a:tcPr/>
                </a:tc>
                <a:tc>
                  <a:txBody>
                    <a:bodyPr/>
                    <a:lstStyle/>
                    <a:p>
                      <a:endParaRPr lang="de-DE" sz="1000" dirty="0"/>
                    </a:p>
                  </a:txBody>
                  <a:tcPr/>
                </a:tc>
                <a:tc>
                  <a:txBody>
                    <a:bodyPr/>
                    <a:lstStyle/>
                    <a:p>
                      <a:r>
                        <a:rPr lang="de-DE" sz="1000" dirty="0"/>
                        <a:t>---</a:t>
                      </a:r>
                    </a:p>
                  </a:txBody>
                  <a:tcPr/>
                </a:tc>
                <a:tc>
                  <a:txBody>
                    <a:bodyPr/>
                    <a:lstStyle/>
                    <a:p>
                      <a:r>
                        <a:rPr lang="de-DE" sz="1000" dirty="0" err="1"/>
                        <a:t>Forced</a:t>
                      </a:r>
                      <a:r>
                        <a:rPr lang="de-DE" sz="1000" dirty="0"/>
                        <a:t> Alignment</a:t>
                      </a:r>
                    </a:p>
                  </a:txBody>
                  <a:tcPr/>
                </a:tc>
                <a:extLst>
                  <a:ext uri="{0D108BD9-81ED-4DB2-BD59-A6C34878D82A}">
                    <a16:rowId xmlns:a16="http://schemas.microsoft.com/office/drawing/2014/main" val="235873192"/>
                  </a:ext>
                </a:extLst>
              </a:tr>
              <a:tr h="370840">
                <a:tc>
                  <a:txBody>
                    <a:bodyPr/>
                    <a:lstStyle/>
                    <a:p>
                      <a:r>
                        <a:rPr lang="de-DE" sz="1000" dirty="0"/>
                        <a:t>GOP</a:t>
                      </a:r>
                    </a:p>
                  </a:txBody>
                  <a:tcPr/>
                </a:tc>
                <a:tc>
                  <a:txBody>
                    <a:bodyPr/>
                    <a:lstStyle/>
                    <a:p>
                      <a:r>
                        <a:rPr lang="de-DE" sz="1000" dirty="0"/>
                        <a:t>Goodness </a:t>
                      </a:r>
                      <a:r>
                        <a:rPr lang="de-DE" sz="1000" dirty="0" err="1"/>
                        <a:t>of</a:t>
                      </a:r>
                      <a:r>
                        <a:rPr lang="de-DE" sz="1000" dirty="0"/>
                        <a:t> </a:t>
                      </a:r>
                      <a:r>
                        <a:rPr lang="de-DE" sz="1000" dirty="0" err="1"/>
                        <a:t>Pronunciation</a:t>
                      </a:r>
                      <a:endParaRPr lang="de-DE" sz="1000" dirty="0"/>
                    </a:p>
                  </a:txBody>
                  <a:tcPr/>
                </a:tc>
                <a:tc>
                  <a:txBody>
                    <a:bodyPr/>
                    <a:lstStyle/>
                    <a:p>
                      <a:endParaRPr lang="de-DE" sz="1000" dirty="0"/>
                    </a:p>
                  </a:txBody>
                  <a:tcPr/>
                </a:tc>
                <a:tc>
                  <a:txBody>
                    <a:bodyPr/>
                    <a:lstStyle/>
                    <a:p>
                      <a:r>
                        <a:rPr lang="de-DE" sz="1000" dirty="0"/>
                        <a:t>----</a:t>
                      </a:r>
                    </a:p>
                  </a:txBody>
                  <a:tcPr/>
                </a:tc>
                <a:tc>
                  <a:txBody>
                    <a:bodyPr/>
                    <a:lstStyle/>
                    <a:p>
                      <a:r>
                        <a:rPr lang="de-DE" sz="1000" dirty="0"/>
                        <a:t>Multimodalmodelle, </a:t>
                      </a:r>
                      <a:r>
                        <a:rPr lang="de-DE" sz="1000" dirty="0" err="1"/>
                        <a:t>Foundationmodelle</a:t>
                      </a:r>
                      <a:r>
                        <a:rPr lang="de-DE" sz="1000" dirty="0"/>
                        <a:t>, LLM</a:t>
                      </a:r>
                    </a:p>
                  </a:txBody>
                  <a:tcPr/>
                </a:tc>
                <a:extLst>
                  <a:ext uri="{0D108BD9-81ED-4DB2-BD59-A6C34878D82A}">
                    <a16:rowId xmlns:a16="http://schemas.microsoft.com/office/drawing/2014/main" val="4042489739"/>
                  </a:ext>
                </a:extLst>
              </a:tr>
              <a:tr h="370840">
                <a:tc>
                  <a:txBody>
                    <a:bodyPr/>
                    <a:lstStyle/>
                    <a:p>
                      <a:r>
                        <a:rPr lang="de-DE" sz="1000" dirty="0"/>
                        <a:t>---</a:t>
                      </a:r>
                    </a:p>
                  </a:txBody>
                  <a:tcPr/>
                </a:tc>
                <a:tc>
                  <a:txBody>
                    <a:bodyPr/>
                    <a:lstStyle/>
                    <a:p>
                      <a:r>
                        <a:rPr lang="de-DE" sz="1000" dirty="0"/>
                        <a:t>Mandarin, Chinesisch</a:t>
                      </a:r>
                    </a:p>
                  </a:txBody>
                  <a:tcPr/>
                </a:tc>
                <a:tc>
                  <a:txBody>
                    <a:bodyPr/>
                    <a:lstStyle/>
                    <a:p>
                      <a:endParaRPr lang="de-DE" sz="1000" dirty="0"/>
                    </a:p>
                  </a:txBody>
                  <a:tcPr/>
                </a:tc>
                <a:tc>
                  <a:txBody>
                    <a:bodyPr/>
                    <a:lstStyle/>
                    <a:p>
                      <a:r>
                        <a:rPr lang="de-DE" sz="1000" b="0" i="0" kern="1200" dirty="0">
                          <a:solidFill>
                            <a:schemeClr val="dk1"/>
                          </a:solidFill>
                          <a:effectLst/>
                          <a:latin typeface="+mn-lt"/>
                          <a:ea typeface="+mn-ea"/>
                          <a:cs typeface="+mn-cs"/>
                        </a:rPr>
                        <a:t>CALL</a:t>
                      </a:r>
                      <a:endParaRPr lang="de-DE" sz="1000" dirty="0"/>
                    </a:p>
                  </a:txBody>
                  <a:tcPr/>
                </a:tc>
                <a:tc>
                  <a:txBody>
                    <a:bodyPr/>
                    <a:lstStyle/>
                    <a:p>
                      <a:r>
                        <a:rPr lang="de-DE" sz="1000" b="0" i="0" kern="1200" dirty="0">
                          <a:solidFill>
                            <a:schemeClr val="dk1"/>
                          </a:solidFill>
                          <a:effectLst/>
                          <a:latin typeface="+mn-lt"/>
                          <a:ea typeface="+mn-ea"/>
                          <a:cs typeface="+mn-cs"/>
                        </a:rPr>
                        <a:t>computer-</a:t>
                      </a:r>
                      <a:r>
                        <a:rPr lang="de-DE" sz="1000" b="0" i="0" kern="1200" dirty="0" err="1">
                          <a:solidFill>
                            <a:schemeClr val="dk1"/>
                          </a:solidFill>
                          <a:effectLst/>
                          <a:latin typeface="+mn-lt"/>
                          <a:ea typeface="+mn-ea"/>
                          <a:cs typeface="+mn-cs"/>
                        </a:rPr>
                        <a:t>assisted</a:t>
                      </a:r>
                      <a:r>
                        <a:rPr lang="de-DE" sz="1000" b="0" i="0" kern="1200" dirty="0">
                          <a:solidFill>
                            <a:schemeClr val="dk1"/>
                          </a:solidFill>
                          <a:effectLst/>
                          <a:latin typeface="+mn-lt"/>
                          <a:ea typeface="+mn-ea"/>
                          <a:cs typeface="+mn-cs"/>
                        </a:rPr>
                        <a:t> </a:t>
                      </a:r>
                      <a:r>
                        <a:rPr lang="de-DE" sz="1000" b="0" i="0" kern="1200" dirty="0" err="1">
                          <a:solidFill>
                            <a:schemeClr val="dk1"/>
                          </a:solidFill>
                          <a:effectLst/>
                          <a:latin typeface="+mn-lt"/>
                          <a:ea typeface="+mn-ea"/>
                          <a:cs typeface="+mn-cs"/>
                        </a:rPr>
                        <a:t>language</a:t>
                      </a:r>
                      <a:r>
                        <a:rPr lang="de-DE" sz="1000" b="0" i="0" kern="1200" dirty="0">
                          <a:solidFill>
                            <a:schemeClr val="dk1"/>
                          </a:solidFill>
                          <a:effectLst/>
                          <a:latin typeface="+mn-lt"/>
                          <a:ea typeface="+mn-ea"/>
                          <a:cs typeface="+mn-cs"/>
                        </a:rPr>
                        <a:t> </a:t>
                      </a:r>
                      <a:r>
                        <a:rPr lang="de-DE" sz="1000" b="0" i="0" kern="1200" dirty="0" err="1">
                          <a:solidFill>
                            <a:schemeClr val="dk1"/>
                          </a:solidFill>
                          <a:effectLst/>
                          <a:latin typeface="+mn-lt"/>
                          <a:ea typeface="+mn-ea"/>
                          <a:cs typeface="+mn-cs"/>
                        </a:rPr>
                        <a:t>learning</a:t>
                      </a:r>
                      <a:endParaRPr lang="de-DE" sz="1000" dirty="0"/>
                    </a:p>
                  </a:txBody>
                  <a:tcPr/>
                </a:tc>
                <a:extLst>
                  <a:ext uri="{0D108BD9-81ED-4DB2-BD59-A6C34878D82A}">
                    <a16:rowId xmlns:a16="http://schemas.microsoft.com/office/drawing/2014/main" val="3684893978"/>
                  </a:ext>
                </a:extLst>
              </a:tr>
              <a:tr h="370840">
                <a:tc>
                  <a:txBody>
                    <a:bodyPr/>
                    <a:lstStyle/>
                    <a:p>
                      <a:r>
                        <a:rPr lang="de-DE" sz="1000" dirty="0"/>
                        <a:t>---</a:t>
                      </a:r>
                    </a:p>
                  </a:txBody>
                  <a:tcPr/>
                </a:tc>
                <a:tc>
                  <a:txBody>
                    <a:bodyPr/>
                    <a:lstStyle/>
                    <a:p>
                      <a:r>
                        <a:rPr lang="de-DE" sz="1000" dirty="0"/>
                        <a:t>Anlaut, Auslaut (Initial, Final)</a:t>
                      </a:r>
                    </a:p>
                  </a:txBody>
                  <a:tcPr/>
                </a:tc>
                <a:tc>
                  <a:txBody>
                    <a:bodyPr/>
                    <a:lstStyle/>
                    <a:p>
                      <a:endParaRPr lang="de-DE" sz="1000" dirty="0"/>
                    </a:p>
                  </a:txBody>
                  <a:tcPr/>
                </a:tc>
                <a:tc>
                  <a:txBody>
                    <a:bodyPr/>
                    <a:lstStyle/>
                    <a:p>
                      <a:r>
                        <a:rPr lang="de-DE" sz="1000"/>
                        <a:t>---</a:t>
                      </a:r>
                      <a:endParaRPr lang="de-DE" sz="1000" dirty="0"/>
                    </a:p>
                  </a:txBody>
                  <a:tcPr/>
                </a:tc>
                <a:tc>
                  <a:txBody>
                    <a:bodyPr/>
                    <a:lstStyle/>
                    <a:p>
                      <a:r>
                        <a:rPr lang="de-DE" sz="1000" dirty="0" err="1"/>
                        <a:t>monosyllabic</a:t>
                      </a:r>
                      <a:r>
                        <a:rPr lang="de-DE" sz="1000" dirty="0"/>
                        <a:t> </a:t>
                      </a:r>
                    </a:p>
                  </a:txBody>
                  <a:tcPr/>
                </a:tc>
                <a:extLst>
                  <a:ext uri="{0D108BD9-81ED-4DB2-BD59-A6C34878D82A}">
                    <a16:rowId xmlns:a16="http://schemas.microsoft.com/office/drawing/2014/main" val="3680237857"/>
                  </a:ext>
                </a:extLst>
              </a:tr>
              <a:tr h="370840">
                <a:tc>
                  <a:txBody>
                    <a:bodyPr/>
                    <a:lstStyle/>
                    <a:p>
                      <a:r>
                        <a:rPr lang="de-DE" sz="1000" dirty="0"/>
                        <a:t>G2P / A2P</a:t>
                      </a:r>
                    </a:p>
                  </a:txBody>
                  <a:tcPr/>
                </a:tc>
                <a:tc>
                  <a:txBody>
                    <a:bodyPr/>
                    <a:lstStyle/>
                    <a:p>
                      <a:r>
                        <a:rPr lang="de-DE" sz="1000" dirty="0"/>
                        <a:t>Grapheme </a:t>
                      </a:r>
                      <a:r>
                        <a:rPr lang="de-DE" sz="1000" dirty="0" err="1"/>
                        <a:t>to</a:t>
                      </a:r>
                      <a:r>
                        <a:rPr lang="de-DE" sz="1000" dirty="0"/>
                        <a:t> Phoneme (Text) / </a:t>
                      </a:r>
                      <a:r>
                        <a:rPr lang="de-DE" sz="1000" dirty="0" err="1"/>
                        <a:t>Acoustic</a:t>
                      </a:r>
                      <a:r>
                        <a:rPr lang="de-DE" sz="1000" dirty="0"/>
                        <a:t> </a:t>
                      </a:r>
                      <a:r>
                        <a:rPr lang="de-DE" sz="1000" dirty="0" err="1"/>
                        <a:t>to</a:t>
                      </a:r>
                      <a:r>
                        <a:rPr lang="de-DE" sz="1000" dirty="0"/>
                        <a:t> </a:t>
                      </a:r>
                      <a:r>
                        <a:rPr lang="de-DE" sz="1000" dirty="0" err="1"/>
                        <a:t>phonem</a:t>
                      </a:r>
                      <a:r>
                        <a:rPr lang="de-DE" sz="1000" dirty="0"/>
                        <a:t> (Audio)</a:t>
                      </a:r>
                    </a:p>
                  </a:txBody>
                  <a:tcPr/>
                </a:tc>
                <a:tc>
                  <a:txBody>
                    <a:bodyPr/>
                    <a:lstStyle/>
                    <a:p>
                      <a:endParaRPr lang="de-DE" sz="1000" dirty="0"/>
                    </a:p>
                  </a:txBody>
                  <a:tcPr/>
                </a:tc>
                <a:tc>
                  <a:txBody>
                    <a:bodyPr/>
                    <a:lstStyle/>
                    <a:p>
                      <a:endParaRPr lang="de-DE" sz="1000" dirty="0"/>
                    </a:p>
                  </a:txBody>
                  <a:tcPr/>
                </a:tc>
                <a:tc>
                  <a:txBody>
                    <a:bodyPr/>
                    <a:lstStyle/>
                    <a:p>
                      <a:r>
                        <a:rPr lang="de-DE" sz="1000" dirty="0"/>
                        <a:t>IPA Chao; Mandarin Phonem </a:t>
                      </a:r>
                      <a:r>
                        <a:rPr lang="de-DE" sz="1000" dirty="0" err="1"/>
                        <a:t>recognitionte</a:t>
                      </a:r>
                      <a:endParaRPr lang="de-DE" sz="1000" dirty="0"/>
                    </a:p>
                  </a:txBody>
                  <a:tcPr/>
                </a:tc>
                <a:extLst>
                  <a:ext uri="{0D108BD9-81ED-4DB2-BD59-A6C34878D82A}">
                    <a16:rowId xmlns:a16="http://schemas.microsoft.com/office/drawing/2014/main" val="3291184209"/>
                  </a:ext>
                </a:extLst>
              </a:tr>
            </a:tbl>
          </a:graphicData>
        </a:graphic>
      </p:graphicFrame>
    </p:spTree>
    <p:extLst>
      <p:ext uri="{BB962C8B-B14F-4D97-AF65-F5344CB8AC3E}">
        <p14:creationId xmlns:p14="http://schemas.microsoft.com/office/powerpoint/2010/main" val="3287892691"/>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4E3BDB-1A1D-FB93-BEF4-AD2473BDDB61}"/>
              </a:ext>
            </a:extLst>
          </p:cNvPr>
          <p:cNvSpPr>
            <a:spLocks noGrp="1"/>
          </p:cNvSpPr>
          <p:nvPr>
            <p:ph type="title"/>
          </p:nvPr>
        </p:nvSpPr>
        <p:spPr/>
        <p:txBody>
          <a:bodyPr/>
          <a:lstStyle/>
          <a:p>
            <a:r>
              <a:rPr lang="de-DE" dirty="0" err="1"/>
              <a:t>Begriffabgrenzung</a:t>
            </a:r>
            <a:endParaRPr lang="de-DE" dirty="0"/>
          </a:p>
        </p:txBody>
      </p:sp>
      <p:sp>
        <p:nvSpPr>
          <p:cNvPr id="3" name="Content Placeholder 2">
            <a:extLst>
              <a:ext uri="{FF2B5EF4-FFF2-40B4-BE49-F238E27FC236}">
                <a16:creationId xmlns:a16="http://schemas.microsoft.com/office/drawing/2014/main" id="{5FB2B214-7316-A413-114C-66299C06DCB2}"/>
              </a:ext>
            </a:extLst>
          </p:cNvPr>
          <p:cNvSpPr>
            <a:spLocks noGrp="1"/>
          </p:cNvSpPr>
          <p:nvPr>
            <p:ph idx="1"/>
          </p:nvPr>
        </p:nvSpPr>
        <p:spPr/>
        <p:txBody>
          <a:bodyPr>
            <a:normAutofit lnSpcReduction="10000"/>
          </a:bodyPr>
          <a:lstStyle/>
          <a:p>
            <a:r>
              <a:rPr lang="de-DE" dirty="0" err="1"/>
              <a:t>Foundationmodel</a:t>
            </a:r>
            <a:r>
              <a:rPr lang="de-DE" dirty="0"/>
              <a:t>: KI-Modelle auf großen Datensätzen trainiert ohne bestimmten Anwendungsfall (</a:t>
            </a:r>
            <a:r>
              <a:rPr lang="de-DE" dirty="0">
                <a:hlinkClick r:id="rId2"/>
              </a:rPr>
              <a:t>Link</a:t>
            </a:r>
            <a:r>
              <a:rPr lang="de-DE" dirty="0"/>
              <a:t>)</a:t>
            </a:r>
          </a:p>
          <a:p>
            <a:pPr lvl="1"/>
            <a:r>
              <a:rPr lang="de-DE" dirty="0"/>
              <a:t>Large Language Model: </a:t>
            </a:r>
            <a:r>
              <a:rPr lang="de-DE" dirty="0" err="1"/>
              <a:t>Foundationmodel</a:t>
            </a:r>
            <a:r>
              <a:rPr lang="de-DE" dirty="0"/>
              <a:t>, dass mit Text trainiert wurde</a:t>
            </a:r>
          </a:p>
          <a:p>
            <a:pPr lvl="1"/>
            <a:r>
              <a:rPr lang="de-DE" dirty="0"/>
              <a:t>Multimodales Model: </a:t>
            </a:r>
            <a:r>
              <a:rPr lang="de-DE" dirty="0" err="1"/>
              <a:t>Foundationmodel</a:t>
            </a:r>
            <a:r>
              <a:rPr lang="de-DE" dirty="0"/>
              <a:t>, dass mit verschiedenen Datentypen trainiert wurde (z.B. Text + Audio)</a:t>
            </a:r>
          </a:p>
          <a:p>
            <a:pPr lvl="2"/>
            <a:r>
              <a:rPr lang="de-DE" dirty="0"/>
              <a:t>Large Audio-LLMs: kombinieren Audio Encoder (Sprache, Musik, Geräusche) (Input, Output: Audio) mit LLMs (</a:t>
            </a:r>
            <a:r>
              <a:rPr lang="de-DE" dirty="0">
                <a:hlinkClick r:id="rId3"/>
              </a:rPr>
              <a:t>Link</a:t>
            </a:r>
            <a:r>
              <a:rPr lang="de-DE" dirty="0"/>
              <a:t>, </a:t>
            </a:r>
            <a:r>
              <a:rPr lang="de-DE" dirty="0">
                <a:hlinkClick r:id="rId4"/>
              </a:rPr>
              <a:t>Paper</a:t>
            </a:r>
            <a:r>
              <a:rPr lang="de-DE" dirty="0"/>
              <a:t>, </a:t>
            </a:r>
            <a:r>
              <a:rPr lang="de-DE" dirty="0">
                <a:hlinkClick r:id="rId3"/>
              </a:rPr>
              <a:t>Link</a:t>
            </a:r>
            <a:r>
              <a:rPr lang="de-DE" dirty="0"/>
              <a:t>)</a:t>
            </a:r>
          </a:p>
          <a:p>
            <a:pPr lvl="3"/>
            <a:r>
              <a:rPr lang="de-DE" dirty="0"/>
              <a:t>Spoken/Speech Language Model: mit gesprochener Sprache trainiert (Input, Output: Audio) (</a:t>
            </a:r>
            <a:r>
              <a:rPr lang="de-DE" dirty="0">
                <a:hlinkClick r:id="rId5"/>
              </a:rPr>
              <a:t>Link</a:t>
            </a:r>
            <a:r>
              <a:rPr lang="de-DE" dirty="0"/>
              <a:t>)</a:t>
            </a:r>
          </a:p>
          <a:p>
            <a:pPr lvl="2"/>
            <a:r>
              <a:rPr lang="de-DE" i="1" dirty="0"/>
              <a:t>Status: Frontier Model (z. B. ChatGPT, Gemini, Claude): Weitverbreitete, großangelegte Spitzenmodelle von beliebten Anbietern [meistens sind das heutzutage Multimodale]</a:t>
            </a:r>
            <a:endParaRPr lang="de-DE" dirty="0"/>
          </a:p>
          <a:p>
            <a:pPr lvl="1"/>
            <a:r>
              <a:rPr lang="de-DE" dirty="0"/>
              <a:t>Audio </a:t>
            </a:r>
            <a:r>
              <a:rPr lang="de-DE" dirty="0" err="1"/>
              <a:t>Foundation</a:t>
            </a:r>
            <a:r>
              <a:rPr lang="de-DE" dirty="0"/>
              <a:t> Models (AFMs): Audio </a:t>
            </a:r>
            <a:r>
              <a:rPr lang="de-DE" dirty="0" err="1"/>
              <a:t>Foundationmodel</a:t>
            </a:r>
            <a:r>
              <a:rPr lang="de-DE" dirty="0"/>
              <a:t>, dass komplett ohne LLM trainiert wurde</a:t>
            </a:r>
          </a:p>
        </p:txBody>
      </p:sp>
    </p:spTree>
    <p:extLst>
      <p:ext uri="{BB962C8B-B14F-4D97-AF65-F5344CB8AC3E}">
        <p14:creationId xmlns:p14="http://schemas.microsoft.com/office/powerpoint/2010/main" val="420848549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041709-A0C9-279D-77B4-2ADD47C1D642}"/>
              </a:ext>
            </a:extLst>
          </p:cNvPr>
          <p:cNvSpPr>
            <a:spLocks noGrp="1"/>
          </p:cNvSpPr>
          <p:nvPr>
            <p:ph type="title"/>
          </p:nvPr>
        </p:nvSpPr>
        <p:spPr/>
        <p:txBody>
          <a:bodyPr/>
          <a:lstStyle/>
          <a:p>
            <a:r>
              <a:rPr lang="de-DE" dirty="0"/>
              <a:t>Begriffsabgrenzung 2</a:t>
            </a:r>
          </a:p>
        </p:txBody>
      </p:sp>
      <p:sp>
        <p:nvSpPr>
          <p:cNvPr id="3" name="Content Placeholder 2">
            <a:extLst>
              <a:ext uri="{FF2B5EF4-FFF2-40B4-BE49-F238E27FC236}">
                <a16:creationId xmlns:a16="http://schemas.microsoft.com/office/drawing/2014/main" id="{D1ADBE7E-2EEF-CF52-C338-6DF920A8B06B}"/>
              </a:ext>
            </a:extLst>
          </p:cNvPr>
          <p:cNvSpPr>
            <a:spLocks noGrp="1"/>
          </p:cNvSpPr>
          <p:nvPr>
            <p:ph idx="1"/>
          </p:nvPr>
        </p:nvSpPr>
        <p:spPr/>
        <p:txBody>
          <a:bodyPr/>
          <a:lstStyle/>
          <a:p>
            <a:r>
              <a:rPr lang="de-DE" dirty="0"/>
              <a:t>ASR (</a:t>
            </a:r>
            <a:r>
              <a:rPr lang="de-DE" dirty="0" err="1"/>
              <a:t>Automated</a:t>
            </a:r>
            <a:r>
              <a:rPr lang="de-DE" dirty="0"/>
              <a:t> Speech Recognition) </a:t>
            </a:r>
            <a:r>
              <a:rPr lang="de-DE" dirty="0" err="1"/>
              <a:t>vs</a:t>
            </a:r>
            <a:r>
              <a:rPr lang="de-DE" dirty="0"/>
              <a:t> CAPT (Computer-</a:t>
            </a:r>
            <a:r>
              <a:rPr lang="de-DE" dirty="0" err="1"/>
              <a:t>Assisted</a:t>
            </a:r>
            <a:r>
              <a:rPr lang="de-DE" dirty="0"/>
              <a:t> </a:t>
            </a:r>
            <a:r>
              <a:rPr lang="de-DE" dirty="0" err="1"/>
              <a:t>Pronunciation</a:t>
            </a:r>
            <a:r>
              <a:rPr lang="de-DE" dirty="0"/>
              <a:t> Training): ASR hört zu was gesagt wird, CAPT weiß was gesagt werden soll und vergleicht es</a:t>
            </a:r>
          </a:p>
          <a:p>
            <a:r>
              <a:rPr lang="de-DE" dirty="0"/>
              <a:t>WER, CER Hanzi vs. Pinyin: Es ist im Chinesischen nicht immer ganz einfach ein Wort zu definieren und automatische </a:t>
            </a:r>
            <a:r>
              <a:rPr lang="de-DE" dirty="0" err="1"/>
              <a:t>Worterkenner</a:t>
            </a:r>
            <a:r>
              <a:rPr lang="de-DE" dirty="0"/>
              <a:t> versagen im Chinesischen manchmal.</a:t>
            </a:r>
          </a:p>
        </p:txBody>
      </p:sp>
    </p:spTree>
    <p:extLst>
      <p:ext uri="{BB962C8B-B14F-4D97-AF65-F5344CB8AC3E}">
        <p14:creationId xmlns:p14="http://schemas.microsoft.com/office/powerpoint/2010/main" val="1922483234"/>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9C70E6-B4EA-2BBA-963B-094D75F1E42D}"/>
              </a:ext>
            </a:extLst>
          </p:cNvPr>
          <p:cNvSpPr>
            <a:spLocks noGrp="1"/>
          </p:cNvSpPr>
          <p:nvPr>
            <p:ph type="title"/>
          </p:nvPr>
        </p:nvSpPr>
        <p:spPr/>
        <p:txBody>
          <a:bodyPr/>
          <a:lstStyle/>
          <a:p>
            <a:r>
              <a:rPr lang="de-DE" dirty="0"/>
              <a:t>Probleme im Chinesischen bezüglich ASR</a:t>
            </a:r>
          </a:p>
        </p:txBody>
      </p:sp>
      <p:sp>
        <p:nvSpPr>
          <p:cNvPr id="3" name="Content Placeholder 2">
            <a:extLst>
              <a:ext uri="{FF2B5EF4-FFF2-40B4-BE49-F238E27FC236}">
                <a16:creationId xmlns:a16="http://schemas.microsoft.com/office/drawing/2014/main" id="{26A9800C-9186-C9FF-75E2-78FA0B7C84F8}"/>
              </a:ext>
            </a:extLst>
          </p:cNvPr>
          <p:cNvSpPr>
            <a:spLocks noGrp="1"/>
          </p:cNvSpPr>
          <p:nvPr>
            <p:ph idx="1"/>
          </p:nvPr>
        </p:nvSpPr>
        <p:spPr/>
        <p:txBody>
          <a:bodyPr>
            <a:normAutofit fontScale="55000" lnSpcReduction="20000"/>
          </a:bodyPr>
          <a:lstStyle/>
          <a:p>
            <a:r>
              <a:rPr lang="de-DE" dirty="0"/>
              <a:t>Chinesisch ist eine tonale Sprache, viele ASR transkribieren die Töne nicht</a:t>
            </a:r>
          </a:p>
          <a:p>
            <a:r>
              <a:rPr lang="de-DE" dirty="0"/>
              <a:t>Die Definition von „Wort“ im Chinesischen ist schwierig, da es keine Leerzeichen gibt. Z.B.: </a:t>
            </a:r>
            <a:r>
              <a:rPr lang="zh-CN" altLang="de-DE" dirty="0"/>
              <a:t>电脑 </a:t>
            </a:r>
            <a:r>
              <a:rPr lang="en-US" altLang="zh-CN" dirty="0"/>
              <a:t>(</a:t>
            </a:r>
            <a:r>
              <a:rPr lang="en-US" altLang="zh-CN" dirty="0" err="1"/>
              <a:t>diannao</a:t>
            </a:r>
            <a:r>
              <a:rPr lang="en-US" altLang="zh-CN" dirty="0"/>
              <a:t>) = Computer </a:t>
            </a:r>
            <a:r>
              <a:rPr lang="en-US" altLang="zh-CN" dirty="0" err="1"/>
              <a:t>oder</a:t>
            </a:r>
            <a:r>
              <a:rPr lang="en-US" altLang="zh-CN" dirty="0"/>
              <a:t> </a:t>
            </a:r>
            <a:r>
              <a:rPr lang="de-DE" altLang="zh-CN" dirty="0"/>
              <a:t>„elektronisches Gehirn“</a:t>
            </a:r>
          </a:p>
          <a:p>
            <a:r>
              <a:rPr lang="de-DE" dirty="0"/>
              <a:t>Wörter alleine haben einen bestimmten Ton, welcher sich aber im Satz ändern (Ton-Sandhi) kann. Z.B. </a:t>
            </a:r>
            <a:r>
              <a:rPr lang="zh-CN" altLang="de-DE" dirty="0"/>
              <a:t>你 （</a:t>
            </a:r>
            <a:r>
              <a:rPr lang="de-DE" altLang="zh-CN" dirty="0"/>
              <a:t>ni3) im Satz </a:t>
            </a:r>
            <a:r>
              <a:rPr lang="zh-CN" altLang="de-DE" dirty="0"/>
              <a:t>你好 （</a:t>
            </a:r>
            <a:r>
              <a:rPr lang="de-DE" altLang="zh-CN" dirty="0"/>
              <a:t>ni2hao3)</a:t>
            </a:r>
          </a:p>
          <a:p>
            <a:r>
              <a:rPr lang="de-DE" altLang="zh-CN" dirty="0"/>
              <a:t>Ein chinesisches Zeichen kann verschiedene Bedeutungen haben und dann auch verschiedene Töne bekommen, z.B. </a:t>
            </a:r>
            <a:r>
              <a:rPr lang="de-DE" dirty="0"/>
              <a:t>长 </a:t>
            </a:r>
            <a:r>
              <a:rPr lang="en-US" dirty="0"/>
              <a:t>= lang (chang2) </a:t>
            </a:r>
            <a:r>
              <a:rPr lang="en-US" dirty="0" err="1"/>
              <a:t>oder</a:t>
            </a:r>
            <a:r>
              <a:rPr lang="en-US" dirty="0"/>
              <a:t> </a:t>
            </a:r>
            <a:r>
              <a:rPr lang="de-DE" dirty="0"/>
              <a:t>wachsen (zhang3)</a:t>
            </a:r>
            <a:endParaRPr lang="de-DE" altLang="zh-CN" dirty="0"/>
          </a:p>
          <a:p>
            <a:r>
              <a:rPr lang="de-DE" dirty="0"/>
              <a:t>Mit einer Aussprache (inklusive Ton) können verschiedene Zeichen beschrieben werden z.B. (ta1) = </a:t>
            </a:r>
            <a:r>
              <a:rPr lang="zh-CN" altLang="de-DE" dirty="0"/>
              <a:t>他， 她， 它， 。。。</a:t>
            </a:r>
            <a:endParaRPr lang="de-DE" altLang="zh-CN" dirty="0"/>
          </a:p>
          <a:p>
            <a:r>
              <a:rPr lang="de-DE" dirty="0"/>
              <a:t>Ein Zeichen kann verschiedene Aussprachen haben z.B. </a:t>
            </a:r>
            <a:r>
              <a:rPr lang="zh-CN" altLang="de-DE" dirty="0"/>
              <a:t>行 </a:t>
            </a:r>
            <a:r>
              <a:rPr lang="en-US" altLang="zh-CN" dirty="0"/>
              <a:t>= </a:t>
            </a:r>
            <a:r>
              <a:rPr lang="en-US" altLang="zh-CN" dirty="0" err="1"/>
              <a:t>xing</a:t>
            </a:r>
            <a:r>
              <a:rPr lang="en-US" altLang="zh-CN" dirty="0"/>
              <a:t> </a:t>
            </a:r>
            <a:r>
              <a:rPr lang="en-US" altLang="zh-CN" dirty="0" err="1"/>
              <a:t>oder</a:t>
            </a:r>
            <a:r>
              <a:rPr lang="en-US" altLang="zh-CN" dirty="0"/>
              <a:t> hang und </a:t>
            </a:r>
            <a:r>
              <a:rPr lang="en-US" altLang="zh-CN" dirty="0" err="1"/>
              <a:t>damit</a:t>
            </a:r>
            <a:r>
              <a:rPr lang="en-US" altLang="zh-CN" dirty="0"/>
              <a:t> </a:t>
            </a:r>
            <a:r>
              <a:rPr lang="en-US" altLang="zh-CN" dirty="0" err="1"/>
              <a:t>auch</a:t>
            </a:r>
            <a:r>
              <a:rPr lang="en-US" altLang="zh-CN" dirty="0"/>
              <a:t> </a:t>
            </a:r>
            <a:r>
              <a:rPr lang="en-US" altLang="zh-CN" dirty="0" err="1"/>
              <a:t>verschiedene</a:t>
            </a:r>
            <a:r>
              <a:rPr lang="en-US" altLang="zh-CN" dirty="0"/>
              <a:t> </a:t>
            </a:r>
            <a:r>
              <a:rPr lang="en-US" altLang="zh-CN" dirty="0" err="1"/>
              <a:t>Bedeutungen</a:t>
            </a:r>
            <a:r>
              <a:rPr lang="en-US" altLang="zh-CN" dirty="0"/>
              <a:t> </a:t>
            </a:r>
            <a:r>
              <a:rPr lang="en-US" altLang="zh-CN" dirty="0" err="1"/>
              <a:t>haben</a:t>
            </a:r>
            <a:endParaRPr lang="en-US" altLang="zh-CN" dirty="0"/>
          </a:p>
          <a:p>
            <a:r>
              <a:rPr lang="en-US" dirty="0"/>
              <a:t>Der Definition </a:t>
            </a:r>
            <a:r>
              <a:rPr lang="en-US" dirty="0" err="1"/>
              <a:t>eines</a:t>
            </a:r>
            <a:r>
              <a:rPr lang="en-US" dirty="0"/>
              <a:t> Tones </a:t>
            </a:r>
            <a:r>
              <a:rPr lang="en-US" dirty="0" err="1"/>
              <a:t>ist</a:t>
            </a:r>
            <a:r>
              <a:rPr lang="en-US" dirty="0"/>
              <a:t> nicht immer </a:t>
            </a:r>
            <a:r>
              <a:rPr lang="en-US" dirty="0" err="1"/>
              <a:t>ganz</a:t>
            </a:r>
            <a:r>
              <a:rPr lang="en-US" dirty="0"/>
              <a:t> </a:t>
            </a:r>
            <a:r>
              <a:rPr lang="en-US" dirty="0" err="1"/>
              <a:t>klar</a:t>
            </a:r>
            <a:r>
              <a:rPr lang="en-US" dirty="0"/>
              <a:t>, es </a:t>
            </a:r>
            <a:r>
              <a:rPr lang="en-US" dirty="0" err="1"/>
              <a:t>sind</a:t>
            </a:r>
            <a:r>
              <a:rPr lang="en-US" dirty="0"/>
              <a:t> </a:t>
            </a:r>
            <a:r>
              <a:rPr lang="en-US" dirty="0" err="1"/>
              <a:t>keine</a:t>
            </a:r>
            <a:r>
              <a:rPr lang="en-US" dirty="0"/>
              <a:t> </a:t>
            </a:r>
            <a:r>
              <a:rPr lang="en-US" dirty="0" err="1"/>
              <a:t>absoluten</a:t>
            </a:r>
            <a:r>
              <a:rPr lang="en-US" dirty="0"/>
              <a:t> </a:t>
            </a:r>
            <a:r>
              <a:rPr lang="en-US" dirty="0" err="1"/>
              <a:t>Tonh</a:t>
            </a:r>
            <a:r>
              <a:rPr lang="de-DE" dirty="0" err="1"/>
              <a:t>öhen</a:t>
            </a:r>
            <a:r>
              <a:rPr lang="de-DE" dirty="0"/>
              <a:t>, sondern Tonhöhenverläufe und die genauen Verlaufe sind auch umstritten, so wird der dritte Ton häufig als fallend und steigend bezeichnet, manchmal aber auch als ein tiefer, flacher Ton, außerdem gibt es Begriffe wie „halber dritter Ton“</a:t>
            </a:r>
          </a:p>
          <a:p>
            <a:r>
              <a:rPr lang="de-DE" dirty="0"/>
              <a:t>Chinesisch ist eine sehr </a:t>
            </a:r>
            <a:r>
              <a:rPr lang="de-DE" dirty="0" err="1"/>
              <a:t>kontextgebunde</a:t>
            </a:r>
            <a:r>
              <a:rPr lang="de-DE" dirty="0"/>
              <a:t> Sprache, häufig werden Pronomen weggelassen oder auch Sprichwörter verwendet</a:t>
            </a:r>
          </a:p>
          <a:p>
            <a:r>
              <a:rPr lang="de-DE" dirty="0"/>
              <a:t>Im Chinesischen gibt es auch viele Muttersprachler, die eine andere Aussprache haben</a:t>
            </a:r>
          </a:p>
          <a:p>
            <a:r>
              <a:rPr lang="de-DE" dirty="0"/>
              <a:t>Wenn man chinesische Zeichen automatisch in Pinyin mit Tönen umwandeln lässt kommt es häufiger zu Fehlern, diese Systeme sind nicht immer verlässlich</a:t>
            </a:r>
          </a:p>
          <a:p>
            <a:r>
              <a:rPr lang="de-DE" dirty="0">
                <a:hlinkClick r:id="rId2"/>
              </a:rPr>
              <a:t>Pinyin </a:t>
            </a:r>
            <a:r>
              <a:rPr lang="de-DE" dirty="0" err="1">
                <a:hlinkClick r:id="rId2"/>
              </a:rPr>
              <a:t>Regularization</a:t>
            </a:r>
            <a:r>
              <a:rPr lang="de-DE" dirty="0">
                <a:hlinkClick r:id="rId2"/>
              </a:rPr>
              <a:t> in Error </a:t>
            </a:r>
            <a:r>
              <a:rPr lang="de-DE" dirty="0" err="1">
                <a:hlinkClick r:id="rId2"/>
              </a:rPr>
              <a:t>Correction</a:t>
            </a:r>
            <a:r>
              <a:rPr lang="de-DE" dirty="0">
                <a:hlinkClick r:id="rId2"/>
              </a:rPr>
              <a:t> </a:t>
            </a:r>
            <a:r>
              <a:rPr lang="de-DE" dirty="0" err="1">
                <a:hlinkClick r:id="rId2"/>
              </a:rPr>
              <a:t>for</a:t>
            </a:r>
            <a:r>
              <a:rPr lang="de-DE" dirty="0">
                <a:hlinkClick r:id="rId2"/>
              </a:rPr>
              <a:t> Chinese Speech Recognition </a:t>
            </a:r>
            <a:r>
              <a:rPr lang="de-DE" dirty="0" err="1">
                <a:hlinkClick r:id="rId2"/>
              </a:rPr>
              <a:t>with</a:t>
            </a:r>
            <a:r>
              <a:rPr lang="de-DE" dirty="0">
                <a:hlinkClick r:id="rId2"/>
              </a:rPr>
              <a:t> Large Language Models</a:t>
            </a:r>
            <a:endParaRPr lang="de-DE" dirty="0"/>
          </a:p>
        </p:txBody>
      </p:sp>
    </p:spTree>
    <p:extLst>
      <p:ext uri="{BB962C8B-B14F-4D97-AF65-F5344CB8AC3E}">
        <p14:creationId xmlns:p14="http://schemas.microsoft.com/office/powerpoint/2010/main" val="3410016736"/>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45AC93-A351-6D97-2DE0-C2CB15241D92}"/>
              </a:ext>
            </a:extLst>
          </p:cNvPr>
          <p:cNvSpPr>
            <a:spLocks noGrp="1"/>
          </p:cNvSpPr>
          <p:nvPr>
            <p:ph type="title"/>
          </p:nvPr>
        </p:nvSpPr>
        <p:spPr/>
        <p:txBody>
          <a:bodyPr/>
          <a:lstStyle/>
          <a:p>
            <a:r>
              <a:rPr lang="de-DE" dirty="0"/>
              <a:t>Chinesische Töne</a:t>
            </a:r>
          </a:p>
        </p:txBody>
      </p:sp>
      <p:sp>
        <p:nvSpPr>
          <p:cNvPr id="3" name="Content Placeholder 2">
            <a:extLst>
              <a:ext uri="{FF2B5EF4-FFF2-40B4-BE49-F238E27FC236}">
                <a16:creationId xmlns:a16="http://schemas.microsoft.com/office/drawing/2014/main" id="{6CA47C14-C7A2-CB45-FD41-6C1E1CD74D03}"/>
              </a:ext>
            </a:extLst>
          </p:cNvPr>
          <p:cNvSpPr>
            <a:spLocks noGrp="1"/>
          </p:cNvSpPr>
          <p:nvPr>
            <p:ph idx="1"/>
          </p:nvPr>
        </p:nvSpPr>
        <p:spPr/>
        <p:txBody>
          <a:bodyPr/>
          <a:lstStyle/>
          <a:p>
            <a:r>
              <a:rPr lang="de-DE" dirty="0"/>
              <a:t>Chinesische Töne werden bestimmt durch</a:t>
            </a:r>
          </a:p>
          <a:p>
            <a:pPr lvl="1"/>
            <a:r>
              <a:rPr lang="de-DE" dirty="0"/>
              <a:t>Tonhöhenverlauf</a:t>
            </a:r>
          </a:p>
          <a:p>
            <a:pPr lvl="1"/>
            <a:r>
              <a:rPr lang="de-DE" dirty="0"/>
              <a:t>Dauer</a:t>
            </a:r>
          </a:p>
          <a:p>
            <a:pPr lvl="1"/>
            <a:r>
              <a:rPr lang="de-DE" dirty="0"/>
              <a:t>Lautstärke</a:t>
            </a:r>
          </a:p>
          <a:p>
            <a:r>
              <a:rPr lang="de-DE" dirty="0"/>
              <a:t>Mandarin kennt 4 Töne + neutralem Ton</a:t>
            </a:r>
          </a:p>
          <a:p>
            <a:pPr lvl="1"/>
            <a:r>
              <a:rPr lang="de-DE" dirty="0"/>
              <a:t>1. Ton: Gleichbleibend hoch</a:t>
            </a:r>
          </a:p>
          <a:p>
            <a:pPr lvl="1"/>
            <a:r>
              <a:rPr lang="de-DE" dirty="0"/>
              <a:t>2. Ton: Ansteigend</a:t>
            </a:r>
          </a:p>
          <a:p>
            <a:pPr lvl="1"/>
            <a:r>
              <a:rPr lang="de-DE" dirty="0"/>
              <a:t>3. Ton: Abfallend, dann ansteigend (oder tief und flach)</a:t>
            </a:r>
          </a:p>
          <a:p>
            <a:pPr lvl="1"/>
            <a:r>
              <a:rPr lang="de-DE" dirty="0"/>
              <a:t>4. Ton: Abfallend</a:t>
            </a:r>
          </a:p>
          <a:p>
            <a:pPr lvl="1"/>
            <a:r>
              <a:rPr lang="de-DE" dirty="0"/>
              <a:t>Neutraler Ton: kurz</a:t>
            </a:r>
          </a:p>
        </p:txBody>
      </p:sp>
      <p:sp>
        <p:nvSpPr>
          <p:cNvPr id="4" name="TextBox 3">
            <a:extLst>
              <a:ext uri="{FF2B5EF4-FFF2-40B4-BE49-F238E27FC236}">
                <a16:creationId xmlns:a16="http://schemas.microsoft.com/office/drawing/2014/main" id="{24AD3878-1961-5F91-8464-4BDAF18185C7}"/>
              </a:ext>
            </a:extLst>
          </p:cNvPr>
          <p:cNvSpPr txBox="1"/>
          <p:nvPr/>
        </p:nvSpPr>
        <p:spPr>
          <a:xfrm>
            <a:off x="7423355" y="953729"/>
            <a:ext cx="4159280" cy="369332"/>
          </a:xfrm>
          <a:prstGeom prst="rect">
            <a:avLst/>
          </a:prstGeom>
          <a:noFill/>
        </p:spPr>
        <p:txBody>
          <a:bodyPr wrap="none" rtlCol="0">
            <a:spAutoFit/>
          </a:bodyPr>
          <a:lstStyle/>
          <a:p>
            <a:r>
              <a:rPr lang="de-DE" dirty="0">
                <a:hlinkClick r:id="rId3"/>
              </a:rPr>
              <a:t>Töne des Hochchinesischen – Wikipedia</a:t>
            </a:r>
            <a:endParaRPr lang="de-DE" dirty="0"/>
          </a:p>
        </p:txBody>
      </p:sp>
    </p:spTree>
    <p:extLst>
      <p:ext uri="{BB962C8B-B14F-4D97-AF65-F5344CB8AC3E}">
        <p14:creationId xmlns:p14="http://schemas.microsoft.com/office/powerpoint/2010/main" val="296303579"/>
      </p:ext>
    </p:extLst>
  </p:cSld>
  <p:clrMapOvr>
    <a:masterClrMapping/>
  </p:clrMapOvr>
  <p:extLst>
    <p:ext uri="{6950BFC3-D8DA-4A85-94F7-54DA5524770B}">
      <p188:commentRel xmlns:p188="http://schemas.microsoft.com/office/powerpoint/2018/8/main" r:id="rId2"/>
    </p:ext>
  </p:extLs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B6141B-FDC4-8EF6-3D2B-8D6E9B944724}"/>
              </a:ext>
            </a:extLst>
          </p:cNvPr>
          <p:cNvSpPr>
            <a:spLocks noGrp="1"/>
          </p:cNvSpPr>
          <p:nvPr>
            <p:ph type="title"/>
          </p:nvPr>
        </p:nvSpPr>
        <p:spPr/>
        <p:txBody>
          <a:bodyPr/>
          <a:lstStyle/>
          <a:p>
            <a:r>
              <a:rPr lang="de-DE" dirty="0"/>
              <a:t>Survey Paper für Multimodale Modelle?</a:t>
            </a:r>
          </a:p>
        </p:txBody>
      </p:sp>
      <p:graphicFrame>
        <p:nvGraphicFramePr>
          <p:cNvPr id="4" name="Content Placeholder 3">
            <a:extLst>
              <a:ext uri="{FF2B5EF4-FFF2-40B4-BE49-F238E27FC236}">
                <a16:creationId xmlns:a16="http://schemas.microsoft.com/office/drawing/2014/main" id="{3DD4884F-2286-E4CA-7B5C-FF2372A8FC85}"/>
              </a:ext>
            </a:extLst>
          </p:cNvPr>
          <p:cNvGraphicFramePr>
            <a:graphicFrameLocks noGrp="1"/>
          </p:cNvGraphicFramePr>
          <p:nvPr>
            <p:ph idx="1"/>
            <p:extLst>
              <p:ext uri="{D42A27DB-BD31-4B8C-83A1-F6EECF244321}">
                <p14:modId xmlns:p14="http://schemas.microsoft.com/office/powerpoint/2010/main" val="3074266294"/>
              </p:ext>
            </p:extLst>
          </p:nvPr>
        </p:nvGraphicFramePr>
        <p:xfrm>
          <a:off x="838200" y="1825625"/>
          <a:ext cx="10515597" cy="4312920"/>
        </p:xfrm>
        <a:graphic>
          <a:graphicData uri="http://schemas.openxmlformats.org/drawingml/2006/table">
            <a:tbl>
              <a:tblPr firstRow="1" bandRow="1">
                <a:tableStyleId>{5C22544A-7EE6-4342-B048-85BDC9FD1C3A}</a:tableStyleId>
              </a:tblPr>
              <a:tblGrid>
                <a:gridCol w="7797800">
                  <a:extLst>
                    <a:ext uri="{9D8B030D-6E8A-4147-A177-3AD203B41FA5}">
                      <a16:colId xmlns:a16="http://schemas.microsoft.com/office/drawing/2014/main" val="1330206594"/>
                    </a:ext>
                  </a:extLst>
                </a:gridCol>
                <a:gridCol w="1530555">
                  <a:extLst>
                    <a:ext uri="{9D8B030D-6E8A-4147-A177-3AD203B41FA5}">
                      <a16:colId xmlns:a16="http://schemas.microsoft.com/office/drawing/2014/main" val="478808265"/>
                    </a:ext>
                  </a:extLst>
                </a:gridCol>
                <a:gridCol w="1187242">
                  <a:extLst>
                    <a:ext uri="{9D8B030D-6E8A-4147-A177-3AD203B41FA5}">
                      <a16:colId xmlns:a16="http://schemas.microsoft.com/office/drawing/2014/main" val="2186070241"/>
                    </a:ext>
                  </a:extLst>
                </a:gridCol>
              </a:tblGrid>
              <a:tr h="370840">
                <a:tc>
                  <a:txBody>
                    <a:bodyPr/>
                    <a:lstStyle/>
                    <a:p>
                      <a:r>
                        <a:rPr lang="de-DE" dirty="0"/>
                        <a:t>Name</a:t>
                      </a:r>
                    </a:p>
                  </a:txBody>
                  <a:tcPr/>
                </a:tc>
                <a:tc>
                  <a:txBody>
                    <a:bodyPr/>
                    <a:lstStyle/>
                    <a:p>
                      <a:r>
                        <a:rPr lang="de-DE" dirty="0"/>
                        <a:t>Jahr</a:t>
                      </a:r>
                    </a:p>
                  </a:txBody>
                  <a:tcPr/>
                </a:tc>
                <a:tc>
                  <a:txBody>
                    <a:bodyPr/>
                    <a:lstStyle/>
                    <a:p>
                      <a:r>
                        <a:rPr lang="de-DE" dirty="0"/>
                        <a:t>Link</a:t>
                      </a:r>
                    </a:p>
                  </a:txBody>
                  <a:tcPr/>
                </a:tc>
                <a:extLst>
                  <a:ext uri="{0D108BD9-81ED-4DB2-BD59-A6C34878D82A}">
                    <a16:rowId xmlns:a16="http://schemas.microsoft.com/office/drawing/2014/main" val="168779130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800" b="0" i="0" kern="1200" dirty="0">
                          <a:solidFill>
                            <a:schemeClr val="dk1"/>
                          </a:solidFill>
                          <a:effectLst/>
                          <a:latin typeface="+mn-lt"/>
                          <a:ea typeface="+mn-ea"/>
                          <a:cs typeface="+mn-cs"/>
                        </a:rPr>
                        <a:t>A Survey </a:t>
                      </a:r>
                      <a:r>
                        <a:rPr lang="de-DE" sz="1800" b="0" i="0" kern="1200" dirty="0" err="1">
                          <a:solidFill>
                            <a:schemeClr val="dk1"/>
                          </a:solidFill>
                          <a:effectLst/>
                          <a:latin typeface="+mn-lt"/>
                          <a:ea typeface="+mn-ea"/>
                          <a:cs typeface="+mn-cs"/>
                        </a:rPr>
                        <a:t>of</a:t>
                      </a:r>
                      <a:r>
                        <a:rPr lang="de-DE" sz="1800" b="0" i="0" kern="1200" dirty="0">
                          <a:solidFill>
                            <a:schemeClr val="dk1"/>
                          </a:solidFill>
                          <a:effectLst/>
                          <a:latin typeface="+mn-lt"/>
                          <a:ea typeface="+mn-ea"/>
                          <a:cs typeface="+mn-cs"/>
                        </a:rPr>
                        <a:t> Large Audio Language Models: </a:t>
                      </a:r>
                      <a:r>
                        <a:rPr lang="de-DE" sz="1800" b="0" i="0" kern="1200" dirty="0" err="1">
                          <a:solidFill>
                            <a:schemeClr val="dk1"/>
                          </a:solidFill>
                          <a:effectLst/>
                          <a:latin typeface="+mn-lt"/>
                          <a:ea typeface="+mn-ea"/>
                          <a:cs typeface="+mn-cs"/>
                        </a:rPr>
                        <a:t>Generalization</a:t>
                      </a:r>
                      <a:r>
                        <a:rPr lang="de-DE" sz="1800" b="0" i="0" kern="1200" dirty="0">
                          <a:solidFill>
                            <a:schemeClr val="dk1"/>
                          </a:solidFill>
                          <a:effectLst/>
                          <a:latin typeface="+mn-lt"/>
                          <a:ea typeface="+mn-ea"/>
                          <a:cs typeface="+mn-cs"/>
                        </a:rPr>
                        <a:t>, </a:t>
                      </a:r>
                      <a:r>
                        <a:rPr lang="de-DE" sz="1800" b="0" i="0" kern="1200" dirty="0" err="1">
                          <a:solidFill>
                            <a:schemeClr val="dk1"/>
                          </a:solidFill>
                          <a:effectLst/>
                          <a:latin typeface="+mn-lt"/>
                          <a:ea typeface="+mn-ea"/>
                          <a:cs typeface="+mn-cs"/>
                        </a:rPr>
                        <a:t>Trustworthiness</a:t>
                      </a:r>
                      <a:r>
                        <a:rPr lang="de-DE" sz="1800" b="0" i="0" kern="1200" dirty="0">
                          <a:solidFill>
                            <a:schemeClr val="dk1"/>
                          </a:solidFill>
                          <a:effectLst/>
                          <a:latin typeface="+mn-lt"/>
                          <a:ea typeface="+mn-ea"/>
                          <a:cs typeface="+mn-cs"/>
                        </a:rPr>
                        <a:t>, and Outlook</a:t>
                      </a:r>
                    </a:p>
                  </a:txBody>
                  <a:tcPr/>
                </a:tc>
                <a:tc>
                  <a:txBody>
                    <a:bodyPr/>
                    <a:lstStyle/>
                    <a:p>
                      <a:r>
                        <a:rPr lang="de-DE" dirty="0"/>
                        <a:t>2026</a:t>
                      </a:r>
                    </a:p>
                  </a:txBody>
                  <a:tcPr/>
                </a:tc>
                <a:tc>
                  <a:txBody>
                    <a:bodyPr/>
                    <a:lstStyle/>
                    <a:p>
                      <a:r>
                        <a:rPr lang="de-DE" dirty="0">
                          <a:hlinkClick r:id="rId2"/>
                        </a:rPr>
                        <a:t>Link</a:t>
                      </a:r>
                      <a:endParaRPr lang="de-DE" dirty="0"/>
                    </a:p>
                  </a:txBody>
                  <a:tcPr/>
                </a:tc>
                <a:extLst>
                  <a:ext uri="{0D108BD9-81ED-4DB2-BD59-A6C34878D82A}">
                    <a16:rowId xmlns:a16="http://schemas.microsoft.com/office/drawing/2014/main" val="2283787927"/>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kern="1200" baseline="0" dirty="0">
                          <a:solidFill>
                            <a:schemeClr val="dk1"/>
                          </a:solidFill>
                          <a:latin typeface="+mn-lt"/>
                          <a:ea typeface="+mn-ea"/>
                          <a:cs typeface="+mn-cs"/>
                        </a:rPr>
                        <a:t>A Survey on Speech Large Language Models for Understanding</a:t>
                      </a:r>
                      <a:endParaRPr lang="de-DE" sz="1800" b="0" i="0" kern="1200" dirty="0">
                        <a:solidFill>
                          <a:schemeClr val="dk1"/>
                        </a:solidFill>
                        <a:effectLst/>
                        <a:latin typeface="+mn-lt"/>
                        <a:ea typeface="+mn-ea"/>
                        <a:cs typeface="+mn-cs"/>
                      </a:endParaRPr>
                    </a:p>
                  </a:txBody>
                  <a:tcPr/>
                </a:tc>
                <a:tc>
                  <a:txBody>
                    <a:bodyPr/>
                    <a:lstStyle/>
                    <a:p>
                      <a:r>
                        <a:rPr lang="de-DE" dirty="0"/>
                        <a:t>2024</a:t>
                      </a:r>
                    </a:p>
                  </a:txBody>
                  <a:tcPr/>
                </a:tc>
                <a:tc>
                  <a:txBody>
                    <a:bodyPr/>
                    <a:lstStyle/>
                    <a:p>
                      <a:r>
                        <a:rPr lang="de-DE" dirty="0">
                          <a:hlinkClick r:id="rId3"/>
                        </a:rPr>
                        <a:t>Link</a:t>
                      </a:r>
                      <a:endParaRPr lang="de-DE" dirty="0"/>
                    </a:p>
                  </a:txBody>
                  <a:tcPr/>
                </a:tc>
                <a:extLst>
                  <a:ext uri="{0D108BD9-81ED-4DB2-BD59-A6C34878D82A}">
                    <a16:rowId xmlns:a16="http://schemas.microsoft.com/office/drawing/2014/main" val="1974251189"/>
                  </a:ext>
                </a:extLst>
              </a:tr>
              <a:tr h="370840">
                <a:tc>
                  <a:txBody>
                    <a:bodyPr/>
                    <a:lstStyle/>
                    <a:p>
                      <a:r>
                        <a:rPr lang="en-US" sz="1800" b="0" i="0" u="none" strike="noStrike" kern="1200" baseline="0" dirty="0">
                          <a:solidFill>
                            <a:schemeClr val="dk1"/>
                          </a:solidFill>
                          <a:latin typeface="+mn-lt"/>
                          <a:ea typeface="+mn-ea"/>
                          <a:cs typeface="+mn-cs"/>
                        </a:rPr>
                        <a:t>On The Landscape of Spoken Language Models:</a:t>
                      </a:r>
                    </a:p>
                    <a:p>
                      <a:r>
                        <a:rPr lang="de-DE" sz="1800" b="0" i="0" u="none" strike="noStrike" kern="1200" baseline="0" dirty="0">
                          <a:solidFill>
                            <a:schemeClr val="dk1"/>
                          </a:solidFill>
                          <a:latin typeface="+mn-lt"/>
                          <a:ea typeface="+mn-ea"/>
                          <a:cs typeface="+mn-cs"/>
                        </a:rPr>
                        <a:t>A </a:t>
                      </a:r>
                      <a:r>
                        <a:rPr lang="de-DE" sz="1800" b="0" i="0" u="none" strike="noStrike" kern="1200" baseline="0" dirty="0" err="1">
                          <a:solidFill>
                            <a:schemeClr val="dk1"/>
                          </a:solidFill>
                          <a:latin typeface="+mn-lt"/>
                          <a:ea typeface="+mn-ea"/>
                          <a:cs typeface="+mn-cs"/>
                        </a:rPr>
                        <a:t>Comprehensive</a:t>
                      </a:r>
                      <a:r>
                        <a:rPr lang="de-DE" sz="1800" b="0" i="0" u="none" strike="noStrike" kern="1200" baseline="0" dirty="0">
                          <a:solidFill>
                            <a:schemeClr val="dk1"/>
                          </a:solidFill>
                          <a:latin typeface="+mn-lt"/>
                          <a:ea typeface="+mn-ea"/>
                          <a:cs typeface="+mn-cs"/>
                        </a:rPr>
                        <a:t> Survey</a:t>
                      </a:r>
                      <a:endParaRPr lang="de-DE" sz="1800" b="0" i="0" kern="1200" dirty="0">
                        <a:solidFill>
                          <a:schemeClr val="dk1"/>
                        </a:solidFill>
                        <a:effectLst/>
                        <a:latin typeface="+mn-lt"/>
                        <a:ea typeface="+mn-ea"/>
                        <a:cs typeface="+mn-cs"/>
                      </a:endParaRPr>
                    </a:p>
                  </a:txBody>
                  <a:tcPr/>
                </a:tc>
                <a:tc>
                  <a:txBody>
                    <a:bodyPr/>
                    <a:lstStyle/>
                    <a:p>
                      <a:r>
                        <a:rPr lang="de-DE" dirty="0"/>
                        <a:t>2025</a:t>
                      </a:r>
                    </a:p>
                  </a:txBody>
                  <a:tcPr/>
                </a:tc>
                <a:tc>
                  <a:txBody>
                    <a:bodyPr/>
                    <a:lstStyle/>
                    <a:p>
                      <a:r>
                        <a:rPr lang="de-DE" dirty="0">
                          <a:hlinkClick r:id="rId4"/>
                        </a:rPr>
                        <a:t>Link</a:t>
                      </a:r>
                      <a:endParaRPr lang="de-DE" dirty="0"/>
                    </a:p>
                  </a:txBody>
                  <a:tcPr/>
                </a:tc>
                <a:extLst>
                  <a:ext uri="{0D108BD9-81ED-4DB2-BD59-A6C34878D82A}">
                    <a16:rowId xmlns:a16="http://schemas.microsoft.com/office/drawing/2014/main" val="750294214"/>
                  </a:ext>
                </a:extLst>
              </a:tr>
              <a:tr h="370840">
                <a:tc>
                  <a:txBody>
                    <a:bodyPr/>
                    <a:lstStyle/>
                    <a:p>
                      <a:r>
                        <a:rPr lang="en-US" sz="1800" b="0" i="0" u="none" strike="noStrike" kern="1200" baseline="0" dirty="0">
                          <a:solidFill>
                            <a:schemeClr val="dk1"/>
                          </a:solidFill>
                          <a:latin typeface="+mn-lt"/>
                          <a:ea typeface="+mn-ea"/>
                          <a:cs typeface="+mn-cs"/>
                        </a:rPr>
                        <a:t>Sparks of Large Audio Models:</a:t>
                      </a:r>
                    </a:p>
                    <a:p>
                      <a:r>
                        <a:rPr lang="de-DE" sz="1800" b="0" i="0" u="none" strike="noStrike" kern="1200" baseline="0" dirty="0">
                          <a:solidFill>
                            <a:schemeClr val="dk1"/>
                          </a:solidFill>
                          <a:latin typeface="+mn-lt"/>
                          <a:ea typeface="+mn-ea"/>
                          <a:cs typeface="+mn-cs"/>
                        </a:rPr>
                        <a:t>A Survey and Outlook</a:t>
                      </a:r>
                      <a:endParaRPr lang="de-DE" sz="1800" b="1" i="0" kern="1200" dirty="0">
                        <a:solidFill>
                          <a:schemeClr val="dk1"/>
                        </a:solidFill>
                        <a:effectLst/>
                        <a:latin typeface="+mn-lt"/>
                        <a:ea typeface="+mn-ea"/>
                        <a:cs typeface="+mn-cs"/>
                      </a:endParaRPr>
                    </a:p>
                  </a:txBody>
                  <a:tcPr/>
                </a:tc>
                <a:tc>
                  <a:txBody>
                    <a:bodyPr/>
                    <a:lstStyle/>
                    <a:p>
                      <a:r>
                        <a:rPr lang="de-DE" dirty="0"/>
                        <a:t>2023</a:t>
                      </a:r>
                    </a:p>
                  </a:txBody>
                  <a:tcPr/>
                </a:tc>
                <a:tc>
                  <a:txBody>
                    <a:bodyPr/>
                    <a:lstStyle/>
                    <a:p>
                      <a:r>
                        <a:rPr lang="de-DE" dirty="0">
                          <a:hlinkClick r:id="rId5"/>
                        </a:rPr>
                        <a:t>Link</a:t>
                      </a:r>
                      <a:endParaRPr lang="de-DE" dirty="0"/>
                    </a:p>
                  </a:txBody>
                  <a:tcPr/>
                </a:tc>
                <a:extLst>
                  <a:ext uri="{0D108BD9-81ED-4DB2-BD59-A6C34878D82A}">
                    <a16:rowId xmlns:a16="http://schemas.microsoft.com/office/drawing/2014/main" val="2999251838"/>
                  </a:ext>
                </a:extLst>
              </a:tr>
              <a:tr h="370840">
                <a:tc>
                  <a:txBody>
                    <a:bodyPr/>
                    <a:lstStyle/>
                    <a:p>
                      <a:r>
                        <a:rPr lang="en-US" sz="1800" b="0" i="0" u="none" strike="noStrike" kern="1200" baseline="0" dirty="0">
                          <a:solidFill>
                            <a:schemeClr val="dk1"/>
                          </a:solidFill>
                          <a:latin typeface="+mn-lt"/>
                          <a:ea typeface="+mn-ea"/>
                          <a:cs typeface="+mn-cs"/>
                        </a:rPr>
                        <a:t>Recent Advances in Speech Language Models: A</a:t>
                      </a:r>
                    </a:p>
                    <a:p>
                      <a:r>
                        <a:rPr lang="de-DE" sz="1800" b="0" i="0" u="none" strike="noStrike" kern="1200" baseline="0" dirty="0">
                          <a:solidFill>
                            <a:schemeClr val="dk1"/>
                          </a:solidFill>
                          <a:latin typeface="+mn-lt"/>
                          <a:ea typeface="+mn-ea"/>
                          <a:cs typeface="+mn-cs"/>
                        </a:rPr>
                        <a:t>Survey</a:t>
                      </a:r>
                      <a:endParaRPr lang="de-DE" sz="1800" b="1" i="0" kern="1200" dirty="0">
                        <a:solidFill>
                          <a:schemeClr val="dk1"/>
                        </a:solidFill>
                        <a:effectLst/>
                        <a:latin typeface="+mn-lt"/>
                        <a:ea typeface="+mn-ea"/>
                        <a:cs typeface="+mn-cs"/>
                      </a:endParaRPr>
                    </a:p>
                  </a:txBody>
                  <a:tcPr/>
                </a:tc>
                <a:tc>
                  <a:txBody>
                    <a:bodyPr/>
                    <a:lstStyle/>
                    <a:p>
                      <a:r>
                        <a:rPr lang="de-DE" dirty="0"/>
                        <a:t>2024</a:t>
                      </a:r>
                    </a:p>
                  </a:txBody>
                  <a:tcPr/>
                </a:tc>
                <a:tc>
                  <a:txBody>
                    <a:bodyPr/>
                    <a:lstStyle/>
                    <a:p>
                      <a:r>
                        <a:rPr lang="de-DE" dirty="0">
                          <a:hlinkClick r:id="rId6"/>
                        </a:rPr>
                        <a:t>Link</a:t>
                      </a:r>
                      <a:endParaRPr lang="de-DE" dirty="0"/>
                    </a:p>
                  </a:txBody>
                  <a:tcPr/>
                </a:tc>
                <a:extLst>
                  <a:ext uri="{0D108BD9-81ED-4DB2-BD59-A6C34878D82A}">
                    <a16:rowId xmlns:a16="http://schemas.microsoft.com/office/drawing/2014/main" val="2053053773"/>
                  </a:ext>
                </a:extLst>
              </a:tr>
              <a:tr h="370840">
                <a:tc>
                  <a:txBody>
                    <a:bodyPr/>
                    <a:lstStyle/>
                    <a:p>
                      <a:r>
                        <a:rPr lang="en-US" sz="1800" b="0" i="0" u="none" strike="noStrike" kern="1200" baseline="0" dirty="0">
                          <a:solidFill>
                            <a:schemeClr val="dk1"/>
                          </a:solidFill>
                          <a:latin typeface="+mn-lt"/>
                          <a:ea typeface="+mn-ea"/>
                          <a:cs typeface="+mn-cs"/>
                        </a:rPr>
                        <a:t>Speech Translation with Speech Foundation Models and</a:t>
                      </a:r>
                    </a:p>
                    <a:p>
                      <a:r>
                        <a:rPr lang="en-US" sz="1800" b="0" i="0" u="none" strike="noStrike" kern="1200" baseline="0" dirty="0">
                          <a:solidFill>
                            <a:schemeClr val="dk1"/>
                          </a:solidFill>
                          <a:latin typeface="+mn-lt"/>
                          <a:ea typeface="+mn-ea"/>
                          <a:cs typeface="+mn-cs"/>
                        </a:rPr>
                        <a:t>Large Language Models: What is There and What is Missing?</a:t>
                      </a:r>
                      <a:endParaRPr lang="de-DE" sz="1800" b="1" i="0" kern="1200" dirty="0">
                        <a:solidFill>
                          <a:schemeClr val="dk1"/>
                        </a:solidFill>
                        <a:effectLst/>
                        <a:latin typeface="+mn-lt"/>
                        <a:ea typeface="+mn-ea"/>
                        <a:cs typeface="+mn-cs"/>
                      </a:endParaRPr>
                    </a:p>
                  </a:txBody>
                  <a:tcPr/>
                </a:tc>
                <a:tc>
                  <a:txBody>
                    <a:bodyPr/>
                    <a:lstStyle/>
                    <a:p>
                      <a:r>
                        <a:rPr lang="de-DE" dirty="0"/>
                        <a:t>2024</a:t>
                      </a:r>
                    </a:p>
                  </a:txBody>
                  <a:tcPr/>
                </a:tc>
                <a:tc>
                  <a:txBody>
                    <a:bodyPr/>
                    <a:lstStyle/>
                    <a:p>
                      <a:r>
                        <a:rPr lang="de-DE" dirty="0">
                          <a:hlinkClick r:id="rId7"/>
                        </a:rPr>
                        <a:t>Link</a:t>
                      </a:r>
                      <a:endParaRPr lang="de-DE" dirty="0"/>
                    </a:p>
                  </a:txBody>
                  <a:tcPr/>
                </a:tc>
                <a:extLst>
                  <a:ext uri="{0D108BD9-81ED-4DB2-BD59-A6C34878D82A}">
                    <a16:rowId xmlns:a16="http://schemas.microsoft.com/office/drawing/2014/main" val="1409655346"/>
                  </a:ext>
                </a:extLst>
              </a:tr>
              <a:tr h="370840">
                <a:tc>
                  <a:txBody>
                    <a:bodyPr/>
                    <a:lstStyle/>
                    <a:p>
                      <a:r>
                        <a:rPr lang="de-DE" sz="1800" b="1" i="0" kern="1200" dirty="0">
                          <a:solidFill>
                            <a:schemeClr val="dk1"/>
                          </a:solidFill>
                          <a:effectLst/>
                          <a:latin typeface="+mn-lt"/>
                          <a:ea typeface="+mn-ea"/>
                          <a:cs typeface="+mn-cs"/>
                        </a:rPr>
                        <a:t>Technical Performance | The 2026 AI Index Report | Stanford HAI</a:t>
                      </a:r>
                    </a:p>
                  </a:txBody>
                  <a:tcPr/>
                </a:tc>
                <a:tc>
                  <a:txBody>
                    <a:bodyPr/>
                    <a:lstStyle/>
                    <a:p>
                      <a:r>
                        <a:rPr lang="de-DE" dirty="0"/>
                        <a:t>2026</a:t>
                      </a:r>
                    </a:p>
                  </a:txBody>
                  <a:tcPr/>
                </a:tc>
                <a:tc>
                  <a:txBody>
                    <a:bodyPr/>
                    <a:lstStyle/>
                    <a:p>
                      <a:r>
                        <a:rPr lang="de-DE" dirty="0">
                          <a:hlinkClick r:id="rId8"/>
                        </a:rPr>
                        <a:t>Link</a:t>
                      </a:r>
                      <a:endParaRPr lang="de-DE" dirty="0"/>
                    </a:p>
                  </a:txBody>
                  <a:tcPr/>
                </a:tc>
                <a:extLst>
                  <a:ext uri="{0D108BD9-81ED-4DB2-BD59-A6C34878D82A}">
                    <a16:rowId xmlns:a16="http://schemas.microsoft.com/office/drawing/2014/main" val="4060036585"/>
                  </a:ext>
                </a:extLst>
              </a:tr>
            </a:tbl>
          </a:graphicData>
        </a:graphic>
      </p:graphicFrame>
    </p:spTree>
    <p:extLst>
      <p:ext uri="{BB962C8B-B14F-4D97-AF65-F5344CB8AC3E}">
        <p14:creationId xmlns:p14="http://schemas.microsoft.com/office/powerpoint/2010/main" val="239352262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4BF8FC-ABA1-619F-F6FB-BA8B39FBD165}"/>
              </a:ext>
            </a:extLst>
          </p:cNvPr>
          <p:cNvSpPr>
            <a:spLocks noGrp="1"/>
          </p:cNvSpPr>
          <p:nvPr>
            <p:ph type="title"/>
          </p:nvPr>
        </p:nvSpPr>
        <p:spPr/>
        <p:txBody>
          <a:bodyPr>
            <a:normAutofit fontScale="90000"/>
          </a:bodyPr>
          <a:lstStyle/>
          <a:p>
            <a:r>
              <a:rPr lang="de-DE" b="1" dirty="0"/>
              <a:t>A Survey </a:t>
            </a:r>
            <a:r>
              <a:rPr lang="de-DE" b="1" dirty="0" err="1"/>
              <a:t>of</a:t>
            </a:r>
            <a:r>
              <a:rPr lang="de-DE" b="1" dirty="0"/>
              <a:t> Large Audio Language Models: </a:t>
            </a:r>
            <a:r>
              <a:rPr lang="de-DE" b="1" dirty="0" err="1"/>
              <a:t>Generalization</a:t>
            </a:r>
            <a:r>
              <a:rPr lang="de-DE" b="1" dirty="0"/>
              <a:t>, </a:t>
            </a:r>
            <a:r>
              <a:rPr lang="de-DE" b="1" dirty="0" err="1"/>
              <a:t>Trustworthiness</a:t>
            </a:r>
            <a:r>
              <a:rPr lang="de-DE" b="1" dirty="0"/>
              <a:t>, and Outlook</a:t>
            </a:r>
            <a:br>
              <a:rPr lang="de-DE" b="1" dirty="0"/>
            </a:br>
            <a:endParaRPr lang="de-DE" dirty="0"/>
          </a:p>
        </p:txBody>
      </p:sp>
      <p:sp>
        <p:nvSpPr>
          <p:cNvPr id="3" name="Content Placeholder 2">
            <a:extLst>
              <a:ext uri="{FF2B5EF4-FFF2-40B4-BE49-F238E27FC236}">
                <a16:creationId xmlns:a16="http://schemas.microsoft.com/office/drawing/2014/main" id="{F40CB7D0-8AD3-2106-C96C-22B564BFBCF8}"/>
              </a:ext>
            </a:extLst>
          </p:cNvPr>
          <p:cNvSpPr>
            <a:spLocks noGrp="1"/>
          </p:cNvSpPr>
          <p:nvPr>
            <p:ph idx="1"/>
          </p:nvPr>
        </p:nvSpPr>
        <p:spPr/>
        <p:txBody>
          <a:bodyPr/>
          <a:lstStyle/>
          <a:p>
            <a:endParaRPr lang="de-DE" dirty="0"/>
          </a:p>
        </p:txBody>
      </p:sp>
      <p:pic>
        <p:nvPicPr>
          <p:cNvPr id="5" name="Picture 4">
            <a:extLst>
              <a:ext uri="{FF2B5EF4-FFF2-40B4-BE49-F238E27FC236}">
                <a16:creationId xmlns:a16="http://schemas.microsoft.com/office/drawing/2014/main" id="{8201420D-2ADF-4001-3B42-2F715074F381}"/>
              </a:ext>
            </a:extLst>
          </p:cNvPr>
          <p:cNvPicPr>
            <a:picLocks noChangeAspect="1"/>
          </p:cNvPicPr>
          <p:nvPr/>
        </p:nvPicPr>
        <p:blipFill>
          <a:blip r:embed="rId2"/>
          <a:stretch>
            <a:fillRect/>
          </a:stretch>
        </p:blipFill>
        <p:spPr>
          <a:xfrm>
            <a:off x="1744789" y="1690688"/>
            <a:ext cx="9175156" cy="4486275"/>
          </a:xfrm>
          <a:prstGeom prst="rect">
            <a:avLst/>
          </a:prstGeom>
        </p:spPr>
      </p:pic>
    </p:spTree>
    <p:extLst>
      <p:ext uri="{BB962C8B-B14F-4D97-AF65-F5344CB8AC3E}">
        <p14:creationId xmlns:p14="http://schemas.microsoft.com/office/powerpoint/2010/main" val="34369267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44C8A1-E47E-4C4C-1113-652BBE549814}"/>
              </a:ext>
            </a:extLst>
          </p:cNvPr>
          <p:cNvSpPr>
            <a:spLocks noGrp="1"/>
          </p:cNvSpPr>
          <p:nvPr>
            <p:ph type="title"/>
          </p:nvPr>
        </p:nvSpPr>
        <p:spPr/>
        <p:txBody>
          <a:bodyPr>
            <a:normAutofit fontScale="90000"/>
          </a:bodyPr>
          <a:lstStyle/>
          <a:p>
            <a:r>
              <a:rPr lang="en-US" b="1" dirty="0"/>
              <a:t>On The Landscape of Spoken Language Models:</a:t>
            </a:r>
            <a:br>
              <a:rPr lang="en-US" b="1" dirty="0"/>
            </a:br>
            <a:r>
              <a:rPr lang="de-DE" b="1" dirty="0"/>
              <a:t>A </a:t>
            </a:r>
            <a:r>
              <a:rPr lang="de-DE" b="1" dirty="0" err="1"/>
              <a:t>Comprehensive</a:t>
            </a:r>
            <a:r>
              <a:rPr lang="de-DE" b="1" dirty="0"/>
              <a:t> Survey</a:t>
            </a:r>
            <a:endParaRPr lang="de-DE" dirty="0"/>
          </a:p>
        </p:txBody>
      </p:sp>
      <p:pic>
        <p:nvPicPr>
          <p:cNvPr id="5" name="Content Placeholder 4">
            <a:extLst>
              <a:ext uri="{FF2B5EF4-FFF2-40B4-BE49-F238E27FC236}">
                <a16:creationId xmlns:a16="http://schemas.microsoft.com/office/drawing/2014/main" id="{83D36A97-C32C-746F-9D18-77EECB55D224}"/>
              </a:ext>
            </a:extLst>
          </p:cNvPr>
          <p:cNvPicPr>
            <a:picLocks noGrp="1" noChangeAspect="1"/>
          </p:cNvPicPr>
          <p:nvPr>
            <p:ph idx="1"/>
          </p:nvPr>
        </p:nvPicPr>
        <p:blipFill>
          <a:blip r:embed="rId2"/>
          <a:stretch>
            <a:fillRect/>
          </a:stretch>
        </p:blipFill>
        <p:spPr>
          <a:xfrm>
            <a:off x="4029841" y="1609495"/>
            <a:ext cx="3973617" cy="5137739"/>
          </a:xfrm>
          <a:prstGeom prst="rect">
            <a:avLst/>
          </a:prstGeom>
        </p:spPr>
      </p:pic>
    </p:spTree>
    <p:extLst>
      <p:ext uri="{BB962C8B-B14F-4D97-AF65-F5344CB8AC3E}">
        <p14:creationId xmlns:p14="http://schemas.microsoft.com/office/powerpoint/2010/main" val="151193978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29E464-C67F-FA77-EA55-C5C9E60D2213}"/>
              </a:ext>
            </a:extLst>
          </p:cNvPr>
          <p:cNvSpPr>
            <a:spLocks noGrp="1"/>
          </p:cNvSpPr>
          <p:nvPr>
            <p:ph type="title"/>
          </p:nvPr>
        </p:nvSpPr>
        <p:spPr/>
        <p:txBody>
          <a:bodyPr/>
          <a:lstStyle/>
          <a:p>
            <a:r>
              <a:rPr lang="de-DE" dirty="0"/>
              <a:t>Frontiermodelle</a:t>
            </a:r>
          </a:p>
        </p:txBody>
      </p:sp>
      <p:graphicFrame>
        <p:nvGraphicFramePr>
          <p:cNvPr id="4" name="Content Placeholder 3">
            <a:extLst>
              <a:ext uri="{FF2B5EF4-FFF2-40B4-BE49-F238E27FC236}">
                <a16:creationId xmlns:a16="http://schemas.microsoft.com/office/drawing/2014/main" id="{D2236DFA-6846-AD2D-B773-B4027A2EA5A3}"/>
              </a:ext>
            </a:extLst>
          </p:cNvPr>
          <p:cNvGraphicFramePr>
            <a:graphicFrameLocks noGrp="1"/>
          </p:cNvGraphicFramePr>
          <p:nvPr>
            <p:ph idx="1"/>
            <p:extLst>
              <p:ext uri="{D42A27DB-BD31-4B8C-83A1-F6EECF244321}">
                <p14:modId xmlns:p14="http://schemas.microsoft.com/office/powerpoint/2010/main" val="703498824"/>
              </p:ext>
            </p:extLst>
          </p:nvPr>
        </p:nvGraphicFramePr>
        <p:xfrm>
          <a:off x="1605116" y="1484671"/>
          <a:ext cx="9829800" cy="5321925"/>
        </p:xfrm>
        <a:graphic>
          <a:graphicData uri="http://schemas.openxmlformats.org/drawingml/2006/table">
            <a:tbl>
              <a:tblPr firstRow="1" bandRow="1">
                <a:tableStyleId>{5C22544A-7EE6-4342-B048-85BDC9FD1C3A}</a:tableStyleId>
              </a:tblPr>
              <a:tblGrid>
                <a:gridCol w="1965960">
                  <a:extLst>
                    <a:ext uri="{9D8B030D-6E8A-4147-A177-3AD203B41FA5}">
                      <a16:colId xmlns:a16="http://schemas.microsoft.com/office/drawing/2014/main" val="403268706"/>
                    </a:ext>
                  </a:extLst>
                </a:gridCol>
                <a:gridCol w="1965960">
                  <a:extLst>
                    <a:ext uri="{9D8B030D-6E8A-4147-A177-3AD203B41FA5}">
                      <a16:colId xmlns:a16="http://schemas.microsoft.com/office/drawing/2014/main" val="2711876028"/>
                    </a:ext>
                  </a:extLst>
                </a:gridCol>
                <a:gridCol w="1965960">
                  <a:extLst>
                    <a:ext uri="{9D8B030D-6E8A-4147-A177-3AD203B41FA5}">
                      <a16:colId xmlns:a16="http://schemas.microsoft.com/office/drawing/2014/main" val="245274075"/>
                    </a:ext>
                  </a:extLst>
                </a:gridCol>
                <a:gridCol w="1965960">
                  <a:extLst>
                    <a:ext uri="{9D8B030D-6E8A-4147-A177-3AD203B41FA5}">
                      <a16:colId xmlns:a16="http://schemas.microsoft.com/office/drawing/2014/main" val="1365301239"/>
                    </a:ext>
                  </a:extLst>
                </a:gridCol>
                <a:gridCol w="1965960">
                  <a:extLst>
                    <a:ext uri="{9D8B030D-6E8A-4147-A177-3AD203B41FA5}">
                      <a16:colId xmlns:a16="http://schemas.microsoft.com/office/drawing/2014/main" val="1616179696"/>
                    </a:ext>
                  </a:extLst>
                </a:gridCol>
              </a:tblGrid>
              <a:tr h="320251">
                <a:tc>
                  <a:txBody>
                    <a:bodyPr/>
                    <a:lstStyle/>
                    <a:p>
                      <a:r>
                        <a:rPr lang="de-DE" sz="1400" dirty="0"/>
                        <a:t>Anbieter</a:t>
                      </a:r>
                    </a:p>
                  </a:txBody>
                  <a:tcPr/>
                </a:tc>
                <a:tc>
                  <a:txBody>
                    <a:bodyPr/>
                    <a:lstStyle/>
                    <a:p>
                      <a:r>
                        <a:rPr lang="de-DE" sz="1400" dirty="0"/>
                        <a:t>Frontiermodell</a:t>
                      </a:r>
                    </a:p>
                  </a:txBody>
                  <a:tcPr/>
                </a:tc>
                <a:tc>
                  <a:txBody>
                    <a:bodyPr/>
                    <a:lstStyle/>
                    <a:p>
                      <a:r>
                        <a:rPr lang="de-DE" sz="1400" dirty="0"/>
                        <a:t>Multimodal?</a:t>
                      </a:r>
                    </a:p>
                  </a:txBody>
                  <a:tcPr/>
                </a:tc>
                <a:tc>
                  <a:txBody>
                    <a:bodyPr/>
                    <a:lstStyle/>
                    <a:p>
                      <a:r>
                        <a:rPr lang="de-DE" sz="1400" dirty="0"/>
                        <a:t>Gut/Schlecht bei </a:t>
                      </a:r>
                      <a:r>
                        <a:rPr lang="de-DE" sz="1400" dirty="0" err="1"/>
                        <a:t>Phonemerkennung</a:t>
                      </a:r>
                      <a:r>
                        <a:rPr lang="de-DE" sz="1400" dirty="0"/>
                        <a:t>? </a:t>
                      </a:r>
                    </a:p>
                  </a:txBody>
                  <a:tcPr/>
                </a:tc>
                <a:tc>
                  <a:txBody>
                    <a:bodyPr/>
                    <a:lstStyle/>
                    <a:p>
                      <a:r>
                        <a:rPr lang="de-DE" sz="1400" dirty="0"/>
                        <a:t>Referenz (auch Vorgängermodell)</a:t>
                      </a:r>
                    </a:p>
                  </a:txBody>
                  <a:tcPr/>
                </a:tc>
                <a:extLst>
                  <a:ext uri="{0D108BD9-81ED-4DB2-BD59-A6C34878D82A}">
                    <a16:rowId xmlns:a16="http://schemas.microsoft.com/office/drawing/2014/main" val="1096704013"/>
                  </a:ext>
                </a:extLst>
              </a:tr>
              <a:tr h="320251">
                <a:tc>
                  <a:txBody>
                    <a:bodyPr/>
                    <a:lstStyle/>
                    <a:p>
                      <a:r>
                        <a:rPr lang="de-DE" sz="1400" dirty="0"/>
                        <a:t>OpenAI</a:t>
                      </a:r>
                    </a:p>
                  </a:txBody>
                  <a:tcPr/>
                </a:tc>
                <a:tc>
                  <a:txBody>
                    <a:bodyPr/>
                    <a:lstStyle/>
                    <a:p>
                      <a:r>
                        <a:rPr lang="de-DE" sz="1400" dirty="0"/>
                        <a:t>GPT-5.4</a:t>
                      </a:r>
                    </a:p>
                  </a:txBody>
                  <a:tcPr/>
                </a:tc>
                <a:tc>
                  <a:txBody>
                    <a:bodyPr/>
                    <a:lstStyle/>
                    <a:p>
                      <a:r>
                        <a:rPr lang="de-DE" sz="1400" dirty="0"/>
                        <a:t>Ja</a:t>
                      </a:r>
                    </a:p>
                  </a:txBody>
                  <a:tcPr/>
                </a:tc>
                <a:tc>
                  <a:txBody>
                    <a:bodyPr/>
                    <a:lstStyle/>
                    <a:p>
                      <a:endParaRPr lang="de-DE" sz="1400" dirty="0"/>
                    </a:p>
                  </a:txBody>
                  <a:tcPr/>
                </a:tc>
                <a:tc>
                  <a:txBody>
                    <a:bodyPr/>
                    <a:lstStyle/>
                    <a:p>
                      <a:endParaRPr lang="de-DE" sz="1400" dirty="0"/>
                    </a:p>
                  </a:txBody>
                  <a:tcPr/>
                </a:tc>
                <a:extLst>
                  <a:ext uri="{0D108BD9-81ED-4DB2-BD59-A6C34878D82A}">
                    <a16:rowId xmlns:a16="http://schemas.microsoft.com/office/drawing/2014/main" val="2685450973"/>
                  </a:ext>
                </a:extLst>
              </a:tr>
              <a:tr h="320251">
                <a:tc>
                  <a:txBody>
                    <a:bodyPr/>
                    <a:lstStyle/>
                    <a:p>
                      <a:r>
                        <a:rPr lang="de-DE" sz="1400" dirty="0"/>
                        <a:t>Google</a:t>
                      </a:r>
                    </a:p>
                  </a:txBody>
                  <a:tcPr/>
                </a:tc>
                <a:tc>
                  <a:txBody>
                    <a:bodyPr/>
                    <a:lstStyle/>
                    <a:p>
                      <a:r>
                        <a:rPr lang="de-DE" sz="1400" dirty="0"/>
                        <a:t>Gemini 3.5 Flash</a:t>
                      </a:r>
                    </a:p>
                  </a:txBody>
                  <a:tcPr/>
                </a:tc>
                <a:tc>
                  <a:txBody>
                    <a:bodyPr/>
                    <a:lstStyle/>
                    <a:p>
                      <a:r>
                        <a:rPr lang="de-DE" sz="1400" dirty="0"/>
                        <a:t>Ja</a:t>
                      </a:r>
                    </a:p>
                  </a:txBody>
                  <a:tcPr/>
                </a:tc>
                <a:tc>
                  <a:txBody>
                    <a:bodyPr/>
                    <a:lstStyle/>
                    <a:p>
                      <a:endParaRPr lang="de-DE" sz="1400" dirty="0"/>
                    </a:p>
                  </a:txBody>
                  <a:tcPr/>
                </a:tc>
                <a:tc>
                  <a:txBody>
                    <a:bodyPr/>
                    <a:lstStyle/>
                    <a:p>
                      <a:endParaRPr lang="de-DE" sz="1400" dirty="0"/>
                    </a:p>
                  </a:txBody>
                  <a:tcPr/>
                </a:tc>
                <a:extLst>
                  <a:ext uri="{0D108BD9-81ED-4DB2-BD59-A6C34878D82A}">
                    <a16:rowId xmlns:a16="http://schemas.microsoft.com/office/drawing/2014/main" val="3041342552"/>
                  </a:ext>
                </a:extLst>
              </a:tr>
              <a:tr h="320251">
                <a:tc>
                  <a:txBody>
                    <a:bodyPr/>
                    <a:lstStyle/>
                    <a:p>
                      <a:r>
                        <a:rPr lang="de-DE" sz="1400" dirty="0"/>
                        <a:t>Anthropic</a:t>
                      </a:r>
                    </a:p>
                  </a:txBody>
                  <a:tcPr/>
                </a:tc>
                <a:tc>
                  <a:txBody>
                    <a:bodyPr/>
                    <a:lstStyle/>
                    <a:p>
                      <a:r>
                        <a:rPr lang="de-DE" sz="1400" dirty="0"/>
                        <a:t>Claude Opus 4.6</a:t>
                      </a:r>
                    </a:p>
                  </a:txBody>
                  <a:tcPr/>
                </a:tc>
                <a:tc>
                  <a:txBody>
                    <a:bodyPr/>
                    <a:lstStyle/>
                    <a:p>
                      <a:r>
                        <a:rPr lang="de-DE" sz="1400" dirty="0"/>
                        <a:t>Ja</a:t>
                      </a:r>
                    </a:p>
                  </a:txBody>
                  <a:tcPr/>
                </a:tc>
                <a:tc>
                  <a:txBody>
                    <a:bodyPr/>
                    <a:lstStyle/>
                    <a:p>
                      <a:endParaRPr lang="de-DE" sz="1400" dirty="0"/>
                    </a:p>
                  </a:txBody>
                  <a:tcPr/>
                </a:tc>
                <a:tc>
                  <a:txBody>
                    <a:bodyPr/>
                    <a:lstStyle/>
                    <a:p>
                      <a:endParaRPr lang="de-DE" sz="1400" dirty="0"/>
                    </a:p>
                  </a:txBody>
                  <a:tcPr/>
                </a:tc>
                <a:extLst>
                  <a:ext uri="{0D108BD9-81ED-4DB2-BD59-A6C34878D82A}">
                    <a16:rowId xmlns:a16="http://schemas.microsoft.com/office/drawing/2014/main" val="93240976"/>
                  </a:ext>
                </a:extLst>
              </a:tr>
              <a:tr h="320251">
                <a:tc>
                  <a:txBody>
                    <a:bodyPr/>
                    <a:lstStyle/>
                    <a:p>
                      <a:r>
                        <a:rPr lang="de-DE" sz="1400" dirty="0"/>
                        <a:t>Mistral</a:t>
                      </a:r>
                    </a:p>
                  </a:txBody>
                  <a:tcPr/>
                </a:tc>
                <a:tc>
                  <a:txBody>
                    <a:bodyPr/>
                    <a:lstStyle/>
                    <a:p>
                      <a:r>
                        <a:rPr lang="de-DE" sz="1400" dirty="0"/>
                        <a:t>Mistral Large 3</a:t>
                      </a:r>
                    </a:p>
                  </a:txBody>
                  <a:tcPr/>
                </a:tc>
                <a:tc>
                  <a:txBody>
                    <a:bodyPr/>
                    <a:lstStyle/>
                    <a:p>
                      <a:r>
                        <a:rPr lang="de-DE" sz="1400" dirty="0"/>
                        <a:t>Ja</a:t>
                      </a:r>
                    </a:p>
                  </a:txBody>
                  <a:tcPr/>
                </a:tc>
                <a:tc>
                  <a:txBody>
                    <a:bodyPr/>
                    <a:lstStyle/>
                    <a:p>
                      <a:endParaRPr lang="de-DE" sz="1400" dirty="0"/>
                    </a:p>
                  </a:txBody>
                  <a:tcPr/>
                </a:tc>
                <a:tc>
                  <a:txBody>
                    <a:bodyPr/>
                    <a:lstStyle/>
                    <a:p>
                      <a:endParaRPr lang="de-DE" sz="1400" dirty="0"/>
                    </a:p>
                  </a:txBody>
                  <a:tcPr/>
                </a:tc>
                <a:extLst>
                  <a:ext uri="{0D108BD9-81ED-4DB2-BD59-A6C34878D82A}">
                    <a16:rowId xmlns:a16="http://schemas.microsoft.com/office/drawing/2014/main" val="4141562696"/>
                  </a:ext>
                </a:extLst>
              </a:tr>
              <a:tr h="320251">
                <a:tc>
                  <a:txBody>
                    <a:bodyPr/>
                    <a:lstStyle/>
                    <a:p>
                      <a:r>
                        <a:rPr lang="de-DE" sz="1400" dirty="0"/>
                        <a:t>Alibaba</a:t>
                      </a:r>
                    </a:p>
                  </a:txBody>
                  <a:tcPr/>
                </a:tc>
                <a:tc>
                  <a:txBody>
                    <a:bodyPr/>
                    <a:lstStyle/>
                    <a:p>
                      <a:r>
                        <a:rPr lang="de-DE" sz="1400" dirty="0"/>
                        <a:t>Qwen3.7-Max</a:t>
                      </a:r>
                    </a:p>
                  </a:txBody>
                  <a:tcPr/>
                </a:tc>
                <a:tc>
                  <a:txBody>
                    <a:bodyPr/>
                    <a:lstStyle/>
                    <a:p>
                      <a:r>
                        <a:rPr lang="de-DE" sz="1400" dirty="0"/>
                        <a:t>Ja</a:t>
                      </a:r>
                    </a:p>
                  </a:txBody>
                  <a:tcPr/>
                </a:tc>
                <a:tc>
                  <a:txBody>
                    <a:bodyPr/>
                    <a:lstStyle/>
                    <a:p>
                      <a:endParaRPr lang="de-DE" sz="1400" dirty="0"/>
                    </a:p>
                  </a:txBody>
                  <a:tcPr/>
                </a:tc>
                <a:tc>
                  <a:txBody>
                    <a:bodyPr/>
                    <a:lstStyle/>
                    <a:p>
                      <a:endParaRPr lang="de-DE" sz="1400" dirty="0"/>
                    </a:p>
                  </a:txBody>
                  <a:tcPr/>
                </a:tc>
                <a:extLst>
                  <a:ext uri="{0D108BD9-81ED-4DB2-BD59-A6C34878D82A}">
                    <a16:rowId xmlns:a16="http://schemas.microsoft.com/office/drawing/2014/main" val="2197755095"/>
                  </a:ext>
                </a:extLst>
              </a:tr>
              <a:tr h="320251">
                <a:tc>
                  <a:txBody>
                    <a:bodyPr/>
                    <a:lstStyle/>
                    <a:p>
                      <a:r>
                        <a:rPr lang="de-DE" sz="1400" dirty="0" err="1"/>
                        <a:t>xAI</a:t>
                      </a:r>
                      <a:endParaRPr lang="de-DE" sz="1400" dirty="0"/>
                    </a:p>
                  </a:txBody>
                  <a:tcPr/>
                </a:tc>
                <a:tc>
                  <a:txBody>
                    <a:bodyPr/>
                    <a:lstStyle/>
                    <a:p>
                      <a:r>
                        <a:rPr lang="de-DE" sz="1400" dirty="0"/>
                        <a:t>Grok 4.3</a:t>
                      </a:r>
                    </a:p>
                  </a:txBody>
                  <a:tcPr/>
                </a:tc>
                <a:tc>
                  <a:txBody>
                    <a:bodyPr/>
                    <a:lstStyle/>
                    <a:p>
                      <a:r>
                        <a:rPr lang="de-DE" sz="1400" dirty="0"/>
                        <a:t>Ja</a:t>
                      </a:r>
                    </a:p>
                  </a:txBody>
                  <a:tcPr/>
                </a:tc>
                <a:tc>
                  <a:txBody>
                    <a:bodyPr/>
                    <a:lstStyle/>
                    <a:p>
                      <a:endParaRPr lang="de-DE" sz="1400" dirty="0"/>
                    </a:p>
                  </a:txBody>
                  <a:tcPr/>
                </a:tc>
                <a:tc>
                  <a:txBody>
                    <a:bodyPr/>
                    <a:lstStyle/>
                    <a:p>
                      <a:endParaRPr lang="de-DE" sz="1400" dirty="0"/>
                    </a:p>
                  </a:txBody>
                  <a:tcPr/>
                </a:tc>
                <a:extLst>
                  <a:ext uri="{0D108BD9-81ED-4DB2-BD59-A6C34878D82A}">
                    <a16:rowId xmlns:a16="http://schemas.microsoft.com/office/drawing/2014/main" val="810092554"/>
                  </a:ext>
                </a:extLst>
              </a:tr>
              <a:tr h="320251">
                <a:tc>
                  <a:txBody>
                    <a:bodyPr/>
                    <a:lstStyle/>
                    <a:p>
                      <a:r>
                        <a:rPr lang="de-DE" sz="1400" dirty="0"/>
                        <a:t>Kimi (</a:t>
                      </a:r>
                      <a:r>
                        <a:rPr lang="de-DE" sz="1400" dirty="0" err="1"/>
                        <a:t>Moonshot</a:t>
                      </a:r>
                      <a:r>
                        <a:rPr lang="de-DE" sz="1400" dirty="0"/>
                        <a:t>)</a:t>
                      </a:r>
                    </a:p>
                  </a:txBody>
                  <a:tcPr/>
                </a:tc>
                <a:tc>
                  <a:txBody>
                    <a:bodyPr/>
                    <a:lstStyle/>
                    <a:p>
                      <a:r>
                        <a:rPr lang="de-DE" sz="1400" dirty="0"/>
                        <a:t>Kimi K2.6</a:t>
                      </a:r>
                    </a:p>
                  </a:txBody>
                  <a:tcPr/>
                </a:tc>
                <a:tc>
                  <a:txBody>
                    <a:bodyPr/>
                    <a:lstStyle/>
                    <a:p>
                      <a:r>
                        <a:rPr lang="de-DE" sz="1400" dirty="0"/>
                        <a:t>Ja</a:t>
                      </a:r>
                    </a:p>
                  </a:txBody>
                  <a:tcPr/>
                </a:tc>
                <a:tc>
                  <a:txBody>
                    <a:bodyPr/>
                    <a:lstStyle/>
                    <a:p>
                      <a:endParaRPr lang="de-DE" sz="1400" dirty="0"/>
                    </a:p>
                  </a:txBody>
                  <a:tcPr/>
                </a:tc>
                <a:tc>
                  <a:txBody>
                    <a:bodyPr/>
                    <a:lstStyle/>
                    <a:p>
                      <a:endParaRPr lang="de-DE" sz="1400" dirty="0"/>
                    </a:p>
                  </a:txBody>
                  <a:tcPr/>
                </a:tc>
                <a:extLst>
                  <a:ext uri="{0D108BD9-81ED-4DB2-BD59-A6C34878D82A}">
                    <a16:rowId xmlns:a16="http://schemas.microsoft.com/office/drawing/2014/main" val="2234811465"/>
                  </a:ext>
                </a:extLst>
              </a:tr>
              <a:tr h="320251">
                <a:tc>
                  <a:txBody>
                    <a:bodyPr/>
                    <a:lstStyle/>
                    <a:p>
                      <a:r>
                        <a:rPr lang="de-DE" sz="1400" dirty="0" err="1"/>
                        <a:t>Doubao</a:t>
                      </a:r>
                      <a:r>
                        <a:rPr lang="de-DE" sz="1400" dirty="0"/>
                        <a:t> (</a:t>
                      </a:r>
                      <a:r>
                        <a:rPr lang="de-DE" sz="1400" dirty="0" err="1"/>
                        <a:t>Bytedance</a:t>
                      </a:r>
                      <a:r>
                        <a:rPr lang="de-DE" sz="1400" dirty="0"/>
                        <a:t>)</a:t>
                      </a:r>
                    </a:p>
                  </a:txBody>
                  <a:tcPr/>
                </a:tc>
                <a:tc>
                  <a:txBody>
                    <a:bodyPr/>
                    <a:lstStyle/>
                    <a:p>
                      <a:r>
                        <a:rPr lang="de-DE" sz="1400" dirty="0" err="1"/>
                        <a:t>Doubao</a:t>
                      </a:r>
                      <a:r>
                        <a:rPr lang="de-DE" sz="1400" dirty="0"/>
                        <a:t> Pro V2</a:t>
                      </a:r>
                    </a:p>
                  </a:txBody>
                  <a:tcPr/>
                </a:tc>
                <a:tc>
                  <a:txBody>
                    <a:bodyPr/>
                    <a:lstStyle/>
                    <a:p>
                      <a:r>
                        <a:rPr lang="de-DE" sz="1400" dirty="0"/>
                        <a:t>Ja</a:t>
                      </a:r>
                    </a:p>
                  </a:txBody>
                  <a:tcPr/>
                </a:tc>
                <a:tc>
                  <a:txBody>
                    <a:bodyPr/>
                    <a:lstStyle/>
                    <a:p>
                      <a:endParaRPr lang="de-DE" sz="1400" dirty="0"/>
                    </a:p>
                  </a:txBody>
                  <a:tcPr/>
                </a:tc>
                <a:tc>
                  <a:txBody>
                    <a:bodyPr/>
                    <a:lstStyle/>
                    <a:p>
                      <a:endParaRPr lang="de-DE" sz="1400" dirty="0"/>
                    </a:p>
                  </a:txBody>
                  <a:tcPr/>
                </a:tc>
                <a:extLst>
                  <a:ext uri="{0D108BD9-81ED-4DB2-BD59-A6C34878D82A}">
                    <a16:rowId xmlns:a16="http://schemas.microsoft.com/office/drawing/2014/main" val="2289488616"/>
                  </a:ext>
                </a:extLst>
              </a:tr>
              <a:tr h="320251">
                <a:tc>
                  <a:txBody>
                    <a:bodyPr/>
                    <a:lstStyle/>
                    <a:p>
                      <a:r>
                        <a:rPr lang="de-DE" sz="1400" dirty="0" err="1"/>
                        <a:t>Deepseek</a:t>
                      </a:r>
                      <a:endParaRPr lang="de-DE" sz="1400" dirty="0"/>
                    </a:p>
                  </a:txBody>
                  <a:tcPr/>
                </a:tc>
                <a:tc>
                  <a:txBody>
                    <a:bodyPr/>
                    <a:lstStyle/>
                    <a:p>
                      <a:r>
                        <a:rPr lang="de-DE" sz="1400" dirty="0"/>
                        <a:t>Deepseek-V4-Pro</a:t>
                      </a:r>
                    </a:p>
                  </a:txBody>
                  <a:tcPr/>
                </a:tc>
                <a:tc>
                  <a:txBody>
                    <a:bodyPr/>
                    <a:lstStyle/>
                    <a:p>
                      <a:r>
                        <a:rPr lang="de-DE" sz="1400" dirty="0"/>
                        <a:t>Nein</a:t>
                      </a:r>
                    </a:p>
                  </a:txBody>
                  <a:tcPr/>
                </a:tc>
                <a:tc>
                  <a:txBody>
                    <a:bodyPr/>
                    <a:lstStyle/>
                    <a:p>
                      <a:endParaRPr lang="de-DE" sz="1400" dirty="0"/>
                    </a:p>
                  </a:txBody>
                  <a:tcPr/>
                </a:tc>
                <a:tc>
                  <a:txBody>
                    <a:bodyPr/>
                    <a:lstStyle/>
                    <a:p>
                      <a:endParaRPr lang="de-DE" sz="1400" dirty="0"/>
                    </a:p>
                  </a:txBody>
                  <a:tcPr/>
                </a:tc>
                <a:extLst>
                  <a:ext uri="{0D108BD9-81ED-4DB2-BD59-A6C34878D82A}">
                    <a16:rowId xmlns:a16="http://schemas.microsoft.com/office/drawing/2014/main" val="3986731399"/>
                  </a:ext>
                </a:extLst>
              </a:tr>
              <a:tr h="320251">
                <a:tc>
                  <a:txBody>
                    <a:bodyPr/>
                    <a:lstStyle/>
                    <a:p>
                      <a:r>
                        <a:rPr lang="de-DE" sz="1400" dirty="0" err="1"/>
                        <a:t>Zhipu</a:t>
                      </a:r>
                      <a:r>
                        <a:rPr lang="de-DE" sz="1400" dirty="0"/>
                        <a:t> AI</a:t>
                      </a:r>
                    </a:p>
                  </a:txBody>
                  <a:tcPr/>
                </a:tc>
                <a:tc>
                  <a:txBody>
                    <a:bodyPr/>
                    <a:lstStyle/>
                    <a:p>
                      <a:r>
                        <a:rPr lang="de-DE" sz="1400" dirty="0"/>
                        <a:t>GLM-5</a:t>
                      </a:r>
                    </a:p>
                  </a:txBody>
                  <a:tcPr/>
                </a:tc>
                <a:tc>
                  <a:txBody>
                    <a:bodyPr/>
                    <a:lstStyle/>
                    <a:p>
                      <a:r>
                        <a:rPr lang="de-DE" sz="1400" dirty="0"/>
                        <a:t>Ja</a:t>
                      </a:r>
                    </a:p>
                  </a:txBody>
                  <a:tcPr/>
                </a:tc>
                <a:tc>
                  <a:txBody>
                    <a:bodyPr/>
                    <a:lstStyle/>
                    <a:p>
                      <a:endParaRPr lang="de-DE" sz="1400" dirty="0"/>
                    </a:p>
                  </a:txBody>
                  <a:tcPr/>
                </a:tc>
                <a:tc>
                  <a:txBody>
                    <a:bodyPr/>
                    <a:lstStyle/>
                    <a:p>
                      <a:endParaRPr lang="de-DE" sz="1400" dirty="0"/>
                    </a:p>
                  </a:txBody>
                  <a:tcPr/>
                </a:tc>
                <a:extLst>
                  <a:ext uri="{0D108BD9-81ED-4DB2-BD59-A6C34878D82A}">
                    <a16:rowId xmlns:a16="http://schemas.microsoft.com/office/drawing/2014/main" val="92769356"/>
                  </a:ext>
                </a:extLst>
              </a:tr>
              <a:tr h="320251">
                <a:tc>
                  <a:txBody>
                    <a:bodyPr/>
                    <a:lstStyle/>
                    <a:p>
                      <a:r>
                        <a:rPr lang="de-DE" sz="1400" dirty="0" err="1"/>
                        <a:t>Meta</a:t>
                      </a:r>
                      <a:endParaRPr lang="de-DE" sz="1400" dirty="0"/>
                    </a:p>
                  </a:txBody>
                  <a:tcPr/>
                </a:tc>
                <a:tc>
                  <a:txBody>
                    <a:bodyPr/>
                    <a:lstStyle/>
                    <a:p>
                      <a:r>
                        <a:rPr lang="de-DE" sz="1400" dirty="0" err="1"/>
                        <a:t>Llama</a:t>
                      </a:r>
                      <a:r>
                        <a:rPr lang="de-DE" sz="1400" dirty="0"/>
                        <a:t> 3.1</a:t>
                      </a:r>
                    </a:p>
                  </a:txBody>
                  <a:tcPr/>
                </a:tc>
                <a:tc>
                  <a:txBody>
                    <a:bodyPr/>
                    <a:lstStyle/>
                    <a:p>
                      <a:r>
                        <a:rPr lang="de-DE" sz="1400" dirty="0"/>
                        <a:t>Nein</a:t>
                      </a:r>
                    </a:p>
                  </a:txBody>
                  <a:tcPr/>
                </a:tc>
                <a:tc>
                  <a:txBody>
                    <a:bodyPr/>
                    <a:lstStyle/>
                    <a:p>
                      <a:endParaRPr lang="de-DE" sz="1400" dirty="0"/>
                    </a:p>
                  </a:txBody>
                  <a:tcPr/>
                </a:tc>
                <a:tc>
                  <a:txBody>
                    <a:bodyPr/>
                    <a:lstStyle/>
                    <a:p>
                      <a:endParaRPr lang="de-DE" sz="1400" dirty="0"/>
                    </a:p>
                  </a:txBody>
                  <a:tcPr/>
                </a:tc>
                <a:extLst>
                  <a:ext uri="{0D108BD9-81ED-4DB2-BD59-A6C34878D82A}">
                    <a16:rowId xmlns:a16="http://schemas.microsoft.com/office/drawing/2014/main" val="694726836"/>
                  </a:ext>
                </a:extLst>
              </a:tr>
              <a:tr h="320251">
                <a:tc>
                  <a:txBody>
                    <a:bodyPr/>
                    <a:lstStyle/>
                    <a:p>
                      <a:r>
                        <a:rPr lang="de-DE" sz="1400" dirty="0"/>
                        <a:t>Microsoft</a:t>
                      </a:r>
                    </a:p>
                  </a:txBody>
                  <a:tcPr/>
                </a:tc>
                <a:tc>
                  <a:txBody>
                    <a:bodyPr/>
                    <a:lstStyle/>
                    <a:p>
                      <a:r>
                        <a:rPr lang="de-DE" sz="1400" dirty="0"/>
                        <a:t>Phi-4</a:t>
                      </a:r>
                    </a:p>
                  </a:txBody>
                  <a:tcPr/>
                </a:tc>
                <a:tc>
                  <a:txBody>
                    <a:bodyPr/>
                    <a:lstStyle/>
                    <a:p>
                      <a:r>
                        <a:rPr lang="de-DE" sz="1400" dirty="0"/>
                        <a:t>Ja</a:t>
                      </a:r>
                    </a:p>
                  </a:txBody>
                  <a:tcPr/>
                </a:tc>
                <a:tc>
                  <a:txBody>
                    <a:bodyPr/>
                    <a:lstStyle/>
                    <a:p>
                      <a:endParaRPr lang="de-DE" sz="1400" dirty="0"/>
                    </a:p>
                  </a:txBody>
                  <a:tcPr/>
                </a:tc>
                <a:tc>
                  <a:txBody>
                    <a:bodyPr/>
                    <a:lstStyle/>
                    <a:p>
                      <a:endParaRPr lang="de-DE" sz="1400" dirty="0"/>
                    </a:p>
                  </a:txBody>
                  <a:tcPr/>
                </a:tc>
                <a:extLst>
                  <a:ext uri="{0D108BD9-81ED-4DB2-BD59-A6C34878D82A}">
                    <a16:rowId xmlns:a16="http://schemas.microsoft.com/office/drawing/2014/main" val="1906471848"/>
                  </a:ext>
                </a:extLst>
              </a:tr>
              <a:tr h="320251">
                <a:tc>
                  <a:txBody>
                    <a:bodyPr/>
                    <a:lstStyle/>
                    <a:p>
                      <a:r>
                        <a:rPr lang="de-DE" sz="1400" dirty="0"/>
                        <a:t>Amazon</a:t>
                      </a:r>
                    </a:p>
                  </a:txBody>
                  <a:tcPr/>
                </a:tc>
                <a:tc>
                  <a:txBody>
                    <a:bodyPr/>
                    <a:lstStyle/>
                    <a:p>
                      <a:r>
                        <a:rPr lang="de-DE" sz="1400" dirty="0"/>
                        <a:t>Amazon Nova Pro</a:t>
                      </a:r>
                    </a:p>
                  </a:txBody>
                  <a:tcPr/>
                </a:tc>
                <a:tc>
                  <a:txBody>
                    <a:bodyPr/>
                    <a:lstStyle/>
                    <a:p>
                      <a:r>
                        <a:rPr lang="de-DE" sz="1400" dirty="0"/>
                        <a:t>Ja</a:t>
                      </a:r>
                    </a:p>
                  </a:txBody>
                  <a:tcPr/>
                </a:tc>
                <a:tc>
                  <a:txBody>
                    <a:bodyPr/>
                    <a:lstStyle/>
                    <a:p>
                      <a:endParaRPr lang="de-DE" sz="1400" dirty="0"/>
                    </a:p>
                  </a:txBody>
                  <a:tcPr/>
                </a:tc>
                <a:tc>
                  <a:txBody>
                    <a:bodyPr/>
                    <a:lstStyle/>
                    <a:p>
                      <a:endParaRPr lang="de-DE" sz="1400" dirty="0"/>
                    </a:p>
                  </a:txBody>
                  <a:tcPr/>
                </a:tc>
                <a:extLst>
                  <a:ext uri="{0D108BD9-81ED-4DB2-BD59-A6C34878D82A}">
                    <a16:rowId xmlns:a16="http://schemas.microsoft.com/office/drawing/2014/main" val="1437790038"/>
                  </a:ext>
                </a:extLst>
              </a:tr>
              <a:tr h="320251">
                <a:tc>
                  <a:txBody>
                    <a:bodyPr/>
                    <a:lstStyle/>
                    <a:p>
                      <a:r>
                        <a:rPr lang="de-DE" sz="1400" dirty="0"/>
                        <a:t>IBM</a:t>
                      </a:r>
                    </a:p>
                  </a:txBody>
                  <a:tcPr/>
                </a:tc>
                <a:tc>
                  <a:txBody>
                    <a:bodyPr/>
                    <a:lstStyle/>
                    <a:p>
                      <a:r>
                        <a:rPr lang="de-DE" sz="1400" dirty="0"/>
                        <a:t>Granite 3.5</a:t>
                      </a:r>
                    </a:p>
                  </a:txBody>
                  <a:tcPr/>
                </a:tc>
                <a:tc>
                  <a:txBody>
                    <a:bodyPr/>
                    <a:lstStyle/>
                    <a:p>
                      <a:r>
                        <a:rPr lang="de-DE" sz="1400" dirty="0"/>
                        <a:t>Nein</a:t>
                      </a:r>
                    </a:p>
                  </a:txBody>
                  <a:tcPr/>
                </a:tc>
                <a:tc>
                  <a:txBody>
                    <a:bodyPr/>
                    <a:lstStyle/>
                    <a:p>
                      <a:endParaRPr lang="de-DE" sz="1400" dirty="0"/>
                    </a:p>
                  </a:txBody>
                  <a:tcPr/>
                </a:tc>
                <a:tc>
                  <a:txBody>
                    <a:bodyPr/>
                    <a:lstStyle/>
                    <a:p>
                      <a:endParaRPr lang="de-DE" sz="1400" dirty="0"/>
                    </a:p>
                  </a:txBody>
                  <a:tcPr/>
                </a:tc>
                <a:extLst>
                  <a:ext uri="{0D108BD9-81ED-4DB2-BD59-A6C34878D82A}">
                    <a16:rowId xmlns:a16="http://schemas.microsoft.com/office/drawing/2014/main" val="3109812894"/>
                  </a:ext>
                </a:extLst>
              </a:tr>
              <a:tr h="320251">
                <a:tc>
                  <a:txBody>
                    <a:bodyPr/>
                    <a:lstStyle/>
                    <a:p>
                      <a:r>
                        <a:rPr lang="de-DE" sz="1400" dirty="0"/>
                        <a:t>Baidu</a:t>
                      </a:r>
                    </a:p>
                  </a:txBody>
                  <a:tcPr/>
                </a:tc>
                <a:tc>
                  <a:txBody>
                    <a:bodyPr/>
                    <a:lstStyle/>
                    <a:p>
                      <a:r>
                        <a:rPr lang="de-DE" sz="1400" dirty="0"/>
                        <a:t>Ernie 4.5 Pro</a:t>
                      </a:r>
                    </a:p>
                  </a:txBody>
                  <a:tcPr/>
                </a:tc>
                <a:tc>
                  <a:txBody>
                    <a:bodyPr/>
                    <a:lstStyle/>
                    <a:p>
                      <a:r>
                        <a:rPr lang="de-DE" sz="1400" dirty="0"/>
                        <a:t>Ja</a:t>
                      </a:r>
                    </a:p>
                  </a:txBody>
                  <a:tcPr/>
                </a:tc>
                <a:tc>
                  <a:txBody>
                    <a:bodyPr/>
                    <a:lstStyle/>
                    <a:p>
                      <a:endParaRPr lang="de-DE" sz="1400" dirty="0"/>
                    </a:p>
                  </a:txBody>
                  <a:tcPr/>
                </a:tc>
                <a:tc>
                  <a:txBody>
                    <a:bodyPr/>
                    <a:lstStyle/>
                    <a:p>
                      <a:endParaRPr lang="de-DE" sz="1400" dirty="0"/>
                    </a:p>
                  </a:txBody>
                  <a:tcPr/>
                </a:tc>
                <a:extLst>
                  <a:ext uri="{0D108BD9-81ED-4DB2-BD59-A6C34878D82A}">
                    <a16:rowId xmlns:a16="http://schemas.microsoft.com/office/drawing/2014/main" val="361457231"/>
                  </a:ext>
                </a:extLst>
              </a:tr>
            </a:tbl>
          </a:graphicData>
        </a:graphic>
      </p:graphicFrame>
      <p:sp>
        <p:nvSpPr>
          <p:cNvPr id="6" name="TextBox 5">
            <a:extLst>
              <a:ext uri="{FF2B5EF4-FFF2-40B4-BE49-F238E27FC236}">
                <a16:creationId xmlns:a16="http://schemas.microsoft.com/office/drawing/2014/main" id="{8AE2AF6A-26AA-51F2-FFD5-6E0CF2F42164}"/>
              </a:ext>
            </a:extLst>
          </p:cNvPr>
          <p:cNvSpPr txBox="1"/>
          <p:nvPr/>
        </p:nvSpPr>
        <p:spPr>
          <a:xfrm>
            <a:off x="5435600" y="740232"/>
            <a:ext cx="6470105" cy="369332"/>
          </a:xfrm>
          <a:prstGeom prst="rect">
            <a:avLst/>
          </a:prstGeom>
          <a:noFill/>
        </p:spPr>
        <p:txBody>
          <a:bodyPr wrap="none" rtlCol="0">
            <a:spAutoFit/>
          </a:bodyPr>
          <a:lstStyle/>
          <a:p>
            <a:r>
              <a:rPr lang="de-DE" dirty="0">
                <a:hlinkClick r:id="rId2"/>
              </a:rPr>
              <a:t>Technical Performance | The 2026 AI Index Report | Stanford HAI</a:t>
            </a:r>
            <a:endParaRPr lang="de-DE" dirty="0"/>
          </a:p>
        </p:txBody>
      </p:sp>
    </p:spTree>
    <p:extLst>
      <p:ext uri="{BB962C8B-B14F-4D97-AF65-F5344CB8AC3E}">
        <p14:creationId xmlns:p14="http://schemas.microsoft.com/office/powerpoint/2010/main" val="311523380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DC940-DDC7-9B1E-5525-86E6EC6D8A65}"/>
              </a:ext>
            </a:extLst>
          </p:cNvPr>
          <p:cNvSpPr>
            <a:spLocks noGrp="1"/>
          </p:cNvSpPr>
          <p:nvPr>
            <p:ph type="title"/>
          </p:nvPr>
        </p:nvSpPr>
        <p:spPr/>
        <p:txBody>
          <a:bodyPr/>
          <a:lstStyle/>
          <a:p>
            <a:r>
              <a:rPr lang="de-DE" dirty="0"/>
              <a:t>Benchmark Paper ASR (generell)</a:t>
            </a:r>
          </a:p>
        </p:txBody>
      </p:sp>
      <p:graphicFrame>
        <p:nvGraphicFramePr>
          <p:cNvPr id="4" name="Content Placeholder 3">
            <a:extLst>
              <a:ext uri="{FF2B5EF4-FFF2-40B4-BE49-F238E27FC236}">
                <a16:creationId xmlns:a16="http://schemas.microsoft.com/office/drawing/2014/main" id="{3A68EBD8-5E21-83C3-AE9B-30E786C1AC48}"/>
              </a:ext>
            </a:extLst>
          </p:cNvPr>
          <p:cNvGraphicFramePr>
            <a:graphicFrameLocks noGrp="1"/>
          </p:cNvGraphicFramePr>
          <p:nvPr>
            <p:ph idx="1"/>
            <p:extLst>
              <p:ext uri="{D42A27DB-BD31-4B8C-83A1-F6EECF244321}">
                <p14:modId xmlns:p14="http://schemas.microsoft.com/office/powerpoint/2010/main" val="990839378"/>
              </p:ext>
            </p:extLst>
          </p:nvPr>
        </p:nvGraphicFramePr>
        <p:xfrm>
          <a:off x="838199" y="1825625"/>
          <a:ext cx="10929257" cy="4124960"/>
        </p:xfrm>
        <a:graphic>
          <a:graphicData uri="http://schemas.openxmlformats.org/drawingml/2006/table">
            <a:tbl>
              <a:tblPr firstRow="1" bandRow="1">
                <a:tableStyleId>{5C22544A-7EE6-4342-B048-85BDC9FD1C3A}</a:tableStyleId>
              </a:tblPr>
              <a:tblGrid>
                <a:gridCol w="3767750">
                  <a:extLst>
                    <a:ext uri="{9D8B030D-6E8A-4147-A177-3AD203B41FA5}">
                      <a16:colId xmlns:a16="http://schemas.microsoft.com/office/drawing/2014/main" val="2891188440"/>
                    </a:ext>
                  </a:extLst>
                </a:gridCol>
                <a:gridCol w="852107">
                  <a:extLst>
                    <a:ext uri="{9D8B030D-6E8A-4147-A177-3AD203B41FA5}">
                      <a16:colId xmlns:a16="http://schemas.microsoft.com/office/drawing/2014/main" val="1549689849"/>
                    </a:ext>
                  </a:extLst>
                </a:gridCol>
                <a:gridCol w="2094335">
                  <a:extLst>
                    <a:ext uri="{9D8B030D-6E8A-4147-A177-3AD203B41FA5}">
                      <a16:colId xmlns:a16="http://schemas.microsoft.com/office/drawing/2014/main" val="2556887823"/>
                    </a:ext>
                  </a:extLst>
                </a:gridCol>
                <a:gridCol w="1827410">
                  <a:extLst>
                    <a:ext uri="{9D8B030D-6E8A-4147-A177-3AD203B41FA5}">
                      <a16:colId xmlns:a16="http://schemas.microsoft.com/office/drawing/2014/main" val="3089287138"/>
                    </a:ext>
                  </a:extLst>
                </a:gridCol>
                <a:gridCol w="1478354">
                  <a:extLst>
                    <a:ext uri="{9D8B030D-6E8A-4147-A177-3AD203B41FA5}">
                      <a16:colId xmlns:a16="http://schemas.microsoft.com/office/drawing/2014/main" val="220084703"/>
                    </a:ext>
                  </a:extLst>
                </a:gridCol>
                <a:gridCol w="909301">
                  <a:extLst>
                    <a:ext uri="{9D8B030D-6E8A-4147-A177-3AD203B41FA5}">
                      <a16:colId xmlns:a16="http://schemas.microsoft.com/office/drawing/2014/main" val="2079258899"/>
                    </a:ext>
                  </a:extLst>
                </a:gridCol>
              </a:tblGrid>
              <a:tr h="370840">
                <a:tc>
                  <a:txBody>
                    <a:bodyPr/>
                    <a:lstStyle/>
                    <a:p>
                      <a:r>
                        <a:rPr lang="de-DE" sz="1000" dirty="0"/>
                        <a:t>Name</a:t>
                      </a:r>
                    </a:p>
                  </a:txBody>
                  <a:tcPr/>
                </a:tc>
                <a:tc>
                  <a:txBody>
                    <a:bodyPr/>
                    <a:lstStyle/>
                    <a:p>
                      <a:r>
                        <a:rPr lang="de-DE" sz="1000" dirty="0"/>
                        <a:t>Jahr</a:t>
                      </a:r>
                    </a:p>
                  </a:txBody>
                  <a:tcPr/>
                </a:tc>
                <a:tc>
                  <a:txBody>
                    <a:bodyPr/>
                    <a:lstStyle/>
                    <a:p>
                      <a:r>
                        <a:rPr lang="de-DE" sz="1000" dirty="0"/>
                        <a:t>Modelle</a:t>
                      </a:r>
                    </a:p>
                  </a:txBody>
                  <a:tcPr/>
                </a:tc>
                <a:tc>
                  <a:txBody>
                    <a:bodyPr/>
                    <a:lstStyle/>
                    <a:p>
                      <a:r>
                        <a:rPr lang="de-DE" sz="1000" dirty="0"/>
                        <a:t>Korpus</a:t>
                      </a:r>
                    </a:p>
                  </a:txBody>
                  <a:tcPr/>
                </a:tc>
                <a:tc>
                  <a:txBody>
                    <a:bodyPr/>
                    <a:lstStyle/>
                    <a:p>
                      <a:r>
                        <a:rPr lang="de-DE" sz="1000" dirty="0"/>
                        <a:t>Metriken</a:t>
                      </a:r>
                    </a:p>
                  </a:txBody>
                  <a:tcPr/>
                </a:tc>
                <a:tc>
                  <a:txBody>
                    <a:bodyPr/>
                    <a:lstStyle/>
                    <a:p>
                      <a:r>
                        <a:rPr lang="de-DE" sz="1000" dirty="0"/>
                        <a:t>Link</a:t>
                      </a:r>
                    </a:p>
                  </a:txBody>
                  <a:tcPr/>
                </a:tc>
                <a:extLst>
                  <a:ext uri="{0D108BD9-81ED-4DB2-BD59-A6C34878D82A}">
                    <a16:rowId xmlns:a16="http://schemas.microsoft.com/office/drawing/2014/main" val="2586349692"/>
                  </a:ext>
                </a:extLst>
              </a:tr>
              <a:tr h="370840">
                <a:tc>
                  <a:txBody>
                    <a:bodyPr/>
                    <a:lstStyle/>
                    <a:p>
                      <a:r>
                        <a:rPr lang="de-DE" sz="1000" dirty="0" err="1"/>
                        <a:t>WhenLarge</a:t>
                      </a:r>
                      <a:r>
                        <a:rPr lang="de-DE" sz="1000" dirty="0"/>
                        <a:t> Language Models Meet Speech: </a:t>
                      </a:r>
                      <a:r>
                        <a:rPr lang="de-DE" sz="1000" dirty="0" err="1"/>
                        <a:t>ASurvey</a:t>
                      </a:r>
                      <a:r>
                        <a:rPr lang="de-DE" sz="1000" dirty="0"/>
                        <a:t> on Integration </a:t>
                      </a:r>
                      <a:r>
                        <a:rPr lang="de-DE" sz="1000" dirty="0" err="1"/>
                        <a:t>Approaches</a:t>
                      </a:r>
                      <a:endParaRPr lang="de-DE" sz="1000" dirty="0"/>
                    </a:p>
                  </a:txBody>
                  <a:tcPr/>
                </a:tc>
                <a:tc>
                  <a:txBody>
                    <a:bodyPr/>
                    <a:lstStyle/>
                    <a:p>
                      <a:r>
                        <a:rPr lang="de-DE" sz="1000" dirty="0"/>
                        <a:t>2025</a:t>
                      </a:r>
                    </a:p>
                  </a:txBody>
                  <a:tcPr/>
                </a:tc>
                <a:tc>
                  <a:txBody>
                    <a:bodyPr/>
                    <a:lstStyle/>
                    <a:p>
                      <a:r>
                        <a:rPr lang="de-DE" sz="1000" dirty="0"/>
                        <a:t>Whisper, Qwen-Audio, Qwen2-Audio, u.v.m.</a:t>
                      </a:r>
                    </a:p>
                  </a:txBody>
                  <a:tcPr/>
                </a:tc>
                <a:tc>
                  <a:txBody>
                    <a:bodyPr/>
                    <a:lstStyle/>
                    <a:p>
                      <a:r>
                        <a:rPr lang="de-DE" sz="1000" dirty="0" err="1"/>
                        <a:t>Librispeech</a:t>
                      </a:r>
                      <a:r>
                        <a:rPr lang="de-DE" sz="1000" dirty="0"/>
                        <a:t>, Fleurs, AISHELL-2 , </a:t>
                      </a:r>
                      <a:r>
                        <a:rPr lang="de-DE" sz="1000" dirty="0" err="1"/>
                        <a:t>VoxPopoli</a:t>
                      </a:r>
                      <a:endParaRPr lang="de-DE" sz="1000" dirty="0"/>
                    </a:p>
                  </a:txBody>
                  <a:tcPr/>
                </a:tc>
                <a:tc>
                  <a:txBody>
                    <a:bodyPr/>
                    <a:lstStyle/>
                    <a:p>
                      <a:r>
                        <a:rPr lang="de-DE" sz="1000" dirty="0"/>
                        <a:t>WER, BLEU</a:t>
                      </a:r>
                    </a:p>
                  </a:txBody>
                  <a:tcPr/>
                </a:tc>
                <a:tc>
                  <a:txBody>
                    <a:bodyPr/>
                    <a:lstStyle/>
                    <a:p>
                      <a:r>
                        <a:rPr lang="de-DE" sz="1000" dirty="0">
                          <a:hlinkClick r:id="rId2"/>
                        </a:rPr>
                        <a:t>Link</a:t>
                      </a:r>
                      <a:endParaRPr lang="de-DE" sz="1000" dirty="0"/>
                    </a:p>
                  </a:txBody>
                  <a:tcPr/>
                </a:tc>
                <a:extLst>
                  <a:ext uri="{0D108BD9-81ED-4DB2-BD59-A6C34878D82A}">
                    <a16:rowId xmlns:a16="http://schemas.microsoft.com/office/drawing/2014/main" val="3680473722"/>
                  </a:ext>
                </a:extLst>
              </a:tr>
              <a:tr h="370840">
                <a:tc>
                  <a:txBody>
                    <a:bodyPr/>
                    <a:lstStyle/>
                    <a:p>
                      <a:r>
                        <a:rPr lang="de-DE" sz="1000" dirty="0" err="1"/>
                        <a:t>Towards</a:t>
                      </a:r>
                      <a:r>
                        <a:rPr lang="de-DE" sz="1000" dirty="0"/>
                        <a:t> </a:t>
                      </a:r>
                      <a:r>
                        <a:rPr lang="de-DE" sz="1000" dirty="0" err="1"/>
                        <a:t>Holistic</a:t>
                      </a:r>
                      <a:r>
                        <a:rPr lang="de-DE" sz="1000" dirty="0"/>
                        <a:t> Evaluation </a:t>
                      </a:r>
                      <a:r>
                        <a:rPr lang="de-DE" sz="1000" dirty="0" err="1"/>
                        <a:t>of</a:t>
                      </a:r>
                      <a:r>
                        <a:rPr lang="de-DE" sz="1000" dirty="0"/>
                        <a:t> Large Audio-Language Models: A </a:t>
                      </a:r>
                      <a:r>
                        <a:rPr lang="de-DE" sz="1000" dirty="0" err="1"/>
                        <a:t>Comprehensive</a:t>
                      </a:r>
                      <a:r>
                        <a:rPr lang="de-DE" sz="1000" dirty="0"/>
                        <a:t> Survey</a:t>
                      </a:r>
                    </a:p>
                  </a:txBody>
                  <a:tcPr/>
                </a:tc>
                <a:tc>
                  <a:txBody>
                    <a:bodyPr/>
                    <a:lstStyle/>
                    <a:p>
                      <a:r>
                        <a:rPr lang="de-DE" sz="1000" dirty="0"/>
                        <a:t>2026</a:t>
                      </a:r>
                    </a:p>
                  </a:txBody>
                  <a:tcPr/>
                </a:tc>
                <a:tc>
                  <a:txBody>
                    <a:bodyPr/>
                    <a:lstStyle/>
                    <a:p>
                      <a:r>
                        <a:rPr lang="de-DE" sz="1000" dirty="0" err="1"/>
                        <a:t>k.A</a:t>
                      </a:r>
                      <a:r>
                        <a:rPr lang="de-DE" sz="1000" dirty="0"/>
                        <a:t>.</a:t>
                      </a:r>
                    </a:p>
                  </a:txBody>
                  <a:tcPr/>
                </a:tc>
                <a:tc>
                  <a:txBody>
                    <a:bodyPr/>
                    <a:lstStyle/>
                    <a:p>
                      <a:r>
                        <a:rPr lang="de-DE" sz="1000" dirty="0" err="1"/>
                        <a:t>k.A</a:t>
                      </a:r>
                      <a:r>
                        <a:rPr lang="de-DE" sz="1000" dirty="0"/>
                        <a:t>.</a:t>
                      </a:r>
                    </a:p>
                  </a:txBody>
                  <a:tcPr/>
                </a:tc>
                <a:tc>
                  <a:txBody>
                    <a:bodyPr/>
                    <a:lstStyle/>
                    <a:p>
                      <a:r>
                        <a:rPr lang="de-DE" sz="1000" dirty="0" err="1"/>
                        <a:t>k.A</a:t>
                      </a:r>
                      <a:r>
                        <a:rPr lang="de-DE" sz="1000" dirty="0"/>
                        <a:t>.</a:t>
                      </a:r>
                    </a:p>
                  </a:txBody>
                  <a:tcPr/>
                </a:tc>
                <a:tc>
                  <a:txBody>
                    <a:bodyPr/>
                    <a:lstStyle/>
                    <a:p>
                      <a:r>
                        <a:rPr lang="de-DE" sz="1000" dirty="0">
                          <a:hlinkClick r:id="rId3"/>
                        </a:rPr>
                        <a:t>Link</a:t>
                      </a:r>
                      <a:endParaRPr lang="de-DE" sz="1000" dirty="0"/>
                    </a:p>
                  </a:txBody>
                  <a:tcPr/>
                </a:tc>
                <a:extLst>
                  <a:ext uri="{0D108BD9-81ED-4DB2-BD59-A6C34878D82A}">
                    <a16:rowId xmlns:a16="http://schemas.microsoft.com/office/drawing/2014/main" val="3636683645"/>
                  </a:ext>
                </a:extLst>
              </a:tr>
              <a:tr h="370840">
                <a:tc>
                  <a:txBody>
                    <a:bodyPr/>
                    <a:lstStyle/>
                    <a:p>
                      <a:r>
                        <a:rPr lang="de-DE" sz="1000" dirty="0" err="1"/>
                        <a:t>AudioBench</a:t>
                      </a:r>
                      <a:r>
                        <a:rPr lang="de-DE" sz="1000" dirty="0"/>
                        <a:t>: A Universal Benchmark </a:t>
                      </a:r>
                      <a:r>
                        <a:rPr lang="de-DE" sz="1000" dirty="0" err="1"/>
                        <a:t>for</a:t>
                      </a:r>
                      <a:r>
                        <a:rPr lang="de-DE" sz="1000" dirty="0"/>
                        <a:t> Audio Large Language Models</a:t>
                      </a:r>
                    </a:p>
                  </a:txBody>
                  <a:tcPr/>
                </a:tc>
                <a:tc>
                  <a:txBody>
                    <a:bodyPr/>
                    <a:lstStyle/>
                    <a:p>
                      <a:r>
                        <a:rPr lang="de-DE" sz="1000" dirty="0"/>
                        <a:t>2025</a:t>
                      </a:r>
                    </a:p>
                  </a:txBody>
                  <a:tcPr/>
                </a:tc>
                <a:tc>
                  <a:txBody>
                    <a:bodyPr/>
                    <a:lstStyle/>
                    <a:p>
                      <a:r>
                        <a:rPr lang="de-DE" sz="1000" dirty="0"/>
                        <a:t>SALMONN, Qwen-Audio, </a:t>
                      </a:r>
                      <a:r>
                        <a:rPr lang="de-DE" sz="1000" dirty="0" err="1"/>
                        <a:t>WavLLM</a:t>
                      </a:r>
                      <a:r>
                        <a:rPr lang="de-DE" sz="1000" dirty="0"/>
                        <a:t>, Qwen2-Audio, Whisper+Llama3</a:t>
                      </a:r>
                    </a:p>
                  </a:txBody>
                  <a:tcPr/>
                </a:tc>
                <a:tc>
                  <a:txBody>
                    <a:bodyPr/>
                    <a:lstStyle/>
                    <a:p>
                      <a:r>
                        <a:rPr lang="de-DE" sz="1000" dirty="0" err="1"/>
                        <a:t>LibriSpeechCommonVoice</a:t>
                      </a:r>
                      <a:r>
                        <a:rPr lang="de-DE" sz="1000" dirty="0"/>
                        <a:t>, </a:t>
                      </a:r>
                      <a:r>
                        <a:rPr lang="de-DE" sz="1000" dirty="0" err="1"/>
                        <a:t>PeoplesSpeech</a:t>
                      </a:r>
                      <a:r>
                        <a:rPr lang="de-DE" sz="1000" dirty="0"/>
                        <a:t>, etc.</a:t>
                      </a:r>
                    </a:p>
                  </a:txBody>
                  <a:tcPr/>
                </a:tc>
                <a:tc>
                  <a:txBody>
                    <a:bodyPr/>
                    <a:lstStyle/>
                    <a:p>
                      <a:r>
                        <a:rPr lang="de-DE" sz="1000" dirty="0"/>
                        <a:t>WER</a:t>
                      </a:r>
                    </a:p>
                  </a:txBody>
                  <a:tcPr/>
                </a:tc>
                <a:tc>
                  <a:txBody>
                    <a:bodyPr/>
                    <a:lstStyle/>
                    <a:p>
                      <a:r>
                        <a:rPr lang="de-DE" sz="1000" dirty="0">
                          <a:hlinkClick r:id="rId4"/>
                        </a:rPr>
                        <a:t>Link</a:t>
                      </a:r>
                      <a:endParaRPr lang="de-DE" sz="1000" dirty="0"/>
                    </a:p>
                  </a:txBody>
                  <a:tcPr/>
                </a:tc>
                <a:extLst>
                  <a:ext uri="{0D108BD9-81ED-4DB2-BD59-A6C34878D82A}">
                    <a16:rowId xmlns:a16="http://schemas.microsoft.com/office/drawing/2014/main" val="409440457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000" b="0" i="0" kern="1200" dirty="0">
                          <a:solidFill>
                            <a:schemeClr val="dk1"/>
                          </a:solidFill>
                          <a:effectLst/>
                          <a:latin typeface="+mn-lt"/>
                          <a:ea typeface="+mn-ea"/>
                          <a:cs typeface="+mn-cs"/>
                        </a:rPr>
                        <a:t>Dynamic-SUPERB Phase-2: A </a:t>
                      </a:r>
                      <a:r>
                        <a:rPr lang="de-DE" sz="1000" b="0" i="0" kern="1200" dirty="0" err="1">
                          <a:solidFill>
                            <a:schemeClr val="dk1"/>
                          </a:solidFill>
                          <a:effectLst/>
                          <a:latin typeface="+mn-lt"/>
                          <a:ea typeface="+mn-ea"/>
                          <a:cs typeface="+mn-cs"/>
                        </a:rPr>
                        <a:t>Collaboratively</a:t>
                      </a:r>
                      <a:r>
                        <a:rPr lang="de-DE" sz="1000" b="0" i="0" kern="1200" dirty="0">
                          <a:solidFill>
                            <a:schemeClr val="dk1"/>
                          </a:solidFill>
                          <a:effectLst/>
                          <a:latin typeface="+mn-lt"/>
                          <a:ea typeface="+mn-ea"/>
                          <a:cs typeface="+mn-cs"/>
                        </a:rPr>
                        <a:t> Expanding Benchmark </a:t>
                      </a:r>
                      <a:r>
                        <a:rPr lang="de-DE" sz="1000" b="0" i="0" kern="1200" dirty="0" err="1">
                          <a:solidFill>
                            <a:schemeClr val="dk1"/>
                          </a:solidFill>
                          <a:effectLst/>
                          <a:latin typeface="+mn-lt"/>
                          <a:ea typeface="+mn-ea"/>
                          <a:cs typeface="+mn-cs"/>
                        </a:rPr>
                        <a:t>for</a:t>
                      </a:r>
                      <a:r>
                        <a:rPr lang="de-DE" sz="1000" b="0" i="0" kern="1200" dirty="0">
                          <a:solidFill>
                            <a:schemeClr val="dk1"/>
                          </a:solidFill>
                          <a:effectLst/>
                          <a:latin typeface="+mn-lt"/>
                          <a:ea typeface="+mn-ea"/>
                          <a:cs typeface="+mn-cs"/>
                        </a:rPr>
                        <a:t> </a:t>
                      </a:r>
                      <a:r>
                        <a:rPr lang="de-DE" sz="1000" b="0" i="0" kern="1200" dirty="0" err="1">
                          <a:solidFill>
                            <a:schemeClr val="dk1"/>
                          </a:solidFill>
                          <a:effectLst/>
                          <a:latin typeface="+mn-lt"/>
                          <a:ea typeface="+mn-ea"/>
                          <a:cs typeface="+mn-cs"/>
                        </a:rPr>
                        <a:t>Measuring</a:t>
                      </a:r>
                      <a:r>
                        <a:rPr lang="de-DE" sz="1000" b="0" i="0" kern="1200" dirty="0">
                          <a:solidFill>
                            <a:schemeClr val="dk1"/>
                          </a:solidFill>
                          <a:effectLst/>
                          <a:latin typeface="+mn-lt"/>
                          <a:ea typeface="+mn-ea"/>
                          <a:cs typeface="+mn-cs"/>
                        </a:rPr>
                        <a:t> </a:t>
                      </a:r>
                      <a:r>
                        <a:rPr lang="de-DE" sz="1000" b="0" i="0" kern="1200" dirty="0" err="1">
                          <a:solidFill>
                            <a:schemeClr val="dk1"/>
                          </a:solidFill>
                          <a:effectLst/>
                          <a:latin typeface="+mn-lt"/>
                          <a:ea typeface="+mn-ea"/>
                          <a:cs typeface="+mn-cs"/>
                        </a:rPr>
                        <a:t>the</a:t>
                      </a:r>
                      <a:r>
                        <a:rPr lang="de-DE" sz="1000" b="0" i="0" kern="1200" dirty="0">
                          <a:solidFill>
                            <a:schemeClr val="dk1"/>
                          </a:solidFill>
                          <a:effectLst/>
                          <a:latin typeface="+mn-lt"/>
                          <a:ea typeface="+mn-ea"/>
                          <a:cs typeface="+mn-cs"/>
                        </a:rPr>
                        <a:t> </a:t>
                      </a:r>
                      <a:r>
                        <a:rPr lang="de-DE" sz="1000" b="0" i="0" kern="1200" dirty="0" err="1">
                          <a:solidFill>
                            <a:schemeClr val="dk1"/>
                          </a:solidFill>
                          <a:effectLst/>
                          <a:latin typeface="+mn-lt"/>
                          <a:ea typeface="+mn-ea"/>
                          <a:cs typeface="+mn-cs"/>
                        </a:rPr>
                        <a:t>Capabilities</a:t>
                      </a:r>
                      <a:r>
                        <a:rPr lang="de-DE" sz="1000" b="0" i="0" kern="1200" dirty="0">
                          <a:solidFill>
                            <a:schemeClr val="dk1"/>
                          </a:solidFill>
                          <a:effectLst/>
                          <a:latin typeface="+mn-lt"/>
                          <a:ea typeface="+mn-ea"/>
                          <a:cs typeface="+mn-cs"/>
                        </a:rPr>
                        <a:t> </a:t>
                      </a:r>
                      <a:r>
                        <a:rPr lang="de-DE" sz="1000" b="0" i="0" kern="1200" dirty="0" err="1">
                          <a:solidFill>
                            <a:schemeClr val="dk1"/>
                          </a:solidFill>
                          <a:effectLst/>
                          <a:latin typeface="+mn-lt"/>
                          <a:ea typeface="+mn-ea"/>
                          <a:cs typeface="+mn-cs"/>
                        </a:rPr>
                        <a:t>of</a:t>
                      </a:r>
                      <a:r>
                        <a:rPr lang="de-DE" sz="1000" b="0" i="0" kern="1200" dirty="0">
                          <a:solidFill>
                            <a:schemeClr val="dk1"/>
                          </a:solidFill>
                          <a:effectLst/>
                          <a:latin typeface="+mn-lt"/>
                          <a:ea typeface="+mn-ea"/>
                          <a:cs typeface="+mn-cs"/>
                        </a:rPr>
                        <a:t> Spoken Language Models </a:t>
                      </a:r>
                      <a:r>
                        <a:rPr lang="de-DE" sz="1000" b="0" i="0" kern="1200" dirty="0" err="1">
                          <a:solidFill>
                            <a:schemeClr val="dk1"/>
                          </a:solidFill>
                          <a:effectLst/>
                          <a:latin typeface="+mn-lt"/>
                          <a:ea typeface="+mn-ea"/>
                          <a:cs typeface="+mn-cs"/>
                        </a:rPr>
                        <a:t>with</a:t>
                      </a:r>
                      <a:r>
                        <a:rPr lang="de-DE" sz="1000" b="0" i="0" kern="1200" dirty="0">
                          <a:solidFill>
                            <a:schemeClr val="dk1"/>
                          </a:solidFill>
                          <a:effectLst/>
                          <a:latin typeface="+mn-lt"/>
                          <a:ea typeface="+mn-ea"/>
                          <a:cs typeface="+mn-cs"/>
                        </a:rPr>
                        <a:t> 180 Tasks</a:t>
                      </a:r>
                    </a:p>
                    <a:p>
                      <a:endParaRPr lang="de-DE" sz="1000" dirty="0"/>
                    </a:p>
                  </a:txBody>
                  <a:tcPr/>
                </a:tc>
                <a:tc>
                  <a:txBody>
                    <a:bodyPr/>
                    <a:lstStyle/>
                    <a:p>
                      <a:r>
                        <a:rPr lang="de-DE" sz="1000" dirty="0"/>
                        <a:t>2024</a:t>
                      </a:r>
                    </a:p>
                  </a:txBody>
                  <a:tcPr/>
                </a:tc>
                <a:tc>
                  <a:txBody>
                    <a:bodyPr/>
                    <a:lstStyle/>
                    <a:p>
                      <a:r>
                        <a:rPr lang="de-DE" sz="1000" b="0" i="0" kern="1200" dirty="0">
                          <a:solidFill>
                            <a:schemeClr val="dk1"/>
                          </a:solidFill>
                          <a:effectLst/>
                          <a:latin typeface="+mn-lt"/>
                          <a:ea typeface="+mn-ea"/>
                          <a:cs typeface="+mn-cs"/>
                        </a:rPr>
                        <a:t>Whisper-LLaMA, SALMONN, Qwen-Audio, Qwen2-Audio, </a:t>
                      </a:r>
                      <a:r>
                        <a:rPr lang="de-DE" sz="1000" b="0" i="0" kern="1200" dirty="0" err="1">
                          <a:solidFill>
                            <a:schemeClr val="dk1"/>
                          </a:solidFill>
                          <a:effectLst/>
                          <a:latin typeface="+mn-lt"/>
                          <a:ea typeface="+mn-ea"/>
                          <a:cs typeface="+mn-cs"/>
                        </a:rPr>
                        <a:t>WavLLM</a:t>
                      </a:r>
                      <a:r>
                        <a:rPr lang="de-DE" sz="1000" b="0" i="0" kern="1200" dirty="0">
                          <a:solidFill>
                            <a:schemeClr val="dk1"/>
                          </a:solidFill>
                          <a:effectLst/>
                          <a:latin typeface="+mn-lt"/>
                          <a:ea typeface="+mn-ea"/>
                          <a:cs typeface="+mn-cs"/>
                        </a:rPr>
                        <a:t>, LTU-AS, GAMA, Mu-LLaMA</a:t>
                      </a:r>
                      <a:endParaRPr lang="de-DE" sz="1000" dirty="0"/>
                    </a:p>
                  </a:txBody>
                  <a:tcPr/>
                </a:tc>
                <a:tc>
                  <a:txBody>
                    <a:bodyPr/>
                    <a:lstStyle/>
                    <a:p>
                      <a:r>
                        <a:rPr lang="de-DE" sz="1000" dirty="0" err="1"/>
                        <a:t>k.A</a:t>
                      </a:r>
                      <a:r>
                        <a:rPr lang="de-DE" sz="1000" dirty="0"/>
                        <a:t>.</a:t>
                      </a:r>
                    </a:p>
                  </a:txBody>
                  <a:tcPr/>
                </a:tc>
                <a:tc>
                  <a:txBody>
                    <a:bodyPr/>
                    <a:lstStyle/>
                    <a:p>
                      <a:r>
                        <a:rPr lang="de-DE" sz="1000" dirty="0"/>
                        <a:t>WER (ASR)</a:t>
                      </a:r>
                    </a:p>
                  </a:txBody>
                  <a:tcPr/>
                </a:tc>
                <a:tc>
                  <a:txBody>
                    <a:bodyPr/>
                    <a:lstStyle/>
                    <a:p>
                      <a:r>
                        <a:rPr lang="de-DE" sz="1000" dirty="0">
                          <a:hlinkClick r:id="rId5"/>
                        </a:rPr>
                        <a:t>Link</a:t>
                      </a:r>
                      <a:endParaRPr lang="de-DE" sz="1000" dirty="0"/>
                    </a:p>
                  </a:txBody>
                  <a:tcPr/>
                </a:tc>
                <a:extLst>
                  <a:ext uri="{0D108BD9-81ED-4DB2-BD59-A6C34878D82A}">
                    <a16:rowId xmlns:a16="http://schemas.microsoft.com/office/drawing/2014/main" val="1384522039"/>
                  </a:ext>
                </a:extLst>
              </a:tr>
              <a:tr h="370840">
                <a:tc>
                  <a:txBody>
                    <a:bodyPr/>
                    <a:lstStyle/>
                    <a:p>
                      <a:r>
                        <a:rPr lang="de-DE" sz="1000" dirty="0"/>
                        <a:t>MMAU: A MASSIVE MULTI-TASK AUDIO UN DERSTANDING AND REASONING BENCHMARK</a:t>
                      </a:r>
                    </a:p>
                  </a:txBody>
                  <a:tcPr/>
                </a:tc>
                <a:tc>
                  <a:txBody>
                    <a:bodyPr/>
                    <a:lstStyle/>
                    <a:p>
                      <a:r>
                        <a:rPr lang="de-DE" sz="1000" dirty="0"/>
                        <a:t>2024</a:t>
                      </a:r>
                    </a:p>
                  </a:txBody>
                  <a:tcPr/>
                </a:tc>
                <a:tc>
                  <a:txBody>
                    <a:bodyPr/>
                    <a:lstStyle/>
                    <a:p>
                      <a:r>
                        <a:rPr lang="de-DE" sz="1000" dirty="0"/>
                        <a:t>Qwen-Audio, Qwen2-Audio, SALAMONN, Gemini Pro, etc.</a:t>
                      </a:r>
                    </a:p>
                  </a:txBody>
                  <a:tcPr/>
                </a:tc>
                <a:tc>
                  <a:txBody>
                    <a:bodyPr/>
                    <a:lstStyle/>
                    <a:p>
                      <a:r>
                        <a:rPr lang="de-DE" sz="1000" dirty="0" err="1"/>
                        <a:t>k.A</a:t>
                      </a:r>
                      <a:r>
                        <a:rPr lang="de-DE" sz="1000" dirty="0"/>
                        <a:t>.</a:t>
                      </a:r>
                    </a:p>
                  </a:txBody>
                  <a:tcPr/>
                </a:tc>
                <a:tc>
                  <a:txBody>
                    <a:bodyPr/>
                    <a:lstStyle/>
                    <a:p>
                      <a:r>
                        <a:rPr lang="de-DE" sz="1000" dirty="0" err="1"/>
                        <a:t>micro-averagedaccuracy</a:t>
                      </a:r>
                      <a:endParaRPr lang="de-DE" sz="1000" dirty="0"/>
                    </a:p>
                  </a:txBody>
                  <a:tcPr/>
                </a:tc>
                <a:tc>
                  <a:txBody>
                    <a:bodyPr/>
                    <a:lstStyle/>
                    <a:p>
                      <a:r>
                        <a:rPr lang="de-DE" sz="1000" dirty="0">
                          <a:hlinkClick r:id="rId6"/>
                        </a:rPr>
                        <a:t>Link</a:t>
                      </a:r>
                      <a:endParaRPr lang="de-DE" sz="1000" dirty="0"/>
                    </a:p>
                  </a:txBody>
                  <a:tcPr/>
                </a:tc>
                <a:extLst>
                  <a:ext uri="{0D108BD9-81ED-4DB2-BD59-A6C34878D82A}">
                    <a16:rowId xmlns:a16="http://schemas.microsoft.com/office/drawing/2014/main" val="189252847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000" b="0" i="0" kern="1200" dirty="0" err="1">
                          <a:solidFill>
                            <a:schemeClr val="dk1"/>
                          </a:solidFill>
                          <a:effectLst/>
                          <a:latin typeface="+mn-lt"/>
                          <a:ea typeface="+mn-ea"/>
                          <a:cs typeface="+mn-cs"/>
                        </a:rPr>
                        <a:t>WildSpeech</a:t>
                      </a:r>
                      <a:r>
                        <a:rPr lang="de-DE" sz="1000" b="0" i="0" kern="1200" dirty="0">
                          <a:solidFill>
                            <a:schemeClr val="dk1"/>
                          </a:solidFill>
                          <a:effectLst/>
                          <a:latin typeface="+mn-lt"/>
                          <a:ea typeface="+mn-ea"/>
                          <a:cs typeface="+mn-cs"/>
                        </a:rPr>
                        <a:t>-Bench: Benchmarking Audio LLMs in Natural Speech </a:t>
                      </a:r>
                      <a:r>
                        <a:rPr lang="de-DE" sz="1000" b="0" i="0" kern="1200" dirty="0" err="1">
                          <a:solidFill>
                            <a:schemeClr val="dk1"/>
                          </a:solidFill>
                          <a:effectLst/>
                          <a:latin typeface="+mn-lt"/>
                          <a:ea typeface="+mn-ea"/>
                          <a:cs typeface="+mn-cs"/>
                        </a:rPr>
                        <a:t>Conversation</a:t>
                      </a:r>
                      <a:endParaRPr lang="de-DE" sz="1000" b="0" i="0" kern="1200" dirty="0">
                        <a:solidFill>
                          <a:schemeClr val="dk1"/>
                        </a:solidFill>
                        <a:effectLst/>
                        <a:latin typeface="+mn-lt"/>
                        <a:ea typeface="+mn-ea"/>
                        <a:cs typeface="+mn-cs"/>
                      </a:endParaRPr>
                    </a:p>
                    <a:p>
                      <a:endParaRPr lang="de-DE" sz="1000" dirty="0"/>
                    </a:p>
                  </a:txBody>
                  <a:tcPr/>
                </a:tc>
                <a:tc>
                  <a:txBody>
                    <a:bodyPr/>
                    <a:lstStyle/>
                    <a:p>
                      <a:r>
                        <a:rPr lang="de-DE" sz="1000" dirty="0"/>
                        <a:t>2025</a:t>
                      </a:r>
                    </a:p>
                  </a:txBody>
                  <a:tcPr/>
                </a:tc>
                <a:tc>
                  <a:txBody>
                    <a:bodyPr/>
                    <a:lstStyle/>
                    <a:p>
                      <a:r>
                        <a:rPr lang="de-DE" sz="1000" b="0" i="0" kern="1200" dirty="0">
                          <a:solidFill>
                            <a:schemeClr val="dk1"/>
                          </a:solidFill>
                          <a:effectLst/>
                          <a:latin typeface="+mn-lt"/>
                          <a:ea typeface="+mn-ea"/>
                          <a:cs typeface="+mn-cs"/>
                        </a:rPr>
                        <a:t>GLM-4-Voice, </a:t>
                      </a:r>
                      <a:r>
                        <a:rPr lang="de-DE" sz="1000" b="0" i="0" kern="1200" dirty="0" err="1">
                          <a:solidFill>
                            <a:schemeClr val="dk1"/>
                          </a:solidFill>
                          <a:effectLst/>
                          <a:latin typeface="+mn-lt"/>
                          <a:ea typeface="+mn-ea"/>
                          <a:cs typeface="+mn-cs"/>
                        </a:rPr>
                        <a:t>MiniCPM</a:t>
                      </a:r>
                      <a:r>
                        <a:rPr lang="de-DE" sz="1000" b="0" i="0" kern="1200" dirty="0">
                          <a:solidFill>
                            <a:schemeClr val="dk1"/>
                          </a:solidFill>
                          <a:effectLst/>
                          <a:latin typeface="+mn-lt"/>
                          <a:ea typeface="+mn-ea"/>
                          <a:cs typeface="+mn-cs"/>
                        </a:rPr>
                        <a:t>, Qwen-2.5-omni, GPT-4o-Audio</a:t>
                      </a:r>
                      <a:endParaRPr lang="de-DE" sz="1000" dirty="0"/>
                    </a:p>
                  </a:txBody>
                  <a:tcPr/>
                </a:tc>
                <a:tc>
                  <a:txBody>
                    <a:bodyPr/>
                    <a:lstStyle/>
                    <a:p>
                      <a:r>
                        <a:rPr lang="de-DE" sz="1000" dirty="0" err="1"/>
                        <a:t>WildChat</a:t>
                      </a:r>
                      <a:endParaRPr lang="de-DE" sz="1000" dirty="0"/>
                    </a:p>
                  </a:txBody>
                  <a:tcPr/>
                </a:tc>
                <a:tc>
                  <a:txBody>
                    <a:bodyPr/>
                    <a:lstStyle/>
                    <a:p>
                      <a:r>
                        <a:rPr lang="de-DE" sz="1000" dirty="0"/>
                        <a:t>Scale 1-10, Whisper + GPT-4o mini</a:t>
                      </a:r>
                    </a:p>
                  </a:txBody>
                  <a:tcPr/>
                </a:tc>
                <a:tc>
                  <a:txBody>
                    <a:bodyPr/>
                    <a:lstStyle/>
                    <a:p>
                      <a:r>
                        <a:rPr lang="de-DE" sz="1000" dirty="0">
                          <a:hlinkClick r:id="rId7"/>
                        </a:rPr>
                        <a:t>Link</a:t>
                      </a:r>
                      <a:endParaRPr lang="de-DE" sz="1000" dirty="0"/>
                    </a:p>
                  </a:txBody>
                  <a:tcPr/>
                </a:tc>
                <a:extLst>
                  <a:ext uri="{0D108BD9-81ED-4DB2-BD59-A6C34878D82A}">
                    <a16:rowId xmlns:a16="http://schemas.microsoft.com/office/drawing/2014/main" val="2124264606"/>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000" b="0" i="0" kern="1200" dirty="0" err="1">
                          <a:solidFill>
                            <a:schemeClr val="dk1"/>
                          </a:solidFill>
                          <a:effectLst/>
                          <a:latin typeface="+mn-lt"/>
                          <a:ea typeface="+mn-ea"/>
                          <a:cs typeface="+mn-cs"/>
                        </a:rPr>
                        <a:t>VoxEval</a:t>
                      </a:r>
                      <a:r>
                        <a:rPr lang="de-DE" sz="1000" b="0" i="0" kern="1200" dirty="0">
                          <a:solidFill>
                            <a:schemeClr val="dk1"/>
                          </a:solidFill>
                          <a:effectLst/>
                          <a:latin typeface="+mn-lt"/>
                          <a:ea typeface="+mn-ea"/>
                          <a:cs typeface="+mn-cs"/>
                        </a:rPr>
                        <a:t>: Benchmarking </a:t>
                      </a:r>
                      <a:r>
                        <a:rPr lang="de-DE" sz="1000" b="0" i="0" kern="1200" dirty="0" err="1">
                          <a:solidFill>
                            <a:schemeClr val="dk1"/>
                          </a:solidFill>
                          <a:effectLst/>
                          <a:latin typeface="+mn-lt"/>
                          <a:ea typeface="+mn-ea"/>
                          <a:cs typeface="+mn-cs"/>
                        </a:rPr>
                        <a:t>the</a:t>
                      </a:r>
                      <a:r>
                        <a:rPr lang="de-DE" sz="1000" b="0" i="0" kern="1200" dirty="0">
                          <a:solidFill>
                            <a:schemeClr val="dk1"/>
                          </a:solidFill>
                          <a:effectLst/>
                          <a:latin typeface="+mn-lt"/>
                          <a:ea typeface="+mn-ea"/>
                          <a:cs typeface="+mn-cs"/>
                        </a:rPr>
                        <a:t> Knowledge Understanding </a:t>
                      </a:r>
                      <a:r>
                        <a:rPr lang="de-DE" sz="1000" b="0" i="0" kern="1200" dirty="0" err="1">
                          <a:solidFill>
                            <a:schemeClr val="dk1"/>
                          </a:solidFill>
                          <a:effectLst/>
                          <a:latin typeface="+mn-lt"/>
                          <a:ea typeface="+mn-ea"/>
                          <a:cs typeface="+mn-cs"/>
                        </a:rPr>
                        <a:t>Capabilities</a:t>
                      </a:r>
                      <a:r>
                        <a:rPr lang="de-DE" sz="1000" b="0" i="0" kern="1200" dirty="0">
                          <a:solidFill>
                            <a:schemeClr val="dk1"/>
                          </a:solidFill>
                          <a:effectLst/>
                          <a:latin typeface="+mn-lt"/>
                          <a:ea typeface="+mn-ea"/>
                          <a:cs typeface="+mn-cs"/>
                        </a:rPr>
                        <a:t> </a:t>
                      </a:r>
                      <a:r>
                        <a:rPr lang="de-DE" sz="1000" b="0" i="0" kern="1200" dirty="0" err="1">
                          <a:solidFill>
                            <a:schemeClr val="dk1"/>
                          </a:solidFill>
                          <a:effectLst/>
                          <a:latin typeface="+mn-lt"/>
                          <a:ea typeface="+mn-ea"/>
                          <a:cs typeface="+mn-cs"/>
                        </a:rPr>
                        <a:t>of</a:t>
                      </a:r>
                      <a:r>
                        <a:rPr lang="de-DE" sz="1000" b="0" i="0" kern="1200" dirty="0">
                          <a:solidFill>
                            <a:schemeClr val="dk1"/>
                          </a:solidFill>
                          <a:effectLst/>
                          <a:latin typeface="+mn-lt"/>
                          <a:ea typeface="+mn-ea"/>
                          <a:cs typeface="+mn-cs"/>
                        </a:rPr>
                        <a:t> End-</a:t>
                      </a:r>
                      <a:r>
                        <a:rPr lang="de-DE" sz="1000" b="0" i="0" kern="1200" dirty="0" err="1">
                          <a:solidFill>
                            <a:schemeClr val="dk1"/>
                          </a:solidFill>
                          <a:effectLst/>
                          <a:latin typeface="+mn-lt"/>
                          <a:ea typeface="+mn-ea"/>
                          <a:cs typeface="+mn-cs"/>
                        </a:rPr>
                        <a:t>to</a:t>
                      </a:r>
                      <a:r>
                        <a:rPr lang="de-DE" sz="1000" b="0" i="0" kern="1200" dirty="0">
                          <a:solidFill>
                            <a:schemeClr val="dk1"/>
                          </a:solidFill>
                          <a:effectLst/>
                          <a:latin typeface="+mn-lt"/>
                          <a:ea typeface="+mn-ea"/>
                          <a:cs typeface="+mn-cs"/>
                        </a:rPr>
                        <a:t>-End Spoken Language Models</a:t>
                      </a:r>
                    </a:p>
                    <a:p>
                      <a:endParaRPr lang="de-DE" sz="1000" dirty="0"/>
                    </a:p>
                  </a:txBody>
                  <a:tcPr/>
                </a:tc>
                <a:tc>
                  <a:txBody>
                    <a:bodyPr/>
                    <a:lstStyle/>
                    <a:p>
                      <a:r>
                        <a:rPr lang="de-DE" sz="1000" dirty="0"/>
                        <a:t>2025</a:t>
                      </a:r>
                    </a:p>
                  </a:txBody>
                  <a:tcPr/>
                </a:tc>
                <a:tc>
                  <a:txBody>
                    <a:bodyPr/>
                    <a:lstStyle/>
                    <a:p>
                      <a:r>
                        <a:rPr lang="de-DE" sz="1000" b="0" i="0" kern="1200" dirty="0" err="1">
                          <a:solidFill>
                            <a:schemeClr val="dk1"/>
                          </a:solidFill>
                          <a:effectLst/>
                          <a:latin typeface="+mn-lt"/>
                          <a:ea typeface="+mn-ea"/>
                          <a:cs typeface="+mn-cs"/>
                        </a:rPr>
                        <a:t>SpeechGPT</a:t>
                      </a:r>
                      <a:r>
                        <a:rPr lang="de-DE" sz="1000" b="0" i="0" kern="1200" dirty="0">
                          <a:solidFill>
                            <a:schemeClr val="dk1"/>
                          </a:solidFill>
                          <a:effectLst/>
                          <a:latin typeface="+mn-lt"/>
                          <a:ea typeface="+mn-ea"/>
                          <a:cs typeface="+mn-cs"/>
                        </a:rPr>
                        <a:t>, TWIST, SPIRIT-LM, Moshi, GLM-4-Voice, Whisper + Llama-3.1-8B</a:t>
                      </a:r>
                      <a:endParaRPr lang="de-DE" sz="1000" b="0" dirty="0"/>
                    </a:p>
                  </a:txBody>
                  <a:tcPr/>
                </a:tc>
                <a:tc>
                  <a:txBody>
                    <a:bodyPr/>
                    <a:lstStyle/>
                    <a:p>
                      <a:r>
                        <a:rPr lang="de-DE" sz="1000" b="0" i="0" kern="1200" dirty="0">
                          <a:solidFill>
                            <a:schemeClr val="dk1"/>
                          </a:solidFill>
                          <a:effectLst/>
                          <a:latin typeface="+mn-lt"/>
                          <a:ea typeface="+mn-ea"/>
                          <a:cs typeface="+mn-cs"/>
                        </a:rPr>
                        <a:t>Elementary Math, High School Math, College Math</a:t>
                      </a:r>
                      <a:endParaRPr lang="de-DE" sz="1000" b="0" dirty="0"/>
                    </a:p>
                  </a:txBody>
                  <a:tcPr/>
                </a:tc>
                <a:tc>
                  <a:txBody>
                    <a:bodyPr/>
                    <a:lstStyle/>
                    <a:p>
                      <a:r>
                        <a:rPr lang="de-DE" sz="1000" dirty="0"/>
                        <a:t>„</a:t>
                      </a:r>
                      <a:r>
                        <a:rPr lang="de-DE" sz="1000" b="0" i="0" kern="1200" dirty="0" err="1">
                          <a:solidFill>
                            <a:schemeClr val="dk1"/>
                          </a:solidFill>
                          <a:effectLst/>
                          <a:latin typeface="+mn-lt"/>
                          <a:ea typeface="+mn-ea"/>
                          <a:cs typeface="+mn-cs"/>
                        </a:rPr>
                        <a:t>accuracy</a:t>
                      </a:r>
                      <a:r>
                        <a:rPr lang="de-DE" sz="1000" b="0" i="0" kern="1200" dirty="0">
                          <a:solidFill>
                            <a:schemeClr val="dk1"/>
                          </a:solidFill>
                          <a:effectLst/>
                          <a:latin typeface="+mn-lt"/>
                          <a:ea typeface="+mn-ea"/>
                          <a:cs typeface="+mn-cs"/>
                        </a:rPr>
                        <a:t>“</a:t>
                      </a:r>
                      <a:endParaRPr lang="de-DE" sz="1000" dirty="0"/>
                    </a:p>
                  </a:txBody>
                  <a:tcPr/>
                </a:tc>
                <a:tc>
                  <a:txBody>
                    <a:bodyPr/>
                    <a:lstStyle/>
                    <a:p>
                      <a:r>
                        <a:rPr lang="de-DE" sz="1000" dirty="0">
                          <a:hlinkClick r:id="rId8"/>
                        </a:rPr>
                        <a:t>Link</a:t>
                      </a:r>
                      <a:endParaRPr lang="de-DE" sz="1000" dirty="0"/>
                    </a:p>
                  </a:txBody>
                  <a:tcPr/>
                </a:tc>
                <a:extLst>
                  <a:ext uri="{0D108BD9-81ED-4DB2-BD59-A6C34878D82A}">
                    <a16:rowId xmlns:a16="http://schemas.microsoft.com/office/drawing/2014/main" val="398227614"/>
                  </a:ext>
                </a:extLst>
              </a:tr>
              <a:tr h="370840">
                <a:tc>
                  <a:txBody>
                    <a:bodyPr/>
                    <a:lstStyle/>
                    <a:p>
                      <a:endParaRPr lang="de-DE" sz="1000" dirty="0"/>
                    </a:p>
                  </a:txBody>
                  <a:tcPr/>
                </a:tc>
                <a:tc>
                  <a:txBody>
                    <a:bodyPr/>
                    <a:lstStyle/>
                    <a:p>
                      <a:endParaRPr lang="de-DE" sz="1000" dirty="0"/>
                    </a:p>
                  </a:txBody>
                  <a:tcPr/>
                </a:tc>
                <a:tc>
                  <a:txBody>
                    <a:bodyPr/>
                    <a:lstStyle/>
                    <a:p>
                      <a:endParaRPr lang="de-DE" sz="1000" dirty="0"/>
                    </a:p>
                  </a:txBody>
                  <a:tcPr/>
                </a:tc>
                <a:tc>
                  <a:txBody>
                    <a:bodyPr/>
                    <a:lstStyle/>
                    <a:p>
                      <a:endParaRPr lang="de-DE" sz="1000" dirty="0"/>
                    </a:p>
                  </a:txBody>
                  <a:tcPr/>
                </a:tc>
                <a:tc>
                  <a:txBody>
                    <a:bodyPr/>
                    <a:lstStyle/>
                    <a:p>
                      <a:endParaRPr lang="de-DE" sz="1000" dirty="0"/>
                    </a:p>
                  </a:txBody>
                  <a:tcPr/>
                </a:tc>
                <a:tc>
                  <a:txBody>
                    <a:bodyPr/>
                    <a:lstStyle/>
                    <a:p>
                      <a:endParaRPr lang="de-DE" sz="1000" dirty="0"/>
                    </a:p>
                  </a:txBody>
                  <a:tcPr/>
                </a:tc>
                <a:extLst>
                  <a:ext uri="{0D108BD9-81ED-4DB2-BD59-A6C34878D82A}">
                    <a16:rowId xmlns:a16="http://schemas.microsoft.com/office/drawing/2014/main" val="818532041"/>
                  </a:ext>
                </a:extLst>
              </a:tr>
            </a:tbl>
          </a:graphicData>
        </a:graphic>
      </p:graphicFrame>
    </p:spTree>
    <p:extLst>
      <p:ext uri="{BB962C8B-B14F-4D97-AF65-F5344CB8AC3E}">
        <p14:creationId xmlns:p14="http://schemas.microsoft.com/office/powerpoint/2010/main" val="4021691713"/>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F18E39-1F40-568A-47D8-2E0A379C2867}"/>
              </a:ext>
            </a:extLst>
          </p:cNvPr>
          <p:cNvSpPr>
            <a:spLocks noGrp="1"/>
          </p:cNvSpPr>
          <p:nvPr>
            <p:ph type="title"/>
          </p:nvPr>
        </p:nvSpPr>
        <p:spPr/>
        <p:txBody>
          <a:bodyPr/>
          <a:lstStyle/>
          <a:p>
            <a:r>
              <a:rPr lang="de-DE" dirty="0"/>
              <a:t>Gibt es </a:t>
            </a:r>
            <a:r>
              <a:rPr lang="de-DE" dirty="0" err="1"/>
              <a:t>phonem</a:t>
            </a:r>
            <a:r>
              <a:rPr lang="de-DE" dirty="0"/>
              <a:t> auf englisch?</a:t>
            </a:r>
          </a:p>
        </p:txBody>
      </p:sp>
      <p:sp>
        <p:nvSpPr>
          <p:cNvPr id="3" name="Content Placeholder 2">
            <a:extLst>
              <a:ext uri="{FF2B5EF4-FFF2-40B4-BE49-F238E27FC236}">
                <a16:creationId xmlns:a16="http://schemas.microsoft.com/office/drawing/2014/main" id="{5DC6EC56-D9CC-0C3C-0CF4-17A4BE0C55E2}"/>
              </a:ext>
            </a:extLst>
          </p:cNvPr>
          <p:cNvSpPr>
            <a:spLocks noGrp="1"/>
          </p:cNvSpPr>
          <p:nvPr>
            <p:ph idx="1"/>
          </p:nvPr>
        </p:nvSpPr>
        <p:spPr/>
        <p:txBody>
          <a:bodyPr/>
          <a:lstStyle/>
          <a:p>
            <a:endParaRPr lang="de-DE"/>
          </a:p>
        </p:txBody>
      </p:sp>
    </p:spTree>
    <p:extLst>
      <p:ext uri="{BB962C8B-B14F-4D97-AF65-F5344CB8AC3E}">
        <p14:creationId xmlns:p14="http://schemas.microsoft.com/office/powerpoint/2010/main" val="38747151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CEE83B-6659-FA62-0D1F-78A3977886D8}"/>
              </a:ext>
            </a:extLst>
          </p:cNvPr>
          <p:cNvSpPr>
            <a:spLocks noGrp="1"/>
          </p:cNvSpPr>
          <p:nvPr>
            <p:ph type="title"/>
          </p:nvPr>
        </p:nvSpPr>
        <p:spPr/>
        <p:txBody>
          <a:bodyPr/>
          <a:lstStyle/>
          <a:p>
            <a:r>
              <a:rPr lang="de-DE" dirty="0"/>
              <a:t>Vergleich von Frontiermodellen für ASR im Chinesischen (Satzebene)</a:t>
            </a:r>
          </a:p>
        </p:txBody>
      </p:sp>
      <p:sp>
        <p:nvSpPr>
          <p:cNvPr id="3" name="Content Placeholder 2">
            <a:extLst>
              <a:ext uri="{FF2B5EF4-FFF2-40B4-BE49-F238E27FC236}">
                <a16:creationId xmlns:a16="http://schemas.microsoft.com/office/drawing/2014/main" id="{711E3C27-82C4-D50A-1B23-199DF40583FA}"/>
              </a:ext>
            </a:extLst>
          </p:cNvPr>
          <p:cNvSpPr>
            <a:spLocks noGrp="1"/>
          </p:cNvSpPr>
          <p:nvPr>
            <p:ph idx="1"/>
          </p:nvPr>
        </p:nvSpPr>
        <p:spPr/>
        <p:txBody>
          <a:bodyPr/>
          <a:lstStyle/>
          <a:p>
            <a:endParaRPr lang="de-DE" dirty="0"/>
          </a:p>
        </p:txBody>
      </p:sp>
      <p:graphicFrame>
        <p:nvGraphicFramePr>
          <p:cNvPr id="4" name="Content Placeholder 3">
            <a:extLst>
              <a:ext uri="{FF2B5EF4-FFF2-40B4-BE49-F238E27FC236}">
                <a16:creationId xmlns:a16="http://schemas.microsoft.com/office/drawing/2014/main" id="{9382A346-EA45-E66E-5422-EC4E509B7114}"/>
              </a:ext>
            </a:extLst>
          </p:cNvPr>
          <p:cNvGraphicFramePr>
            <a:graphicFrameLocks/>
          </p:cNvGraphicFramePr>
          <p:nvPr>
            <p:extLst>
              <p:ext uri="{D42A27DB-BD31-4B8C-83A1-F6EECF244321}">
                <p14:modId xmlns:p14="http://schemas.microsoft.com/office/powerpoint/2010/main" val="3664851216"/>
              </p:ext>
            </p:extLst>
          </p:nvPr>
        </p:nvGraphicFramePr>
        <p:xfrm>
          <a:off x="326570" y="1825625"/>
          <a:ext cx="11669488" cy="4470400"/>
        </p:xfrm>
        <a:graphic>
          <a:graphicData uri="http://schemas.openxmlformats.org/drawingml/2006/table">
            <a:tbl>
              <a:tblPr firstRow="1" bandRow="1">
                <a:tableStyleId>{5C22544A-7EE6-4342-B048-85BDC9FD1C3A}</a:tableStyleId>
              </a:tblPr>
              <a:tblGrid>
                <a:gridCol w="4016830">
                  <a:extLst>
                    <a:ext uri="{9D8B030D-6E8A-4147-A177-3AD203B41FA5}">
                      <a16:colId xmlns:a16="http://schemas.microsoft.com/office/drawing/2014/main" val="2891188440"/>
                    </a:ext>
                  </a:extLst>
                </a:gridCol>
                <a:gridCol w="718457">
                  <a:extLst>
                    <a:ext uri="{9D8B030D-6E8A-4147-A177-3AD203B41FA5}">
                      <a16:colId xmlns:a16="http://schemas.microsoft.com/office/drawing/2014/main" val="1549689849"/>
                    </a:ext>
                  </a:extLst>
                </a:gridCol>
                <a:gridCol w="1687286">
                  <a:extLst>
                    <a:ext uri="{9D8B030D-6E8A-4147-A177-3AD203B41FA5}">
                      <a16:colId xmlns:a16="http://schemas.microsoft.com/office/drawing/2014/main" val="2556887823"/>
                    </a:ext>
                  </a:extLst>
                </a:gridCol>
                <a:gridCol w="2906486">
                  <a:extLst>
                    <a:ext uri="{9D8B030D-6E8A-4147-A177-3AD203B41FA5}">
                      <a16:colId xmlns:a16="http://schemas.microsoft.com/office/drawing/2014/main" val="3089287138"/>
                    </a:ext>
                  </a:extLst>
                </a:gridCol>
                <a:gridCol w="1513114">
                  <a:extLst>
                    <a:ext uri="{9D8B030D-6E8A-4147-A177-3AD203B41FA5}">
                      <a16:colId xmlns:a16="http://schemas.microsoft.com/office/drawing/2014/main" val="220084703"/>
                    </a:ext>
                  </a:extLst>
                </a:gridCol>
                <a:gridCol w="827315">
                  <a:extLst>
                    <a:ext uri="{9D8B030D-6E8A-4147-A177-3AD203B41FA5}">
                      <a16:colId xmlns:a16="http://schemas.microsoft.com/office/drawing/2014/main" val="2079258899"/>
                    </a:ext>
                  </a:extLst>
                </a:gridCol>
              </a:tblGrid>
              <a:tr h="370840">
                <a:tc>
                  <a:txBody>
                    <a:bodyPr/>
                    <a:lstStyle/>
                    <a:p>
                      <a:r>
                        <a:rPr lang="de-DE" dirty="0"/>
                        <a:t>Name</a:t>
                      </a:r>
                    </a:p>
                  </a:txBody>
                  <a:tcPr/>
                </a:tc>
                <a:tc>
                  <a:txBody>
                    <a:bodyPr/>
                    <a:lstStyle/>
                    <a:p>
                      <a:r>
                        <a:rPr lang="de-DE" dirty="0"/>
                        <a:t>Jahr</a:t>
                      </a:r>
                    </a:p>
                  </a:txBody>
                  <a:tcPr/>
                </a:tc>
                <a:tc>
                  <a:txBody>
                    <a:bodyPr/>
                    <a:lstStyle/>
                    <a:p>
                      <a:r>
                        <a:rPr lang="de-DE" dirty="0"/>
                        <a:t>Modelle</a:t>
                      </a:r>
                    </a:p>
                  </a:txBody>
                  <a:tcPr/>
                </a:tc>
                <a:tc>
                  <a:txBody>
                    <a:bodyPr/>
                    <a:lstStyle/>
                    <a:p>
                      <a:r>
                        <a:rPr lang="de-DE" dirty="0"/>
                        <a:t>Korpus</a:t>
                      </a:r>
                    </a:p>
                  </a:txBody>
                  <a:tcPr/>
                </a:tc>
                <a:tc>
                  <a:txBody>
                    <a:bodyPr/>
                    <a:lstStyle/>
                    <a:p>
                      <a:r>
                        <a:rPr lang="de-DE" dirty="0"/>
                        <a:t>Metriken</a:t>
                      </a:r>
                    </a:p>
                  </a:txBody>
                  <a:tcPr/>
                </a:tc>
                <a:tc>
                  <a:txBody>
                    <a:bodyPr/>
                    <a:lstStyle/>
                    <a:p>
                      <a:r>
                        <a:rPr lang="de-DE" dirty="0"/>
                        <a:t>Link</a:t>
                      </a:r>
                    </a:p>
                  </a:txBody>
                  <a:tcPr/>
                </a:tc>
                <a:extLst>
                  <a:ext uri="{0D108BD9-81ED-4DB2-BD59-A6C34878D82A}">
                    <a16:rowId xmlns:a16="http://schemas.microsoft.com/office/drawing/2014/main" val="2586349692"/>
                  </a:ext>
                </a:extLst>
              </a:tr>
              <a:tr h="370840">
                <a:tc>
                  <a:txBody>
                    <a:bodyPr/>
                    <a:lstStyle/>
                    <a:p>
                      <a:r>
                        <a:rPr lang="en-US" sz="800" b="0" i="0" u="none" strike="noStrike" kern="1200" baseline="0" dirty="0" err="1">
                          <a:solidFill>
                            <a:schemeClr val="dk1"/>
                          </a:solidFill>
                          <a:latin typeface="+mn-lt"/>
                          <a:ea typeface="+mn-ea"/>
                          <a:cs typeface="+mn-cs"/>
                        </a:rPr>
                        <a:t>ContextASR</a:t>
                      </a:r>
                      <a:r>
                        <a:rPr lang="en-US" sz="800" b="0" i="0" u="none" strike="noStrike" kern="1200" baseline="0" dirty="0">
                          <a:solidFill>
                            <a:schemeClr val="dk1"/>
                          </a:solidFill>
                          <a:latin typeface="+mn-lt"/>
                          <a:ea typeface="+mn-ea"/>
                          <a:cs typeface="+mn-cs"/>
                        </a:rPr>
                        <a:t>-Bench: A Massive Contextual Speech Recognition Benchmark</a:t>
                      </a:r>
                      <a:endParaRPr lang="de-DE" sz="800" dirty="0"/>
                    </a:p>
                  </a:txBody>
                  <a:tcPr/>
                </a:tc>
                <a:tc>
                  <a:txBody>
                    <a:bodyPr/>
                    <a:lstStyle/>
                    <a:p>
                      <a:r>
                        <a:rPr lang="de-DE" sz="800" dirty="0"/>
                        <a:t>2025</a:t>
                      </a:r>
                    </a:p>
                  </a:txBody>
                  <a:tcPr/>
                </a:tc>
                <a:tc>
                  <a:txBody>
                    <a:bodyPr/>
                    <a:lstStyle/>
                    <a:p>
                      <a:r>
                        <a:rPr lang="de-DE" sz="800" dirty="0"/>
                        <a:t>Qwen2, </a:t>
                      </a:r>
                      <a:r>
                        <a:rPr lang="de-DE" sz="800" dirty="0" err="1"/>
                        <a:t>Baichuan</a:t>
                      </a:r>
                      <a:r>
                        <a:rPr lang="de-DE" sz="800" dirty="0"/>
                        <a:t>, Kimi, Qwen2.5 + klassische</a:t>
                      </a:r>
                    </a:p>
                  </a:txBody>
                  <a:tcPr/>
                </a:tc>
                <a:tc>
                  <a:txBody>
                    <a:bodyPr/>
                    <a:lstStyle/>
                    <a:p>
                      <a:r>
                        <a:rPr lang="de-DE" sz="800" dirty="0"/>
                        <a:t>Eigener </a:t>
                      </a:r>
                      <a:r>
                        <a:rPr lang="de-DE" sz="800" b="0" i="0" u="none" strike="noStrike" kern="1200" baseline="0" dirty="0" err="1">
                          <a:solidFill>
                            <a:schemeClr val="dk1"/>
                          </a:solidFill>
                          <a:latin typeface="+mn-lt"/>
                          <a:ea typeface="+mn-ea"/>
                          <a:cs typeface="+mn-cs"/>
                        </a:rPr>
                        <a:t>ContextASR</a:t>
                      </a:r>
                      <a:r>
                        <a:rPr lang="de-DE" sz="800" b="0" i="0" u="none" strike="noStrike" kern="1200" baseline="0" dirty="0">
                          <a:solidFill>
                            <a:schemeClr val="dk1"/>
                          </a:solidFill>
                          <a:latin typeface="+mn-lt"/>
                          <a:ea typeface="+mn-ea"/>
                          <a:cs typeface="+mn-cs"/>
                        </a:rPr>
                        <a:t> bestehend aus </a:t>
                      </a:r>
                      <a:r>
                        <a:rPr lang="de-DE" sz="800" b="0" dirty="0" err="1"/>
                        <a:t>WenetSpeech</a:t>
                      </a:r>
                      <a:r>
                        <a:rPr lang="de-DE" sz="800" dirty="0"/>
                        <a:t>, </a:t>
                      </a:r>
                      <a:r>
                        <a:rPr lang="de-DE" sz="800" b="0" i="0" u="none" strike="noStrike" kern="1200" baseline="0" dirty="0">
                          <a:solidFill>
                            <a:schemeClr val="dk1"/>
                          </a:solidFill>
                          <a:latin typeface="+mn-lt"/>
                          <a:ea typeface="+mn-ea"/>
                          <a:cs typeface="+mn-cs"/>
                        </a:rPr>
                        <a:t>Emilia</a:t>
                      </a:r>
                      <a:r>
                        <a:rPr lang="de-DE" sz="800" dirty="0"/>
                        <a:t> u.v.m.</a:t>
                      </a:r>
                    </a:p>
                  </a:txBody>
                  <a:tcPr/>
                </a:tc>
                <a:tc>
                  <a:txBody>
                    <a:bodyPr/>
                    <a:lstStyle/>
                    <a:p>
                      <a:r>
                        <a:rPr lang="de-DE" sz="800" dirty="0"/>
                        <a:t>WER, NE-WER, NE-FNR (%), </a:t>
                      </a:r>
                      <a:r>
                        <a:rPr lang="de-DE" sz="800" dirty="0" err="1"/>
                        <a:t>vll</a:t>
                      </a:r>
                      <a:r>
                        <a:rPr lang="de-DE" sz="800" dirty="0"/>
                        <a:t>. PER</a:t>
                      </a:r>
                    </a:p>
                  </a:txBody>
                  <a:tcPr/>
                </a:tc>
                <a:tc>
                  <a:txBody>
                    <a:bodyPr/>
                    <a:lstStyle/>
                    <a:p>
                      <a:pPr fontAlgn="t">
                        <a:buNone/>
                      </a:pPr>
                      <a:r>
                        <a:rPr lang="de-DE" sz="800" b="0" u="sng" dirty="0">
                          <a:effectLst/>
                          <a:hlinkClick r:id="rId2"/>
                        </a:rPr>
                        <a:t>Link</a:t>
                      </a:r>
                      <a:endParaRPr lang="de-DE" sz="800" dirty="0">
                        <a:effectLst/>
                      </a:endParaRPr>
                    </a:p>
                  </a:txBody>
                  <a:tcPr marR="49530"/>
                </a:tc>
                <a:extLst>
                  <a:ext uri="{0D108BD9-81ED-4DB2-BD59-A6C34878D82A}">
                    <a16:rowId xmlns:a16="http://schemas.microsoft.com/office/drawing/2014/main" val="368047372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800" b="0" i="0" kern="1200" dirty="0" err="1">
                          <a:solidFill>
                            <a:schemeClr val="dk1"/>
                          </a:solidFill>
                          <a:effectLst/>
                          <a:latin typeface="+mn-lt"/>
                          <a:ea typeface="+mn-ea"/>
                          <a:cs typeface="+mn-cs"/>
                        </a:rPr>
                        <a:t>FireRedASR</a:t>
                      </a:r>
                      <a:r>
                        <a:rPr lang="de-DE" sz="800" b="0" i="0" kern="1200" dirty="0">
                          <a:solidFill>
                            <a:schemeClr val="dk1"/>
                          </a:solidFill>
                          <a:effectLst/>
                          <a:latin typeface="+mn-lt"/>
                          <a:ea typeface="+mn-ea"/>
                          <a:cs typeface="+mn-cs"/>
                        </a:rPr>
                        <a:t>: Open-Source Industrial-Grade Mandarin Speech Recognition Models </a:t>
                      </a:r>
                      <a:r>
                        <a:rPr lang="de-DE" sz="800" b="0" i="0" kern="1200" dirty="0" err="1">
                          <a:solidFill>
                            <a:schemeClr val="dk1"/>
                          </a:solidFill>
                          <a:effectLst/>
                          <a:latin typeface="+mn-lt"/>
                          <a:ea typeface="+mn-ea"/>
                          <a:cs typeface="+mn-cs"/>
                        </a:rPr>
                        <a:t>from</a:t>
                      </a:r>
                      <a:r>
                        <a:rPr lang="de-DE" sz="800" b="0" i="0" kern="1200" dirty="0">
                          <a:solidFill>
                            <a:schemeClr val="dk1"/>
                          </a:solidFill>
                          <a:effectLst/>
                          <a:latin typeface="+mn-lt"/>
                          <a:ea typeface="+mn-ea"/>
                          <a:cs typeface="+mn-cs"/>
                        </a:rPr>
                        <a:t> Encoder-Decoder </a:t>
                      </a:r>
                      <a:r>
                        <a:rPr lang="de-DE" sz="800" b="0" i="0" kern="1200" dirty="0" err="1">
                          <a:solidFill>
                            <a:schemeClr val="dk1"/>
                          </a:solidFill>
                          <a:effectLst/>
                          <a:latin typeface="+mn-lt"/>
                          <a:ea typeface="+mn-ea"/>
                          <a:cs typeface="+mn-cs"/>
                        </a:rPr>
                        <a:t>to</a:t>
                      </a:r>
                      <a:r>
                        <a:rPr lang="de-DE" sz="800" b="0" i="0" kern="1200" dirty="0">
                          <a:solidFill>
                            <a:schemeClr val="dk1"/>
                          </a:solidFill>
                          <a:effectLst/>
                          <a:latin typeface="+mn-lt"/>
                          <a:ea typeface="+mn-ea"/>
                          <a:cs typeface="+mn-cs"/>
                        </a:rPr>
                        <a:t> LLM Integration</a:t>
                      </a:r>
                    </a:p>
                    <a:p>
                      <a:endParaRPr lang="de-DE" sz="800" dirty="0"/>
                    </a:p>
                  </a:txBody>
                  <a:tcPr/>
                </a:tc>
                <a:tc>
                  <a:txBody>
                    <a:bodyPr/>
                    <a:lstStyle/>
                    <a:p>
                      <a:r>
                        <a:rPr lang="de-DE" sz="800" dirty="0"/>
                        <a:t>2025</a:t>
                      </a:r>
                    </a:p>
                  </a:txBody>
                  <a:tcPr/>
                </a:tc>
                <a:tc>
                  <a:txBody>
                    <a:bodyPr/>
                    <a:lstStyle/>
                    <a:p>
                      <a:r>
                        <a:rPr lang="de-DE" sz="800" b="0" i="0" kern="1200" dirty="0">
                          <a:solidFill>
                            <a:schemeClr val="dk1"/>
                          </a:solidFill>
                          <a:effectLst/>
                          <a:latin typeface="+mn-lt"/>
                          <a:ea typeface="+mn-ea"/>
                          <a:cs typeface="+mn-cs"/>
                        </a:rPr>
                        <a:t>Whisper,  Qwen-Audio, </a:t>
                      </a:r>
                      <a:r>
                        <a:rPr lang="de-DE" sz="800" b="0" i="0" kern="1200" dirty="0" err="1">
                          <a:solidFill>
                            <a:schemeClr val="dk1"/>
                          </a:solidFill>
                          <a:effectLst/>
                          <a:latin typeface="+mn-lt"/>
                          <a:ea typeface="+mn-ea"/>
                          <a:cs typeface="+mn-cs"/>
                        </a:rPr>
                        <a:t>SenseVoice</a:t>
                      </a:r>
                      <a:r>
                        <a:rPr lang="de-DE" sz="800" b="0" i="0" kern="1200" dirty="0">
                          <a:solidFill>
                            <a:schemeClr val="dk1"/>
                          </a:solidFill>
                          <a:effectLst/>
                          <a:latin typeface="+mn-lt"/>
                          <a:ea typeface="+mn-ea"/>
                          <a:cs typeface="+mn-cs"/>
                        </a:rPr>
                        <a:t>, Seed-ASR, Paraformer</a:t>
                      </a:r>
                      <a:endParaRPr lang="de-DE" sz="800" b="0" dirty="0"/>
                    </a:p>
                  </a:txBody>
                  <a:tcPr/>
                </a:tc>
                <a:tc>
                  <a:txBody>
                    <a:bodyPr/>
                    <a:lstStyle/>
                    <a:p>
                      <a:r>
                        <a:rPr lang="de-DE" sz="800" b="0" i="0" kern="1200" dirty="0">
                          <a:solidFill>
                            <a:schemeClr val="dk1"/>
                          </a:solidFill>
                          <a:effectLst/>
                          <a:latin typeface="+mn-lt"/>
                          <a:ea typeface="+mn-ea"/>
                          <a:cs typeface="+mn-cs"/>
                        </a:rPr>
                        <a:t>AISHELL-1, AISHELL-2, </a:t>
                      </a:r>
                      <a:r>
                        <a:rPr lang="de-DE" sz="800" b="0" i="0" kern="1200" dirty="0" err="1">
                          <a:solidFill>
                            <a:schemeClr val="dk1"/>
                          </a:solidFill>
                          <a:effectLst/>
                          <a:latin typeface="+mn-lt"/>
                          <a:ea typeface="+mn-ea"/>
                          <a:cs typeface="+mn-cs"/>
                        </a:rPr>
                        <a:t>WenetSpeech</a:t>
                      </a:r>
                      <a:r>
                        <a:rPr lang="de-DE" sz="800" b="0" i="0" kern="1200" dirty="0">
                          <a:solidFill>
                            <a:schemeClr val="dk1"/>
                          </a:solidFill>
                          <a:effectLst/>
                          <a:latin typeface="+mn-lt"/>
                          <a:ea typeface="+mn-ea"/>
                          <a:cs typeface="+mn-cs"/>
                        </a:rPr>
                        <a:t> , </a:t>
                      </a:r>
                      <a:r>
                        <a:rPr lang="de-DE" sz="800" b="0" i="0" kern="1200" dirty="0" err="1">
                          <a:solidFill>
                            <a:schemeClr val="dk1"/>
                          </a:solidFill>
                          <a:effectLst/>
                          <a:latin typeface="+mn-lt"/>
                          <a:ea typeface="+mn-ea"/>
                          <a:cs typeface="+mn-cs"/>
                        </a:rPr>
                        <a:t>WenetSpeech</a:t>
                      </a:r>
                      <a:r>
                        <a:rPr lang="de-DE" sz="800" b="0" i="0" kern="1200" dirty="0">
                          <a:solidFill>
                            <a:schemeClr val="dk1"/>
                          </a:solidFill>
                          <a:effectLst/>
                          <a:latin typeface="+mn-lt"/>
                          <a:ea typeface="+mn-ea"/>
                          <a:cs typeface="+mn-cs"/>
                        </a:rPr>
                        <a:t> </a:t>
                      </a:r>
                      <a:r>
                        <a:rPr lang="de-DE" sz="800" b="0" i="0" kern="1200" dirty="0" err="1">
                          <a:solidFill>
                            <a:schemeClr val="dk1"/>
                          </a:solidFill>
                          <a:effectLst/>
                          <a:latin typeface="+mn-lt"/>
                          <a:ea typeface="+mn-ea"/>
                          <a:cs typeface="+mn-cs"/>
                        </a:rPr>
                        <a:t>meeting</a:t>
                      </a:r>
                      <a:endParaRPr lang="de-DE" sz="800" dirty="0"/>
                    </a:p>
                  </a:txBody>
                  <a:tcPr/>
                </a:tc>
                <a:tc>
                  <a:txBody>
                    <a:bodyPr/>
                    <a:lstStyle/>
                    <a:p>
                      <a:r>
                        <a:rPr lang="de-DE" sz="800" dirty="0"/>
                        <a:t>CER, CERR, </a:t>
                      </a:r>
                      <a:r>
                        <a:rPr lang="de-DE" sz="800" b="0" i="0" kern="1200" dirty="0">
                          <a:solidFill>
                            <a:schemeClr val="dk1"/>
                          </a:solidFill>
                          <a:effectLst/>
                          <a:latin typeface="+mn-lt"/>
                          <a:ea typeface="+mn-ea"/>
                          <a:cs typeface="+mn-cs"/>
                        </a:rPr>
                        <a:t>WER</a:t>
                      </a:r>
                      <a:endParaRPr lang="de-DE" sz="800" dirty="0"/>
                    </a:p>
                  </a:txBody>
                  <a:tcPr/>
                </a:tc>
                <a:tc>
                  <a:txBody>
                    <a:bodyPr/>
                    <a:lstStyle/>
                    <a:p>
                      <a:pPr fontAlgn="t">
                        <a:buNone/>
                      </a:pPr>
                      <a:r>
                        <a:rPr lang="de-DE" sz="800" dirty="0">
                          <a:hlinkClick r:id="rId3"/>
                        </a:rPr>
                        <a:t>Link</a:t>
                      </a:r>
                      <a:endParaRPr lang="de-DE" sz="800" dirty="0">
                        <a:effectLst/>
                      </a:endParaRPr>
                    </a:p>
                  </a:txBody>
                  <a:tcPr marR="49530"/>
                </a:tc>
                <a:extLst>
                  <a:ext uri="{0D108BD9-81ED-4DB2-BD59-A6C34878D82A}">
                    <a16:rowId xmlns:a16="http://schemas.microsoft.com/office/drawing/2014/main" val="1391569580"/>
                  </a:ext>
                </a:extLst>
              </a:tr>
              <a:tr h="370840">
                <a:tc>
                  <a:txBody>
                    <a:bodyPr/>
                    <a:lstStyle/>
                    <a:p>
                      <a:r>
                        <a:rPr lang="en-US" sz="800" b="0" i="0" u="none" strike="noStrike" kern="1200" baseline="0" dirty="0">
                          <a:solidFill>
                            <a:schemeClr val="dk1"/>
                          </a:solidFill>
                          <a:latin typeface="+mn-lt"/>
                          <a:ea typeface="+mn-ea"/>
                          <a:cs typeface="+mn-cs"/>
                        </a:rPr>
                        <a:t>ASR-EC BENCHMARK: EVALUATING LARGE LANGUAGE</a:t>
                      </a:r>
                    </a:p>
                    <a:p>
                      <a:r>
                        <a:rPr lang="en-US" sz="800" b="0" i="0" u="none" strike="noStrike" kern="1200" baseline="0" dirty="0">
                          <a:solidFill>
                            <a:schemeClr val="dk1"/>
                          </a:solidFill>
                          <a:latin typeface="+mn-lt"/>
                          <a:ea typeface="+mn-ea"/>
                          <a:cs typeface="+mn-cs"/>
                        </a:rPr>
                        <a:t>MODELS ON CHINESE ASR ERROR CORRECTION</a:t>
                      </a:r>
                      <a:endParaRPr lang="de-DE" sz="800" dirty="0"/>
                    </a:p>
                  </a:txBody>
                  <a:tcPr/>
                </a:tc>
                <a:tc>
                  <a:txBody>
                    <a:bodyPr/>
                    <a:lstStyle/>
                    <a:p>
                      <a:r>
                        <a:rPr lang="de-DE" sz="800" dirty="0"/>
                        <a:t>2024</a:t>
                      </a:r>
                    </a:p>
                  </a:txBody>
                  <a:tcPr/>
                </a:tc>
                <a:tc>
                  <a:txBody>
                    <a:bodyPr/>
                    <a:lstStyle/>
                    <a:p>
                      <a:r>
                        <a:rPr lang="de-DE" sz="800" b="0" i="0" u="none" strike="noStrike" kern="1200" baseline="0" dirty="0">
                          <a:solidFill>
                            <a:schemeClr val="dk1"/>
                          </a:solidFill>
                          <a:latin typeface="+mn-lt"/>
                          <a:ea typeface="+mn-ea"/>
                          <a:cs typeface="+mn-cs"/>
                        </a:rPr>
                        <a:t>ChatGLM3, Qwen, Baichuan2, Qwen-Audio</a:t>
                      </a:r>
                      <a:endParaRPr lang="de-DE" sz="800" b="0" dirty="0"/>
                    </a:p>
                  </a:txBody>
                  <a:tcPr/>
                </a:tc>
                <a:tc>
                  <a:txBody>
                    <a:bodyPr/>
                    <a:lstStyle/>
                    <a:p>
                      <a:r>
                        <a:rPr lang="de-DE" sz="800" b="0" i="0" u="none" strike="noStrike" kern="1200" baseline="0" dirty="0">
                          <a:solidFill>
                            <a:schemeClr val="dk1"/>
                          </a:solidFill>
                          <a:latin typeface="+mn-lt"/>
                          <a:ea typeface="+mn-ea"/>
                          <a:cs typeface="+mn-cs"/>
                        </a:rPr>
                        <a:t>Eigener ASR-EC benchmark bestehend aus THCHS-30, AISHELL-1, AISHELL-2, </a:t>
                      </a:r>
                      <a:r>
                        <a:rPr lang="de-DE" sz="800" b="0" i="0" u="none" strike="noStrike" kern="1200" baseline="0" dirty="0" err="1">
                          <a:solidFill>
                            <a:schemeClr val="dk1"/>
                          </a:solidFill>
                          <a:latin typeface="+mn-lt"/>
                          <a:ea typeface="+mn-ea"/>
                          <a:cs typeface="+mn-cs"/>
                        </a:rPr>
                        <a:t>WeNetSpeech</a:t>
                      </a:r>
                      <a:endParaRPr lang="de-DE" sz="800" dirty="0"/>
                    </a:p>
                  </a:txBody>
                  <a:tcPr/>
                </a:tc>
                <a:tc>
                  <a:txBody>
                    <a:bodyPr/>
                    <a:lstStyle/>
                    <a:p>
                      <a:r>
                        <a:rPr lang="de-DE" sz="800" dirty="0"/>
                        <a:t>CER, CER (%)</a:t>
                      </a:r>
                    </a:p>
                  </a:txBody>
                  <a:tcPr/>
                </a:tc>
                <a:tc>
                  <a:txBody>
                    <a:bodyPr/>
                    <a:lstStyle/>
                    <a:p>
                      <a:pPr fontAlgn="t">
                        <a:buNone/>
                      </a:pPr>
                      <a:r>
                        <a:rPr lang="de-DE" sz="800" b="0" u="sng" dirty="0">
                          <a:effectLst/>
                          <a:hlinkClick r:id="rId4"/>
                        </a:rPr>
                        <a:t>Link</a:t>
                      </a:r>
                      <a:endParaRPr lang="de-DE" sz="800" dirty="0">
                        <a:effectLst/>
                      </a:endParaRPr>
                    </a:p>
                  </a:txBody>
                  <a:tcPr marR="49530"/>
                </a:tc>
                <a:extLst>
                  <a:ext uri="{0D108BD9-81ED-4DB2-BD59-A6C34878D82A}">
                    <a16:rowId xmlns:a16="http://schemas.microsoft.com/office/drawing/2014/main" val="3303296121"/>
                  </a:ext>
                </a:extLst>
              </a:tr>
              <a:tr h="370840">
                <a:tc>
                  <a:txBody>
                    <a:bodyPr/>
                    <a:lstStyle/>
                    <a:p>
                      <a:r>
                        <a:rPr lang="de-DE" sz="800" b="0" i="0" u="none" strike="noStrike" kern="1200" baseline="0" dirty="0" err="1">
                          <a:solidFill>
                            <a:schemeClr val="dk1"/>
                          </a:solidFill>
                          <a:latin typeface="+mn-lt"/>
                          <a:ea typeface="+mn-ea"/>
                          <a:cs typeface="+mn-cs"/>
                        </a:rPr>
                        <a:t>Step</a:t>
                      </a:r>
                      <a:r>
                        <a:rPr lang="de-DE" sz="800" b="0" i="0" u="none" strike="noStrike" kern="1200" baseline="0" dirty="0">
                          <a:solidFill>
                            <a:schemeClr val="dk1"/>
                          </a:solidFill>
                          <a:latin typeface="+mn-lt"/>
                          <a:ea typeface="+mn-ea"/>
                          <a:cs typeface="+mn-cs"/>
                        </a:rPr>
                        <a:t>-Audio 2 Technical Report</a:t>
                      </a:r>
                      <a:endParaRPr lang="de-DE" sz="800" dirty="0"/>
                    </a:p>
                  </a:txBody>
                  <a:tcPr/>
                </a:tc>
                <a:tc>
                  <a:txBody>
                    <a:bodyPr/>
                    <a:lstStyle/>
                    <a:p>
                      <a:r>
                        <a:rPr lang="de-DE" sz="800" dirty="0"/>
                        <a:t>2025</a:t>
                      </a:r>
                    </a:p>
                  </a:txBody>
                  <a:tcPr/>
                </a:tc>
                <a:tc>
                  <a:txBody>
                    <a:bodyPr/>
                    <a:lstStyle/>
                    <a:p>
                      <a:r>
                        <a:rPr lang="de-DE" sz="800" b="0" i="0" u="none" strike="noStrike" kern="1200" baseline="0" dirty="0" err="1">
                          <a:solidFill>
                            <a:schemeClr val="dk1"/>
                          </a:solidFill>
                          <a:latin typeface="+mn-lt"/>
                          <a:ea typeface="+mn-ea"/>
                          <a:cs typeface="+mn-cs"/>
                        </a:rPr>
                        <a:t>Doubao</a:t>
                      </a:r>
                      <a:r>
                        <a:rPr lang="de-DE" sz="800" b="0" i="0" u="none" strike="noStrike" kern="1200" baseline="0" dirty="0">
                          <a:solidFill>
                            <a:schemeClr val="dk1"/>
                          </a:solidFill>
                          <a:latin typeface="+mn-lt"/>
                          <a:ea typeface="+mn-ea"/>
                          <a:cs typeface="+mn-cs"/>
                        </a:rPr>
                        <a:t>, GPT-4o, Kimi-</a:t>
                      </a:r>
                    </a:p>
                    <a:p>
                      <a:r>
                        <a:rPr lang="de-DE" sz="800" b="0" i="0" u="none" strike="noStrike" kern="1200" baseline="0" dirty="0">
                          <a:solidFill>
                            <a:schemeClr val="dk1"/>
                          </a:solidFill>
                          <a:latin typeface="+mn-lt"/>
                          <a:ea typeface="+mn-ea"/>
                          <a:cs typeface="+mn-cs"/>
                        </a:rPr>
                        <a:t>Audio, Qwen-</a:t>
                      </a:r>
                    </a:p>
                    <a:p>
                      <a:r>
                        <a:rPr lang="de-DE" sz="800" b="0" i="0" u="none" strike="noStrike" kern="1200" baseline="0" dirty="0" err="1">
                          <a:solidFill>
                            <a:schemeClr val="dk1"/>
                          </a:solidFill>
                          <a:latin typeface="+mn-lt"/>
                          <a:ea typeface="+mn-ea"/>
                          <a:cs typeface="+mn-cs"/>
                        </a:rPr>
                        <a:t>Omni</a:t>
                      </a:r>
                      <a:r>
                        <a:rPr lang="de-DE" sz="800" b="0" i="0" u="none" strike="noStrike" kern="1200" baseline="0" dirty="0">
                          <a:solidFill>
                            <a:schemeClr val="dk1"/>
                          </a:solidFill>
                          <a:latin typeface="+mn-lt"/>
                          <a:ea typeface="+mn-ea"/>
                          <a:cs typeface="+mn-cs"/>
                        </a:rPr>
                        <a:t>, </a:t>
                      </a:r>
                      <a:r>
                        <a:rPr lang="de-DE" sz="800" b="0" i="0" u="none" strike="noStrike" kern="1200" baseline="0" dirty="0" err="1">
                          <a:solidFill>
                            <a:schemeClr val="dk1"/>
                          </a:solidFill>
                          <a:latin typeface="+mn-lt"/>
                          <a:ea typeface="+mn-ea"/>
                          <a:cs typeface="+mn-cs"/>
                        </a:rPr>
                        <a:t>Step</a:t>
                      </a:r>
                      <a:r>
                        <a:rPr lang="de-DE" sz="800" b="0" i="0" u="none" strike="noStrike" kern="1200" baseline="0" dirty="0">
                          <a:solidFill>
                            <a:schemeClr val="dk1"/>
                          </a:solidFill>
                          <a:latin typeface="+mn-lt"/>
                          <a:ea typeface="+mn-ea"/>
                          <a:cs typeface="+mn-cs"/>
                        </a:rPr>
                        <a:t>-</a:t>
                      </a:r>
                    </a:p>
                    <a:p>
                      <a:r>
                        <a:rPr lang="de-DE" sz="800" b="0" i="0" u="none" strike="noStrike" kern="1200" baseline="0" dirty="0">
                          <a:solidFill>
                            <a:schemeClr val="dk1"/>
                          </a:solidFill>
                          <a:latin typeface="+mn-lt"/>
                          <a:ea typeface="+mn-ea"/>
                          <a:cs typeface="+mn-cs"/>
                        </a:rPr>
                        <a:t>Audio 2 </a:t>
                      </a:r>
                      <a:endParaRPr lang="de-DE" sz="800" b="0" dirty="0"/>
                    </a:p>
                  </a:txBody>
                  <a:tcPr/>
                </a:tc>
                <a:tc>
                  <a:txBody>
                    <a:bodyPr/>
                    <a:lstStyle/>
                    <a:p>
                      <a:r>
                        <a:rPr lang="de-DE" sz="800" b="0" i="0" u="none" strike="noStrike" kern="1200" baseline="0" dirty="0">
                          <a:solidFill>
                            <a:schemeClr val="dk1"/>
                          </a:solidFill>
                          <a:latin typeface="+mn-lt"/>
                          <a:ea typeface="+mn-ea"/>
                          <a:cs typeface="+mn-cs"/>
                        </a:rPr>
                        <a:t>AISHELL, AISHELL-2, FLEURS Chinese, </a:t>
                      </a:r>
                      <a:r>
                        <a:rPr lang="de-DE" sz="800" b="0" i="0" u="none" strike="noStrike" kern="1200" baseline="0" dirty="0" err="1">
                          <a:solidFill>
                            <a:schemeClr val="dk1"/>
                          </a:solidFill>
                          <a:latin typeface="+mn-lt"/>
                          <a:ea typeface="+mn-ea"/>
                          <a:cs typeface="+mn-cs"/>
                        </a:rPr>
                        <a:t>KeSpeech</a:t>
                      </a:r>
                      <a:r>
                        <a:rPr lang="de-DE" sz="800" b="0" i="0" u="none" strike="noStrike" kern="1200" baseline="0" dirty="0">
                          <a:solidFill>
                            <a:schemeClr val="dk1"/>
                          </a:solidFill>
                          <a:latin typeface="+mn-lt"/>
                          <a:ea typeface="+mn-ea"/>
                          <a:cs typeface="+mn-cs"/>
                        </a:rPr>
                        <a:t> phase1, </a:t>
                      </a:r>
                      <a:r>
                        <a:rPr lang="de-DE" sz="800" b="0" i="0" u="none" strike="noStrike" kern="1200" baseline="0" dirty="0" err="1">
                          <a:solidFill>
                            <a:schemeClr val="dk1"/>
                          </a:solidFill>
                          <a:latin typeface="+mn-lt"/>
                          <a:ea typeface="+mn-ea"/>
                          <a:cs typeface="+mn-cs"/>
                        </a:rPr>
                        <a:t>WenetSpeech</a:t>
                      </a:r>
                      <a:r>
                        <a:rPr lang="de-DE" sz="800" b="0" i="0" u="none" strike="noStrike" kern="1200" baseline="0" dirty="0">
                          <a:solidFill>
                            <a:schemeClr val="dk1"/>
                          </a:solidFill>
                          <a:latin typeface="+mn-lt"/>
                          <a:ea typeface="+mn-ea"/>
                          <a:cs typeface="+mn-cs"/>
                        </a:rPr>
                        <a:t> </a:t>
                      </a:r>
                      <a:r>
                        <a:rPr lang="de-DE" sz="800" b="0" i="0" u="none" strike="noStrike" kern="1200" baseline="0" dirty="0" err="1">
                          <a:solidFill>
                            <a:schemeClr val="dk1"/>
                          </a:solidFill>
                          <a:latin typeface="+mn-lt"/>
                          <a:ea typeface="+mn-ea"/>
                          <a:cs typeface="+mn-cs"/>
                        </a:rPr>
                        <a:t>meeting</a:t>
                      </a:r>
                      <a:r>
                        <a:rPr lang="de-DE" sz="800" b="0" i="0" u="none" strike="noStrike" kern="1200" baseline="0" dirty="0">
                          <a:solidFill>
                            <a:schemeClr val="dk1"/>
                          </a:solidFill>
                          <a:latin typeface="+mn-lt"/>
                          <a:ea typeface="+mn-ea"/>
                          <a:cs typeface="+mn-cs"/>
                        </a:rPr>
                        <a:t>, </a:t>
                      </a:r>
                      <a:r>
                        <a:rPr lang="de-DE" sz="800" b="0" i="0" u="none" strike="noStrike" kern="1200" baseline="0" dirty="0" err="1">
                          <a:solidFill>
                            <a:schemeClr val="dk1"/>
                          </a:solidFill>
                          <a:latin typeface="+mn-lt"/>
                          <a:ea typeface="+mn-ea"/>
                          <a:cs typeface="+mn-cs"/>
                        </a:rPr>
                        <a:t>WenetSpeech</a:t>
                      </a:r>
                      <a:r>
                        <a:rPr lang="de-DE" sz="800" b="0" i="0" u="none" strike="noStrike" kern="1200" baseline="0" dirty="0">
                          <a:solidFill>
                            <a:schemeClr val="dk1"/>
                          </a:solidFill>
                          <a:latin typeface="+mn-lt"/>
                          <a:ea typeface="+mn-ea"/>
                          <a:cs typeface="+mn-cs"/>
                        </a:rPr>
                        <a:t> </a:t>
                      </a:r>
                      <a:r>
                        <a:rPr lang="de-DE" sz="800" b="0" i="0" u="none" strike="noStrike" kern="1200" baseline="0" dirty="0" err="1">
                          <a:solidFill>
                            <a:schemeClr val="dk1"/>
                          </a:solidFill>
                          <a:latin typeface="+mn-lt"/>
                          <a:ea typeface="+mn-ea"/>
                          <a:cs typeface="+mn-cs"/>
                        </a:rPr>
                        <a:t>net</a:t>
                      </a:r>
                      <a:endParaRPr lang="de-DE" sz="800" dirty="0"/>
                    </a:p>
                  </a:txBody>
                  <a:tcPr/>
                </a:tc>
                <a:tc>
                  <a:txBody>
                    <a:bodyPr/>
                    <a:lstStyle/>
                    <a:p>
                      <a:r>
                        <a:rPr lang="de-DE" sz="800" dirty="0"/>
                        <a:t>WER, CER</a:t>
                      </a:r>
                    </a:p>
                  </a:txBody>
                  <a:tcPr/>
                </a:tc>
                <a:tc>
                  <a:txBody>
                    <a:bodyPr/>
                    <a:lstStyle/>
                    <a:p>
                      <a:pPr fontAlgn="t">
                        <a:buNone/>
                      </a:pPr>
                      <a:r>
                        <a:rPr lang="de-DE" sz="800" b="0" u="none" strike="noStrike" dirty="0">
                          <a:effectLst/>
                          <a:hlinkClick r:id="rId5"/>
                        </a:rPr>
                        <a:t>Link</a:t>
                      </a:r>
                      <a:endParaRPr lang="de-DE" sz="800" dirty="0">
                        <a:effectLst/>
                      </a:endParaRPr>
                    </a:p>
                  </a:txBody>
                  <a:tcPr marR="49530"/>
                </a:tc>
                <a:extLst>
                  <a:ext uri="{0D108BD9-81ED-4DB2-BD59-A6C34878D82A}">
                    <a16:rowId xmlns:a16="http://schemas.microsoft.com/office/drawing/2014/main" val="3227970371"/>
                  </a:ext>
                </a:extLst>
              </a:tr>
              <a:tr h="370840">
                <a:tc>
                  <a:txBody>
                    <a:bodyPr/>
                    <a:lstStyle/>
                    <a:p>
                      <a:r>
                        <a:rPr lang="de-DE" sz="800" b="0" i="0" u="none" strike="noStrike" kern="1200" baseline="0" dirty="0">
                          <a:solidFill>
                            <a:schemeClr val="dk1"/>
                          </a:solidFill>
                          <a:latin typeface="+mn-lt"/>
                          <a:ea typeface="+mn-ea"/>
                          <a:cs typeface="+mn-cs"/>
                        </a:rPr>
                        <a:t>Qwen3-ASR Technical Report</a:t>
                      </a:r>
                      <a:endParaRPr lang="de-DE" sz="800" b="0" dirty="0"/>
                    </a:p>
                  </a:txBody>
                  <a:tcPr/>
                </a:tc>
                <a:tc>
                  <a:txBody>
                    <a:bodyPr/>
                    <a:lstStyle/>
                    <a:p>
                      <a:r>
                        <a:rPr lang="de-DE" sz="800" b="0" dirty="0"/>
                        <a:t>2026</a:t>
                      </a:r>
                    </a:p>
                  </a:txBody>
                  <a:tcPr/>
                </a:tc>
                <a:tc>
                  <a:txBody>
                    <a:bodyPr/>
                    <a:lstStyle/>
                    <a:p>
                      <a:r>
                        <a:rPr lang="de-DE" sz="800" b="0" i="0" u="none" strike="noStrike" kern="1200" baseline="0" dirty="0">
                          <a:solidFill>
                            <a:schemeClr val="dk1"/>
                          </a:solidFill>
                          <a:latin typeface="+mn-lt"/>
                          <a:ea typeface="+mn-ea"/>
                          <a:cs typeface="+mn-cs"/>
                        </a:rPr>
                        <a:t>GPT-4o, Gemini-2.5, </a:t>
                      </a:r>
                      <a:r>
                        <a:rPr lang="de-DE" sz="800" b="0" i="0" u="none" strike="noStrike" kern="1200" baseline="0" dirty="0" err="1">
                          <a:solidFill>
                            <a:schemeClr val="dk1"/>
                          </a:solidFill>
                          <a:latin typeface="+mn-lt"/>
                          <a:ea typeface="+mn-ea"/>
                          <a:cs typeface="+mn-cs"/>
                        </a:rPr>
                        <a:t>Doubao</a:t>
                      </a:r>
                      <a:r>
                        <a:rPr lang="de-DE" sz="800" b="0" i="0" u="none" strike="noStrike" kern="1200" baseline="0" dirty="0">
                          <a:solidFill>
                            <a:schemeClr val="dk1"/>
                          </a:solidFill>
                          <a:latin typeface="+mn-lt"/>
                          <a:ea typeface="+mn-ea"/>
                          <a:cs typeface="+mn-cs"/>
                        </a:rPr>
                        <a:t>-ASR, Whisper</a:t>
                      </a:r>
                    </a:p>
                    <a:p>
                      <a:r>
                        <a:rPr lang="de-DE" sz="800" b="0" i="0" u="none" strike="noStrike" kern="1200" baseline="0" dirty="0">
                          <a:solidFill>
                            <a:schemeClr val="dk1"/>
                          </a:solidFill>
                          <a:latin typeface="+mn-lt"/>
                          <a:ea typeface="+mn-ea"/>
                          <a:cs typeface="+mn-cs"/>
                        </a:rPr>
                        <a:t>-large-v3, Fun-ASR</a:t>
                      </a:r>
                    </a:p>
                    <a:p>
                      <a:r>
                        <a:rPr lang="de-DE" sz="800" b="0" i="0" u="none" strike="noStrike" kern="1200" baseline="0" dirty="0">
                          <a:solidFill>
                            <a:schemeClr val="dk1"/>
                          </a:solidFill>
                          <a:latin typeface="+mn-lt"/>
                          <a:ea typeface="+mn-ea"/>
                          <a:cs typeface="+mn-cs"/>
                        </a:rPr>
                        <a:t>-MLT-Nano, Qwen3-ASR</a:t>
                      </a:r>
                      <a:endParaRPr lang="de-DE" sz="800" b="0" dirty="0"/>
                    </a:p>
                  </a:txBody>
                  <a:tcPr/>
                </a:tc>
                <a:tc>
                  <a:txBody>
                    <a:bodyPr/>
                    <a:lstStyle/>
                    <a:p>
                      <a:r>
                        <a:rPr lang="de-DE" sz="800" b="0" i="0" u="none" strike="noStrike" kern="1200" baseline="0" dirty="0" err="1">
                          <a:solidFill>
                            <a:schemeClr val="dk1"/>
                          </a:solidFill>
                          <a:latin typeface="+mn-lt"/>
                          <a:ea typeface="+mn-ea"/>
                          <a:cs typeface="+mn-cs"/>
                        </a:rPr>
                        <a:t>WenetSpeech</a:t>
                      </a:r>
                      <a:r>
                        <a:rPr lang="de-DE" sz="800" b="0" i="0" u="none" strike="noStrike" kern="1200" baseline="0" dirty="0">
                          <a:solidFill>
                            <a:schemeClr val="dk1"/>
                          </a:solidFill>
                          <a:latin typeface="+mn-lt"/>
                          <a:ea typeface="+mn-ea"/>
                          <a:cs typeface="+mn-cs"/>
                        </a:rPr>
                        <a:t> </a:t>
                      </a:r>
                      <a:r>
                        <a:rPr lang="de-DE" sz="800" b="0" i="0" u="none" strike="noStrike" kern="1200" baseline="0" dirty="0" err="1">
                          <a:solidFill>
                            <a:schemeClr val="dk1"/>
                          </a:solidFill>
                          <a:latin typeface="+mn-lt"/>
                          <a:ea typeface="+mn-ea"/>
                          <a:cs typeface="+mn-cs"/>
                        </a:rPr>
                        <a:t>net</a:t>
                      </a:r>
                      <a:r>
                        <a:rPr lang="de-DE" sz="800" b="0" i="0" u="none" strike="noStrike" kern="1200" baseline="0" dirty="0">
                          <a:solidFill>
                            <a:schemeClr val="dk1"/>
                          </a:solidFill>
                          <a:latin typeface="+mn-lt"/>
                          <a:ea typeface="+mn-ea"/>
                          <a:cs typeface="+mn-cs"/>
                        </a:rPr>
                        <a:t>/</a:t>
                      </a:r>
                      <a:r>
                        <a:rPr lang="de-DE" sz="800" b="0" i="0" u="none" strike="noStrike" kern="1200" baseline="0" dirty="0" err="1">
                          <a:solidFill>
                            <a:schemeClr val="dk1"/>
                          </a:solidFill>
                          <a:latin typeface="+mn-lt"/>
                          <a:ea typeface="+mn-ea"/>
                          <a:cs typeface="+mn-cs"/>
                        </a:rPr>
                        <a:t>meeting</a:t>
                      </a:r>
                      <a:r>
                        <a:rPr lang="de-DE" sz="800" b="0" i="0" u="none" strike="noStrike" kern="1200" baseline="0" dirty="0">
                          <a:solidFill>
                            <a:schemeClr val="dk1"/>
                          </a:solidFill>
                          <a:latin typeface="+mn-lt"/>
                          <a:ea typeface="+mn-ea"/>
                          <a:cs typeface="+mn-cs"/>
                        </a:rPr>
                        <a:t>, AISHELL-2-test, </a:t>
                      </a:r>
                      <a:r>
                        <a:rPr lang="de-DE" sz="800" b="0" i="0" u="none" strike="noStrike" kern="1200" baseline="0" dirty="0" err="1">
                          <a:solidFill>
                            <a:schemeClr val="dk1"/>
                          </a:solidFill>
                          <a:latin typeface="+mn-lt"/>
                          <a:ea typeface="+mn-ea"/>
                          <a:cs typeface="+mn-cs"/>
                        </a:rPr>
                        <a:t>SpeechIO</a:t>
                      </a:r>
                      <a:r>
                        <a:rPr lang="de-DE" sz="800" b="0" i="0" u="none" strike="noStrike" kern="1200" baseline="0" dirty="0">
                          <a:solidFill>
                            <a:schemeClr val="dk1"/>
                          </a:solidFill>
                          <a:latin typeface="+mn-lt"/>
                          <a:ea typeface="+mn-ea"/>
                          <a:cs typeface="+mn-cs"/>
                        </a:rPr>
                        <a:t>, Fleurs-</a:t>
                      </a:r>
                      <a:r>
                        <a:rPr lang="de-DE" sz="800" b="0" i="0" u="none" strike="noStrike" kern="1200" baseline="0" dirty="0" err="1">
                          <a:solidFill>
                            <a:schemeClr val="dk1"/>
                          </a:solidFill>
                          <a:latin typeface="+mn-lt"/>
                          <a:ea typeface="+mn-ea"/>
                          <a:cs typeface="+mn-cs"/>
                        </a:rPr>
                        <a:t>zh</a:t>
                      </a:r>
                      <a:r>
                        <a:rPr lang="de-DE" sz="800" b="0" i="0" u="none" strike="noStrike" kern="1200" baseline="0" dirty="0">
                          <a:solidFill>
                            <a:schemeClr val="dk1"/>
                          </a:solidFill>
                          <a:latin typeface="+mn-lt"/>
                          <a:ea typeface="+mn-ea"/>
                          <a:cs typeface="+mn-cs"/>
                        </a:rPr>
                        <a:t>, CV-</a:t>
                      </a:r>
                      <a:r>
                        <a:rPr lang="de-DE" sz="800" b="0" i="0" u="none" strike="noStrike" kern="1200" baseline="0" dirty="0" err="1">
                          <a:solidFill>
                            <a:schemeClr val="dk1"/>
                          </a:solidFill>
                          <a:latin typeface="+mn-lt"/>
                          <a:ea typeface="+mn-ea"/>
                          <a:cs typeface="+mn-cs"/>
                        </a:rPr>
                        <a:t>zh</a:t>
                      </a:r>
                      <a:endParaRPr lang="de-DE" sz="800" b="0" dirty="0"/>
                    </a:p>
                  </a:txBody>
                  <a:tcPr/>
                </a:tc>
                <a:tc>
                  <a:txBody>
                    <a:bodyPr/>
                    <a:lstStyle/>
                    <a:p>
                      <a:r>
                        <a:rPr lang="de-DE" sz="800" b="0" i="0" u="none" strike="noStrike" kern="1200" baseline="0" dirty="0">
                          <a:solidFill>
                            <a:schemeClr val="dk1"/>
                          </a:solidFill>
                          <a:latin typeface="+mn-lt"/>
                          <a:ea typeface="+mn-ea"/>
                          <a:cs typeface="+mn-cs"/>
                        </a:rPr>
                        <a:t>WER (English), CER (Chinese)</a:t>
                      </a:r>
                      <a:endParaRPr lang="de-DE" sz="800" b="0" dirty="0"/>
                    </a:p>
                  </a:txBody>
                  <a:tcPr/>
                </a:tc>
                <a:tc>
                  <a:txBody>
                    <a:bodyPr/>
                    <a:lstStyle/>
                    <a:p>
                      <a:pPr fontAlgn="t">
                        <a:buNone/>
                      </a:pPr>
                      <a:r>
                        <a:rPr lang="de-DE" sz="800" b="0" dirty="0">
                          <a:hlinkClick r:id="rId6"/>
                        </a:rPr>
                        <a:t>Link</a:t>
                      </a:r>
                      <a:endParaRPr lang="de-DE" sz="800" b="0" dirty="0">
                        <a:effectLst/>
                      </a:endParaRPr>
                    </a:p>
                  </a:txBody>
                  <a:tcPr marR="49530"/>
                </a:tc>
                <a:extLst>
                  <a:ext uri="{0D108BD9-81ED-4DB2-BD59-A6C34878D82A}">
                    <a16:rowId xmlns:a16="http://schemas.microsoft.com/office/drawing/2014/main" val="3708906293"/>
                  </a:ext>
                </a:extLst>
              </a:tr>
              <a:tr h="370840">
                <a:tc>
                  <a:txBody>
                    <a:bodyPr/>
                    <a:lstStyle/>
                    <a:p>
                      <a:r>
                        <a:rPr lang="de-DE" sz="800" dirty="0"/>
                        <a:t>A Survey on Speech Large Language Models </a:t>
                      </a:r>
                      <a:r>
                        <a:rPr lang="de-DE" sz="800" dirty="0" err="1"/>
                        <a:t>for</a:t>
                      </a:r>
                      <a:r>
                        <a:rPr lang="de-DE" sz="800" dirty="0"/>
                        <a:t> Understanding</a:t>
                      </a:r>
                      <a:endParaRPr lang="de-DE" sz="800" b="0" dirty="0"/>
                    </a:p>
                  </a:txBody>
                  <a:tcPr/>
                </a:tc>
                <a:tc>
                  <a:txBody>
                    <a:bodyPr/>
                    <a:lstStyle/>
                    <a:p>
                      <a:r>
                        <a:rPr lang="de-DE" sz="800" b="0" dirty="0"/>
                        <a:t>2025</a:t>
                      </a:r>
                    </a:p>
                  </a:txBody>
                  <a:tcPr/>
                </a:tc>
                <a:tc>
                  <a:txBody>
                    <a:bodyPr/>
                    <a:lstStyle/>
                    <a:p>
                      <a:r>
                        <a:rPr lang="de-DE" sz="800" dirty="0"/>
                        <a:t>SALMONN, Qwen2.5-Omni, Qwen-Audio, Qwen2-Audio, Kimi-Audio, </a:t>
                      </a:r>
                      <a:r>
                        <a:rPr lang="de-DE" sz="800" dirty="0" err="1"/>
                        <a:t>Baichuan</a:t>
                      </a:r>
                      <a:r>
                        <a:rPr lang="de-DE" sz="800" dirty="0"/>
                        <a:t>-Audio, OSUM</a:t>
                      </a:r>
                      <a:endParaRPr lang="de-DE" sz="800" b="0" dirty="0"/>
                    </a:p>
                  </a:txBody>
                  <a:tcPr/>
                </a:tc>
                <a:tc>
                  <a:txBody>
                    <a:bodyPr/>
                    <a:lstStyle/>
                    <a:p>
                      <a:r>
                        <a:rPr lang="de-DE" sz="800" dirty="0"/>
                        <a:t>Aishell1, Aishell2, Aishell3, </a:t>
                      </a:r>
                      <a:r>
                        <a:rPr lang="de-DE" sz="800" dirty="0" err="1"/>
                        <a:t>LibriSpeech</a:t>
                      </a:r>
                      <a:r>
                        <a:rPr lang="de-DE" sz="800" dirty="0"/>
                        <a:t> (English), …</a:t>
                      </a:r>
                      <a:endParaRPr lang="de-DE" sz="800" b="0" dirty="0"/>
                    </a:p>
                  </a:txBody>
                  <a:tcPr/>
                </a:tc>
                <a:tc>
                  <a:txBody>
                    <a:bodyPr/>
                    <a:lstStyle/>
                    <a:p>
                      <a:r>
                        <a:rPr lang="de-DE" sz="800" b="0" dirty="0"/>
                        <a:t>WER, CER, MER, RPS</a:t>
                      </a:r>
                    </a:p>
                    <a:p>
                      <a:r>
                        <a:rPr lang="de-DE" sz="800" b="0" dirty="0"/>
                        <a:t>Kommentar: Nicht explizit Chinesisch</a:t>
                      </a:r>
                    </a:p>
                  </a:txBody>
                  <a:tcPr/>
                </a:tc>
                <a:tc>
                  <a:txBody>
                    <a:bodyPr/>
                    <a:lstStyle/>
                    <a:p>
                      <a:pPr fontAlgn="t">
                        <a:buNone/>
                      </a:pPr>
                      <a:r>
                        <a:rPr lang="de-DE" sz="800" dirty="0">
                          <a:hlinkClick r:id="rId7"/>
                        </a:rPr>
                        <a:t>Link</a:t>
                      </a:r>
                      <a:endParaRPr lang="de-DE" sz="800" b="0" dirty="0">
                        <a:effectLst/>
                      </a:endParaRPr>
                    </a:p>
                  </a:txBody>
                  <a:tcPr marR="49530"/>
                </a:tc>
                <a:extLst>
                  <a:ext uri="{0D108BD9-81ED-4DB2-BD59-A6C34878D82A}">
                    <a16:rowId xmlns:a16="http://schemas.microsoft.com/office/drawing/2014/main" val="3486176064"/>
                  </a:ext>
                </a:extLst>
              </a:tr>
              <a:tr h="370840">
                <a:tc>
                  <a:txBody>
                    <a:bodyPr/>
                    <a:lstStyle/>
                    <a:p>
                      <a:r>
                        <a:rPr lang="de-DE" sz="800" dirty="0"/>
                        <a:t>FireRedASR2S: A State-</a:t>
                      </a:r>
                      <a:r>
                        <a:rPr lang="de-DE" sz="800" dirty="0" err="1"/>
                        <a:t>of</a:t>
                      </a:r>
                      <a:r>
                        <a:rPr lang="de-DE" sz="800" dirty="0"/>
                        <a:t>-</a:t>
                      </a:r>
                      <a:r>
                        <a:rPr lang="de-DE" sz="800" dirty="0" err="1"/>
                        <a:t>the</a:t>
                      </a:r>
                      <a:r>
                        <a:rPr lang="de-DE" sz="800" dirty="0"/>
                        <a:t>-Art Industrial-Grade All-in-</a:t>
                      </a:r>
                      <a:r>
                        <a:rPr lang="de-DE" sz="800" dirty="0" err="1"/>
                        <a:t>One</a:t>
                      </a:r>
                      <a:r>
                        <a:rPr lang="de-DE" sz="800" dirty="0"/>
                        <a:t> </a:t>
                      </a:r>
                      <a:r>
                        <a:rPr lang="de-DE" sz="800" dirty="0" err="1"/>
                        <a:t>Automatic</a:t>
                      </a:r>
                      <a:r>
                        <a:rPr lang="de-DE" sz="800" dirty="0"/>
                        <a:t> Speech Recognition System</a:t>
                      </a:r>
                      <a:endParaRPr lang="de-DE" sz="800" b="0" dirty="0"/>
                    </a:p>
                  </a:txBody>
                  <a:tcPr/>
                </a:tc>
                <a:tc>
                  <a:txBody>
                    <a:bodyPr/>
                    <a:lstStyle/>
                    <a:p>
                      <a:r>
                        <a:rPr lang="de-DE" sz="800" b="0" dirty="0"/>
                        <a:t>2026</a:t>
                      </a:r>
                    </a:p>
                  </a:txBody>
                  <a:tcPr/>
                </a:tc>
                <a:tc>
                  <a:txBody>
                    <a:bodyPr/>
                    <a:lstStyle/>
                    <a:p>
                      <a:r>
                        <a:rPr lang="de-DE" sz="800" b="0" dirty="0" err="1"/>
                        <a:t>Doubao</a:t>
                      </a:r>
                      <a:r>
                        <a:rPr lang="de-DE" sz="800" b="0" dirty="0"/>
                        <a:t>-ASR, Qwen3-ASR, FUN-ASR</a:t>
                      </a:r>
                    </a:p>
                  </a:txBody>
                  <a:tcPr/>
                </a:tc>
                <a:tc>
                  <a:txBody>
                    <a:bodyPr/>
                    <a:lstStyle/>
                    <a:p>
                      <a:r>
                        <a:rPr lang="de-DE" sz="800" dirty="0"/>
                        <a:t>Aishell1, aishell2, </a:t>
                      </a:r>
                      <a:r>
                        <a:rPr lang="de-DE" sz="800" dirty="0" err="1"/>
                        <a:t>ws-net</a:t>
                      </a:r>
                      <a:r>
                        <a:rPr lang="de-DE" sz="800" dirty="0"/>
                        <a:t>, </a:t>
                      </a:r>
                      <a:r>
                        <a:rPr lang="de-DE" sz="800" dirty="0" err="1"/>
                        <a:t>ws</a:t>
                      </a:r>
                      <a:r>
                        <a:rPr lang="de-DE" sz="800" dirty="0"/>
                        <a:t>-meeting</a:t>
                      </a:r>
                      <a:endParaRPr lang="de-DE" sz="800" b="0" dirty="0"/>
                    </a:p>
                  </a:txBody>
                  <a:tcPr/>
                </a:tc>
                <a:tc>
                  <a:txBody>
                    <a:bodyPr/>
                    <a:lstStyle/>
                    <a:p>
                      <a:r>
                        <a:rPr lang="de-DE" sz="800" b="0" dirty="0"/>
                        <a:t>CER</a:t>
                      </a:r>
                    </a:p>
                  </a:txBody>
                  <a:tcPr/>
                </a:tc>
                <a:tc>
                  <a:txBody>
                    <a:bodyPr/>
                    <a:lstStyle/>
                    <a:p>
                      <a:pPr fontAlgn="t">
                        <a:buNone/>
                      </a:pPr>
                      <a:r>
                        <a:rPr lang="de-DE" sz="800" dirty="0">
                          <a:hlinkClick r:id="rId8"/>
                        </a:rPr>
                        <a:t>Link</a:t>
                      </a:r>
                      <a:endParaRPr lang="de-DE" sz="800" b="0" dirty="0">
                        <a:effectLst/>
                      </a:endParaRPr>
                    </a:p>
                  </a:txBody>
                  <a:tcPr marR="49530"/>
                </a:tc>
                <a:extLst>
                  <a:ext uri="{0D108BD9-81ED-4DB2-BD59-A6C34878D82A}">
                    <a16:rowId xmlns:a16="http://schemas.microsoft.com/office/drawing/2014/main" val="175701876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800" b="0" i="0" kern="1200" dirty="0">
                          <a:solidFill>
                            <a:schemeClr val="dk1"/>
                          </a:solidFill>
                          <a:effectLst/>
                          <a:latin typeface="+mn-lt"/>
                          <a:ea typeface="+mn-ea"/>
                          <a:cs typeface="+mn-cs"/>
                        </a:rPr>
                        <a:t>Seed-ASR: Understanding Diverse Speech and </a:t>
                      </a:r>
                      <a:r>
                        <a:rPr lang="de-DE" sz="800" b="0" i="0" kern="1200" dirty="0" err="1">
                          <a:solidFill>
                            <a:schemeClr val="dk1"/>
                          </a:solidFill>
                          <a:effectLst/>
                          <a:latin typeface="+mn-lt"/>
                          <a:ea typeface="+mn-ea"/>
                          <a:cs typeface="+mn-cs"/>
                        </a:rPr>
                        <a:t>Contexts</a:t>
                      </a:r>
                      <a:r>
                        <a:rPr lang="de-DE" sz="800" b="0" i="0" kern="1200" dirty="0">
                          <a:solidFill>
                            <a:schemeClr val="dk1"/>
                          </a:solidFill>
                          <a:effectLst/>
                          <a:latin typeface="+mn-lt"/>
                          <a:ea typeface="+mn-ea"/>
                          <a:cs typeface="+mn-cs"/>
                        </a:rPr>
                        <a:t> </a:t>
                      </a:r>
                      <a:r>
                        <a:rPr lang="de-DE" sz="800" b="0" i="0" kern="1200" dirty="0" err="1">
                          <a:solidFill>
                            <a:schemeClr val="dk1"/>
                          </a:solidFill>
                          <a:effectLst/>
                          <a:latin typeface="+mn-lt"/>
                          <a:ea typeface="+mn-ea"/>
                          <a:cs typeface="+mn-cs"/>
                        </a:rPr>
                        <a:t>with</a:t>
                      </a:r>
                      <a:r>
                        <a:rPr lang="de-DE" sz="800" b="0" i="0" kern="1200" dirty="0">
                          <a:solidFill>
                            <a:schemeClr val="dk1"/>
                          </a:solidFill>
                          <a:effectLst/>
                          <a:latin typeface="+mn-lt"/>
                          <a:ea typeface="+mn-ea"/>
                          <a:cs typeface="+mn-cs"/>
                        </a:rPr>
                        <a:t> LLM-</a:t>
                      </a:r>
                      <a:r>
                        <a:rPr lang="de-DE" sz="800" b="0" i="0" kern="1200" dirty="0" err="1">
                          <a:solidFill>
                            <a:schemeClr val="dk1"/>
                          </a:solidFill>
                          <a:effectLst/>
                          <a:latin typeface="+mn-lt"/>
                          <a:ea typeface="+mn-ea"/>
                          <a:cs typeface="+mn-cs"/>
                        </a:rPr>
                        <a:t>based</a:t>
                      </a:r>
                      <a:r>
                        <a:rPr lang="de-DE" sz="800" b="0" i="0" kern="1200" dirty="0">
                          <a:solidFill>
                            <a:schemeClr val="dk1"/>
                          </a:solidFill>
                          <a:effectLst/>
                          <a:latin typeface="+mn-lt"/>
                          <a:ea typeface="+mn-ea"/>
                          <a:cs typeface="+mn-cs"/>
                        </a:rPr>
                        <a:t> Speech Recognition</a:t>
                      </a:r>
                    </a:p>
                    <a:p>
                      <a:endParaRPr lang="de-DE" sz="800" b="0" dirty="0"/>
                    </a:p>
                  </a:txBody>
                  <a:tcPr/>
                </a:tc>
                <a:tc>
                  <a:txBody>
                    <a:bodyPr/>
                    <a:lstStyle/>
                    <a:p>
                      <a:r>
                        <a:rPr lang="de-DE" sz="800" b="0" dirty="0"/>
                        <a:t>2024</a:t>
                      </a:r>
                    </a:p>
                  </a:txBody>
                  <a:tcPr/>
                </a:tc>
                <a:tc>
                  <a:txBody>
                    <a:bodyPr/>
                    <a:lstStyle/>
                    <a:p>
                      <a:r>
                        <a:rPr lang="de-DE" sz="800" dirty="0"/>
                        <a:t>Paraformer-large, Qwen-Audio, Hubert+Baichuan2, Seed-ASR</a:t>
                      </a:r>
                      <a:endParaRPr lang="de-DE" sz="800" b="0" dirty="0"/>
                    </a:p>
                  </a:txBody>
                  <a:tcPr/>
                </a:tc>
                <a:tc>
                  <a:txBody>
                    <a:bodyPr/>
                    <a:lstStyle/>
                    <a:p>
                      <a:r>
                        <a:rPr lang="de-DE" sz="800" b="0" dirty="0"/>
                        <a:t>a</a:t>
                      </a:r>
                      <a:r>
                        <a:rPr lang="de-DE" sz="800" dirty="0"/>
                        <a:t>ishell1_test aishell2_andriod aishell2_ios aishell2_mic </a:t>
                      </a:r>
                      <a:r>
                        <a:rPr lang="de-DE" sz="800" dirty="0" err="1"/>
                        <a:t>wenetspeech_testnet</a:t>
                      </a:r>
                      <a:r>
                        <a:rPr lang="de-DE" sz="800" dirty="0"/>
                        <a:t> </a:t>
                      </a:r>
                      <a:r>
                        <a:rPr lang="de-DE" sz="800" dirty="0" err="1"/>
                        <a:t>wenetspeech_testmeeting</a:t>
                      </a:r>
                      <a:endParaRPr lang="de-DE" sz="800" b="0" dirty="0"/>
                    </a:p>
                  </a:txBody>
                  <a:tcPr/>
                </a:tc>
                <a:tc>
                  <a:txBody>
                    <a:bodyPr/>
                    <a:lstStyle/>
                    <a:p>
                      <a:r>
                        <a:rPr lang="de-DE" sz="800" b="0" dirty="0"/>
                        <a:t>WER, WWER, MWER</a:t>
                      </a:r>
                    </a:p>
                  </a:txBody>
                  <a:tcPr/>
                </a:tc>
                <a:tc>
                  <a:txBody>
                    <a:bodyPr/>
                    <a:lstStyle/>
                    <a:p>
                      <a:pPr fontAlgn="t">
                        <a:buNone/>
                      </a:pPr>
                      <a:r>
                        <a:rPr lang="de-DE" sz="800" dirty="0">
                          <a:hlinkClick r:id="rId9"/>
                        </a:rPr>
                        <a:t>Link</a:t>
                      </a:r>
                      <a:endParaRPr lang="de-DE" sz="800" b="0" dirty="0">
                        <a:effectLst/>
                      </a:endParaRPr>
                    </a:p>
                  </a:txBody>
                  <a:tcPr marR="49530"/>
                </a:tc>
                <a:extLst>
                  <a:ext uri="{0D108BD9-81ED-4DB2-BD59-A6C34878D82A}">
                    <a16:rowId xmlns:a16="http://schemas.microsoft.com/office/drawing/2014/main" val="168304346"/>
                  </a:ext>
                </a:extLst>
              </a:tr>
              <a:tr h="370840">
                <a:tc>
                  <a:txBody>
                    <a:bodyPr/>
                    <a:lstStyle/>
                    <a:p>
                      <a:r>
                        <a:rPr lang="de-DE" sz="800" dirty="0"/>
                        <a:t>Kimi-Audio Technical Report</a:t>
                      </a:r>
                      <a:endParaRPr lang="de-DE" sz="800" b="0" dirty="0"/>
                    </a:p>
                  </a:txBody>
                  <a:tcPr/>
                </a:tc>
                <a:tc>
                  <a:txBody>
                    <a:bodyPr/>
                    <a:lstStyle/>
                    <a:p>
                      <a:r>
                        <a:rPr lang="de-DE" sz="800" b="0" dirty="0"/>
                        <a:t>2025</a:t>
                      </a:r>
                    </a:p>
                  </a:txBody>
                  <a:tcPr/>
                </a:tc>
                <a:tc>
                  <a:txBody>
                    <a:bodyPr/>
                    <a:lstStyle/>
                    <a:p>
                      <a:r>
                        <a:rPr lang="de-DE" sz="800" dirty="0"/>
                        <a:t>Qwen2-Audio, </a:t>
                      </a:r>
                      <a:r>
                        <a:rPr lang="de-DE" sz="800" dirty="0" err="1"/>
                        <a:t>Baichuan</a:t>
                      </a:r>
                      <a:r>
                        <a:rPr lang="de-DE" sz="800" dirty="0"/>
                        <a:t>-Audio, </a:t>
                      </a:r>
                      <a:r>
                        <a:rPr lang="de-DE" sz="800" dirty="0" err="1"/>
                        <a:t>Step</a:t>
                      </a:r>
                      <a:r>
                        <a:rPr lang="de-DE" sz="800" dirty="0"/>
                        <a:t>-Audio, Qwen2.5-Omni, Kimi-Audio</a:t>
                      </a:r>
                      <a:endParaRPr lang="de-DE" sz="800" b="0" dirty="0"/>
                    </a:p>
                  </a:txBody>
                  <a:tcPr/>
                </a:tc>
                <a:tc>
                  <a:txBody>
                    <a:bodyPr/>
                    <a:lstStyle/>
                    <a:p>
                      <a:r>
                        <a:rPr lang="de-DE" sz="800" dirty="0" err="1"/>
                        <a:t>LibriSpeech</a:t>
                      </a:r>
                      <a:r>
                        <a:rPr lang="de-DE" sz="800" dirty="0"/>
                        <a:t>, Fleurs, AISHELL-1, AISHELL-2, </a:t>
                      </a:r>
                      <a:r>
                        <a:rPr lang="de-DE" sz="800" dirty="0" err="1"/>
                        <a:t>WenetSpeech</a:t>
                      </a:r>
                      <a:r>
                        <a:rPr lang="de-DE" sz="800" dirty="0"/>
                        <a:t>, Kimi-</a:t>
                      </a:r>
                      <a:r>
                        <a:rPr lang="de-DE" sz="800" dirty="0" err="1"/>
                        <a:t>ASRInternalTestset</a:t>
                      </a:r>
                      <a:endParaRPr lang="de-DE" sz="800" b="0" dirty="0"/>
                    </a:p>
                  </a:txBody>
                  <a:tcPr/>
                </a:tc>
                <a:tc>
                  <a:txBody>
                    <a:bodyPr/>
                    <a:lstStyle/>
                    <a:p>
                      <a:r>
                        <a:rPr lang="de-DE" sz="800" b="0" dirty="0"/>
                        <a:t>WER</a:t>
                      </a:r>
                    </a:p>
                  </a:txBody>
                  <a:tcPr/>
                </a:tc>
                <a:tc>
                  <a:txBody>
                    <a:bodyPr/>
                    <a:lstStyle/>
                    <a:p>
                      <a:pPr fontAlgn="t">
                        <a:buNone/>
                      </a:pPr>
                      <a:r>
                        <a:rPr lang="de-DE" sz="800" dirty="0">
                          <a:hlinkClick r:id="rId10"/>
                        </a:rPr>
                        <a:t>Link</a:t>
                      </a:r>
                      <a:endParaRPr lang="de-DE" sz="800" b="0" dirty="0">
                        <a:effectLst/>
                      </a:endParaRPr>
                    </a:p>
                  </a:txBody>
                  <a:tcPr marR="49530"/>
                </a:tc>
                <a:extLst>
                  <a:ext uri="{0D108BD9-81ED-4DB2-BD59-A6C34878D82A}">
                    <a16:rowId xmlns:a16="http://schemas.microsoft.com/office/drawing/2014/main" val="4231429720"/>
                  </a:ext>
                </a:extLst>
              </a:tr>
            </a:tbl>
          </a:graphicData>
        </a:graphic>
      </p:graphicFrame>
    </p:spTree>
    <p:extLst>
      <p:ext uri="{BB962C8B-B14F-4D97-AF65-F5344CB8AC3E}">
        <p14:creationId xmlns:p14="http://schemas.microsoft.com/office/powerpoint/2010/main" val="2145933737"/>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8A9B63-FEAF-00ED-E443-F991B7E40F62}"/>
              </a:ext>
            </a:extLst>
          </p:cNvPr>
          <p:cNvSpPr>
            <a:spLocks noGrp="1"/>
          </p:cNvSpPr>
          <p:nvPr>
            <p:ph type="title"/>
          </p:nvPr>
        </p:nvSpPr>
        <p:spPr/>
        <p:txBody>
          <a:bodyPr/>
          <a:lstStyle/>
          <a:p>
            <a:r>
              <a:rPr lang="de-DE" dirty="0"/>
              <a:t>Vergleich für ASR im Chinesischen auf </a:t>
            </a:r>
            <a:r>
              <a:rPr lang="de-DE" dirty="0" err="1"/>
              <a:t>Phonemebene</a:t>
            </a:r>
            <a:endParaRPr lang="de-DE" dirty="0"/>
          </a:p>
        </p:txBody>
      </p:sp>
      <p:sp>
        <p:nvSpPr>
          <p:cNvPr id="3" name="Content Placeholder 2">
            <a:extLst>
              <a:ext uri="{FF2B5EF4-FFF2-40B4-BE49-F238E27FC236}">
                <a16:creationId xmlns:a16="http://schemas.microsoft.com/office/drawing/2014/main" id="{5C866C49-93E7-8998-3282-25497BE13FC9}"/>
              </a:ext>
            </a:extLst>
          </p:cNvPr>
          <p:cNvSpPr>
            <a:spLocks noGrp="1"/>
          </p:cNvSpPr>
          <p:nvPr>
            <p:ph idx="1"/>
          </p:nvPr>
        </p:nvSpPr>
        <p:spPr/>
        <p:txBody>
          <a:bodyPr/>
          <a:lstStyle/>
          <a:p>
            <a:endParaRPr lang="de-DE" dirty="0"/>
          </a:p>
        </p:txBody>
      </p:sp>
      <p:graphicFrame>
        <p:nvGraphicFramePr>
          <p:cNvPr id="4" name="Content Placeholder 3">
            <a:extLst>
              <a:ext uri="{FF2B5EF4-FFF2-40B4-BE49-F238E27FC236}">
                <a16:creationId xmlns:a16="http://schemas.microsoft.com/office/drawing/2014/main" id="{3B6A8169-0FED-FD82-8255-64A9CD7466ED}"/>
              </a:ext>
            </a:extLst>
          </p:cNvPr>
          <p:cNvGraphicFramePr>
            <a:graphicFrameLocks/>
          </p:cNvGraphicFramePr>
          <p:nvPr>
            <p:extLst>
              <p:ext uri="{D42A27DB-BD31-4B8C-83A1-F6EECF244321}">
                <p14:modId xmlns:p14="http://schemas.microsoft.com/office/powerpoint/2010/main" val="3328478742"/>
              </p:ext>
            </p:extLst>
          </p:nvPr>
        </p:nvGraphicFramePr>
        <p:xfrm>
          <a:off x="838199" y="1825625"/>
          <a:ext cx="10798627" cy="2626360"/>
        </p:xfrm>
        <a:graphic>
          <a:graphicData uri="http://schemas.openxmlformats.org/drawingml/2006/table">
            <a:tbl>
              <a:tblPr firstRow="1" bandRow="1">
                <a:tableStyleId>{5C22544A-7EE6-4342-B048-85BDC9FD1C3A}</a:tableStyleId>
              </a:tblPr>
              <a:tblGrid>
                <a:gridCol w="2921369">
                  <a:extLst>
                    <a:ext uri="{9D8B030D-6E8A-4147-A177-3AD203B41FA5}">
                      <a16:colId xmlns:a16="http://schemas.microsoft.com/office/drawing/2014/main" val="2891188440"/>
                    </a:ext>
                  </a:extLst>
                </a:gridCol>
                <a:gridCol w="678174">
                  <a:extLst>
                    <a:ext uri="{9D8B030D-6E8A-4147-A177-3AD203B41FA5}">
                      <a16:colId xmlns:a16="http://schemas.microsoft.com/office/drawing/2014/main" val="1549689849"/>
                    </a:ext>
                  </a:extLst>
                </a:gridCol>
                <a:gridCol w="1799771">
                  <a:extLst>
                    <a:ext uri="{9D8B030D-6E8A-4147-A177-3AD203B41FA5}">
                      <a16:colId xmlns:a16="http://schemas.microsoft.com/office/drawing/2014/main" val="2556887823"/>
                    </a:ext>
                  </a:extLst>
                </a:gridCol>
                <a:gridCol w="1799771">
                  <a:extLst>
                    <a:ext uri="{9D8B030D-6E8A-4147-A177-3AD203B41FA5}">
                      <a16:colId xmlns:a16="http://schemas.microsoft.com/office/drawing/2014/main" val="3089287138"/>
                    </a:ext>
                  </a:extLst>
                </a:gridCol>
                <a:gridCol w="1799771">
                  <a:extLst>
                    <a:ext uri="{9D8B030D-6E8A-4147-A177-3AD203B41FA5}">
                      <a16:colId xmlns:a16="http://schemas.microsoft.com/office/drawing/2014/main" val="220084703"/>
                    </a:ext>
                  </a:extLst>
                </a:gridCol>
                <a:gridCol w="1799771">
                  <a:extLst>
                    <a:ext uri="{9D8B030D-6E8A-4147-A177-3AD203B41FA5}">
                      <a16:colId xmlns:a16="http://schemas.microsoft.com/office/drawing/2014/main" val="2079258899"/>
                    </a:ext>
                  </a:extLst>
                </a:gridCol>
              </a:tblGrid>
              <a:tr h="370840">
                <a:tc>
                  <a:txBody>
                    <a:bodyPr/>
                    <a:lstStyle/>
                    <a:p>
                      <a:r>
                        <a:rPr lang="de-DE" sz="1000" dirty="0"/>
                        <a:t>Name</a:t>
                      </a:r>
                    </a:p>
                  </a:txBody>
                  <a:tcPr/>
                </a:tc>
                <a:tc>
                  <a:txBody>
                    <a:bodyPr/>
                    <a:lstStyle/>
                    <a:p>
                      <a:r>
                        <a:rPr lang="de-DE" sz="1000" dirty="0"/>
                        <a:t>Jahr</a:t>
                      </a:r>
                    </a:p>
                  </a:txBody>
                  <a:tcPr/>
                </a:tc>
                <a:tc>
                  <a:txBody>
                    <a:bodyPr/>
                    <a:lstStyle/>
                    <a:p>
                      <a:r>
                        <a:rPr lang="de-DE" sz="1000" dirty="0"/>
                        <a:t>Modelle</a:t>
                      </a:r>
                    </a:p>
                  </a:txBody>
                  <a:tcPr/>
                </a:tc>
                <a:tc>
                  <a:txBody>
                    <a:bodyPr/>
                    <a:lstStyle/>
                    <a:p>
                      <a:r>
                        <a:rPr lang="de-DE" sz="1000" dirty="0"/>
                        <a:t>Korpus</a:t>
                      </a:r>
                    </a:p>
                  </a:txBody>
                  <a:tcPr/>
                </a:tc>
                <a:tc>
                  <a:txBody>
                    <a:bodyPr/>
                    <a:lstStyle/>
                    <a:p>
                      <a:r>
                        <a:rPr lang="de-DE" sz="1000" dirty="0"/>
                        <a:t>Metriken</a:t>
                      </a:r>
                    </a:p>
                  </a:txBody>
                  <a:tcPr/>
                </a:tc>
                <a:tc>
                  <a:txBody>
                    <a:bodyPr/>
                    <a:lstStyle/>
                    <a:p>
                      <a:r>
                        <a:rPr lang="de-DE" sz="1000" dirty="0"/>
                        <a:t>Link</a:t>
                      </a:r>
                    </a:p>
                  </a:txBody>
                  <a:tcPr/>
                </a:tc>
                <a:extLst>
                  <a:ext uri="{0D108BD9-81ED-4DB2-BD59-A6C34878D82A}">
                    <a16:rowId xmlns:a16="http://schemas.microsoft.com/office/drawing/2014/main" val="258634969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000" b="0" i="0" kern="1200" dirty="0">
                          <a:solidFill>
                            <a:schemeClr val="dk1"/>
                          </a:solidFill>
                          <a:effectLst/>
                          <a:latin typeface="+mn-lt"/>
                          <a:ea typeface="+mn-ea"/>
                          <a:cs typeface="+mn-cs"/>
                        </a:rPr>
                        <a:t>A </a:t>
                      </a:r>
                      <a:r>
                        <a:rPr lang="de-DE" sz="1000" b="0" i="0" kern="1200" dirty="0" err="1">
                          <a:solidFill>
                            <a:schemeClr val="dk1"/>
                          </a:solidFill>
                          <a:effectLst/>
                          <a:latin typeface="+mn-lt"/>
                          <a:ea typeface="+mn-ea"/>
                          <a:cs typeface="+mn-cs"/>
                        </a:rPr>
                        <a:t>study</a:t>
                      </a:r>
                      <a:r>
                        <a:rPr lang="de-DE" sz="1000" b="0" i="0" kern="1200" dirty="0">
                          <a:solidFill>
                            <a:schemeClr val="dk1"/>
                          </a:solidFill>
                          <a:effectLst/>
                          <a:latin typeface="+mn-lt"/>
                          <a:ea typeface="+mn-ea"/>
                          <a:cs typeface="+mn-cs"/>
                        </a:rPr>
                        <a:t> on </a:t>
                      </a:r>
                      <a:r>
                        <a:rPr lang="de-DE" sz="1000" b="0" i="0" kern="1200" dirty="0" err="1">
                          <a:solidFill>
                            <a:schemeClr val="dk1"/>
                          </a:solidFill>
                          <a:effectLst/>
                          <a:latin typeface="+mn-lt"/>
                          <a:ea typeface="+mn-ea"/>
                          <a:cs typeface="+mn-cs"/>
                        </a:rPr>
                        <a:t>phonemes</a:t>
                      </a:r>
                      <a:r>
                        <a:rPr lang="de-DE" sz="1000" b="0" i="0" kern="1200" dirty="0">
                          <a:solidFill>
                            <a:schemeClr val="dk1"/>
                          </a:solidFill>
                          <a:effectLst/>
                          <a:latin typeface="+mn-lt"/>
                          <a:ea typeface="+mn-ea"/>
                          <a:cs typeface="+mn-cs"/>
                        </a:rPr>
                        <a:t> </a:t>
                      </a:r>
                      <a:r>
                        <a:rPr lang="de-DE" sz="1000" b="0" i="0" kern="1200" dirty="0" err="1">
                          <a:solidFill>
                            <a:schemeClr val="dk1"/>
                          </a:solidFill>
                          <a:effectLst/>
                          <a:latin typeface="+mn-lt"/>
                          <a:ea typeface="+mn-ea"/>
                          <a:cs typeface="+mn-cs"/>
                        </a:rPr>
                        <a:t>recognition</a:t>
                      </a:r>
                      <a:r>
                        <a:rPr lang="de-DE" sz="1000" b="0" i="0" kern="1200" dirty="0">
                          <a:solidFill>
                            <a:schemeClr val="dk1"/>
                          </a:solidFill>
                          <a:effectLst/>
                          <a:latin typeface="+mn-lt"/>
                          <a:ea typeface="+mn-ea"/>
                          <a:cs typeface="+mn-cs"/>
                        </a:rPr>
                        <a:t> </a:t>
                      </a:r>
                      <a:r>
                        <a:rPr lang="de-DE" sz="1000" b="0" i="0" kern="1200" dirty="0" err="1">
                          <a:solidFill>
                            <a:schemeClr val="dk1"/>
                          </a:solidFill>
                          <a:effectLst/>
                          <a:latin typeface="+mn-lt"/>
                          <a:ea typeface="+mn-ea"/>
                          <a:cs typeface="+mn-cs"/>
                        </a:rPr>
                        <a:t>method</a:t>
                      </a:r>
                      <a:r>
                        <a:rPr lang="de-DE" sz="1000" b="0" i="0" kern="1200" dirty="0">
                          <a:solidFill>
                            <a:schemeClr val="dk1"/>
                          </a:solidFill>
                          <a:effectLst/>
                          <a:latin typeface="+mn-lt"/>
                          <a:ea typeface="+mn-ea"/>
                          <a:cs typeface="+mn-cs"/>
                        </a:rPr>
                        <a:t> </a:t>
                      </a:r>
                      <a:r>
                        <a:rPr lang="de-DE" sz="1000" b="0" i="0" kern="1200" dirty="0" err="1">
                          <a:solidFill>
                            <a:schemeClr val="dk1"/>
                          </a:solidFill>
                          <a:effectLst/>
                          <a:latin typeface="+mn-lt"/>
                          <a:ea typeface="+mn-ea"/>
                          <a:cs typeface="+mn-cs"/>
                        </a:rPr>
                        <a:t>for</a:t>
                      </a:r>
                      <a:r>
                        <a:rPr lang="de-DE" sz="1000" b="0" i="0" kern="1200" dirty="0">
                          <a:solidFill>
                            <a:schemeClr val="dk1"/>
                          </a:solidFill>
                          <a:effectLst/>
                          <a:latin typeface="+mn-lt"/>
                          <a:ea typeface="+mn-ea"/>
                          <a:cs typeface="+mn-cs"/>
                        </a:rPr>
                        <a:t> Mandarin </a:t>
                      </a:r>
                      <a:r>
                        <a:rPr lang="de-DE" sz="1000" b="0" i="0" kern="1200" dirty="0" err="1">
                          <a:solidFill>
                            <a:schemeClr val="dk1"/>
                          </a:solidFill>
                          <a:effectLst/>
                          <a:latin typeface="+mn-lt"/>
                          <a:ea typeface="+mn-ea"/>
                          <a:cs typeface="+mn-cs"/>
                        </a:rPr>
                        <a:t>pronunciation</a:t>
                      </a:r>
                      <a:r>
                        <a:rPr lang="de-DE" sz="1000" b="0" i="0" kern="1200" dirty="0">
                          <a:solidFill>
                            <a:schemeClr val="dk1"/>
                          </a:solidFill>
                          <a:effectLst/>
                          <a:latin typeface="+mn-lt"/>
                          <a:ea typeface="+mn-ea"/>
                          <a:cs typeface="+mn-cs"/>
                        </a:rPr>
                        <a:t> </a:t>
                      </a:r>
                      <a:r>
                        <a:rPr lang="de-DE" sz="1000" b="0" i="0" kern="1200" dirty="0" err="1">
                          <a:solidFill>
                            <a:schemeClr val="dk1"/>
                          </a:solidFill>
                          <a:effectLst/>
                          <a:latin typeface="+mn-lt"/>
                          <a:ea typeface="+mn-ea"/>
                          <a:cs typeface="+mn-cs"/>
                        </a:rPr>
                        <a:t>based</a:t>
                      </a:r>
                      <a:r>
                        <a:rPr lang="de-DE" sz="1000" b="0" i="0" kern="1200" dirty="0">
                          <a:solidFill>
                            <a:schemeClr val="dk1"/>
                          </a:solidFill>
                          <a:effectLst/>
                          <a:latin typeface="+mn-lt"/>
                          <a:ea typeface="+mn-ea"/>
                          <a:cs typeface="+mn-cs"/>
                        </a:rPr>
                        <a:t> on </a:t>
                      </a:r>
                      <a:r>
                        <a:rPr lang="de-DE" sz="1000" b="0" i="0" kern="1200" dirty="0" err="1">
                          <a:solidFill>
                            <a:schemeClr val="dk1"/>
                          </a:solidFill>
                          <a:effectLst/>
                          <a:latin typeface="+mn-lt"/>
                          <a:ea typeface="+mn-ea"/>
                          <a:cs typeface="+mn-cs"/>
                        </a:rPr>
                        <a:t>improved</a:t>
                      </a:r>
                      <a:r>
                        <a:rPr lang="de-DE" sz="1000" b="0" i="0" kern="1200" dirty="0">
                          <a:solidFill>
                            <a:schemeClr val="dk1"/>
                          </a:solidFill>
                          <a:effectLst/>
                          <a:latin typeface="+mn-lt"/>
                          <a:ea typeface="+mn-ea"/>
                          <a:cs typeface="+mn-cs"/>
                        </a:rPr>
                        <a:t> </a:t>
                      </a:r>
                      <a:r>
                        <a:rPr lang="de-DE" sz="1000" b="0" i="0" kern="1200" dirty="0" err="1">
                          <a:solidFill>
                            <a:schemeClr val="dk1"/>
                          </a:solidFill>
                          <a:effectLst/>
                          <a:latin typeface="+mn-lt"/>
                          <a:ea typeface="+mn-ea"/>
                          <a:cs typeface="+mn-cs"/>
                        </a:rPr>
                        <a:t>Zipformer</a:t>
                      </a:r>
                      <a:r>
                        <a:rPr lang="de-DE" sz="1000" b="0" i="0" kern="1200" dirty="0">
                          <a:solidFill>
                            <a:schemeClr val="dk1"/>
                          </a:solidFill>
                          <a:effectLst/>
                          <a:latin typeface="+mn-lt"/>
                          <a:ea typeface="+mn-ea"/>
                          <a:cs typeface="+mn-cs"/>
                        </a:rPr>
                        <a:t>-RNN-T(</a:t>
                      </a:r>
                      <a:r>
                        <a:rPr lang="de-DE" sz="1000" b="0" i="0" kern="1200" dirty="0" err="1">
                          <a:solidFill>
                            <a:schemeClr val="dk1"/>
                          </a:solidFill>
                          <a:effectLst/>
                          <a:latin typeface="+mn-lt"/>
                          <a:ea typeface="+mn-ea"/>
                          <a:cs typeface="+mn-cs"/>
                        </a:rPr>
                        <a:t>Pruned</a:t>
                      </a:r>
                      <a:r>
                        <a:rPr lang="de-DE" sz="1000" b="0" i="0" kern="1200" dirty="0">
                          <a:solidFill>
                            <a:schemeClr val="dk1"/>
                          </a:solidFill>
                          <a:effectLst/>
                          <a:latin typeface="+mn-lt"/>
                          <a:ea typeface="+mn-ea"/>
                          <a:cs typeface="+mn-cs"/>
                        </a:rPr>
                        <a:t>) </a:t>
                      </a:r>
                      <a:r>
                        <a:rPr lang="de-DE" sz="1000" b="0" i="0" kern="1200" dirty="0" err="1">
                          <a:solidFill>
                            <a:schemeClr val="dk1"/>
                          </a:solidFill>
                          <a:effectLst/>
                          <a:latin typeface="+mn-lt"/>
                          <a:ea typeface="+mn-ea"/>
                          <a:cs typeface="+mn-cs"/>
                        </a:rPr>
                        <a:t>modeling</a:t>
                      </a:r>
                      <a:endParaRPr lang="de-DE" sz="1000" b="0" i="0" kern="1200" dirty="0">
                        <a:solidFill>
                          <a:schemeClr val="dk1"/>
                        </a:solidFill>
                        <a:effectLst/>
                        <a:latin typeface="+mn-lt"/>
                        <a:ea typeface="+mn-ea"/>
                        <a:cs typeface="+mn-cs"/>
                      </a:endParaRPr>
                    </a:p>
                    <a:p>
                      <a:endParaRPr lang="de-DE" sz="1000" b="0" dirty="0"/>
                    </a:p>
                  </a:txBody>
                  <a:tcPr/>
                </a:tc>
                <a:tc>
                  <a:txBody>
                    <a:bodyPr/>
                    <a:lstStyle/>
                    <a:p>
                      <a:r>
                        <a:rPr lang="de-DE" sz="1000" b="0" dirty="0"/>
                        <a:t>2025</a:t>
                      </a:r>
                    </a:p>
                  </a:txBody>
                  <a:tcPr/>
                </a:tc>
                <a:tc>
                  <a:txBody>
                    <a:bodyPr/>
                    <a:lstStyle/>
                    <a:p>
                      <a:r>
                        <a:rPr lang="de-DE" sz="1000" b="0" i="0" kern="1200" dirty="0" err="1">
                          <a:solidFill>
                            <a:schemeClr val="dk1"/>
                          </a:solidFill>
                          <a:effectLst/>
                          <a:latin typeface="+mn-lt"/>
                          <a:ea typeface="+mn-ea"/>
                          <a:cs typeface="+mn-cs"/>
                        </a:rPr>
                        <a:t>improved</a:t>
                      </a:r>
                      <a:r>
                        <a:rPr lang="de-DE" sz="1000" b="0" i="0" kern="1200" dirty="0">
                          <a:solidFill>
                            <a:schemeClr val="dk1"/>
                          </a:solidFill>
                          <a:effectLst/>
                          <a:latin typeface="+mn-lt"/>
                          <a:ea typeface="+mn-ea"/>
                          <a:cs typeface="+mn-cs"/>
                        </a:rPr>
                        <a:t> </a:t>
                      </a:r>
                      <a:r>
                        <a:rPr lang="de-DE" sz="1000" b="0" i="0" kern="1200" dirty="0" err="1">
                          <a:solidFill>
                            <a:schemeClr val="dk1"/>
                          </a:solidFill>
                          <a:effectLst/>
                          <a:latin typeface="+mn-lt"/>
                          <a:ea typeface="+mn-ea"/>
                          <a:cs typeface="+mn-cs"/>
                        </a:rPr>
                        <a:t>Zipformer</a:t>
                      </a:r>
                      <a:r>
                        <a:rPr lang="de-DE" sz="1000" b="0" i="0" kern="1200" dirty="0">
                          <a:solidFill>
                            <a:schemeClr val="dk1"/>
                          </a:solidFill>
                          <a:effectLst/>
                          <a:latin typeface="+mn-lt"/>
                          <a:ea typeface="+mn-ea"/>
                          <a:cs typeface="+mn-cs"/>
                        </a:rPr>
                        <a:t>-RNN-T(</a:t>
                      </a:r>
                      <a:r>
                        <a:rPr lang="de-DE" sz="1000" b="0" i="0" kern="1200" dirty="0" err="1">
                          <a:solidFill>
                            <a:schemeClr val="dk1"/>
                          </a:solidFill>
                          <a:effectLst/>
                          <a:latin typeface="+mn-lt"/>
                          <a:ea typeface="+mn-ea"/>
                          <a:cs typeface="+mn-cs"/>
                        </a:rPr>
                        <a:t>Pruned</a:t>
                      </a:r>
                      <a:r>
                        <a:rPr lang="de-DE" sz="1000" b="0" i="0" kern="1200" dirty="0">
                          <a:solidFill>
                            <a:schemeClr val="dk1"/>
                          </a:solidFill>
                          <a:effectLst/>
                          <a:latin typeface="+mn-lt"/>
                          <a:ea typeface="+mn-ea"/>
                          <a:cs typeface="+mn-cs"/>
                        </a:rPr>
                        <a:t>)</a:t>
                      </a:r>
                      <a:endParaRPr lang="de-DE" sz="1000" b="0" dirty="0"/>
                    </a:p>
                  </a:txBody>
                  <a:tcPr/>
                </a:tc>
                <a:tc>
                  <a:txBody>
                    <a:bodyPr/>
                    <a:lstStyle/>
                    <a:p>
                      <a:r>
                        <a:rPr lang="de-DE" sz="1000" b="0" i="0" kern="1200" dirty="0">
                          <a:solidFill>
                            <a:schemeClr val="dk1"/>
                          </a:solidFill>
                          <a:effectLst/>
                          <a:latin typeface="+mn-lt"/>
                          <a:ea typeface="+mn-ea"/>
                          <a:cs typeface="+mn-cs"/>
                        </a:rPr>
                        <a:t>AISHELL1-PHONEME, ST-CMDS-PHONEME</a:t>
                      </a:r>
                      <a:endParaRPr lang="de-DE" sz="1000" b="0" dirty="0"/>
                    </a:p>
                  </a:txBody>
                  <a:tcPr/>
                </a:tc>
                <a:tc>
                  <a:txBody>
                    <a:bodyPr/>
                    <a:lstStyle/>
                    <a:p>
                      <a:r>
                        <a:rPr lang="de-DE" sz="1000" b="0" dirty="0"/>
                        <a:t>WER, </a:t>
                      </a:r>
                      <a:r>
                        <a:rPr lang="de-DE" sz="1000" b="0" i="0" kern="1200" dirty="0">
                          <a:solidFill>
                            <a:schemeClr val="dk1"/>
                          </a:solidFill>
                          <a:effectLst/>
                          <a:latin typeface="+mn-lt"/>
                          <a:ea typeface="+mn-ea"/>
                          <a:cs typeface="+mn-cs"/>
                        </a:rPr>
                        <a:t>Real Time </a:t>
                      </a:r>
                      <a:r>
                        <a:rPr lang="de-DE" sz="1000" b="0" i="0" kern="1200" dirty="0" err="1">
                          <a:solidFill>
                            <a:schemeClr val="dk1"/>
                          </a:solidFill>
                          <a:effectLst/>
                          <a:latin typeface="+mn-lt"/>
                          <a:ea typeface="+mn-ea"/>
                          <a:cs typeface="+mn-cs"/>
                        </a:rPr>
                        <a:t>Factor</a:t>
                      </a:r>
                      <a:r>
                        <a:rPr lang="de-DE" sz="1000" b="0" i="0" kern="1200" dirty="0">
                          <a:solidFill>
                            <a:schemeClr val="dk1"/>
                          </a:solidFill>
                          <a:effectLst/>
                          <a:latin typeface="+mn-lt"/>
                          <a:ea typeface="+mn-ea"/>
                          <a:cs typeface="+mn-cs"/>
                        </a:rPr>
                        <a:t> (RTF)</a:t>
                      </a:r>
                      <a:endParaRPr lang="de-DE" sz="1000" b="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000" b="0" i="0" u="none" strike="noStrike" kern="1200" dirty="0">
                          <a:solidFill>
                            <a:schemeClr val="dk1"/>
                          </a:solidFill>
                          <a:effectLst/>
                          <a:latin typeface="+mn-lt"/>
                          <a:ea typeface="+mn-ea"/>
                          <a:cs typeface="+mn-cs"/>
                          <a:hlinkClick r:id="rId2"/>
                        </a:rPr>
                        <a:t>Link</a:t>
                      </a:r>
                      <a:endParaRPr lang="de-DE" sz="1000" b="0" i="0" kern="1200" dirty="0">
                        <a:solidFill>
                          <a:schemeClr val="dk1"/>
                        </a:solidFill>
                        <a:effectLst/>
                        <a:latin typeface="+mn-lt"/>
                        <a:ea typeface="+mn-ea"/>
                        <a:cs typeface="+mn-cs"/>
                      </a:endParaRPr>
                    </a:p>
                    <a:p>
                      <a:endParaRPr lang="de-DE" sz="1000" b="0" dirty="0"/>
                    </a:p>
                  </a:txBody>
                  <a:tcPr/>
                </a:tc>
                <a:extLst>
                  <a:ext uri="{0D108BD9-81ED-4DB2-BD59-A6C34878D82A}">
                    <a16:rowId xmlns:a16="http://schemas.microsoft.com/office/drawing/2014/main" val="3680473722"/>
                  </a:ext>
                </a:extLst>
              </a:tr>
              <a:tr h="370840">
                <a:tc>
                  <a:txBody>
                    <a:bodyPr/>
                    <a:lstStyle/>
                    <a:p>
                      <a:r>
                        <a:rPr lang="de-DE" sz="1000" b="0" i="0" kern="1200" dirty="0" err="1">
                          <a:solidFill>
                            <a:schemeClr val="dk1"/>
                          </a:solidFill>
                          <a:effectLst/>
                          <a:latin typeface="+mn-lt"/>
                          <a:ea typeface="+mn-ea"/>
                          <a:cs typeface="+mn-cs"/>
                        </a:rPr>
                        <a:t>Machine</a:t>
                      </a:r>
                      <a:r>
                        <a:rPr lang="de-DE" sz="1000" b="0" i="0" kern="1200" dirty="0">
                          <a:solidFill>
                            <a:schemeClr val="dk1"/>
                          </a:solidFill>
                          <a:effectLst/>
                          <a:latin typeface="+mn-lt"/>
                          <a:ea typeface="+mn-ea"/>
                          <a:cs typeface="+mn-cs"/>
                        </a:rPr>
                        <a:t> Learning </a:t>
                      </a:r>
                      <a:r>
                        <a:rPr lang="de-DE" sz="1000" b="0" i="0" kern="1200" dirty="0" err="1">
                          <a:solidFill>
                            <a:schemeClr val="dk1"/>
                          </a:solidFill>
                          <a:effectLst/>
                          <a:latin typeface="+mn-lt"/>
                          <a:ea typeface="+mn-ea"/>
                          <a:cs typeface="+mn-cs"/>
                        </a:rPr>
                        <a:t>for</a:t>
                      </a:r>
                      <a:r>
                        <a:rPr lang="de-DE" sz="1000" b="0" i="0" kern="1200" dirty="0">
                          <a:solidFill>
                            <a:schemeClr val="dk1"/>
                          </a:solidFill>
                          <a:effectLst/>
                          <a:latin typeface="+mn-lt"/>
                          <a:ea typeface="+mn-ea"/>
                          <a:cs typeface="+mn-cs"/>
                        </a:rPr>
                        <a:t> Mandarin Tone Recognition: A </a:t>
                      </a:r>
                      <a:r>
                        <a:rPr lang="de-DE" sz="1000" b="0" i="0" kern="1200" dirty="0" err="1">
                          <a:solidFill>
                            <a:schemeClr val="dk1"/>
                          </a:solidFill>
                          <a:effectLst/>
                          <a:latin typeface="+mn-lt"/>
                          <a:ea typeface="+mn-ea"/>
                          <a:cs typeface="+mn-cs"/>
                        </a:rPr>
                        <a:t>Systematic</a:t>
                      </a:r>
                      <a:r>
                        <a:rPr lang="de-DE" sz="1000" b="0" i="0" kern="1200" dirty="0">
                          <a:solidFill>
                            <a:schemeClr val="dk1"/>
                          </a:solidFill>
                          <a:effectLst/>
                          <a:latin typeface="+mn-lt"/>
                          <a:ea typeface="+mn-ea"/>
                          <a:cs typeface="+mn-cs"/>
                        </a:rPr>
                        <a:t> Review </a:t>
                      </a:r>
                      <a:r>
                        <a:rPr lang="de-DE" sz="1000" b="0" i="0" kern="1200" dirty="0" err="1">
                          <a:solidFill>
                            <a:schemeClr val="dk1"/>
                          </a:solidFill>
                          <a:effectLst/>
                          <a:latin typeface="+mn-lt"/>
                          <a:ea typeface="+mn-ea"/>
                          <a:cs typeface="+mn-cs"/>
                        </a:rPr>
                        <a:t>with</a:t>
                      </a:r>
                      <a:r>
                        <a:rPr lang="de-DE" sz="1000" b="0" i="0" kern="1200" dirty="0">
                          <a:solidFill>
                            <a:schemeClr val="dk1"/>
                          </a:solidFill>
                          <a:effectLst/>
                          <a:latin typeface="+mn-lt"/>
                          <a:ea typeface="+mn-ea"/>
                          <a:cs typeface="+mn-cs"/>
                        </a:rPr>
                        <a:t> </a:t>
                      </a:r>
                      <a:r>
                        <a:rPr lang="de-DE" sz="1000" b="0" i="0" kern="1200" dirty="0" err="1">
                          <a:solidFill>
                            <a:schemeClr val="dk1"/>
                          </a:solidFill>
                          <a:effectLst/>
                          <a:latin typeface="+mn-lt"/>
                          <a:ea typeface="+mn-ea"/>
                          <a:cs typeface="+mn-cs"/>
                        </a:rPr>
                        <a:t>Applications</a:t>
                      </a:r>
                      <a:r>
                        <a:rPr lang="de-DE" sz="1000" b="0" i="0" kern="1200" dirty="0">
                          <a:solidFill>
                            <a:schemeClr val="dk1"/>
                          </a:solidFill>
                          <a:effectLst/>
                          <a:latin typeface="+mn-lt"/>
                          <a:ea typeface="+mn-ea"/>
                          <a:cs typeface="+mn-cs"/>
                        </a:rPr>
                        <a:t> </a:t>
                      </a:r>
                      <a:r>
                        <a:rPr lang="de-DE" sz="1000" b="0" i="0" kern="1200" dirty="0" err="1">
                          <a:solidFill>
                            <a:schemeClr val="dk1"/>
                          </a:solidFill>
                          <a:effectLst/>
                          <a:latin typeface="+mn-lt"/>
                          <a:ea typeface="+mn-ea"/>
                          <a:cs typeface="+mn-cs"/>
                        </a:rPr>
                        <a:t>to</a:t>
                      </a:r>
                      <a:r>
                        <a:rPr lang="de-DE" sz="1000" b="0" i="0" kern="1200" dirty="0">
                          <a:solidFill>
                            <a:schemeClr val="dk1"/>
                          </a:solidFill>
                          <a:effectLst/>
                          <a:latin typeface="+mn-lt"/>
                          <a:ea typeface="+mn-ea"/>
                          <a:cs typeface="+mn-cs"/>
                        </a:rPr>
                        <a:t> </a:t>
                      </a:r>
                      <a:r>
                        <a:rPr lang="de-DE" sz="1000" b="0" i="0" kern="1200" dirty="0" err="1">
                          <a:solidFill>
                            <a:schemeClr val="dk1"/>
                          </a:solidFill>
                          <a:effectLst/>
                          <a:latin typeface="+mn-lt"/>
                          <a:ea typeface="+mn-ea"/>
                          <a:cs typeface="+mn-cs"/>
                        </a:rPr>
                        <a:t>Neurotypical</a:t>
                      </a:r>
                      <a:r>
                        <a:rPr lang="de-DE" sz="1000" b="0" i="0" kern="1200" dirty="0">
                          <a:solidFill>
                            <a:schemeClr val="dk1"/>
                          </a:solidFill>
                          <a:effectLst/>
                          <a:latin typeface="+mn-lt"/>
                          <a:ea typeface="+mn-ea"/>
                          <a:cs typeface="+mn-cs"/>
                        </a:rPr>
                        <a:t> and Clinical </a:t>
                      </a:r>
                      <a:r>
                        <a:rPr lang="de-DE" sz="1000" b="0" i="0" kern="1200" dirty="0" err="1">
                          <a:solidFill>
                            <a:schemeClr val="dk1"/>
                          </a:solidFill>
                          <a:effectLst/>
                          <a:latin typeface="+mn-lt"/>
                          <a:ea typeface="+mn-ea"/>
                          <a:cs typeface="+mn-cs"/>
                        </a:rPr>
                        <a:t>Populations</a:t>
                      </a:r>
                      <a:endParaRPr lang="de-DE" sz="1000" dirty="0"/>
                    </a:p>
                  </a:txBody>
                  <a:tcPr/>
                </a:tc>
                <a:tc>
                  <a:txBody>
                    <a:bodyPr/>
                    <a:lstStyle/>
                    <a:p>
                      <a:r>
                        <a:rPr lang="de-DE" sz="1000" dirty="0"/>
                        <a:t>2025</a:t>
                      </a:r>
                    </a:p>
                  </a:txBody>
                  <a:tcPr/>
                </a:tc>
                <a:tc>
                  <a:txBody>
                    <a:bodyPr/>
                    <a:lstStyle/>
                    <a:p>
                      <a:r>
                        <a:rPr lang="de-DE" sz="1000" dirty="0"/>
                        <a:t>HMM , SVM , MLP, GMM , </a:t>
                      </a:r>
                      <a:r>
                        <a:rPr lang="de-DE" sz="1000" b="0" dirty="0"/>
                        <a:t>Random Forests </a:t>
                      </a:r>
                      <a:r>
                        <a:rPr lang="de-DE" sz="1000" dirty="0"/>
                        <a:t>, CNN , RNN , </a:t>
                      </a:r>
                      <a:r>
                        <a:rPr lang="de-DE" sz="1000" dirty="0" err="1"/>
                        <a:t>BiLSTM</a:t>
                      </a:r>
                      <a:r>
                        <a:rPr lang="de-DE" sz="1000" dirty="0"/>
                        <a:t> , Transformers , Autoencoder,… </a:t>
                      </a:r>
                    </a:p>
                  </a:txBody>
                  <a:tcPr/>
                </a:tc>
                <a:tc>
                  <a:txBody>
                    <a:bodyPr/>
                    <a:lstStyle/>
                    <a:p>
                      <a:r>
                        <a:rPr lang="de-DE" sz="1000" dirty="0"/>
                        <a:t>Project 863, RASC863, AISHELL , SCSC , </a:t>
                      </a:r>
                      <a:r>
                        <a:rPr lang="de-DE" sz="1000" dirty="0" err="1"/>
                        <a:t>iCALL</a:t>
                      </a:r>
                      <a:r>
                        <a:rPr lang="de-DE" sz="1000" dirty="0"/>
                        <a:t>, COSPRO,… </a:t>
                      </a:r>
                    </a:p>
                  </a:txBody>
                  <a:tcPr/>
                </a:tc>
                <a:tc>
                  <a:txBody>
                    <a:bodyPr/>
                    <a:lstStyle/>
                    <a:p>
                      <a:r>
                        <a:rPr lang="de-DE" sz="1000" dirty="0" err="1"/>
                        <a:t>Accuracy</a:t>
                      </a:r>
                      <a:r>
                        <a:rPr lang="de-DE" sz="1000" dirty="0"/>
                        <a:t> , Precision, Recall, F1, TER (Tone Error Rate), FAR (</a:t>
                      </a:r>
                      <a:r>
                        <a:rPr lang="de-DE" sz="1000" dirty="0" err="1"/>
                        <a:t>False</a:t>
                      </a:r>
                      <a:r>
                        <a:rPr lang="de-DE" sz="1000" dirty="0"/>
                        <a:t> Acceptance Rate), FRR (</a:t>
                      </a:r>
                      <a:r>
                        <a:rPr lang="de-DE" sz="1000" dirty="0" err="1"/>
                        <a:t>False</a:t>
                      </a:r>
                      <a:r>
                        <a:rPr lang="de-DE" sz="1000" dirty="0"/>
                        <a:t> </a:t>
                      </a:r>
                      <a:r>
                        <a:rPr lang="de-DE" sz="1000" dirty="0" err="1"/>
                        <a:t>Rejection</a:t>
                      </a:r>
                      <a:r>
                        <a:rPr lang="de-DE" sz="1000" dirty="0"/>
                        <a:t> Rate), ERR (</a:t>
                      </a:r>
                      <a:r>
                        <a:rPr lang="de-DE" sz="1000" dirty="0" err="1"/>
                        <a:t>Equal</a:t>
                      </a:r>
                      <a:r>
                        <a:rPr lang="de-DE" sz="1000" dirty="0"/>
                        <a:t> Error Rate)</a:t>
                      </a:r>
                    </a:p>
                  </a:txBody>
                  <a:tcPr/>
                </a:tc>
                <a:tc>
                  <a:txBody>
                    <a:bodyPr/>
                    <a:lstStyle/>
                    <a:p>
                      <a:r>
                        <a:rPr lang="de-DE" sz="1000" dirty="0">
                          <a:hlinkClick r:id="rId3"/>
                        </a:rPr>
                        <a:t>Link</a:t>
                      </a:r>
                      <a:endParaRPr lang="de-DE" sz="1000" dirty="0"/>
                    </a:p>
                  </a:txBody>
                  <a:tcPr/>
                </a:tc>
                <a:extLst>
                  <a:ext uri="{0D108BD9-81ED-4DB2-BD59-A6C34878D82A}">
                    <a16:rowId xmlns:a16="http://schemas.microsoft.com/office/drawing/2014/main" val="4176821910"/>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000" dirty="0"/>
                        <a:t>Zurückgezogen: </a:t>
                      </a:r>
                      <a:r>
                        <a:rPr lang="de-DE" sz="1000" b="0" i="0" kern="1200" dirty="0" err="1">
                          <a:solidFill>
                            <a:schemeClr val="dk1"/>
                          </a:solidFill>
                          <a:effectLst/>
                          <a:latin typeface="+mn-lt"/>
                          <a:ea typeface="+mn-ea"/>
                          <a:cs typeface="+mn-cs"/>
                        </a:rPr>
                        <a:t>VocalBench-zh</a:t>
                      </a:r>
                      <a:r>
                        <a:rPr lang="de-DE" sz="1000" b="0" i="0" kern="1200" dirty="0">
                          <a:solidFill>
                            <a:schemeClr val="dk1"/>
                          </a:solidFill>
                          <a:effectLst/>
                          <a:latin typeface="+mn-lt"/>
                          <a:ea typeface="+mn-ea"/>
                          <a:cs typeface="+mn-cs"/>
                        </a:rPr>
                        <a:t>: </a:t>
                      </a:r>
                      <a:r>
                        <a:rPr lang="de-DE" sz="1000" b="0" i="0" kern="1200" dirty="0" err="1">
                          <a:solidFill>
                            <a:schemeClr val="dk1"/>
                          </a:solidFill>
                          <a:effectLst/>
                          <a:latin typeface="+mn-lt"/>
                          <a:ea typeface="+mn-ea"/>
                          <a:cs typeface="+mn-cs"/>
                        </a:rPr>
                        <a:t>Decomposing</a:t>
                      </a:r>
                      <a:r>
                        <a:rPr lang="de-DE" sz="1000" b="0" i="0" kern="1200" dirty="0">
                          <a:solidFill>
                            <a:schemeClr val="dk1"/>
                          </a:solidFill>
                          <a:effectLst/>
                          <a:latin typeface="+mn-lt"/>
                          <a:ea typeface="+mn-ea"/>
                          <a:cs typeface="+mn-cs"/>
                        </a:rPr>
                        <a:t> and Benchmarking </a:t>
                      </a:r>
                      <a:r>
                        <a:rPr lang="de-DE" sz="1000" b="0" i="0" kern="1200" dirty="0" err="1">
                          <a:solidFill>
                            <a:schemeClr val="dk1"/>
                          </a:solidFill>
                          <a:effectLst/>
                          <a:latin typeface="+mn-lt"/>
                          <a:ea typeface="+mn-ea"/>
                          <a:cs typeface="+mn-cs"/>
                        </a:rPr>
                        <a:t>the</a:t>
                      </a:r>
                      <a:r>
                        <a:rPr lang="de-DE" sz="1000" b="0" i="0" kern="1200" dirty="0">
                          <a:solidFill>
                            <a:schemeClr val="dk1"/>
                          </a:solidFill>
                          <a:effectLst/>
                          <a:latin typeface="+mn-lt"/>
                          <a:ea typeface="+mn-ea"/>
                          <a:cs typeface="+mn-cs"/>
                        </a:rPr>
                        <a:t> Speech </a:t>
                      </a:r>
                      <a:r>
                        <a:rPr lang="de-DE" sz="1000" b="0" i="0" kern="1200" dirty="0" err="1">
                          <a:solidFill>
                            <a:schemeClr val="dk1"/>
                          </a:solidFill>
                          <a:effectLst/>
                          <a:latin typeface="+mn-lt"/>
                          <a:ea typeface="+mn-ea"/>
                          <a:cs typeface="+mn-cs"/>
                        </a:rPr>
                        <a:t>Conversational</a:t>
                      </a:r>
                      <a:r>
                        <a:rPr lang="de-DE" sz="1000" b="0" i="0" kern="1200" dirty="0">
                          <a:solidFill>
                            <a:schemeClr val="dk1"/>
                          </a:solidFill>
                          <a:effectLst/>
                          <a:latin typeface="+mn-lt"/>
                          <a:ea typeface="+mn-ea"/>
                          <a:cs typeface="+mn-cs"/>
                        </a:rPr>
                        <a:t> </a:t>
                      </a:r>
                      <a:r>
                        <a:rPr lang="de-DE" sz="1000" b="0" i="0" kern="1200" dirty="0" err="1">
                          <a:solidFill>
                            <a:schemeClr val="dk1"/>
                          </a:solidFill>
                          <a:effectLst/>
                          <a:latin typeface="+mn-lt"/>
                          <a:ea typeface="+mn-ea"/>
                          <a:cs typeface="+mn-cs"/>
                        </a:rPr>
                        <a:t>Abilities</a:t>
                      </a:r>
                      <a:r>
                        <a:rPr lang="de-DE" sz="1000" b="0" i="0" kern="1200" dirty="0">
                          <a:solidFill>
                            <a:schemeClr val="dk1"/>
                          </a:solidFill>
                          <a:effectLst/>
                          <a:latin typeface="+mn-lt"/>
                          <a:ea typeface="+mn-ea"/>
                          <a:cs typeface="+mn-cs"/>
                        </a:rPr>
                        <a:t> in Mandarin </a:t>
                      </a:r>
                      <a:r>
                        <a:rPr lang="de-DE" sz="1000" b="0" i="0" kern="1200" dirty="0" err="1">
                          <a:solidFill>
                            <a:schemeClr val="dk1"/>
                          </a:solidFill>
                          <a:effectLst/>
                          <a:latin typeface="+mn-lt"/>
                          <a:ea typeface="+mn-ea"/>
                          <a:cs typeface="+mn-cs"/>
                        </a:rPr>
                        <a:t>Context</a:t>
                      </a:r>
                      <a:endParaRPr lang="de-DE" sz="1000" b="0" i="0" kern="1200" dirty="0">
                        <a:solidFill>
                          <a:schemeClr val="dk1"/>
                        </a:solidFill>
                        <a:effectLst/>
                        <a:latin typeface="+mn-lt"/>
                        <a:ea typeface="+mn-ea"/>
                        <a:cs typeface="+mn-cs"/>
                      </a:endParaRPr>
                    </a:p>
                    <a:p>
                      <a:endParaRPr lang="de-DE" sz="1000" dirty="0"/>
                    </a:p>
                  </a:txBody>
                  <a:tcPr/>
                </a:tc>
                <a:tc>
                  <a:txBody>
                    <a:bodyPr/>
                    <a:lstStyle/>
                    <a:p>
                      <a:r>
                        <a:rPr lang="de-DE" sz="1000" dirty="0"/>
                        <a:t>2025</a:t>
                      </a:r>
                    </a:p>
                  </a:txBody>
                  <a:tcPr/>
                </a:tc>
                <a:tc>
                  <a:txBody>
                    <a:bodyPr/>
                    <a:lstStyle/>
                    <a:p>
                      <a:r>
                        <a:rPr lang="de-DE" sz="1000" b="0" i="0" kern="1200" dirty="0">
                          <a:solidFill>
                            <a:schemeClr val="dk1"/>
                          </a:solidFill>
                          <a:effectLst/>
                          <a:latin typeface="+mn-lt"/>
                          <a:ea typeface="+mn-ea"/>
                          <a:cs typeface="+mn-cs"/>
                        </a:rPr>
                        <a:t>GLM-4-Voice, Qwen2.5-Omni, Kimi-Audio, … </a:t>
                      </a:r>
                      <a:endParaRPr lang="de-DE" sz="1000" dirty="0"/>
                    </a:p>
                  </a:txBody>
                  <a:tcPr/>
                </a:tc>
                <a:tc>
                  <a:txBody>
                    <a:bodyPr/>
                    <a:lstStyle/>
                    <a:p>
                      <a:r>
                        <a:rPr lang="de-DE" sz="1000" dirty="0" err="1"/>
                        <a:t>k.A</a:t>
                      </a:r>
                      <a:r>
                        <a:rPr lang="de-DE" sz="1000" dirty="0"/>
                        <a:t>.</a:t>
                      </a:r>
                    </a:p>
                  </a:txBody>
                  <a:tcPr/>
                </a:tc>
                <a:tc>
                  <a:txBody>
                    <a:bodyPr/>
                    <a:lstStyle/>
                    <a:p>
                      <a:r>
                        <a:rPr lang="de-DE" sz="1000" dirty="0"/>
                        <a:t>PER</a:t>
                      </a:r>
                    </a:p>
                  </a:txBody>
                  <a:tcPr/>
                </a:tc>
                <a:tc>
                  <a:txBody>
                    <a:bodyPr/>
                    <a:lstStyle/>
                    <a:p>
                      <a:r>
                        <a:rPr lang="de-DE" sz="1000" dirty="0">
                          <a:hlinkClick r:id="rId4"/>
                        </a:rPr>
                        <a:t>Link</a:t>
                      </a:r>
                      <a:endParaRPr lang="de-DE" sz="1000" dirty="0"/>
                    </a:p>
                  </a:txBody>
                  <a:tcPr/>
                </a:tc>
                <a:extLst>
                  <a:ext uri="{0D108BD9-81ED-4DB2-BD59-A6C34878D82A}">
                    <a16:rowId xmlns:a16="http://schemas.microsoft.com/office/drawing/2014/main" val="4189531925"/>
                  </a:ext>
                </a:extLst>
              </a:tr>
            </a:tbl>
          </a:graphicData>
        </a:graphic>
      </p:graphicFrame>
    </p:spTree>
    <p:extLst>
      <p:ext uri="{BB962C8B-B14F-4D97-AF65-F5344CB8AC3E}">
        <p14:creationId xmlns:p14="http://schemas.microsoft.com/office/powerpoint/2010/main" val="60551436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7C1095-E3D9-991E-67BE-417256B977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CE6296-CC4E-0033-740A-F4B5A33A17B3}"/>
              </a:ext>
            </a:extLst>
          </p:cNvPr>
          <p:cNvSpPr>
            <a:spLocks noGrp="1"/>
          </p:cNvSpPr>
          <p:nvPr>
            <p:ph type="title"/>
          </p:nvPr>
        </p:nvSpPr>
        <p:spPr/>
        <p:txBody>
          <a:bodyPr>
            <a:normAutofit/>
          </a:bodyPr>
          <a:lstStyle/>
          <a:p>
            <a:r>
              <a:rPr lang="de-DE" dirty="0"/>
              <a:t>Andere interessante Studien</a:t>
            </a:r>
          </a:p>
        </p:txBody>
      </p:sp>
      <p:sp>
        <p:nvSpPr>
          <p:cNvPr id="3" name="Content Placeholder 2">
            <a:extLst>
              <a:ext uri="{FF2B5EF4-FFF2-40B4-BE49-F238E27FC236}">
                <a16:creationId xmlns:a16="http://schemas.microsoft.com/office/drawing/2014/main" id="{B308FE45-32E9-7C96-1E7D-1F4E514531EF}"/>
              </a:ext>
            </a:extLst>
          </p:cNvPr>
          <p:cNvSpPr>
            <a:spLocks noGrp="1"/>
          </p:cNvSpPr>
          <p:nvPr>
            <p:ph idx="1"/>
          </p:nvPr>
        </p:nvSpPr>
        <p:spPr/>
        <p:txBody>
          <a:bodyPr>
            <a:normAutofit/>
          </a:bodyPr>
          <a:lstStyle/>
          <a:p>
            <a:endParaRPr lang="de-DE" sz="1000" dirty="0"/>
          </a:p>
        </p:txBody>
      </p:sp>
      <p:graphicFrame>
        <p:nvGraphicFramePr>
          <p:cNvPr id="4" name="Content Placeholder 3">
            <a:extLst>
              <a:ext uri="{FF2B5EF4-FFF2-40B4-BE49-F238E27FC236}">
                <a16:creationId xmlns:a16="http://schemas.microsoft.com/office/drawing/2014/main" id="{79FD71DE-BE23-3B0B-A991-68E5C2A31387}"/>
              </a:ext>
            </a:extLst>
          </p:cNvPr>
          <p:cNvGraphicFramePr>
            <a:graphicFrameLocks/>
          </p:cNvGraphicFramePr>
          <p:nvPr>
            <p:extLst>
              <p:ext uri="{D42A27DB-BD31-4B8C-83A1-F6EECF244321}">
                <p14:modId xmlns:p14="http://schemas.microsoft.com/office/powerpoint/2010/main" val="1130929952"/>
              </p:ext>
            </p:extLst>
          </p:nvPr>
        </p:nvGraphicFramePr>
        <p:xfrm>
          <a:off x="288472" y="1410758"/>
          <a:ext cx="11696699" cy="6466840"/>
        </p:xfrm>
        <a:graphic>
          <a:graphicData uri="http://schemas.openxmlformats.org/drawingml/2006/table">
            <a:tbl>
              <a:tblPr firstRow="1" bandRow="1">
                <a:tableStyleId>{5C22544A-7EE6-4342-B048-85BDC9FD1C3A}</a:tableStyleId>
              </a:tblPr>
              <a:tblGrid>
                <a:gridCol w="3339631">
                  <a:extLst>
                    <a:ext uri="{9D8B030D-6E8A-4147-A177-3AD203B41FA5}">
                      <a16:colId xmlns:a16="http://schemas.microsoft.com/office/drawing/2014/main" val="2891188440"/>
                    </a:ext>
                  </a:extLst>
                </a:gridCol>
                <a:gridCol w="1465007">
                  <a:extLst>
                    <a:ext uri="{9D8B030D-6E8A-4147-A177-3AD203B41FA5}">
                      <a16:colId xmlns:a16="http://schemas.microsoft.com/office/drawing/2014/main" val="2184374137"/>
                    </a:ext>
                  </a:extLst>
                </a:gridCol>
                <a:gridCol w="1002890">
                  <a:extLst>
                    <a:ext uri="{9D8B030D-6E8A-4147-A177-3AD203B41FA5}">
                      <a16:colId xmlns:a16="http://schemas.microsoft.com/office/drawing/2014/main" val="1549689849"/>
                    </a:ext>
                  </a:extLst>
                </a:gridCol>
                <a:gridCol w="3354815">
                  <a:extLst>
                    <a:ext uri="{9D8B030D-6E8A-4147-A177-3AD203B41FA5}">
                      <a16:colId xmlns:a16="http://schemas.microsoft.com/office/drawing/2014/main" val="2556887823"/>
                    </a:ext>
                  </a:extLst>
                </a:gridCol>
                <a:gridCol w="909609">
                  <a:extLst>
                    <a:ext uri="{9D8B030D-6E8A-4147-A177-3AD203B41FA5}">
                      <a16:colId xmlns:a16="http://schemas.microsoft.com/office/drawing/2014/main" val="3089287138"/>
                    </a:ext>
                  </a:extLst>
                </a:gridCol>
                <a:gridCol w="1041344">
                  <a:extLst>
                    <a:ext uri="{9D8B030D-6E8A-4147-A177-3AD203B41FA5}">
                      <a16:colId xmlns:a16="http://schemas.microsoft.com/office/drawing/2014/main" val="220084703"/>
                    </a:ext>
                  </a:extLst>
                </a:gridCol>
                <a:gridCol w="583403">
                  <a:extLst>
                    <a:ext uri="{9D8B030D-6E8A-4147-A177-3AD203B41FA5}">
                      <a16:colId xmlns:a16="http://schemas.microsoft.com/office/drawing/2014/main" val="2079258899"/>
                    </a:ext>
                  </a:extLst>
                </a:gridCol>
              </a:tblGrid>
              <a:tr h="370840">
                <a:tc>
                  <a:txBody>
                    <a:bodyPr/>
                    <a:lstStyle/>
                    <a:p>
                      <a:r>
                        <a:rPr lang="de-DE" sz="1000" dirty="0"/>
                        <a:t>Name</a:t>
                      </a:r>
                    </a:p>
                  </a:txBody>
                  <a:tcPr/>
                </a:tc>
                <a:tc>
                  <a:txBody>
                    <a:bodyPr/>
                    <a:lstStyle/>
                    <a:p>
                      <a:r>
                        <a:rPr lang="de-DE" sz="1000" dirty="0"/>
                        <a:t>Bezug</a:t>
                      </a:r>
                    </a:p>
                  </a:txBody>
                  <a:tcPr/>
                </a:tc>
                <a:tc>
                  <a:txBody>
                    <a:bodyPr/>
                    <a:lstStyle/>
                    <a:p>
                      <a:r>
                        <a:rPr lang="de-DE" sz="1000" dirty="0"/>
                        <a:t>Jahr</a:t>
                      </a:r>
                    </a:p>
                  </a:txBody>
                  <a:tcPr/>
                </a:tc>
                <a:tc>
                  <a:txBody>
                    <a:bodyPr/>
                    <a:lstStyle/>
                    <a:p>
                      <a:r>
                        <a:rPr lang="de-DE" sz="1000" dirty="0"/>
                        <a:t>Modelle</a:t>
                      </a:r>
                    </a:p>
                  </a:txBody>
                  <a:tcPr/>
                </a:tc>
                <a:tc>
                  <a:txBody>
                    <a:bodyPr/>
                    <a:lstStyle/>
                    <a:p>
                      <a:r>
                        <a:rPr lang="de-DE" sz="1000" dirty="0"/>
                        <a:t>Korpus</a:t>
                      </a:r>
                    </a:p>
                  </a:txBody>
                  <a:tcPr/>
                </a:tc>
                <a:tc>
                  <a:txBody>
                    <a:bodyPr/>
                    <a:lstStyle/>
                    <a:p>
                      <a:r>
                        <a:rPr lang="de-DE" sz="1000" dirty="0"/>
                        <a:t>Metriken</a:t>
                      </a:r>
                    </a:p>
                  </a:txBody>
                  <a:tcPr/>
                </a:tc>
                <a:tc>
                  <a:txBody>
                    <a:bodyPr/>
                    <a:lstStyle/>
                    <a:p>
                      <a:r>
                        <a:rPr lang="de-DE" sz="1000" dirty="0"/>
                        <a:t>Link</a:t>
                      </a:r>
                    </a:p>
                  </a:txBody>
                  <a:tcPr/>
                </a:tc>
                <a:extLst>
                  <a:ext uri="{0D108BD9-81ED-4DB2-BD59-A6C34878D82A}">
                    <a16:rowId xmlns:a16="http://schemas.microsoft.com/office/drawing/2014/main" val="2586349692"/>
                  </a:ext>
                </a:extLst>
              </a:tr>
              <a:tr h="370840">
                <a:tc>
                  <a:txBody>
                    <a:bodyPr/>
                    <a:lstStyle/>
                    <a:p>
                      <a:r>
                        <a:rPr lang="de-DE" sz="1000" dirty="0"/>
                        <a:t>Pinyin-</a:t>
                      </a:r>
                      <a:r>
                        <a:rPr lang="de-DE" sz="1000" dirty="0" err="1"/>
                        <a:t>Guided</a:t>
                      </a:r>
                      <a:r>
                        <a:rPr lang="de-DE" sz="1000" dirty="0"/>
                        <a:t> Chinese Speech Recognition </a:t>
                      </a:r>
                      <a:r>
                        <a:rPr lang="de-DE" sz="1000" dirty="0" err="1"/>
                        <a:t>with</a:t>
                      </a:r>
                      <a:r>
                        <a:rPr lang="de-DE" sz="1000" dirty="0"/>
                        <a:t> Large Language Model</a:t>
                      </a:r>
                    </a:p>
                  </a:txBody>
                  <a:tcPr/>
                </a:tc>
                <a:tc>
                  <a:txBody>
                    <a:bodyPr/>
                    <a:lstStyle/>
                    <a:p>
                      <a:r>
                        <a:rPr lang="de-DE" sz="1000" dirty="0"/>
                        <a:t>Bezug zu Pinyin</a:t>
                      </a:r>
                    </a:p>
                  </a:txBody>
                  <a:tcPr/>
                </a:tc>
                <a:tc>
                  <a:txBody>
                    <a:bodyPr/>
                    <a:lstStyle/>
                    <a:p>
                      <a:r>
                        <a:rPr lang="de-DE" sz="1000" dirty="0"/>
                        <a:t>2025</a:t>
                      </a:r>
                    </a:p>
                  </a:txBody>
                  <a:tcPr/>
                </a:tc>
                <a:tc>
                  <a:txBody>
                    <a:bodyPr/>
                    <a:lstStyle/>
                    <a:p>
                      <a:r>
                        <a:rPr lang="de-DE" sz="1000" dirty="0"/>
                        <a:t>Eigene (Qwen2+Hubert)</a:t>
                      </a:r>
                    </a:p>
                  </a:txBody>
                  <a:tcPr/>
                </a:tc>
                <a:tc>
                  <a:txBody>
                    <a:bodyPr/>
                    <a:lstStyle/>
                    <a:p>
                      <a:r>
                        <a:rPr lang="de-DE" sz="1000" dirty="0"/>
                        <a:t>AISHELL-1</a:t>
                      </a:r>
                    </a:p>
                  </a:txBody>
                  <a:tcPr/>
                </a:tc>
                <a:tc>
                  <a:txBody>
                    <a:bodyPr/>
                    <a:lstStyle/>
                    <a:p>
                      <a:r>
                        <a:rPr lang="de-DE" sz="1000" dirty="0"/>
                        <a:t>CER, Pinyin </a:t>
                      </a:r>
                      <a:r>
                        <a:rPr lang="de-DE" sz="1000" dirty="0" err="1"/>
                        <a:t>error</a:t>
                      </a:r>
                      <a:r>
                        <a:rPr lang="de-DE" sz="1000" dirty="0"/>
                        <a:t> rate, B-CER</a:t>
                      </a:r>
                    </a:p>
                    <a:p>
                      <a:r>
                        <a:rPr lang="de-DE" sz="1000" dirty="0"/>
                        <a:t>F1-score, </a:t>
                      </a:r>
                      <a:r>
                        <a:rPr lang="de-DE" sz="1000" dirty="0" err="1"/>
                        <a:t>precision</a:t>
                      </a:r>
                      <a:r>
                        <a:rPr lang="de-DE" sz="1000" dirty="0"/>
                        <a:t>, and </a:t>
                      </a:r>
                      <a:r>
                        <a:rPr lang="de-DE" sz="1000" dirty="0" err="1"/>
                        <a:t>recall</a:t>
                      </a:r>
                      <a:r>
                        <a:rPr lang="de-DE" sz="1000" dirty="0"/>
                        <a:t> </a:t>
                      </a:r>
                    </a:p>
                  </a:txBody>
                  <a:tcPr/>
                </a:tc>
                <a:tc>
                  <a:txBody>
                    <a:bodyPr/>
                    <a:lstStyle/>
                    <a:p>
                      <a:r>
                        <a:rPr lang="de-DE" sz="1000" dirty="0">
                          <a:hlinkClick r:id="rId2"/>
                        </a:rPr>
                        <a:t>Link</a:t>
                      </a:r>
                      <a:endParaRPr lang="de-DE" sz="1000" dirty="0"/>
                    </a:p>
                  </a:txBody>
                  <a:tcPr/>
                </a:tc>
                <a:extLst>
                  <a:ext uri="{0D108BD9-81ED-4DB2-BD59-A6C34878D82A}">
                    <a16:rowId xmlns:a16="http://schemas.microsoft.com/office/drawing/2014/main" val="3680473722"/>
                  </a:ext>
                </a:extLst>
              </a:tr>
              <a:tr h="370840">
                <a:tc>
                  <a:txBody>
                    <a:bodyPr/>
                    <a:lstStyle/>
                    <a:p>
                      <a:r>
                        <a:rPr lang="de-DE" sz="1000" dirty="0"/>
                        <a:t>PERL: PINYIN ENHANCEDREPHRASINGLANGUAGEMODELFORCHINESEASR N-BEST ERRORCORRECTION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000" dirty="0"/>
                        <a:t>Bezug zu Pinyin</a:t>
                      </a:r>
                    </a:p>
                    <a:p>
                      <a:endParaRPr lang="de-DE" sz="1000" dirty="0"/>
                    </a:p>
                  </a:txBody>
                  <a:tcPr/>
                </a:tc>
                <a:tc>
                  <a:txBody>
                    <a:bodyPr/>
                    <a:lstStyle/>
                    <a:p>
                      <a:r>
                        <a:rPr lang="de-DE" sz="1000" dirty="0"/>
                        <a:t>2025</a:t>
                      </a:r>
                    </a:p>
                  </a:txBody>
                  <a:tcPr/>
                </a:tc>
                <a:tc>
                  <a:txBody>
                    <a:bodyPr/>
                    <a:lstStyle/>
                    <a:p>
                      <a:r>
                        <a:rPr lang="de-DE" sz="1000" dirty="0"/>
                        <a:t>Eigene (Bert),</a:t>
                      </a:r>
                    </a:p>
                    <a:p>
                      <a:r>
                        <a:rPr lang="de-DE" sz="1000" dirty="0"/>
                        <a:t>GPT-4o, </a:t>
                      </a:r>
                      <a:r>
                        <a:rPr lang="de-DE" sz="1000" dirty="0" err="1"/>
                        <a:t>Deepseek</a:t>
                      </a:r>
                      <a:r>
                        <a:rPr lang="de-DE" sz="1000" dirty="0"/>
                        <a:t>, Qwen2.5</a:t>
                      </a:r>
                    </a:p>
                  </a:txBody>
                  <a:tcPr/>
                </a:tc>
                <a:tc>
                  <a:txBody>
                    <a:bodyPr/>
                    <a:lstStyle/>
                    <a:p>
                      <a:r>
                        <a:rPr lang="de-DE" sz="1000" dirty="0"/>
                        <a:t>Aishell-1</a:t>
                      </a:r>
                    </a:p>
                  </a:txBody>
                  <a:tcPr/>
                </a:tc>
                <a:tc>
                  <a:txBody>
                    <a:bodyPr/>
                    <a:lstStyle/>
                    <a:p>
                      <a:r>
                        <a:rPr lang="de-DE" sz="1000" dirty="0"/>
                        <a:t>CER, CERR</a:t>
                      </a:r>
                    </a:p>
                  </a:txBody>
                  <a:tcPr/>
                </a:tc>
                <a:tc>
                  <a:txBody>
                    <a:bodyPr/>
                    <a:lstStyle/>
                    <a:p>
                      <a:r>
                        <a:rPr lang="de-DE" sz="1000" dirty="0">
                          <a:hlinkClick r:id="rId3"/>
                        </a:rPr>
                        <a:t>Link</a:t>
                      </a:r>
                      <a:endParaRPr lang="de-DE" sz="1000" dirty="0"/>
                    </a:p>
                  </a:txBody>
                  <a:tcPr/>
                </a:tc>
                <a:extLst>
                  <a:ext uri="{0D108BD9-81ED-4DB2-BD59-A6C34878D82A}">
                    <a16:rowId xmlns:a16="http://schemas.microsoft.com/office/drawing/2014/main" val="2857694942"/>
                  </a:ext>
                </a:extLst>
              </a:tr>
              <a:tr h="370840">
                <a:tc>
                  <a:txBody>
                    <a:bodyPr/>
                    <a:lstStyle/>
                    <a:p>
                      <a:r>
                        <a:rPr lang="de-DE" sz="1000" dirty="0"/>
                        <a:t>Pitch-Aware RNN-T </a:t>
                      </a:r>
                      <a:r>
                        <a:rPr lang="de-DE" sz="1000" dirty="0" err="1"/>
                        <a:t>for</a:t>
                      </a:r>
                      <a:r>
                        <a:rPr lang="de-DE" sz="1000" dirty="0"/>
                        <a:t> Mandarin Chinese </a:t>
                      </a:r>
                      <a:r>
                        <a:rPr lang="de-DE" sz="1000" dirty="0" err="1"/>
                        <a:t>Mispronunciation</a:t>
                      </a:r>
                      <a:r>
                        <a:rPr lang="de-DE" sz="1000" dirty="0"/>
                        <a:t> </a:t>
                      </a:r>
                      <a:r>
                        <a:rPr lang="de-DE" sz="1000" dirty="0" err="1"/>
                        <a:t>Detection</a:t>
                      </a:r>
                      <a:r>
                        <a:rPr lang="de-DE" sz="1000" dirty="0"/>
                        <a:t> and Diagnosis</a:t>
                      </a:r>
                    </a:p>
                  </a:txBody>
                  <a:tcPr/>
                </a:tc>
                <a:tc>
                  <a:txBody>
                    <a:bodyPr/>
                    <a:lstStyle/>
                    <a:p>
                      <a:r>
                        <a:rPr lang="de-DE" sz="1000" dirty="0"/>
                        <a:t>MDD in Mandarin</a:t>
                      </a:r>
                    </a:p>
                  </a:txBody>
                  <a:tcPr/>
                </a:tc>
                <a:tc>
                  <a:txBody>
                    <a:bodyPr/>
                    <a:lstStyle/>
                    <a:p>
                      <a:r>
                        <a:rPr lang="de-DE" sz="1000" dirty="0"/>
                        <a:t>2024</a:t>
                      </a:r>
                    </a:p>
                  </a:txBody>
                  <a:tcPr/>
                </a:tc>
                <a:tc>
                  <a:txBody>
                    <a:bodyPr/>
                    <a:lstStyle/>
                    <a:p>
                      <a:r>
                        <a:rPr lang="de-DE" sz="1000" dirty="0"/>
                        <a:t>Eigene (</a:t>
                      </a:r>
                      <a:r>
                        <a:rPr lang="de-DE" sz="1000" dirty="0" err="1"/>
                        <a:t>Hubert+RNN-T</a:t>
                      </a:r>
                      <a:r>
                        <a:rPr lang="de-DE" sz="1000" dirty="0"/>
                        <a:t>) </a:t>
                      </a:r>
                    </a:p>
                  </a:txBody>
                  <a:tcPr/>
                </a:tc>
                <a:tc>
                  <a:txBody>
                    <a:bodyPr/>
                    <a:lstStyle/>
                    <a:p>
                      <a:r>
                        <a:rPr lang="de-DE" sz="1000" dirty="0"/>
                        <a:t>LATIC</a:t>
                      </a:r>
                    </a:p>
                  </a:txBody>
                  <a:tcPr/>
                </a:tc>
                <a:tc>
                  <a:txBody>
                    <a:bodyPr/>
                    <a:lstStyle/>
                    <a:p>
                      <a:r>
                        <a:rPr lang="de-DE" sz="1000" dirty="0"/>
                        <a:t>PER, FRR, FAR, Pre, Rec, F1</a:t>
                      </a:r>
                    </a:p>
                  </a:txBody>
                  <a:tcPr/>
                </a:tc>
                <a:tc>
                  <a:txBody>
                    <a:bodyPr/>
                    <a:lstStyle/>
                    <a:p>
                      <a:r>
                        <a:rPr lang="de-DE" sz="1000" dirty="0">
                          <a:hlinkClick r:id="rId4"/>
                        </a:rPr>
                        <a:t>Link</a:t>
                      </a:r>
                      <a:endParaRPr lang="de-DE" sz="1000" dirty="0"/>
                    </a:p>
                  </a:txBody>
                  <a:tcPr/>
                </a:tc>
                <a:extLst>
                  <a:ext uri="{0D108BD9-81ED-4DB2-BD59-A6C34878D82A}">
                    <a16:rowId xmlns:a16="http://schemas.microsoft.com/office/drawing/2014/main" val="1597952640"/>
                  </a:ext>
                </a:extLst>
              </a:tr>
              <a:tr h="370840">
                <a:tc>
                  <a:txBody>
                    <a:bodyPr/>
                    <a:lstStyle/>
                    <a:p>
                      <a:r>
                        <a:rPr lang="de-DE" sz="1000" dirty="0"/>
                        <a:t>Large Language Model </a:t>
                      </a:r>
                      <a:r>
                        <a:rPr lang="de-DE" sz="1000" dirty="0" err="1"/>
                        <a:t>Should</a:t>
                      </a:r>
                      <a:r>
                        <a:rPr lang="de-DE" sz="1000" dirty="0"/>
                        <a:t> </a:t>
                      </a:r>
                      <a:r>
                        <a:rPr lang="de-DE" sz="1000" dirty="0" err="1"/>
                        <a:t>Understand</a:t>
                      </a:r>
                      <a:r>
                        <a:rPr lang="de-DE" sz="1000" dirty="0"/>
                        <a:t> Pinyin </a:t>
                      </a:r>
                      <a:r>
                        <a:rPr lang="de-DE" sz="1000" dirty="0" err="1"/>
                        <a:t>for</a:t>
                      </a:r>
                      <a:r>
                        <a:rPr lang="de-DE" sz="1000" dirty="0"/>
                        <a:t> Chinese ASR Error </a:t>
                      </a:r>
                      <a:r>
                        <a:rPr lang="de-DE" sz="1000" dirty="0" err="1"/>
                        <a:t>Correction</a:t>
                      </a:r>
                      <a:endParaRPr lang="de-DE" sz="10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000" dirty="0"/>
                        <a:t>Bezug zu Pinyin</a:t>
                      </a:r>
                    </a:p>
                    <a:p>
                      <a:endParaRPr lang="de-DE" sz="1000" dirty="0"/>
                    </a:p>
                  </a:txBody>
                  <a:tcPr/>
                </a:tc>
                <a:tc>
                  <a:txBody>
                    <a:bodyPr/>
                    <a:lstStyle/>
                    <a:p>
                      <a:r>
                        <a:rPr lang="de-DE" sz="1000" dirty="0"/>
                        <a:t>2024</a:t>
                      </a:r>
                    </a:p>
                  </a:txBody>
                  <a:tcPr/>
                </a:tc>
                <a:tc>
                  <a:txBody>
                    <a:bodyPr/>
                    <a:lstStyle/>
                    <a:p>
                      <a:r>
                        <a:rPr lang="de-DE" sz="1000" dirty="0"/>
                        <a:t>Eigene</a:t>
                      </a:r>
                    </a:p>
                  </a:txBody>
                  <a:tcPr/>
                </a:tc>
                <a:tc>
                  <a:txBody>
                    <a:bodyPr/>
                    <a:lstStyle/>
                    <a:p>
                      <a:r>
                        <a:rPr lang="de-DE" sz="1000" dirty="0"/>
                        <a:t>Aishell-1, </a:t>
                      </a:r>
                      <a:r>
                        <a:rPr lang="de-DE" sz="1000" dirty="0" err="1"/>
                        <a:t>CommonVoice</a:t>
                      </a:r>
                      <a:endParaRPr lang="de-DE" sz="1000" dirty="0"/>
                    </a:p>
                  </a:txBody>
                  <a:tcPr/>
                </a:tc>
                <a:tc>
                  <a:txBody>
                    <a:bodyPr/>
                    <a:lstStyle/>
                    <a:p>
                      <a:r>
                        <a:rPr lang="de-DE" sz="1000" dirty="0"/>
                        <a:t>CER, Entity Recall</a:t>
                      </a:r>
                    </a:p>
                  </a:txBody>
                  <a:tcPr/>
                </a:tc>
                <a:tc>
                  <a:txBody>
                    <a:bodyPr/>
                    <a:lstStyle/>
                    <a:p>
                      <a:r>
                        <a:rPr lang="de-DE" sz="1000" dirty="0">
                          <a:hlinkClick r:id="rId5"/>
                        </a:rPr>
                        <a:t>Link</a:t>
                      </a:r>
                      <a:endParaRPr lang="de-DE" sz="1000" dirty="0"/>
                    </a:p>
                  </a:txBody>
                  <a:tcPr/>
                </a:tc>
                <a:extLst>
                  <a:ext uri="{0D108BD9-81ED-4DB2-BD59-A6C34878D82A}">
                    <a16:rowId xmlns:a16="http://schemas.microsoft.com/office/drawing/2014/main" val="235616135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000" b="0" i="0" kern="1200" dirty="0" err="1">
                          <a:solidFill>
                            <a:schemeClr val="dk1"/>
                          </a:solidFill>
                          <a:effectLst/>
                          <a:latin typeface="+mn-lt"/>
                          <a:ea typeface="+mn-ea"/>
                          <a:cs typeface="+mn-cs"/>
                        </a:rPr>
                        <a:t>Automatic</a:t>
                      </a:r>
                      <a:r>
                        <a:rPr lang="de-DE" sz="1000" b="0" i="0" kern="1200" dirty="0">
                          <a:solidFill>
                            <a:schemeClr val="dk1"/>
                          </a:solidFill>
                          <a:effectLst/>
                          <a:latin typeface="+mn-lt"/>
                          <a:ea typeface="+mn-ea"/>
                          <a:cs typeface="+mn-cs"/>
                        </a:rPr>
                        <a:t> Speech Recognition: A </a:t>
                      </a:r>
                      <a:r>
                        <a:rPr lang="de-DE" sz="1000" b="0" i="0" kern="1200" dirty="0" err="1">
                          <a:solidFill>
                            <a:schemeClr val="dk1"/>
                          </a:solidFill>
                          <a:effectLst/>
                          <a:latin typeface="+mn-lt"/>
                          <a:ea typeface="+mn-ea"/>
                          <a:cs typeface="+mn-cs"/>
                        </a:rPr>
                        <a:t>survey</a:t>
                      </a:r>
                      <a:r>
                        <a:rPr lang="de-DE" sz="1000" b="0" i="0" kern="1200" dirty="0">
                          <a:solidFill>
                            <a:schemeClr val="dk1"/>
                          </a:solidFill>
                          <a:effectLst/>
                          <a:latin typeface="+mn-lt"/>
                          <a:ea typeface="+mn-ea"/>
                          <a:cs typeface="+mn-cs"/>
                        </a:rPr>
                        <a:t> </a:t>
                      </a:r>
                      <a:r>
                        <a:rPr lang="de-DE" sz="1000" b="0" i="0" kern="1200" dirty="0" err="1">
                          <a:solidFill>
                            <a:schemeClr val="dk1"/>
                          </a:solidFill>
                          <a:effectLst/>
                          <a:latin typeface="+mn-lt"/>
                          <a:ea typeface="+mn-ea"/>
                          <a:cs typeface="+mn-cs"/>
                        </a:rPr>
                        <a:t>of</a:t>
                      </a:r>
                      <a:r>
                        <a:rPr lang="de-DE" sz="1000" b="0" i="0" kern="1200" dirty="0">
                          <a:solidFill>
                            <a:schemeClr val="dk1"/>
                          </a:solidFill>
                          <a:effectLst/>
                          <a:latin typeface="+mn-lt"/>
                          <a:ea typeface="+mn-ea"/>
                          <a:cs typeface="+mn-cs"/>
                        </a:rPr>
                        <a:t> </a:t>
                      </a:r>
                      <a:r>
                        <a:rPr lang="de-DE" sz="1000" b="0" i="0" kern="1200" dirty="0" err="1">
                          <a:solidFill>
                            <a:schemeClr val="dk1"/>
                          </a:solidFill>
                          <a:effectLst/>
                          <a:latin typeface="+mn-lt"/>
                          <a:ea typeface="+mn-ea"/>
                          <a:cs typeface="+mn-cs"/>
                        </a:rPr>
                        <a:t>deep</a:t>
                      </a:r>
                      <a:r>
                        <a:rPr lang="de-DE" sz="1000" b="0" i="0" kern="1200" dirty="0">
                          <a:solidFill>
                            <a:schemeClr val="dk1"/>
                          </a:solidFill>
                          <a:effectLst/>
                          <a:latin typeface="+mn-lt"/>
                          <a:ea typeface="+mn-ea"/>
                          <a:cs typeface="+mn-cs"/>
                        </a:rPr>
                        <a:t> </a:t>
                      </a:r>
                      <a:r>
                        <a:rPr lang="de-DE" sz="1000" b="0" i="0" kern="1200" dirty="0" err="1">
                          <a:solidFill>
                            <a:schemeClr val="dk1"/>
                          </a:solidFill>
                          <a:effectLst/>
                          <a:latin typeface="+mn-lt"/>
                          <a:ea typeface="+mn-ea"/>
                          <a:cs typeface="+mn-cs"/>
                        </a:rPr>
                        <a:t>learning</a:t>
                      </a:r>
                      <a:r>
                        <a:rPr lang="de-DE" sz="1000" b="0" i="0" kern="1200" dirty="0">
                          <a:solidFill>
                            <a:schemeClr val="dk1"/>
                          </a:solidFill>
                          <a:effectLst/>
                          <a:latin typeface="+mn-lt"/>
                          <a:ea typeface="+mn-ea"/>
                          <a:cs typeface="+mn-cs"/>
                        </a:rPr>
                        <a:t> </a:t>
                      </a:r>
                      <a:r>
                        <a:rPr lang="de-DE" sz="1000" b="0" i="0" kern="1200" dirty="0" err="1">
                          <a:solidFill>
                            <a:schemeClr val="dk1"/>
                          </a:solidFill>
                          <a:effectLst/>
                          <a:latin typeface="+mn-lt"/>
                          <a:ea typeface="+mn-ea"/>
                          <a:cs typeface="+mn-cs"/>
                        </a:rPr>
                        <a:t>techniques</a:t>
                      </a:r>
                      <a:r>
                        <a:rPr lang="de-DE" sz="1000" b="0" i="0" kern="1200" dirty="0">
                          <a:solidFill>
                            <a:schemeClr val="dk1"/>
                          </a:solidFill>
                          <a:effectLst/>
                          <a:latin typeface="+mn-lt"/>
                          <a:ea typeface="+mn-ea"/>
                          <a:cs typeface="+mn-cs"/>
                        </a:rPr>
                        <a:t> and </a:t>
                      </a:r>
                      <a:r>
                        <a:rPr lang="de-DE" sz="1000" b="0" i="0" kern="1200" dirty="0" err="1">
                          <a:solidFill>
                            <a:schemeClr val="dk1"/>
                          </a:solidFill>
                          <a:effectLst/>
                          <a:latin typeface="+mn-lt"/>
                          <a:ea typeface="+mn-ea"/>
                          <a:cs typeface="+mn-cs"/>
                        </a:rPr>
                        <a:t>approaches</a:t>
                      </a:r>
                      <a:endParaRPr lang="de-DE" sz="1000" b="0" i="0" kern="1200" dirty="0">
                        <a:solidFill>
                          <a:schemeClr val="dk1"/>
                        </a:solidFill>
                        <a:effectLst/>
                        <a:latin typeface="+mn-lt"/>
                        <a:ea typeface="+mn-ea"/>
                        <a:cs typeface="+mn-cs"/>
                      </a:endParaRPr>
                    </a:p>
                    <a:p>
                      <a:endParaRPr lang="de-DE" sz="1000" dirty="0"/>
                    </a:p>
                  </a:txBody>
                  <a:tcPr/>
                </a:tc>
                <a:tc>
                  <a:txBody>
                    <a:bodyPr/>
                    <a:lstStyle/>
                    <a:p>
                      <a:r>
                        <a:rPr lang="de-DE" sz="1000" dirty="0"/>
                        <a:t>Andere Deep Learning</a:t>
                      </a:r>
                    </a:p>
                  </a:txBody>
                  <a:tcPr/>
                </a:tc>
                <a:tc>
                  <a:txBody>
                    <a:bodyPr/>
                    <a:lstStyle/>
                    <a:p>
                      <a:r>
                        <a:rPr lang="de-DE" sz="1000" dirty="0"/>
                        <a:t>2025</a:t>
                      </a:r>
                    </a:p>
                  </a:txBody>
                  <a:tcPr/>
                </a:tc>
                <a:tc>
                  <a:txBody>
                    <a:bodyPr/>
                    <a:lstStyle/>
                    <a:p>
                      <a:endParaRPr lang="de-DE" sz="1000" dirty="0"/>
                    </a:p>
                  </a:txBody>
                  <a:tcPr/>
                </a:tc>
                <a:tc>
                  <a:txBody>
                    <a:bodyPr/>
                    <a:lstStyle/>
                    <a:p>
                      <a:endParaRPr lang="de-DE" sz="1000" dirty="0"/>
                    </a:p>
                  </a:txBody>
                  <a:tcPr/>
                </a:tc>
                <a:tc>
                  <a:txBody>
                    <a:bodyPr/>
                    <a:lstStyle/>
                    <a:p>
                      <a:endParaRPr lang="de-DE" sz="1000" dirty="0"/>
                    </a:p>
                  </a:txBody>
                  <a:tcPr/>
                </a:tc>
                <a:tc>
                  <a:txBody>
                    <a:bodyPr/>
                    <a:lstStyle/>
                    <a:p>
                      <a:r>
                        <a:rPr lang="de-DE" sz="1000" dirty="0">
                          <a:hlinkClick r:id="rId6"/>
                        </a:rPr>
                        <a:t>Link</a:t>
                      </a:r>
                      <a:endParaRPr lang="de-DE" sz="1000" dirty="0"/>
                    </a:p>
                  </a:txBody>
                  <a:tcPr/>
                </a:tc>
                <a:extLst>
                  <a:ext uri="{0D108BD9-81ED-4DB2-BD59-A6C34878D82A}">
                    <a16:rowId xmlns:a16="http://schemas.microsoft.com/office/drawing/2014/main" val="1344369774"/>
                  </a:ext>
                </a:extLst>
              </a:tr>
              <a:tr h="370840">
                <a:tc>
                  <a:txBody>
                    <a:bodyPr/>
                    <a:lstStyle/>
                    <a:p>
                      <a:r>
                        <a:rPr lang="de-DE" sz="1000" dirty="0"/>
                        <a:t>The </a:t>
                      </a:r>
                      <a:r>
                        <a:rPr lang="de-DE" sz="1000" dirty="0" err="1"/>
                        <a:t>assessment</a:t>
                      </a:r>
                      <a:r>
                        <a:rPr lang="de-DE" sz="1000" dirty="0"/>
                        <a:t> </a:t>
                      </a:r>
                      <a:r>
                        <a:rPr lang="de-DE" sz="1000" dirty="0" err="1"/>
                        <a:t>of</a:t>
                      </a:r>
                      <a:r>
                        <a:rPr lang="de-DE" sz="1000" dirty="0"/>
                        <a:t> </a:t>
                      </a:r>
                      <a:r>
                        <a:rPr lang="de-DE" sz="1000" dirty="0" err="1"/>
                        <a:t>automated</a:t>
                      </a:r>
                      <a:r>
                        <a:rPr lang="de-DE" sz="1000" dirty="0"/>
                        <a:t> </a:t>
                      </a:r>
                      <a:r>
                        <a:rPr lang="de-DE" sz="1000" dirty="0" err="1"/>
                        <a:t>rating</a:t>
                      </a:r>
                      <a:r>
                        <a:rPr lang="de-DE" sz="1000" dirty="0"/>
                        <a:t> </a:t>
                      </a:r>
                      <a:r>
                        <a:rPr lang="de-DE" sz="1000" dirty="0" err="1"/>
                        <a:t>of</a:t>
                      </a:r>
                      <a:r>
                        <a:rPr lang="de-DE" sz="1000" dirty="0"/>
                        <a:t> L2 Mandarin </a:t>
                      </a:r>
                      <a:r>
                        <a:rPr lang="de-DE" sz="1000" dirty="0" err="1"/>
                        <a:t>prosody</a:t>
                      </a:r>
                      <a:r>
                        <a:rPr lang="de-DE" sz="1000" dirty="0"/>
                        <a:t> in </a:t>
                      </a:r>
                      <a:r>
                        <a:rPr lang="de-DE" sz="1000" dirty="0" err="1"/>
                        <a:t>lexical</a:t>
                      </a:r>
                      <a:r>
                        <a:rPr lang="de-DE" sz="1000" dirty="0"/>
                        <a:t> tone </a:t>
                      </a:r>
                      <a:r>
                        <a:rPr lang="de-DE" sz="1000" dirty="0" err="1"/>
                        <a:t>recognition</a:t>
                      </a:r>
                      <a:r>
                        <a:rPr lang="de-DE" sz="1000" dirty="0"/>
                        <a:t> and </a:t>
                      </a:r>
                      <a:r>
                        <a:rPr lang="de-DE" sz="1000" dirty="0" err="1"/>
                        <a:t>pauses</a:t>
                      </a:r>
                      <a:endParaRPr lang="de-DE" sz="1000" dirty="0"/>
                    </a:p>
                  </a:txBody>
                  <a:tcPr/>
                </a:tc>
                <a:tc>
                  <a:txBody>
                    <a:bodyPr/>
                    <a:lstStyle/>
                    <a:p>
                      <a:r>
                        <a:rPr lang="de-DE" sz="1000" dirty="0"/>
                        <a:t>Mandarin</a:t>
                      </a:r>
                    </a:p>
                  </a:txBody>
                  <a:tcPr/>
                </a:tc>
                <a:tc>
                  <a:txBody>
                    <a:bodyPr/>
                    <a:lstStyle/>
                    <a:p>
                      <a:r>
                        <a:rPr lang="de-DE" sz="1000" dirty="0"/>
                        <a:t>2024</a:t>
                      </a:r>
                    </a:p>
                  </a:txBody>
                  <a:tcPr/>
                </a:tc>
                <a:tc>
                  <a:txBody>
                    <a:bodyPr/>
                    <a:lstStyle/>
                    <a:p>
                      <a:endParaRPr lang="de-DE" sz="1000" dirty="0"/>
                    </a:p>
                  </a:txBody>
                  <a:tcPr/>
                </a:tc>
                <a:tc>
                  <a:txBody>
                    <a:bodyPr/>
                    <a:lstStyle/>
                    <a:p>
                      <a:endParaRPr lang="de-DE" sz="1000" dirty="0"/>
                    </a:p>
                  </a:txBody>
                  <a:tcPr/>
                </a:tc>
                <a:tc>
                  <a:txBody>
                    <a:bodyPr/>
                    <a:lstStyle/>
                    <a:p>
                      <a:endParaRPr lang="de-DE" sz="1000" dirty="0"/>
                    </a:p>
                  </a:txBody>
                  <a:tcPr/>
                </a:tc>
                <a:tc>
                  <a:txBody>
                    <a:bodyPr/>
                    <a:lstStyle/>
                    <a:p>
                      <a:r>
                        <a:rPr lang="de-DE" sz="1000" dirty="0">
                          <a:hlinkClick r:id="rId7"/>
                        </a:rPr>
                        <a:t>Link</a:t>
                      </a:r>
                      <a:endParaRPr lang="de-DE" sz="1000" dirty="0"/>
                    </a:p>
                  </a:txBody>
                  <a:tcPr/>
                </a:tc>
                <a:extLst>
                  <a:ext uri="{0D108BD9-81ED-4DB2-BD59-A6C34878D82A}">
                    <a16:rowId xmlns:a16="http://schemas.microsoft.com/office/drawing/2014/main" val="2860487668"/>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000" b="0" i="0" kern="1200" dirty="0" err="1">
                          <a:solidFill>
                            <a:schemeClr val="dk1"/>
                          </a:solidFill>
                          <a:effectLst/>
                          <a:latin typeface="+mn-lt"/>
                          <a:ea typeface="+mn-ea"/>
                          <a:cs typeface="+mn-cs"/>
                        </a:rPr>
                        <a:t>Evaluating</a:t>
                      </a:r>
                      <a:r>
                        <a:rPr lang="de-DE" sz="1000" b="0" i="0" kern="1200" dirty="0">
                          <a:solidFill>
                            <a:schemeClr val="dk1"/>
                          </a:solidFill>
                          <a:effectLst/>
                          <a:latin typeface="+mn-lt"/>
                          <a:ea typeface="+mn-ea"/>
                          <a:cs typeface="+mn-cs"/>
                        </a:rPr>
                        <a:t> Mandarin tone </a:t>
                      </a:r>
                      <a:r>
                        <a:rPr lang="de-DE" sz="1000" b="0" i="0" kern="1200" dirty="0" err="1">
                          <a:solidFill>
                            <a:schemeClr val="dk1"/>
                          </a:solidFill>
                          <a:effectLst/>
                          <a:latin typeface="+mn-lt"/>
                          <a:ea typeface="+mn-ea"/>
                          <a:cs typeface="+mn-cs"/>
                        </a:rPr>
                        <a:t>pronunciation</a:t>
                      </a:r>
                      <a:r>
                        <a:rPr lang="de-DE" sz="1000" b="0" i="0" kern="1200" dirty="0">
                          <a:solidFill>
                            <a:schemeClr val="dk1"/>
                          </a:solidFill>
                          <a:effectLst/>
                          <a:latin typeface="+mn-lt"/>
                          <a:ea typeface="+mn-ea"/>
                          <a:cs typeface="+mn-cs"/>
                        </a:rPr>
                        <a:t> </a:t>
                      </a:r>
                      <a:r>
                        <a:rPr lang="de-DE" sz="1000" b="0" i="0" kern="1200" dirty="0" err="1">
                          <a:solidFill>
                            <a:schemeClr val="dk1"/>
                          </a:solidFill>
                          <a:effectLst/>
                          <a:latin typeface="+mn-lt"/>
                          <a:ea typeface="+mn-ea"/>
                          <a:cs typeface="+mn-cs"/>
                        </a:rPr>
                        <a:t>accuracy</a:t>
                      </a:r>
                      <a:r>
                        <a:rPr lang="de-DE" sz="1000" b="0" i="0" kern="1200" dirty="0">
                          <a:solidFill>
                            <a:schemeClr val="dk1"/>
                          </a:solidFill>
                          <a:effectLst/>
                          <a:latin typeface="+mn-lt"/>
                          <a:ea typeface="+mn-ea"/>
                          <a:cs typeface="+mn-cs"/>
                        </a:rPr>
                        <a:t> </a:t>
                      </a:r>
                      <a:r>
                        <a:rPr lang="de-DE" sz="1000" b="0" i="0" kern="1200" dirty="0" err="1">
                          <a:solidFill>
                            <a:schemeClr val="dk1"/>
                          </a:solidFill>
                          <a:effectLst/>
                          <a:latin typeface="+mn-lt"/>
                          <a:ea typeface="+mn-ea"/>
                          <a:cs typeface="+mn-cs"/>
                        </a:rPr>
                        <a:t>for</a:t>
                      </a:r>
                      <a:r>
                        <a:rPr lang="de-DE" sz="1000" b="0" i="0" kern="1200" dirty="0">
                          <a:solidFill>
                            <a:schemeClr val="dk1"/>
                          </a:solidFill>
                          <a:effectLst/>
                          <a:latin typeface="+mn-lt"/>
                          <a:ea typeface="+mn-ea"/>
                          <a:cs typeface="+mn-cs"/>
                        </a:rPr>
                        <a:t> </a:t>
                      </a:r>
                      <a:r>
                        <a:rPr lang="de-DE" sz="1000" b="0" i="0" kern="1200" dirty="0" err="1">
                          <a:solidFill>
                            <a:schemeClr val="dk1"/>
                          </a:solidFill>
                          <a:effectLst/>
                          <a:latin typeface="+mn-lt"/>
                          <a:ea typeface="+mn-ea"/>
                          <a:cs typeface="+mn-cs"/>
                        </a:rPr>
                        <a:t>second</a:t>
                      </a:r>
                      <a:r>
                        <a:rPr lang="de-DE" sz="1000" b="0" i="0" kern="1200" dirty="0">
                          <a:solidFill>
                            <a:schemeClr val="dk1"/>
                          </a:solidFill>
                          <a:effectLst/>
                          <a:latin typeface="+mn-lt"/>
                          <a:ea typeface="+mn-ea"/>
                          <a:cs typeface="+mn-cs"/>
                        </a:rPr>
                        <a:t> </a:t>
                      </a:r>
                      <a:r>
                        <a:rPr lang="de-DE" sz="1000" b="0" i="0" kern="1200" dirty="0" err="1">
                          <a:solidFill>
                            <a:schemeClr val="dk1"/>
                          </a:solidFill>
                          <a:effectLst/>
                          <a:latin typeface="+mn-lt"/>
                          <a:ea typeface="+mn-ea"/>
                          <a:cs typeface="+mn-cs"/>
                        </a:rPr>
                        <a:t>language</a:t>
                      </a:r>
                      <a:r>
                        <a:rPr lang="de-DE" sz="1000" b="0" i="0" kern="1200" dirty="0">
                          <a:solidFill>
                            <a:schemeClr val="dk1"/>
                          </a:solidFill>
                          <a:effectLst/>
                          <a:latin typeface="+mn-lt"/>
                          <a:ea typeface="+mn-ea"/>
                          <a:cs typeface="+mn-cs"/>
                        </a:rPr>
                        <a:t> </a:t>
                      </a:r>
                      <a:r>
                        <a:rPr lang="de-DE" sz="1000" b="0" i="0" kern="1200" dirty="0" err="1">
                          <a:solidFill>
                            <a:schemeClr val="dk1"/>
                          </a:solidFill>
                          <a:effectLst/>
                          <a:latin typeface="+mn-lt"/>
                          <a:ea typeface="+mn-ea"/>
                          <a:cs typeface="+mn-cs"/>
                        </a:rPr>
                        <a:t>learners</a:t>
                      </a:r>
                      <a:r>
                        <a:rPr lang="de-DE" sz="1000" b="0" i="0" kern="1200" dirty="0">
                          <a:solidFill>
                            <a:schemeClr val="dk1"/>
                          </a:solidFill>
                          <a:effectLst/>
                          <a:latin typeface="+mn-lt"/>
                          <a:ea typeface="+mn-ea"/>
                          <a:cs typeface="+mn-cs"/>
                        </a:rPr>
                        <a:t> </a:t>
                      </a:r>
                      <a:r>
                        <a:rPr lang="de-DE" sz="1000" b="0" i="0" kern="1200" dirty="0" err="1">
                          <a:solidFill>
                            <a:schemeClr val="dk1"/>
                          </a:solidFill>
                          <a:effectLst/>
                          <a:latin typeface="+mn-lt"/>
                          <a:ea typeface="+mn-ea"/>
                          <a:cs typeface="+mn-cs"/>
                        </a:rPr>
                        <a:t>using</a:t>
                      </a:r>
                      <a:r>
                        <a:rPr lang="de-DE" sz="1000" b="0" i="0" kern="1200" dirty="0">
                          <a:solidFill>
                            <a:schemeClr val="dk1"/>
                          </a:solidFill>
                          <a:effectLst/>
                          <a:latin typeface="+mn-lt"/>
                          <a:ea typeface="+mn-ea"/>
                          <a:cs typeface="+mn-cs"/>
                        </a:rPr>
                        <a:t> a </a:t>
                      </a:r>
                      <a:r>
                        <a:rPr lang="de-DE" sz="1000" b="0" i="0" kern="1200" dirty="0" err="1">
                          <a:solidFill>
                            <a:schemeClr val="dk1"/>
                          </a:solidFill>
                          <a:effectLst/>
                          <a:latin typeface="+mn-lt"/>
                          <a:ea typeface="+mn-ea"/>
                          <a:cs typeface="+mn-cs"/>
                        </a:rPr>
                        <a:t>ResNet-based</a:t>
                      </a:r>
                      <a:r>
                        <a:rPr lang="de-DE" sz="1000" b="0" i="0" kern="1200" dirty="0">
                          <a:solidFill>
                            <a:schemeClr val="dk1"/>
                          </a:solidFill>
                          <a:effectLst/>
                          <a:latin typeface="+mn-lt"/>
                          <a:ea typeface="+mn-ea"/>
                          <a:cs typeface="+mn-cs"/>
                        </a:rPr>
                        <a:t> Siamese network</a:t>
                      </a:r>
                    </a:p>
                    <a:p>
                      <a:endParaRPr lang="de-DE" sz="1000" dirty="0"/>
                    </a:p>
                  </a:txBody>
                  <a:tcPr/>
                </a:tc>
                <a:tc>
                  <a:txBody>
                    <a:bodyPr/>
                    <a:lstStyle/>
                    <a:p>
                      <a:r>
                        <a:rPr lang="de-DE" sz="1000" dirty="0"/>
                        <a:t>Mandarin</a:t>
                      </a:r>
                    </a:p>
                  </a:txBody>
                  <a:tcPr/>
                </a:tc>
                <a:tc>
                  <a:txBody>
                    <a:bodyPr/>
                    <a:lstStyle/>
                    <a:p>
                      <a:r>
                        <a:rPr lang="de-DE" sz="1000" dirty="0"/>
                        <a:t>2025</a:t>
                      </a:r>
                    </a:p>
                  </a:txBody>
                  <a:tcPr/>
                </a:tc>
                <a:tc>
                  <a:txBody>
                    <a:bodyPr/>
                    <a:lstStyle/>
                    <a:p>
                      <a:endParaRPr lang="de-DE" sz="1000" dirty="0"/>
                    </a:p>
                  </a:txBody>
                  <a:tcPr/>
                </a:tc>
                <a:tc>
                  <a:txBody>
                    <a:bodyPr/>
                    <a:lstStyle/>
                    <a:p>
                      <a:r>
                        <a:rPr lang="de-DE" sz="1000" b="0" i="0" kern="1200" dirty="0">
                          <a:solidFill>
                            <a:schemeClr val="dk1"/>
                          </a:solidFill>
                          <a:effectLst/>
                          <a:latin typeface="+mn-lt"/>
                          <a:ea typeface="+mn-ea"/>
                          <a:cs typeface="+mn-cs"/>
                        </a:rPr>
                        <a:t>THCHS3, </a:t>
                      </a:r>
                      <a:r>
                        <a:rPr lang="de-DE" sz="1000" b="0" i="0" kern="1200" dirty="0" err="1">
                          <a:solidFill>
                            <a:schemeClr val="dk1"/>
                          </a:solidFill>
                          <a:effectLst/>
                          <a:latin typeface="+mn-lt"/>
                          <a:ea typeface="+mn-ea"/>
                          <a:cs typeface="+mn-cs"/>
                        </a:rPr>
                        <a:t>AIShell</a:t>
                      </a:r>
                      <a:endParaRPr lang="de-DE" sz="1000" dirty="0"/>
                    </a:p>
                  </a:txBody>
                  <a:tcPr/>
                </a:tc>
                <a:tc>
                  <a:txBody>
                    <a:bodyPr/>
                    <a:lstStyle/>
                    <a:p>
                      <a:endParaRPr lang="de-DE" sz="1000" dirty="0"/>
                    </a:p>
                  </a:txBody>
                  <a:tcPr/>
                </a:tc>
                <a:tc>
                  <a:txBody>
                    <a:bodyPr/>
                    <a:lstStyle/>
                    <a:p>
                      <a:r>
                        <a:rPr lang="de-DE" sz="1000" dirty="0">
                          <a:hlinkClick r:id="rId8"/>
                        </a:rPr>
                        <a:t>Link</a:t>
                      </a:r>
                      <a:endParaRPr lang="de-DE" sz="1000" dirty="0"/>
                    </a:p>
                  </a:txBody>
                  <a:tcPr/>
                </a:tc>
                <a:extLst>
                  <a:ext uri="{0D108BD9-81ED-4DB2-BD59-A6C34878D82A}">
                    <a16:rowId xmlns:a16="http://schemas.microsoft.com/office/drawing/2014/main" val="207186334"/>
                  </a:ext>
                </a:extLst>
              </a:tr>
              <a:tr h="370840">
                <a:tc>
                  <a:txBody>
                    <a:bodyPr/>
                    <a:lstStyle/>
                    <a:p>
                      <a:r>
                        <a:rPr lang="de-DE" sz="1000" b="0" i="0" u="none" strike="noStrike" kern="1200" baseline="0" dirty="0" err="1">
                          <a:solidFill>
                            <a:schemeClr val="dk1"/>
                          </a:solidFill>
                          <a:latin typeface="+mn-lt"/>
                          <a:ea typeface="+mn-ea"/>
                          <a:cs typeface="+mn-cs"/>
                        </a:rPr>
                        <a:t>Perception</a:t>
                      </a:r>
                      <a:r>
                        <a:rPr lang="de-DE" sz="1000" b="0" i="0" u="none" strike="noStrike" kern="1200" baseline="0" dirty="0">
                          <a:solidFill>
                            <a:schemeClr val="dk1"/>
                          </a:solidFill>
                          <a:latin typeface="+mn-lt"/>
                          <a:ea typeface="+mn-ea"/>
                          <a:cs typeface="+mn-cs"/>
                        </a:rPr>
                        <a:t>–</a:t>
                      </a:r>
                      <a:r>
                        <a:rPr lang="de-DE" sz="1000" b="0" i="0" u="none" strike="noStrike" kern="1200" baseline="0" dirty="0" err="1">
                          <a:solidFill>
                            <a:schemeClr val="dk1"/>
                          </a:solidFill>
                          <a:latin typeface="+mn-lt"/>
                          <a:ea typeface="+mn-ea"/>
                          <a:cs typeface="+mn-cs"/>
                        </a:rPr>
                        <a:t>Production</a:t>
                      </a:r>
                      <a:r>
                        <a:rPr lang="de-DE" sz="1000" b="0" i="0" u="none" strike="noStrike" kern="1200" baseline="0" dirty="0">
                          <a:solidFill>
                            <a:schemeClr val="dk1"/>
                          </a:solidFill>
                          <a:latin typeface="+mn-lt"/>
                          <a:ea typeface="+mn-ea"/>
                          <a:cs typeface="+mn-cs"/>
                        </a:rPr>
                        <a:t> </a:t>
                      </a:r>
                      <a:r>
                        <a:rPr lang="de-DE" sz="1000" b="0" i="0" u="none" strike="noStrike" kern="1200" baseline="0" dirty="0" err="1">
                          <a:solidFill>
                            <a:schemeClr val="dk1"/>
                          </a:solidFill>
                          <a:latin typeface="+mn-lt"/>
                          <a:ea typeface="+mn-ea"/>
                          <a:cs typeface="+mn-cs"/>
                        </a:rPr>
                        <a:t>of</a:t>
                      </a:r>
                      <a:r>
                        <a:rPr lang="de-DE" sz="1000" b="0" i="0" u="none" strike="noStrike" kern="1200" baseline="0" dirty="0">
                          <a:solidFill>
                            <a:schemeClr val="dk1"/>
                          </a:solidFill>
                          <a:latin typeface="+mn-lt"/>
                          <a:ea typeface="+mn-ea"/>
                          <a:cs typeface="+mn-cs"/>
                        </a:rPr>
                        <a:t> Second‑Language Mandarin Tones</a:t>
                      </a:r>
                    </a:p>
                    <a:p>
                      <a:r>
                        <a:rPr lang="en-US" sz="1000" b="0" i="0" u="none" strike="noStrike" kern="1200" baseline="0" dirty="0">
                          <a:solidFill>
                            <a:schemeClr val="dk1"/>
                          </a:solidFill>
                          <a:latin typeface="+mn-lt"/>
                          <a:ea typeface="+mn-ea"/>
                          <a:cs typeface="+mn-cs"/>
                        </a:rPr>
                        <a:t>Based on Interpretable Computational Methods: A Review</a:t>
                      </a:r>
                      <a:endParaRPr lang="de-DE" sz="1000" b="0" dirty="0"/>
                    </a:p>
                  </a:txBody>
                  <a:tcPr/>
                </a:tc>
                <a:tc>
                  <a:txBody>
                    <a:bodyPr/>
                    <a:lstStyle/>
                    <a:p>
                      <a:r>
                        <a:rPr lang="de-DE" sz="1000" b="0" dirty="0"/>
                        <a:t>Mandarin</a:t>
                      </a:r>
                    </a:p>
                  </a:txBody>
                  <a:tcPr/>
                </a:tc>
                <a:tc>
                  <a:txBody>
                    <a:bodyPr/>
                    <a:lstStyle/>
                    <a:p>
                      <a:r>
                        <a:rPr lang="de-DE" sz="1000" dirty="0"/>
                        <a:t>2025</a:t>
                      </a:r>
                    </a:p>
                  </a:txBody>
                  <a:tcPr/>
                </a:tc>
                <a:tc>
                  <a:txBody>
                    <a:bodyPr/>
                    <a:lstStyle/>
                    <a:p>
                      <a:endParaRPr lang="de-DE" sz="1000" dirty="0"/>
                    </a:p>
                  </a:txBody>
                  <a:tcPr/>
                </a:tc>
                <a:tc>
                  <a:txBody>
                    <a:bodyPr/>
                    <a:lstStyle/>
                    <a:p>
                      <a:endParaRPr lang="de-DE" sz="1000" dirty="0"/>
                    </a:p>
                  </a:txBody>
                  <a:tcPr/>
                </a:tc>
                <a:tc>
                  <a:txBody>
                    <a:bodyPr/>
                    <a:lstStyle/>
                    <a:p>
                      <a:endParaRPr lang="de-DE" sz="1000" dirty="0"/>
                    </a:p>
                  </a:txBody>
                  <a:tcPr/>
                </a:tc>
                <a:tc>
                  <a:txBody>
                    <a:bodyPr/>
                    <a:lstStyle/>
                    <a:p>
                      <a:r>
                        <a:rPr lang="de-DE" sz="1000" dirty="0">
                          <a:hlinkClick r:id="rId9"/>
                        </a:rPr>
                        <a:t>Link</a:t>
                      </a:r>
                      <a:endParaRPr lang="de-DE" sz="1000" dirty="0"/>
                    </a:p>
                  </a:txBody>
                  <a:tcPr/>
                </a:tc>
                <a:extLst>
                  <a:ext uri="{0D108BD9-81ED-4DB2-BD59-A6C34878D82A}">
                    <a16:rowId xmlns:a16="http://schemas.microsoft.com/office/drawing/2014/main" val="381775796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000" b="0" i="0" kern="1200" dirty="0" err="1">
                          <a:solidFill>
                            <a:schemeClr val="dk1"/>
                          </a:solidFill>
                          <a:effectLst/>
                          <a:latin typeface="+mn-lt"/>
                          <a:ea typeface="+mn-ea"/>
                          <a:cs typeface="+mn-cs"/>
                        </a:rPr>
                        <a:t>Automatic</a:t>
                      </a:r>
                      <a:r>
                        <a:rPr lang="de-DE" sz="1000" b="0" i="0" kern="1200" dirty="0">
                          <a:solidFill>
                            <a:schemeClr val="dk1"/>
                          </a:solidFill>
                          <a:effectLst/>
                          <a:latin typeface="+mn-lt"/>
                          <a:ea typeface="+mn-ea"/>
                          <a:cs typeface="+mn-cs"/>
                        </a:rPr>
                        <a:t> Speech Recognition System </a:t>
                      </a:r>
                      <a:r>
                        <a:rPr lang="de-DE" sz="1000" b="0" i="0" kern="1200" dirty="0" err="1">
                          <a:solidFill>
                            <a:schemeClr val="dk1"/>
                          </a:solidFill>
                          <a:effectLst/>
                          <a:latin typeface="+mn-lt"/>
                          <a:ea typeface="+mn-ea"/>
                          <a:cs typeface="+mn-cs"/>
                        </a:rPr>
                        <a:t>for</a:t>
                      </a:r>
                      <a:r>
                        <a:rPr lang="de-DE" sz="1000" b="0" i="0" kern="1200" dirty="0">
                          <a:solidFill>
                            <a:schemeClr val="dk1"/>
                          </a:solidFill>
                          <a:effectLst/>
                          <a:latin typeface="+mn-lt"/>
                          <a:ea typeface="+mn-ea"/>
                          <a:cs typeface="+mn-cs"/>
                        </a:rPr>
                        <a:t> Tonal </a:t>
                      </a:r>
                      <a:r>
                        <a:rPr lang="de-DE" sz="1000" b="0" i="0" kern="1200" dirty="0" err="1">
                          <a:solidFill>
                            <a:schemeClr val="dk1"/>
                          </a:solidFill>
                          <a:effectLst/>
                          <a:latin typeface="+mn-lt"/>
                          <a:ea typeface="+mn-ea"/>
                          <a:cs typeface="+mn-cs"/>
                        </a:rPr>
                        <a:t>Languages</a:t>
                      </a:r>
                      <a:r>
                        <a:rPr lang="de-DE" sz="1000" b="0" i="0" kern="1200" dirty="0">
                          <a:solidFill>
                            <a:schemeClr val="dk1"/>
                          </a:solidFill>
                          <a:effectLst/>
                          <a:latin typeface="+mn-lt"/>
                          <a:ea typeface="+mn-ea"/>
                          <a:cs typeface="+mn-cs"/>
                        </a:rPr>
                        <a:t>: State-</a:t>
                      </a:r>
                      <a:r>
                        <a:rPr lang="de-DE" sz="1000" b="0" i="0" kern="1200" dirty="0" err="1">
                          <a:solidFill>
                            <a:schemeClr val="dk1"/>
                          </a:solidFill>
                          <a:effectLst/>
                          <a:latin typeface="+mn-lt"/>
                          <a:ea typeface="+mn-ea"/>
                          <a:cs typeface="+mn-cs"/>
                        </a:rPr>
                        <a:t>of</a:t>
                      </a:r>
                      <a:r>
                        <a:rPr lang="de-DE" sz="1000" b="0" i="0" kern="1200" dirty="0">
                          <a:solidFill>
                            <a:schemeClr val="dk1"/>
                          </a:solidFill>
                          <a:effectLst/>
                          <a:latin typeface="+mn-lt"/>
                          <a:ea typeface="+mn-ea"/>
                          <a:cs typeface="+mn-cs"/>
                        </a:rPr>
                        <a:t>-</a:t>
                      </a:r>
                      <a:r>
                        <a:rPr lang="de-DE" sz="1000" b="0" i="0" kern="1200" dirty="0" err="1">
                          <a:solidFill>
                            <a:schemeClr val="dk1"/>
                          </a:solidFill>
                          <a:effectLst/>
                          <a:latin typeface="+mn-lt"/>
                          <a:ea typeface="+mn-ea"/>
                          <a:cs typeface="+mn-cs"/>
                        </a:rPr>
                        <a:t>the</a:t>
                      </a:r>
                      <a:r>
                        <a:rPr lang="de-DE" sz="1000" b="0" i="0" kern="1200" dirty="0">
                          <a:solidFill>
                            <a:schemeClr val="dk1"/>
                          </a:solidFill>
                          <a:effectLst/>
                          <a:latin typeface="+mn-lt"/>
                          <a:ea typeface="+mn-ea"/>
                          <a:cs typeface="+mn-cs"/>
                        </a:rPr>
                        <a:t>-Art Survey</a:t>
                      </a:r>
                    </a:p>
                    <a:p>
                      <a:endParaRPr lang="de-DE" sz="1000" b="0" dirty="0"/>
                    </a:p>
                  </a:txBody>
                  <a:tcPr/>
                </a:tc>
                <a:tc>
                  <a:txBody>
                    <a:bodyPr/>
                    <a:lstStyle/>
                    <a:p>
                      <a:r>
                        <a:rPr lang="de-DE" sz="1000" b="0" dirty="0"/>
                        <a:t>Tonale Sprachen</a:t>
                      </a:r>
                    </a:p>
                  </a:txBody>
                  <a:tcPr/>
                </a:tc>
                <a:tc>
                  <a:txBody>
                    <a:bodyPr/>
                    <a:lstStyle/>
                    <a:p>
                      <a:r>
                        <a:rPr lang="de-DE" sz="1000" b="0" i="0" kern="1200" dirty="0">
                          <a:solidFill>
                            <a:schemeClr val="dk1"/>
                          </a:solidFill>
                          <a:effectLst/>
                          <a:latin typeface="+mn-lt"/>
                          <a:ea typeface="+mn-ea"/>
                          <a:cs typeface="+mn-cs"/>
                        </a:rPr>
                        <a:t>2020</a:t>
                      </a:r>
                      <a:endParaRPr lang="de-DE" sz="1000" dirty="0"/>
                    </a:p>
                  </a:txBody>
                  <a:tcPr/>
                </a:tc>
                <a:tc>
                  <a:txBody>
                    <a:bodyPr/>
                    <a:lstStyle/>
                    <a:p>
                      <a:endParaRPr lang="de-DE" sz="1000" dirty="0"/>
                    </a:p>
                  </a:txBody>
                  <a:tcPr/>
                </a:tc>
                <a:tc>
                  <a:txBody>
                    <a:bodyPr/>
                    <a:lstStyle/>
                    <a:p>
                      <a:endParaRPr lang="de-DE" sz="1000" dirty="0"/>
                    </a:p>
                  </a:txBody>
                  <a:tcPr/>
                </a:tc>
                <a:tc>
                  <a:txBody>
                    <a:bodyPr/>
                    <a:lstStyle/>
                    <a:p>
                      <a:endParaRPr lang="de-DE" sz="1000" dirty="0"/>
                    </a:p>
                  </a:txBody>
                  <a:tcPr/>
                </a:tc>
                <a:tc>
                  <a:txBody>
                    <a:bodyPr/>
                    <a:lstStyle/>
                    <a:p>
                      <a:r>
                        <a:rPr lang="de-DE" sz="1000" dirty="0">
                          <a:hlinkClick r:id="rId10"/>
                        </a:rPr>
                        <a:t>Link</a:t>
                      </a:r>
                      <a:endParaRPr lang="de-DE" sz="1000" dirty="0"/>
                    </a:p>
                  </a:txBody>
                  <a:tcPr/>
                </a:tc>
                <a:extLst>
                  <a:ext uri="{0D108BD9-81ED-4DB2-BD59-A6C34878D82A}">
                    <a16:rowId xmlns:a16="http://schemas.microsoft.com/office/drawing/2014/main" val="2553304001"/>
                  </a:ext>
                </a:extLst>
              </a:tr>
              <a:tr h="370840">
                <a:tc>
                  <a:txBody>
                    <a:bodyPr/>
                    <a:lstStyle/>
                    <a:p>
                      <a:r>
                        <a:rPr lang="de-DE" sz="1000" dirty="0"/>
                        <a:t>TELEVAL: </a:t>
                      </a:r>
                      <a:r>
                        <a:rPr lang="de-DE" sz="1000" dirty="0" err="1"/>
                        <a:t>ADynamic</a:t>
                      </a:r>
                      <a:r>
                        <a:rPr lang="de-DE" sz="1000" dirty="0"/>
                        <a:t> Benchmark </a:t>
                      </a:r>
                      <a:r>
                        <a:rPr lang="de-DE" sz="1000" dirty="0" err="1"/>
                        <a:t>Designed</a:t>
                      </a:r>
                      <a:r>
                        <a:rPr lang="de-DE" sz="1000" dirty="0"/>
                        <a:t> </a:t>
                      </a:r>
                      <a:r>
                        <a:rPr lang="de-DE" sz="1000" dirty="0" err="1"/>
                        <a:t>for</a:t>
                      </a:r>
                      <a:r>
                        <a:rPr lang="de-DE" sz="1000" dirty="0"/>
                        <a:t> Spoken Language Models in Chinese Interactive Scenarios</a:t>
                      </a:r>
                      <a:endParaRPr lang="de-DE" sz="1000" b="0" dirty="0"/>
                    </a:p>
                  </a:txBody>
                  <a:tcPr/>
                </a:tc>
                <a:tc>
                  <a:txBody>
                    <a:bodyPr/>
                    <a:lstStyle/>
                    <a:p>
                      <a:r>
                        <a:rPr lang="de-DE" sz="1000" b="0" dirty="0"/>
                        <a:t>Chinesisch</a:t>
                      </a:r>
                    </a:p>
                  </a:txBody>
                  <a:tcPr/>
                </a:tc>
                <a:tc>
                  <a:txBody>
                    <a:bodyPr/>
                    <a:lstStyle/>
                    <a:p>
                      <a:r>
                        <a:rPr lang="de-DE" sz="1000" dirty="0"/>
                        <a:t>2026</a:t>
                      </a:r>
                    </a:p>
                  </a:txBody>
                  <a:tcPr/>
                </a:tc>
                <a:tc>
                  <a:txBody>
                    <a:bodyPr/>
                    <a:lstStyle/>
                    <a:p>
                      <a:r>
                        <a:rPr lang="de-DE" sz="1000" dirty="0"/>
                        <a:t>GPT4o-Audio, GLM-4-Voice, MiniCPM-o-2.6, Baichuan-Omni-1.5, LLaMA-Omni2, SpeechGPT-2.0-preview, Freeze-</a:t>
                      </a:r>
                      <a:r>
                        <a:rPr lang="de-DE" sz="1000" dirty="0" err="1"/>
                        <a:t>Omni</a:t>
                      </a:r>
                      <a:r>
                        <a:rPr lang="de-DE" sz="1000" dirty="0"/>
                        <a:t>, Qwen2.5-Omni, Kimi-Audio, StepAudio2-mini, Qwen3-Omni, Qwen3-Omni</a:t>
                      </a:r>
                    </a:p>
                  </a:txBody>
                  <a:tcPr/>
                </a:tc>
                <a:tc>
                  <a:txBody>
                    <a:bodyPr/>
                    <a:lstStyle/>
                    <a:p>
                      <a:r>
                        <a:rPr lang="de-DE" sz="1000" dirty="0"/>
                        <a:t>Own?</a:t>
                      </a:r>
                    </a:p>
                  </a:txBody>
                  <a:tcPr/>
                </a:tc>
                <a:tc>
                  <a:txBody>
                    <a:bodyPr/>
                    <a:lstStyle/>
                    <a:p>
                      <a:r>
                        <a:rPr lang="de-DE" sz="1000" dirty="0"/>
                        <a:t>WER, CER</a:t>
                      </a:r>
                    </a:p>
                  </a:txBody>
                  <a:tcPr/>
                </a:tc>
                <a:tc>
                  <a:txBody>
                    <a:bodyPr/>
                    <a:lstStyle/>
                    <a:p>
                      <a:r>
                        <a:rPr lang="de-DE" sz="1000" dirty="0">
                          <a:hlinkClick r:id="rId11"/>
                        </a:rPr>
                        <a:t>Link</a:t>
                      </a:r>
                      <a:endParaRPr lang="de-DE" sz="1000" dirty="0"/>
                    </a:p>
                  </a:txBody>
                  <a:tcPr/>
                </a:tc>
                <a:extLst>
                  <a:ext uri="{0D108BD9-81ED-4DB2-BD59-A6C34878D82A}">
                    <a16:rowId xmlns:a16="http://schemas.microsoft.com/office/drawing/2014/main" val="993681305"/>
                  </a:ext>
                </a:extLst>
              </a:tr>
            </a:tbl>
          </a:graphicData>
        </a:graphic>
      </p:graphicFrame>
    </p:spTree>
    <p:extLst>
      <p:ext uri="{BB962C8B-B14F-4D97-AF65-F5344CB8AC3E}">
        <p14:creationId xmlns:p14="http://schemas.microsoft.com/office/powerpoint/2010/main" val="327746994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274C3D-C065-DA59-DF7E-77DA7FFB58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61C4A95-729B-2C29-58E7-82DE5AC0C254}"/>
              </a:ext>
            </a:extLst>
          </p:cNvPr>
          <p:cNvSpPr>
            <a:spLocks noGrp="1"/>
          </p:cNvSpPr>
          <p:nvPr>
            <p:ph type="title"/>
          </p:nvPr>
        </p:nvSpPr>
        <p:spPr/>
        <p:txBody>
          <a:bodyPr>
            <a:normAutofit/>
          </a:bodyPr>
          <a:lstStyle/>
          <a:p>
            <a:r>
              <a:rPr lang="de-DE" dirty="0"/>
              <a:t>Andere interessante Studien</a:t>
            </a:r>
          </a:p>
        </p:txBody>
      </p:sp>
      <p:sp>
        <p:nvSpPr>
          <p:cNvPr id="3" name="Content Placeholder 2">
            <a:extLst>
              <a:ext uri="{FF2B5EF4-FFF2-40B4-BE49-F238E27FC236}">
                <a16:creationId xmlns:a16="http://schemas.microsoft.com/office/drawing/2014/main" id="{860A5BD7-1327-1FCF-16F7-C0B4D6438DE0}"/>
              </a:ext>
            </a:extLst>
          </p:cNvPr>
          <p:cNvSpPr>
            <a:spLocks noGrp="1"/>
          </p:cNvSpPr>
          <p:nvPr>
            <p:ph idx="1"/>
          </p:nvPr>
        </p:nvSpPr>
        <p:spPr/>
        <p:txBody>
          <a:bodyPr>
            <a:normAutofit/>
          </a:bodyPr>
          <a:lstStyle/>
          <a:p>
            <a:endParaRPr lang="de-DE" sz="1000" dirty="0"/>
          </a:p>
        </p:txBody>
      </p:sp>
      <p:graphicFrame>
        <p:nvGraphicFramePr>
          <p:cNvPr id="4" name="Content Placeholder 3">
            <a:extLst>
              <a:ext uri="{FF2B5EF4-FFF2-40B4-BE49-F238E27FC236}">
                <a16:creationId xmlns:a16="http://schemas.microsoft.com/office/drawing/2014/main" id="{08141F1F-0314-A62F-AF46-CF38C67CACA1}"/>
              </a:ext>
            </a:extLst>
          </p:cNvPr>
          <p:cNvGraphicFramePr>
            <a:graphicFrameLocks/>
          </p:cNvGraphicFramePr>
          <p:nvPr>
            <p:extLst>
              <p:ext uri="{D42A27DB-BD31-4B8C-83A1-F6EECF244321}">
                <p14:modId xmlns:p14="http://schemas.microsoft.com/office/powerpoint/2010/main" val="1300347900"/>
              </p:ext>
            </p:extLst>
          </p:nvPr>
        </p:nvGraphicFramePr>
        <p:xfrm>
          <a:off x="288472" y="1410758"/>
          <a:ext cx="11696699" cy="4033520"/>
        </p:xfrm>
        <a:graphic>
          <a:graphicData uri="http://schemas.openxmlformats.org/drawingml/2006/table">
            <a:tbl>
              <a:tblPr firstRow="1" bandRow="1">
                <a:tableStyleId>{5C22544A-7EE6-4342-B048-85BDC9FD1C3A}</a:tableStyleId>
              </a:tblPr>
              <a:tblGrid>
                <a:gridCol w="4843967">
                  <a:extLst>
                    <a:ext uri="{9D8B030D-6E8A-4147-A177-3AD203B41FA5}">
                      <a16:colId xmlns:a16="http://schemas.microsoft.com/office/drawing/2014/main" val="2891188440"/>
                    </a:ext>
                  </a:extLst>
                </a:gridCol>
                <a:gridCol w="2109793">
                  <a:extLst>
                    <a:ext uri="{9D8B030D-6E8A-4147-A177-3AD203B41FA5}">
                      <a16:colId xmlns:a16="http://schemas.microsoft.com/office/drawing/2014/main" val="1179622669"/>
                    </a:ext>
                  </a:extLst>
                </a:gridCol>
                <a:gridCol w="504893">
                  <a:extLst>
                    <a:ext uri="{9D8B030D-6E8A-4147-A177-3AD203B41FA5}">
                      <a16:colId xmlns:a16="http://schemas.microsoft.com/office/drawing/2014/main" val="1549689849"/>
                    </a:ext>
                  </a:extLst>
                </a:gridCol>
                <a:gridCol w="1703690">
                  <a:extLst>
                    <a:ext uri="{9D8B030D-6E8A-4147-A177-3AD203B41FA5}">
                      <a16:colId xmlns:a16="http://schemas.microsoft.com/office/drawing/2014/main" val="2556887823"/>
                    </a:ext>
                  </a:extLst>
                </a:gridCol>
                <a:gridCol w="909609">
                  <a:extLst>
                    <a:ext uri="{9D8B030D-6E8A-4147-A177-3AD203B41FA5}">
                      <a16:colId xmlns:a16="http://schemas.microsoft.com/office/drawing/2014/main" val="3089287138"/>
                    </a:ext>
                  </a:extLst>
                </a:gridCol>
                <a:gridCol w="1041344">
                  <a:extLst>
                    <a:ext uri="{9D8B030D-6E8A-4147-A177-3AD203B41FA5}">
                      <a16:colId xmlns:a16="http://schemas.microsoft.com/office/drawing/2014/main" val="220084703"/>
                    </a:ext>
                  </a:extLst>
                </a:gridCol>
                <a:gridCol w="583403">
                  <a:extLst>
                    <a:ext uri="{9D8B030D-6E8A-4147-A177-3AD203B41FA5}">
                      <a16:colId xmlns:a16="http://schemas.microsoft.com/office/drawing/2014/main" val="2079258899"/>
                    </a:ext>
                  </a:extLst>
                </a:gridCol>
              </a:tblGrid>
              <a:tr h="370840">
                <a:tc>
                  <a:txBody>
                    <a:bodyPr/>
                    <a:lstStyle/>
                    <a:p>
                      <a:r>
                        <a:rPr lang="de-DE" sz="1000" dirty="0"/>
                        <a:t>Name</a:t>
                      </a:r>
                    </a:p>
                  </a:txBody>
                  <a:tcPr/>
                </a:tc>
                <a:tc>
                  <a:txBody>
                    <a:bodyPr/>
                    <a:lstStyle/>
                    <a:p>
                      <a:r>
                        <a:rPr lang="de-DE" sz="1000" dirty="0"/>
                        <a:t>Bezug</a:t>
                      </a:r>
                    </a:p>
                  </a:txBody>
                  <a:tcPr/>
                </a:tc>
                <a:tc>
                  <a:txBody>
                    <a:bodyPr/>
                    <a:lstStyle/>
                    <a:p>
                      <a:r>
                        <a:rPr lang="de-DE" sz="1000" dirty="0"/>
                        <a:t>Jahr</a:t>
                      </a:r>
                    </a:p>
                  </a:txBody>
                  <a:tcPr/>
                </a:tc>
                <a:tc>
                  <a:txBody>
                    <a:bodyPr/>
                    <a:lstStyle/>
                    <a:p>
                      <a:r>
                        <a:rPr lang="de-DE" sz="1000" dirty="0"/>
                        <a:t>Modelle</a:t>
                      </a:r>
                    </a:p>
                  </a:txBody>
                  <a:tcPr/>
                </a:tc>
                <a:tc>
                  <a:txBody>
                    <a:bodyPr/>
                    <a:lstStyle/>
                    <a:p>
                      <a:r>
                        <a:rPr lang="de-DE" sz="1000" dirty="0"/>
                        <a:t>Korpus</a:t>
                      </a:r>
                    </a:p>
                  </a:txBody>
                  <a:tcPr/>
                </a:tc>
                <a:tc>
                  <a:txBody>
                    <a:bodyPr/>
                    <a:lstStyle/>
                    <a:p>
                      <a:r>
                        <a:rPr lang="de-DE" sz="1000" dirty="0"/>
                        <a:t>Metriken</a:t>
                      </a:r>
                    </a:p>
                  </a:txBody>
                  <a:tcPr/>
                </a:tc>
                <a:tc>
                  <a:txBody>
                    <a:bodyPr/>
                    <a:lstStyle/>
                    <a:p>
                      <a:r>
                        <a:rPr lang="de-DE" sz="1000" dirty="0"/>
                        <a:t>Link</a:t>
                      </a:r>
                    </a:p>
                  </a:txBody>
                  <a:tcPr/>
                </a:tc>
                <a:extLst>
                  <a:ext uri="{0D108BD9-81ED-4DB2-BD59-A6C34878D82A}">
                    <a16:rowId xmlns:a16="http://schemas.microsoft.com/office/drawing/2014/main" val="258634969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000" b="0" i="0" kern="1200" dirty="0">
                          <a:solidFill>
                            <a:schemeClr val="dk1"/>
                          </a:solidFill>
                          <a:effectLst/>
                          <a:latin typeface="+mn-lt"/>
                          <a:ea typeface="+mn-ea"/>
                          <a:cs typeface="+mn-cs"/>
                        </a:rPr>
                        <a:t>A </a:t>
                      </a:r>
                      <a:r>
                        <a:rPr lang="de-DE" sz="1000" b="0" i="0" kern="1200" dirty="0" err="1">
                          <a:solidFill>
                            <a:schemeClr val="dk1"/>
                          </a:solidFill>
                          <a:effectLst/>
                          <a:latin typeface="+mn-lt"/>
                          <a:ea typeface="+mn-ea"/>
                          <a:cs typeface="+mn-cs"/>
                        </a:rPr>
                        <a:t>syllable-character</a:t>
                      </a:r>
                      <a:r>
                        <a:rPr lang="de-DE" sz="1000" b="0" i="0" kern="1200" dirty="0">
                          <a:solidFill>
                            <a:schemeClr val="dk1"/>
                          </a:solidFill>
                          <a:effectLst/>
                          <a:latin typeface="+mn-lt"/>
                          <a:ea typeface="+mn-ea"/>
                          <a:cs typeface="+mn-cs"/>
                        </a:rPr>
                        <a:t> </a:t>
                      </a:r>
                      <a:r>
                        <a:rPr lang="de-DE" sz="1000" b="0" i="0" kern="1200" dirty="0" err="1">
                          <a:solidFill>
                            <a:schemeClr val="dk1"/>
                          </a:solidFill>
                          <a:effectLst/>
                          <a:latin typeface="+mn-lt"/>
                          <a:ea typeface="+mn-ea"/>
                          <a:cs typeface="+mn-cs"/>
                        </a:rPr>
                        <a:t>collaborative</a:t>
                      </a:r>
                      <a:r>
                        <a:rPr lang="de-DE" sz="1000" b="0" i="0" kern="1200" dirty="0">
                          <a:solidFill>
                            <a:schemeClr val="dk1"/>
                          </a:solidFill>
                          <a:effectLst/>
                          <a:latin typeface="+mn-lt"/>
                          <a:ea typeface="+mn-ea"/>
                          <a:cs typeface="+mn-cs"/>
                        </a:rPr>
                        <a:t> </a:t>
                      </a:r>
                      <a:r>
                        <a:rPr lang="de-DE" sz="1000" b="0" i="0" kern="1200" dirty="0" err="1">
                          <a:solidFill>
                            <a:schemeClr val="dk1"/>
                          </a:solidFill>
                          <a:effectLst/>
                          <a:latin typeface="+mn-lt"/>
                          <a:ea typeface="+mn-ea"/>
                          <a:cs typeface="+mn-cs"/>
                        </a:rPr>
                        <a:t>model</a:t>
                      </a:r>
                      <a:r>
                        <a:rPr lang="de-DE" sz="1000" b="0" i="0" kern="1200" dirty="0">
                          <a:solidFill>
                            <a:schemeClr val="dk1"/>
                          </a:solidFill>
                          <a:effectLst/>
                          <a:latin typeface="+mn-lt"/>
                          <a:ea typeface="+mn-ea"/>
                          <a:cs typeface="+mn-cs"/>
                        </a:rPr>
                        <a:t> </a:t>
                      </a:r>
                      <a:r>
                        <a:rPr lang="de-DE" sz="1000" b="0" i="0" kern="1200" dirty="0" err="1">
                          <a:solidFill>
                            <a:schemeClr val="dk1"/>
                          </a:solidFill>
                          <a:effectLst/>
                          <a:latin typeface="+mn-lt"/>
                          <a:ea typeface="+mn-ea"/>
                          <a:cs typeface="+mn-cs"/>
                        </a:rPr>
                        <a:t>for</a:t>
                      </a:r>
                      <a:r>
                        <a:rPr lang="de-DE" sz="1000" b="0" i="0" kern="1200" dirty="0">
                          <a:solidFill>
                            <a:schemeClr val="dk1"/>
                          </a:solidFill>
                          <a:effectLst/>
                          <a:latin typeface="+mn-lt"/>
                          <a:ea typeface="+mn-ea"/>
                          <a:cs typeface="+mn-cs"/>
                        </a:rPr>
                        <a:t> </a:t>
                      </a:r>
                      <a:r>
                        <a:rPr lang="de-DE" sz="1000" b="0" i="0" kern="1200" dirty="0" err="1">
                          <a:solidFill>
                            <a:schemeClr val="dk1"/>
                          </a:solidFill>
                          <a:effectLst/>
                          <a:latin typeface="+mn-lt"/>
                          <a:ea typeface="+mn-ea"/>
                          <a:cs typeface="+mn-cs"/>
                        </a:rPr>
                        <a:t>enhanced</a:t>
                      </a:r>
                      <a:r>
                        <a:rPr lang="de-DE" sz="1000" b="0" i="0" kern="1200" dirty="0">
                          <a:solidFill>
                            <a:schemeClr val="dk1"/>
                          </a:solidFill>
                          <a:effectLst/>
                          <a:latin typeface="+mn-lt"/>
                          <a:ea typeface="+mn-ea"/>
                          <a:cs typeface="+mn-cs"/>
                        </a:rPr>
                        <a:t> Pinyin and Chinese </a:t>
                      </a:r>
                      <a:r>
                        <a:rPr lang="de-DE" sz="1000" b="0" i="0" kern="1200" dirty="0" err="1">
                          <a:solidFill>
                            <a:schemeClr val="dk1"/>
                          </a:solidFill>
                          <a:effectLst/>
                          <a:latin typeface="+mn-lt"/>
                          <a:ea typeface="+mn-ea"/>
                          <a:cs typeface="+mn-cs"/>
                        </a:rPr>
                        <a:t>recognition</a:t>
                      </a:r>
                      <a:endParaRPr lang="de-DE" sz="1000" b="0" i="0" kern="1200" dirty="0">
                        <a:solidFill>
                          <a:schemeClr val="dk1"/>
                        </a:solidFill>
                        <a:effectLst/>
                        <a:latin typeface="+mn-lt"/>
                        <a:ea typeface="+mn-ea"/>
                        <a:cs typeface="+mn-cs"/>
                      </a:endParaRPr>
                    </a:p>
                    <a:p>
                      <a:endParaRPr lang="de-DE" sz="1000" b="0" dirty="0"/>
                    </a:p>
                  </a:txBody>
                  <a:tcPr/>
                </a:tc>
                <a:tc>
                  <a:txBody>
                    <a:bodyPr/>
                    <a:lstStyle/>
                    <a:p>
                      <a:r>
                        <a:rPr lang="de-DE" sz="1000" b="0" dirty="0"/>
                        <a:t>Bezug zu Pinyin</a:t>
                      </a:r>
                    </a:p>
                  </a:txBody>
                  <a:tcPr/>
                </a:tc>
                <a:tc>
                  <a:txBody>
                    <a:bodyPr/>
                    <a:lstStyle/>
                    <a:p>
                      <a:r>
                        <a:rPr lang="de-DE" sz="1000" b="0" dirty="0"/>
                        <a:t>2025</a:t>
                      </a:r>
                    </a:p>
                  </a:txBody>
                  <a:tcPr/>
                </a:tc>
                <a:tc>
                  <a:txBody>
                    <a:bodyPr/>
                    <a:lstStyle/>
                    <a:p>
                      <a:r>
                        <a:rPr lang="de-DE" sz="1000" b="0" i="0" kern="1200" dirty="0">
                          <a:solidFill>
                            <a:schemeClr val="dk1"/>
                          </a:solidFill>
                          <a:effectLst/>
                          <a:latin typeface="+mn-lt"/>
                          <a:ea typeface="+mn-ea"/>
                          <a:cs typeface="+mn-cs"/>
                        </a:rPr>
                        <a:t>SCCM ?</a:t>
                      </a:r>
                      <a:endParaRPr lang="de-DE" sz="1000" b="0" dirty="0"/>
                    </a:p>
                  </a:txBody>
                  <a:tcPr/>
                </a:tc>
                <a:tc>
                  <a:txBody>
                    <a:bodyPr/>
                    <a:lstStyle/>
                    <a:p>
                      <a:r>
                        <a:rPr lang="de-DE" sz="1000" b="0" i="0" kern="1200" dirty="0">
                          <a:solidFill>
                            <a:schemeClr val="dk1"/>
                          </a:solidFill>
                          <a:effectLst/>
                          <a:latin typeface="+mn-lt"/>
                          <a:ea typeface="+mn-ea"/>
                          <a:cs typeface="+mn-cs"/>
                        </a:rPr>
                        <a:t> AISHELL-1</a:t>
                      </a:r>
                      <a:endParaRPr lang="de-DE" sz="1000" b="0" dirty="0"/>
                    </a:p>
                  </a:txBody>
                  <a:tcPr/>
                </a:tc>
                <a:tc>
                  <a:txBody>
                    <a:bodyPr/>
                    <a:lstStyle/>
                    <a:p>
                      <a:r>
                        <a:rPr lang="de-DE" sz="1000" b="0" dirty="0"/>
                        <a:t>CER</a:t>
                      </a:r>
                    </a:p>
                  </a:txBody>
                  <a:tcPr/>
                </a:tc>
                <a:tc>
                  <a:txBody>
                    <a:bodyPr/>
                    <a:lstStyle/>
                    <a:p>
                      <a:r>
                        <a:rPr lang="de-DE" sz="1000" b="0" dirty="0">
                          <a:hlinkClick r:id="rId2"/>
                        </a:rPr>
                        <a:t>Link</a:t>
                      </a:r>
                      <a:endParaRPr lang="de-DE" sz="1000" b="0" dirty="0"/>
                    </a:p>
                  </a:txBody>
                  <a:tcPr/>
                </a:tc>
                <a:extLst>
                  <a:ext uri="{0D108BD9-81ED-4DB2-BD59-A6C34878D82A}">
                    <a16:rowId xmlns:a16="http://schemas.microsoft.com/office/drawing/2014/main" val="3680473722"/>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000" b="0" i="0" kern="1200" dirty="0" err="1">
                          <a:solidFill>
                            <a:schemeClr val="dk1"/>
                          </a:solidFill>
                          <a:effectLst/>
                          <a:latin typeface="+mn-lt"/>
                          <a:ea typeface="+mn-ea"/>
                          <a:cs typeface="+mn-cs"/>
                        </a:rPr>
                        <a:t>SpeechColab</a:t>
                      </a:r>
                      <a:r>
                        <a:rPr lang="de-DE" sz="1000" b="0" i="0" kern="1200" dirty="0">
                          <a:solidFill>
                            <a:schemeClr val="dk1"/>
                          </a:solidFill>
                          <a:effectLst/>
                          <a:latin typeface="+mn-lt"/>
                          <a:ea typeface="+mn-ea"/>
                          <a:cs typeface="+mn-cs"/>
                        </a:rPr>
                        <a:t> ASR </a:t>
                      </a:r>
                      <a:r>
                        <a:rPr lang="de-DE" sz="1000" b="0" i="0" kern="1200" dirty="0" err="1">
                          <a:solidFill>
                            <a:schemeClr val="dk1"/>
                          </a:solidFill>
                          <a:effectLst/>
                          <a:latin typeface="+mn-lt"/>
                          <a:ea typeface="+mn-ea"/>
                          <a:cs typeface="+mn-cs"/>
                        </a:rPr>
                        <a:t>leaderboard</a:t>
                      </a:r>
                      <a:endParaRPr lang="de-DE" sz="1000" b="0" i="0" kern="1200" dirty="0">
                        <a:solidFill>
                          <a:schemeClr val="dk1"/>
                        </a:solidFill>
                        <a:effectLst/>
                        <a:latin typeface="+mn-lt"/>
                        <a:ea typeface="+mn-ea"/>
                        <a:cs typeface="+mn-cs"/>
                      </a:endParaRPr>
                    </a:p>
                    <a:p>
                      <a:endParaRPr lang="de-DE" sz="1000" b="0" dirty="0"/>
                    </a:p>
                  </a:txBody>
                  <a:tcPr/>
                </a:tc>
                <a:tc>
                  <a:txBody>
                    <a:bodyPr/>
                    <a:lstStyle/>
                    <a:p>
                      <a:r>
                        <a:rPr lang="de-DE" sz="1000" b="0" dirty="0"/>
                        <a:t>Beste ASR Modelle</a:t>
                      </a:r>
                    </a:p>
                  </a:txBody>
                  <a:tcPr/>
                </a:tc>
                <a:tc>
                  <a:txBody>
                    <a:bodyPr/>
                    <a:lstStyle/>
                    <a:p>
                      <a:endParaRPr lang="de-DE" sz="1000" b="0" dirty="0"/>
                    </a:p>
                  </a:txBody>
                  <a:tcPr/>
                </a:tc>
                <a:tc>
                  <a:txBody>
                    <a:bodyPr/>
                    <a:lstStyle/>
                    <a:p>
                      <a:endParaRPr lang="de-DE" sz="1000" b="0" dirty="0"/>
                    </a:p>
                  </a:txBody>
                  <a:tcPr/>
                </a:tc>
                <a:tc>
                  <a:txBody>
                    <a:bodyPr/>
                    <a:lstStyle/>
                    <a:p>
                      <a:endParaRPr lang="de-DE" sz="1000" b="0" dirty="0"/>
                    </a:p>
                  </a:txBody>
                  <a:tcPr/>
                </a:tc>
                <a:tc>
                  <a:txBody>
                    <a:bodyPr/>
                    <a:lstStyle/>
                    <a:p>
                      <a:r>
                        <a:rPr lang="de-DE" sz="1000" b="0" dirty="0"/>
                        <a:t>CER</a:t>
                      </a:r>
                    </a:p>
                  </a:txBody>
                  <a:tcPr/>
                </a:tc>
                <a:tc>
                  <a:txBody>
                    <a:bodyPr/>
                    <a:lstStyle/>
                    <a:p>
                      <a:r>
                        <a:rPr lang="de-DE" sz="1000" b="0" dirty="0">
                          <a:hlinkClick r:id="rId3"/>
                        </a:rPr>
                        <a:t>Link</a:t>
                      </a:r>
                      <a:endParaRPr lang="de-DE" sz="1000" b="0" dirty="0"/>
                    </a:p>
                  </a:txBody>
                  <a:tcPr/>
                </a:tc>
                <a:extLst>
                  <a:ext uri="{0D108BD9-81ED-4DB2-BD59-A6C34878D82A}">
                    <a16:rowId xmlns:a16="http://schemas.microsoft.com/office/drawing/2014/main" val="320340106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000" b="0" i="0" kern="1200" dirty="0">
                          <a:solidFill>
                            <a:schemeClr val="dk1"/>
                          </a:solidFill>
                          <a:effectLst/>
                          <a:latin typeface="+mn-lt"/>
                          <a:ea typeface="+mn-ea"/>
                          <a:cs typeface="+mn-cs"/>
                        </a:rPr>
                        <a:t>Tone-</a:t>
                      </a:r>
                      <a:r>
                        <a:rPr lang="de-DE" sz="1000" b="0" i="0" kern="1200" dirty="0" err="1">
                          <a:solidFill>
                            <a:schemeClr val="dk1"/>
                          </a:solidFill>
                          <a:effectLst/>
                          <a:latin typeface="+mn-lt"/>
                          <a:ea typeface="+mn-ea"/>
                          <a:cs typeface="+mn-cs"/>
                        </a:rPr>
                        <a:t>syllable</a:t>
                      </a:r>
                      <a:r>
                        <a:rPr lang="de-DE" sz="1000" b="0" i="0" kern="1200" dirty="0">
                          <a:solidFill>
                            <a:schemeClr val="dk1"/>
                          </a:solidFill>
                          <a:effectLst/>
                          <a:latin typeface="+mn-lt"/>
                          <a:ea typeface="+mn-ea"/>
                          <a:cs typeface="+mn-cs"/>
                        </a:rPr>
                        <a:t> </a:t>
                      </a:r>
                      <a:r>
                        <a:rPr lang="de-DE" sz="1000" b="0" i="0" kern="1200" dirty="0" err="1">
                          <a:solidFill>
                            <a:schemeClr val="dk1"/>
                          </a:solidFill>
                          <a:effectLst/>
                          <a:latin typeface="+mn-lt"/>
                          <a:ea typeface="+mn-ea"/>
                          <a:cs typeface="+mn-cs"/>
                        </a:rPr>
                        <a:t>synchrony</a:t>
                      </a:r>
                      <a:r>
                        <a:rPr lang="de-DE" sz="1000" b="0" i="0" kern="1200" dirty="0">
                          <a:solidFill>
                            <a:schemeClr val="dk1"/>
                          </a:solidFill>
                          <a:effectLst/>
                          <a:latin typeface="+mn-lt"/>
                          <a:ea typeface="+mn-ea"/>
                          <a:cs typeface="+mn-cs"/>
                        </a:rPr>
                        <a:t> in Mandarin: New </a:t>
                      </a:r>
                      <a:r>
                        <a:rPr lang="de-DE" sz="1000" b="0" i="0" kern="1200" dirty="0" err="1">
                          <a:solidFill>
                            <a:schemeClr val="dk1"/>
                          </a:solidFill>
                          <a:effectLst/>
                          <a:latin typeface="+mn-lt"/>
                          <a:ea typeface="+mn-ea"/>
                          <a:cs typeface="+mn-cs"/>
                        </a:rPr>
                        <a:t>evidence</a:t>
                      </a:r>
                      <a:r>
                        <a:rPr lang="de-DE" sz="1000" b="0" i="0" kern="1200" dirty="0">
                          <a:solidFill>
                            <a:schemeClr val="dk1"/>
                          </a:solidFill>
                          <a:effectLst/>
                          <a:latin typeface="+mn-lt"/>
                          <a:ea typeface="+mn-ea"/>
                          <a:cs typeface="+mn-cs"/>
                        </a:rPr>
                        <a:t> and </a:t>
                      </a:r>
                      <a:r>
                        <a:rPr lang="de-DE" sz="1000" b="0" i="0" kern="1200" dirty="0" err="1">
                          <a:solidFill>
                            <a:schemeClr val="dk1"/>
                          </a:solidFill>
                          <a:effectLst/>
                          <a:latin typeface="+mn-lt"/>
                          <a:ea typeface="+mn-ea"/>
                          <a:cs typeface="+mn-cs"/>
                        </a:rPr>
                        <a:t>implications</a:t>
                      </a:r>
                      <a:endParaRPr lang="de-DE" sz="1000" b="0" i="0" kern="1200" dirty="0">
                        <a:solidFill>
                          <a:schemeClr val="dk1"/>
                        </a:solidFill>
                        <a:effectLst/>
                        <a:latin typeface="+mn-lt"/>
                        <a:ea typeface="+mn-ea"/>
                        <a:cs typeface="+mn-cs"/>
                      </a:endParaRPr>
                    </a:p>
                    <a:p>
                      <a:endParaRPr lang="de-DE" sz="1000" b="0" dirty="0"/>
                    </a:p>
                  </a:txBody>
                  <a:tcPr/>
                </a:tc>
                <a:tc>
                  <a:txBody>
                    <a:bodyPr/>
                    <a:lstStyle/>
                    <a:p>
                      <a:r>
                        <a:rPr lang="de-DE" sz="1000" b="0" dirty="0"/>
                        <a:t>Bezug zu Tönen</a:t>
                      </a:r>
                    </a:p>
                  </a:txBody>
                  <a:tcPr/>
                </a:tc>
                <a:tc>
                  <a:txBody>
                    <a:bodyPr/>
                    <a:lstStyle/>
                    <a:p>
                      <a:r>
                        <a:rPr lang="de-DE" sz="1000" b="0" dirty="0"/>
                        <a:t>2024</a:t>
                      </a:r>
                    </a:p>
                  </a:txBody>
                  <a:tcPr/>
                </a:tc>
                <a:tc>
                  <a:txBody>
                    <a:bodyPr/>
                    <a:lstStyle/>
                    <a:p>
                      <a:endParaRPr lang="de-DE" sz="1000" b="0" dirty="0"/>
                    </a:p>
                  </a:txBody>
                  <a:tcPr/>
                </a:tc>
                <a:tc>
                  <a:txBody>
                    <a:bodyPr/>
                    <a:lstStyle/>
                    <a:p>
                      <a:endParaRPr lang="de-DE" sz="1000" b="0" dirty="0"/>
                    </a:p>
                  </a:txBody>
                  <a:tcPr/>
                </a:tc>
                <a:tc>
                  <a:txBody>
                    <a:bodyPr/>
                    <a:lstStyle/>
                    <a:p>
                      <a:endParaRPr lang="de-DE" sz="1000" b="0" dirty="0"/>
                    </a:p>
                  </a:txBody>
                  <a:tcPr/>
                </a:tc>
                <a:tc>
                  <a:txBody>
                    <a:bodyPr/>
                    <a:lstStyle/>
                    <a:p>
                      <a:r>
                        <a:rPr lang="de-DE" sz="1000" b="0" dirty="0">
                          <a:hlinkClick r:id="rId4"/>
                        </a:rPr>
                        <a:t>Link</a:t>
                      </a:r>
                      <a:endParaRPr lang="de-DE" sz="1000" b="0" dirty="0"/>
                    </a:p>
                  </a:txBody>
                  <a:tcPr/>
                </a:tc>
                <a:extLst>
                  <a:ext uri="{0D108BD9-81ED-4DB2-BD59-A6C34878D82A}">
                    <a16:rowId xmlns:a16="http://schemas.microsoft.com/office/drawing/2014/main" val="3874576770"/>
                  </a:ext>
                </a:extLst>
              </a:tr>
              <a:tr h="370840">
                <a:tc>
                  <a:txBody>
                    <a:bodyPr/>
                    <a:lstStyle/>
                    <a:p>
                      <a:r>
                        <a:rPr lang="de-DE" sz="1000" b="0" dirty="0" err="1"/>
                        <a:t>Comparing</a:t>
                      </a:r>
                      <a:r>
                        <a:rPr lang="de-DE" sz="1000" b="0" dirty="0"/>
                        <a:t> </a:t>
                      </a:r>
                      <a:r>
                        <a:rPr lang="de-DE" sz="1000" b="0" dirty="0" err="1"/>
                        <a:t>efficacy</a:t>
                      </a:r>
                      <a:r>
                        <a:rPr lang="de-DE" sz="1000" b="0" dirty="0"/>
                        <a:t> </a:t>
                      </a:r>
                      <a:r>
                        <a:rPr lang="de-DE" sz="1000" b="0" dirty="0" err="1"/>
                        <a:t>of</a:t>
                      </a:r>
                      <a:r>
                        <a:rPr lang="de-DE" sz="1000" b="0" dirty="0"/>
                        <a:t> IPA </a:t>
                      </a:r>
                      <a:r>
                        <a:rPr lang="de-DE" sz="1000" b="0" dirty="0" err="1"/>
                        <a:t>vs</a:t>
                      </a:r>
                      <a:r>
                        <a:rPr lang="de-DE" sz="1000" b="0" dirty="0"/>
                        <a:t> Pinyin </a:t>
                      </a:r>
                      <a:r>
                        <a:rPr lang="de-DE" sz="1000" b="0" dirty="0" err="1"/>
                        <a:t>romanisation</a:t>
                      </a:r>
                      <a:r>
                        <a:rPr lang="de-DE" sz="1000" b="0" dirty="0"/>
                        <a:t> </a:t>
                      </a:r>
                      <a:r>
                        <a:rPr lang="de-DE" sz="1000" b="0" dirty="0" err="1"/>
                        <a:t>transcriptions</a:t>
                      </a:r>
                      <a:r>
                        <a:rPr lang="de-DE" sz="1000" b="0" dirty="0"/>
                        <a:t> </a:t>
                      </a:r>
                      <a:r>
                        <a:rPr lang="de-DE" sz="1000" b="0" dirty="0" err="1"/>
                        <a:t>for</a:t>
                      </a:r>
                      <a:r>
                        <a:rPr lang="de-DE" sz="1000" b="0" dirty="0"/>
                        <a:t> </a:t>
                      </a:r>
                      <a:r>
                        <a:rPr lang="de-DE" sz="1000" b="0" dirty="0" err="1"/>
                        <a:t>complex</a:t>
                      </a:r>
                      <a:r>
                        <a:rPr lang="de-DE" sz="1000" b="0" dirty="0"/>
                        <a:t> tonal </a:t>
                      </a:r>
                      <a:r>
                        <a:rPr lang="de-DE" sz="1000" b="0" dirty="0" err="1"/>
                        <a:t>languages</a:t>
                      </a:r>
                      <a:r>
                        <a:rPr lang="de-DE" sz="1000" b="0" dirty="0"/>
                        <a:t>: A </a:t>
                      </a:r>
                      <a:r>
                        <a:rPr lang="de-DE" sz="1000" b="0" dirty="0" err="1"/>
                        <a:t>case</a:t>
                      </a:r>
                      <a:r>
                        <a:rPr lang="de-DE" sz="1000" b="0" dirty="0"/>
                        <a:t> </a:t>
                      </a:r>
                      <a:r>
                        <a:rPr lang="de-DE" sz="1000" b="0" dirty="0" err="1"/>
                        <a:t>study</a:t>
                      </a:r>
                      <a:r>
                        <a:rPr lang="de-DE" sz="1000" b="0" dirty="0"/>
                        <a:t> in Baima</a:t>
                      </a:r>
                    </a:p>
                  </a:txBody>
                  <a:tcPr/>
                </a:tc>
                <a:tc>
                  <a:txBody>
                    <a:bodyPr/>
                    <a:lstStyle/>
                    <a:p>
                      <a:r>
                        <a:rPr lang="de-DE" sz="1000" b="0" dirty="0"/>
                        <a:t>Vergleicht IPA und Pinyin</a:t>
                      </a:r>
                    </a:p>
                  </a:txBody>
                  <a:tcPr/>
                </a:tc>
                <a:tc>
                  <a:txBody>
                    <a:bodyPr/>
                    <a:lstStyle/>
                    <a:p>
                      <a:r>
                        <a:rPr lang="de-DE" sz="1000" b="0" dirty="0"/>
                        <a:t>2025</a:t>
                      </a:r>
                    </a:p>
                  </a:txBody>
                  <a:tcPr/>
                </a:tc>
                <a:tc>
                  <a:txBody>
                    <a:bodyPr/>
                    <a:lstStyle/>
                    <a:p>
                      <a:endParaRPr lang="de-DE" sz="1000" b="0" dirty="0"/>
                    </a:p>
                  </a:txBody>
                  <a:tcPr/>
                </a:tc>
                <a:tc>
                  <a:txBody>
                    <a:bodyPr/>
                    <a:lstStyle/>
                    <a:p>
                      <a:endParaRPr lang="de-DE" sz="1000" b="0" dirty="0"/>
                    </a:p>
                  </a:txBody>
                  <a:tcPr/>
                </a:tc>
                <a:tc>
                  <a:txBody>
                    <a:bodyPr/>
                    <a:lstStyle/>
                    <a:p>
                      <a:endParaRPr lang="de-DE" sz="1000" b="0" dirty="0"/>
                    </a:p>
                  </a:txBody>
                  <a:tcPr/>
                </a:tc>
                <a:tc>
                  <a:txBody>
                    <a:bodyPr/>
                    <a:lstStyle/>
                    <a:p>
                      <a:r>
                        <a:rPr lang="de-DE" sz="1000" b="0" dirty="0">
                          <a:hlinkClick r:id="rId5"/>
                        </a:rPr>
                        <a:t>Link</a:t>
                      </a:r>
                      <a:endParaRPr lang="de-DE" sz="1000" b="0" dirty="0"/>
                    </a:p>
                  </a:txBody>
                  <a:tcPr/>
                </a:tc>
                <a:extLst>
                  <a:ext uri="{0D108BD9-81ED-4DB2-BD59-A6C34878D82A}">
                    <a16:rowId xmlns:a16="http://schemas.microsoft.com/office/drawing/2014/main" val="1993413247"/>
                  </a:ext>
                </a:extLst>
              </a:tr>
              <a:tr h="370840">
                <a:tc>
                  <a:txBody>
                    <a:bodyPr/>
                    <a:lstStyle/>
                    <a:p>
                      <a:r>
                        <a:rPr lang="de-DE" sz="1000" b="0" dirty="0"/>
                        <a:t>Can </a:t>
                      </a:r>
                      <a:r>
                        <a:rPr lang="de-DE" sz="1000" b="0" dirty="0" err="1"/>
                        <a:t>AIUnderstand</a:t>
                      </a:r>
                      <a:r>
                        <a:rPr lang="de-DE" sz="1000" b="0" dirty="0"/>
                        <a:t> Mandarin Speech </a:t>
                      </a:r>
                      <a:r>
                        <a:rPr lang="de-DE" sz="1000" b="0" dirty="0" err="1"/>
                        <a:t>Prosody</a:t>
                      </a:r>
                      <a:r>
                        <a:rPr lang="de-DE" sz="1000" b="0" dirty="0"/>
                        <a:t>? </a:t>
                      </a:r>
                      <a:r>
                        <a:rPr lang="de-DE" sz="1000" b="0" dirty="0" err="1"/>
                        <a:t>AFramework</a:t>
                      </a:r>
                      <a:r>
                        <a:rPr lang="de-DE" sz="1000" b="0" dirty="0"/>
                        <a:t> and Benchmark Showcase</a:t>
                      </a:r>
                    </a:p>
                  </a:txBody>
                  <a:tcPr/>
                </a:tc>
                <a:tc>
                  <a:txBody>
                    <a:bodyPr/>
                    <a:lstStyle/>
                    <a:p>
                      <a:r>
                        <a:rPr lang="de-DE" sz="1000" b="0" dirty="0"/>
                        <a:t>Untersucht ob KI die Melodie, Töne verstehen kann</a:t>
                      </a:r>
                    </a:p>
                  </a:txBody>
                  <a:tcPr/>
                </a:tc>
                <a:tc>
                  <a:txBody>
                    <a:bodyPr/>
                    <a:lstStyle/>
                    <a:p>
                      <a:r>
                        <a:rPr lang="de-DE" sz="1000" b="0" dirty="0"/>
                        <a:t>2025</a:t>
                      </a:r>
                    </a:p>
                  </a:txBody>
                  <a:tcPr/>
                </a:tc>
                <a:tc>
                  <a:txBody>
                    <a:bodyPr/>
                    <a:lstStyle/>
                    <a:p>
                      <a:r>
                        <a:rPr lang="de-DE" sz="1000" b="0" dirty="0"/>
                        <a:t>GPT-4o-Audio, Gemini-1.5-pro andGemini-2-flash, Qwen2-Audio-7B-Instruct, GLM-4-Voice, MiniCPM-o2.6</a:t>
                      </a:r>
                    </a:p>
                  </a:txBody>
                  <a:tcPr/>
                </a:tc>
                <a:tc>
                  <a:txBody>
                    <a:bodyPr/>
                    <a:lstStyle/>
                    <a:p>
                      <a:r>
                        <a:rPr lang="de-DE" sz="1000" b="0" dirty="0"/>
                        <a:t>MSPB</a:t>
                      </a:r>
                    </a:p>
                  </a:txBody>
                  <a:tcPr/>
                </a:tc>
                <a:tc>
                  <a:txBody>
                    <a:bodyPr/>
                    <a:lstStyle/>
                    <a:p>
                      <a:r>
                        <a:rPr lang="de-DE" sz="1000" b="0" dirty="0" err="1"/>
                        <a:t>accuracy</a:t>
                      </a:r>
                      <a:endParaRPr lang="de-DE" sz="1000" b="0" dirty="0"/>
                    </a:p>
                  </a:txBody>
                  <a:tcPr/>
                </a:tc>
                <a:tc>
                  <a:txBody>
                    <a:bodyPr/>
                    <a:lstStyle/>
                    <a:p>
                      <a:r>
                        <a:rPr lang="de-DE" sz="1000" b="0" dirty="0">
                          <a:hlinkClick r:id="rId6"/>
                        </a:rPr>
                        <a:t>Link</a:t>
                      </a:r>
                      <a:endParaRPr lang="de-DE" sz="1000" b="0" dirty="0"/>
                    </a:p>
                  </a:txBody>
                  <a:tcPr/>
                </a:tc>
                <a:extLst>
                  <a:ext uri="{0D108BD9-81ED-4DB2-BD59-A6C34878D82A}">
                    <a16:rowId xmlns:a16="http://schemas.microsoft.com/office/drawing/2014/main" val="3921611873"/>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sz="1000" b="0" i="0" kern="1200" dirty="0">
                          <a:solidFill>
                            <a:schemeClr val="dk1"/>
                          </a:solidFill>
                          <a:effectLst/>
                          <a:latin typeface="+mn-lt"/>
                          <a:ea typeface="+mn-ea"/>
                          <a:cs typeface="+mn-cs"/>
                        </a:rPr>
                        <a:t>ZIPA: A </a:t>
                      </a:r>
                      <a:r>
                        <a:rPr lang="de-DE" sz="1000" b="0" i="0" kern="1200" dirty="0" err="1">
                          <a:solidFill>
                            <a:schemeClr val="dk1"/>
                          </a:solidFill>
                          <a:effectLst/>
                          <a:latin typeface="+mn-lt"/>
                          <a:ea typeface="+mn-ea"/>
                          <a:cs typeface="+mn-cs"/>
                        </a:rPr>
                        <a:t>family</a:t>
                      </a:r>
                      <a:r>
                        <a:rPr lang="de-DE" sz="1000" b="0" i="0" kern="1200" dirty="0">
                          <a:solidFill>
                            <a:schemeClr val="dk1"/>
                          </a:solidFill>
                          <a:effectLst/>
                          <a:latin typeface="+mn-lt"/>
                          <a:ea typeface="+mn-ea"/>
                          <a:cs typeface="+mn-cs"/>
                        </a:rPr>
                        <a:t> </a:t>
                      </a:r>
                      <a:r>
                        <a:rPr lang="de-DE" sz="1000" b="0" i="0" kern="1200" dirty="0" err="1">
                          <a:solidFill>
                            <a:schemeClr val="dk1"/>
                          </a:solidFill>
                          <a:effectLst/>
                          <a:latin typeface="+mn-lt"/>
                          <a:ea typeface="+mn-ea"/>
                          <a:cs typeface="+mn-cs"/>
                        </a:rPr>
                        <a:t>of</a:t>
                      </a:r>
                      <a:r>
                        <a:rPr lang="de-DE" sz="1000" b="0" i="0" kern="1200" dirty="0">
                          <a:solidFill>
                            <a:schemeClr val="dk1"/>
                          </a:solidFill>
                          <a:effectLst/>
                          <a:latin typeface="+mn-lt"/>
                          <a:ea typeface="+mn-ea"/>
                          <a:cs typeface="+mn-cs"/>
                        </a:rPr>
                        <a:t> </a:t>
                      </a:r>
                      <a:r>
                        <a:rPr lang="de-DE" sz="1000" b="0" i="0" kern="1200" dirty="0" err="1">
                          <a:solidFill>
                            <a:schemeClr val="dk1"/>
                          </a:solidFill>
                          <a:effectLst/>
                          <a:latin typeface="+mn-lt"/>
                          <a:ea typeface="+mn-ea"/>
                          <a:cs typeface="+mn-cs"/>
                        </a:rPr>
                        <a:t>efficient</a:t>
                      </a:r>
                      <a:r>
                        <a:rPr lang="de-DE" sz="1000" b="0" i="0" kern="1200" dirty="0">
                          <a:solidFill>
                            <a:schemeClr val="dk1"/>
                          </a:solidFill>
                          <a:effectLst/>
                          <a:latin typeface="+mn-lt"/>
                          <a:ea typeface="+mn-ea"/>
                          <a:cs typeface="+mn-cs"/>
                        </a:rPr>
                        <a:t> </a:t>
                      </a:r>
                      <a:r>
                        <a:rPr lang="de-DE" sz="1000" b="0" i="0" kern="1200" dirty="0" err="1">
                          <a:solidFill>
                            <a:schemeClr val="dk1"/>
                          </a:solidFill>
                          <a:effectLst/>
                          <a:latin typeface="+mn-lt"/>
                          <a:ea typeface="+mn-ea"/>
                          <a:cs typeface="+mn-cs"/>
                        </a:rPr>
                        <a:t>models</a:t>
                      </a:r>
                      <a:r>
                        <a:rPr lang="de-DE" sz="1000" b="0" i="0" kern="1200" dirty="0">
                          <a:solidFill>
                            <a:schemeClr val="dk1"/>
                          </a:solidFill>
                          <a:effectLst/>
                          <a:latin typeface="+mn-lt"/>
                          <a:ea typeface="+mn-ea"/>
                          <a:cs typeface="+mn-cs"/>
                        </a:rPr>
                        <a:t> </a:t>
                      </a:r>
                      <a:r>
                        <a:rPr lang="de-DE" sz="1000" b="0" i="0" kern="1200" dirty="0" err="1">
                          <a:solidFill>
                            <a:schemeClr val="dk1"/>
                          </a:solidFill>
                          <a:effectLst/>
                          <a:latin typeface="+mn-lt"/>
                          <a:ea typeface="+mn-ea"/>
                          <a:cs typeface="+mn-cs"/>
                        </a:rPr>
                        <a:t>for</a:t>
                      </a:r>
                      <a:r>
                        <a:rPr lang="de-DE" sz="1000" b="0" i="0" kern="1200" dirty="0">
                          <a:solidFill>
                            <a:schemeClr val="dk1"/>
                          </a:solidFill>
                          <a:effectLst/>
                          <a:latin typeface="+mn-lt"/>
                          <a:ea typeface="+mn-ea"/>
                          <a:cs typeface="+mn-cs"/>
                        </a:rPr>
                        <a:t> multilingual </a:t>
                      </a:r>
                      <a:r>
                        <a:rPr lang="de-DE" sz="1000" b="0" i="0" kern="1200" dirty="0" err="1">
                          <a:solidFill>
                            <a:schemeClr val="dk1"/>
                          </a:solidFill>
                          <a:effectLst/>
                          <a:latin typeface="+mn-lt"/>
                          <a:ea typeface="+mn-ea"/>
                          <a:cs typeface="+mn-cs"/>
                        </a:rPr>
                        <a:t>phone</a:t>
                      </a:r>
                      <a:r>
                        <a:rPr lang="de-DE" sz="1000" b="0" i="0" kern="1200" dirty="0">
                          <a:solidFill>
                            <a:schemeClr val="dk1"/>
                          </a:solidFill>
                          <a:effectLst/>
                          <a:latin typeface="+mn-lt"/>
                          <a:ea typeface="+mn-ea"/>
                          <a:cs typeface="+mn-cs"/>
                        </a:rPr>
                        <a:t> </a:t>
                      </a:r>
                      <a:r>
                        <a:rPr lang="de-DE" sz="1000" b="0" i="0" kern="1200" dirty="0" err="1">
                          <a:solidFill>
                            <a:schemeClr val="dk1"/>
                          </a:solidFill>
                          <a:effectLst/>
                          <a:latin typeface="+mn-lt"/>
                          <a:ea typeface="+mn-ea"/>
                          <a:cs typeface="+mn-cs"/>
                        </a:rPr>
                        <a:t>recognition</a:t>
                      </a:r>
                      <a:endParaRPr lang="de-DE" sz="1000" b="0" i="0" kern="1200" dirty="0">
                        <a:solidFill>
                          <a:schemeClr val="dk1"/>
                        </a:solidFill>
                        <a:effectLst/>
                        <a:latin typeface="+mn-lt"/>
                        <a:ea typeface="+mn-ea"/>
                        <a:cs typeface="+mn-cs"/>
                      </a:endParaRPr>
                    </a:p>
                    <a:p>
                      <a:endParaRPr lang="de-DE" sz="1000" dirty="0"/>
                    </a:p>
                  </a:txBody>
                  <a:tcPr/>
                </a:tc>
                <a:tc>
                  <a:txBody>
                    <a:bodyPr/>
                    <a:lstStyle/>
                    <a:p>
                      <a:r>
                        <a:rPr lang="de-DE" sz="1000" dirty="0"/>
                        <a:t>Direkt Bezug zu Phon-Erkennung</a:t>
                      </a:r>
                    </a:p>
                  </a:txBody>
                  <a:tcPr/>
                </a:tc>
                <a:tc>
                  <a:txBody>
                    <a:bodyPr/>
                    <a:lstStyle/>
                    <a:p>
                      <a:r>
                        <a:rPr lang="de-DE" sz="1000" dirty="0"/>
                        <a:t>2025</a:t>
                      </a:r>
                    </a:p>
                  </a:txBody>
                  <a:tcPr/>
                </a:tc>
                <a:tc>
                  <a:txBody>
                    <a:bodyPr/>
                    <a:lstStyle/>
                    <a:p>
                      <a:r>
                        <a:rPr lang="de-DE" sz="1000" b="0" i="0" kern="1200" dirty="0" err="1">
                          <a:solidFill>
                            <a:schemeClr val="dk1"/>
                          </a:solidFill>
                          <a:effectLst/>
                          <a:latin typeface="+mn-lt"/>
                          <a:ea typeface="+mn-ea"/>
                          <a:cs typeface="+mn-cs"/>
                        </a:rPr>
                        <a:t>WhisperPPT</a:t>
                      </a:r>
                      <a:r>
                        <a:rPr lang="de-DE" sz="1000" b="0" i="0" kern="1200" dirty="0">
                          <a:solidFill>
                            <a:schemeClr val="dk1"/>
                          </a:solidFill>
                          <a:effectLst/>
                          <a:latin typeface="+mn-lt"/>
                          <a:ea typeface="+mn-ea"/>
                          <a:cs typeface="+mn-cs"/>
                        </a:rPr>
                        <a:t>, u.a.</a:t>
                      </a:r>
                      <a:endParaRPr lang="de-DE" sz="1000" b="0" dirty="0"/>
                    </a:p>
                  </a:txBody>
                  <a:tcPr/>
                </a:tc>
                <a:tc>
                  <a:txBody>
                    <a:bodyPr/>
                    <a:lstStyle/>
                    <a:p>
                      <a:r>
                        <a:rPr lang="de-DE" sz="1000" b="0" i="0" kern="1200" dirty="0">
                          <a:solidFill>
                            <a:schemeClr val="dk1"/>
                          </a:solidFill>
                          <a:effectLst/>
                          <a:latin typeface="+mn-lt"/>
                          <a:ea typeface="+mn-ea"/>
                          <a:cs typeface="+mn-cs"/>
                        </a:rPr>
                        <a:t>Aishell-1, </a:t>
                      </a:r>
                      <a:r>
                        <a:rPr lang="de-DE" sz="1000" b="0" i="0" kern="1200" dirty="0" err="1">
                          <a:solidFill>
                            <a:schemeClr val="dk1"/>
                          </a:solidFill>
                          <a:effectLst/>
                          <a:latin typeface="+mn-lt"/>
                          <a:ea typeface="+mn-ea"/>
                          <a:cs typeface="+mn-cs"/>
                        </a:rPr>
                        <a:t>Librispeech</a:t>
                      </a:r>
                      <a:r>
                        <a:rPr lang="de-DE" sz="1000" b="0" i="0" kern="1200" dirty="0">
                          <a:solidFill>
                            <a:schemeClr val="dk1"/>
                          </a:solidFill>
                          <a:effectLst/>
                          <a:latin typeface="+mn-lt"/>
                          <a:ea typeface="+mn-ea"/>
                          <a:cs typeface="+mn-cs"/>
                        </a:rPr>
                        <a:t> , Multilingual </a:t>
                      </a:r>
                      <a:r>
                        <a:rPr lang="de-DE" sz="1000" b="0" i="0" kern="1200" dirty="0" err="1">
                          <a:solidFill>
                            <a:schemeClr val="dk1"/>
                          </a:solidFill>
                          <a:effectLst/>
                          <a:latin typeface="+mn-lt"/>
                          <a:ea typeface="+mn-ea"/>
                          <a:cs typeface="+mn-cs"/>
                        </a:rPr>
                        <a:t>LibriSpeech</a:t>
                      </a:r>
                      <a:endParaRPr lang="de-DE" sz="1000" dirty="0"/>
                    </a:p>
                  </a:txBody>
                  <a:tcPr/>
                </a:tc>
                <a:tc>
                  <a:txBody>
                    <a:bodyPr/>
                    <a:lstStyle/>
                    <a:p>
                      <a:r>
                        <a:rPr lang="de-DE" sz="1000" b="0" i="0" kern="1200" dirty="0">
                          <a:solidFill>
                            <a:schemeClr val="dk1"/>
                          </a:solidFill>
                          <a:effectLst/>
                          <a:latin typeface="+mn-lt"/>
                          <a:ea typeface="+mn-ea"/>
                          <a:cs typeface="+mn-cs"/>
                        </a:rPr>
                        <a:t>PFER	</a:t>
                      </a:r>
                      <a:endParaRPr lang="de-DE" sz="1000" dirty="0"/>
                    </a:p>
                  </a:txBody>
                  <a:tcPr/>
                </a:tc>
                <a:tc>
                  <a:txBody>
                    <a:bodyPr/>
                    <a:lstStyle/>
                    <a:p>
                      <a:r>
                        <a:rPr lang="de-DE" sz="1000" dirty="0">
                          <a:hlinkClick r:id="rId7"/>
                        </a:rPr>
                        <a:t>Link</a:t>
                      </a:r>
                      <a:endParaRPr lang="de-DE" sz="1000" dirty="0"/>
                    </a:p>
                  </a:txBody>
                  <a:tcPr/>
                </a:tc>
                <a:extLst>
                  <a:ext uri="{0D108BD9-81ED-4DB2-BD59-A6C34878D82A}">
                    <a16:rowId xmlns:a16="http://schemas.microsoft.com/office/drawing/2014/main" val="3184540634"/>
                  </a:ext>
                </a:extLst>
              </a:tr>
              <a:tr h="370840">
                <a:tc>
                  <a:txBody>
                    <a:bodyPr/>
                    <a:lstStyle/>
                    <a:p>
                      <a:r>
                        <a:rPr lang="en-US" sz="1000" b="0" i="0" u="none" strike="noStrike" kern="1200" baseline="0" dirty="0">
                          <a:solidFill>
                            <a:schemeClr val="dk1"/>
                          </a:solidFill>
                          <a:latin typeface="+mn-lt"/>
                          <a:ea typeface="+mn-ea"/>
                          <a:cs typeface="+mn-cs"/>
                        </a:rPr>
                        <a:t>Mispronunciation detection and diagnosis based on large language models</a:t>
                      </a:r>
                      <a:endParaRPr lang="de-DE" sz="1000" b="0" dirty="0"/>
                    </a:p>
                  </a:txBody>
                  <a:tcPr/>
                </a:tc>
                <a:tc>
                  <a:txBody>
                    <a:bodyPr/>
                    <a:lstStyle/>
                    <a:p>
                      <a:r>
                        <a:rPr lang="de-DE" sz="1000" b="0" dirty="0"/>
                        <a:t>Generell zu MDD</a:t>
                      </a:r>
                    </a:p>
                  </a:txBody>
                  <a:tcPr/>
                </a:tc>
                <a:tc>
                  <a:txBody>
                    <a:bodyPr/>
                    <a:lstStyle/>
                    <a:p>
                      <a:r>
                        <a:rPr lang="de-DE" sz="1000" dirty="0"/>
                        <a:t>2026</a:t>
                      </a:r>
                    </a:p>
                  </a:txBody>
                  <a:tcPr/>
                </a:tc>
                <a:tc>
                  <a:txBody>
                    <a:bodyPr/>
                    <a:lstStyle/>
                    <a:p>
                      <a:endParaRPr lang="de-DE" sz="1000" b="0" dirty="0"/>
                    </a:p>
                  </a:txBody>
                  <a:tcPr/>
                </a:tc>
                <a:tc>
                  <a:txBody>
                    <a:bodyPr/>
                    <a:lstStyle/>
                    <a:p>
                      <a:endParaRPr lang="de-DE" sz="1000" dirty="0"/>
                    </a:p>
                  </a:txBody>
                  <a:tcPr/>
                </a:tc>
                <a:tc>
                  <a:txBody>
                    <a:bodyPr/>
                    <a:lstStyle/>
                    <a:p>
                      <a:endParaRPr lang="de-DE" sz="1000" dirty="0"/>
                    </a:p>
                  </a:txBody>
                  <a:tcPr/>
                </a:tc>
                <a:tc>
                  <a:txBody>
                    <a:bodyPr/>
                    <a:lstStyle/>
                    <a:p>
                      <a:r>
                        <a:rPr lang="de-DE" sz="1000" dirty="0">
                          <a:hlinkClick r:id="rId8"/>
                        </a:rPr>
                        <a:t>Link</a:t>
                      </a:r>
                      <a:endParaRPr lang="de-DE" sz="1000" dirty="0"/>
                    </a:p>
                  </a:txBody>
                  <a:tcPr/>
                </a:tc>
                <a:extLst>
                  <a:ext uri="{0D108BD9-81ED-4DB2-BD59-A6C34878D82A}">
                    <a16:rowId xmlns:a16="http://schemas.microsoft.com/office/drawing/2014/main" val="1659384884"/>
                  </a:ext>
                </a:extLst>
              </a:tr>
            </a:tbl>
          </a:graphicData>
        </a:graphic>
      </p:graphicFrame>
    </p:spTree>
    <p:extLst>
      <p:ext uri="{BB962C8B-B14F-4D97-AF65-F5344CB8AC3E}">
        <p14:creationId xmlns:p14="http://schemas.microsoft.com/office/powerpoint/2010/main" val="2720759907"/>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4923C4-C941-F25C-B8A9-6E558A7B6818}"/>
              </a:ext>
            </a:extLst>
          </p:cNvPr>
          <p:cNvSpPr>
            <a:spLocks noGrp="1"/>
          </p:cNvSpPr>
          <p:nvPr>
            <p:ph type="title"/>
          </p:nvPr>
        </p:nvSpPr>
        <p:spPr/>
        <p:txBody>
          <a:bodyPr/>
          <a:lstStyle/>
          <a:p>
            <a:r>
              <a:rPr lang="de-DE" dirty="0"/>
              <a:t>Chinesische </a:t>
            </a:r>
            <a:r>
              <a:rPr lang="de-DE" dirty="0" err="1"/>
              <a:t>Transcriptionsformen</a:t>
            </a:r>
            <a:endParaRPr lang="de-DE" dirty="0"/>
          </a:p>
        </p:txBody>
      </p:sp>
      <p:sp>
        <p:nvSpPr>
          <p:cNvPr id="3" name="Content Placeholder 2">
            <a:extLst>
              <a:ext uri="{FF2B5EF4-FFF2-40B4-BE49-F238E27FC236}">
                <a16:creationId xmlns:a16="http://schemas.microsoft.com/office/drawing/2014/main" id="{5674426C-1BEE-4843-6DBB-763DABA99D9E}"/>
              </a:ext>
            </a:extLst>
          </p:cNvPr>
          <p:cNvSpPr>
            <a:spLocks noGrp="1"/>
          </p:cNvSpPr>
          <p:nvPr>
            <p:ph idx="1"/>
          </p:nvPr>
        </p:nvSpPr>
        <p:spPr/>
        <p:txBody>
          <a:bodyPr/>
          <a:lstStyle/>
          <a:p>
            <a:r>
              <a:rPr lang="de-DE" dirty="0" err="1"/>
              <a:t>Pingyin</a:t>
            </a:r>
            <a:endParaRPr lang="de-DE" dirty="0"/>
          </a:p>
          <a:p>
            <a:pPr lvl="1"/>
            <a:r>
              <a:rPr lang="de-DE" dirty="0"/>
              <a:t>Mit Zahlen</a:t>
            </a:r>
          </a:p>
          <a:p>
            <a:pPr lvl="1"/>
            <a:r>
              <a:rPr lang="de-DE" dirty="0"/>
              <a:t>Mit Tonmarkern</a:t>
            </a:r>
          </a:p>
          <a:p>
            <a:r>
              <a:rPr lang="de-DE" dirty="0"/>
              <a:t>IPA (Chao)</a:t>
            </a:r>
          </a:p>
          <a:p>
            <a:endParaRPr lang="de-DE" dirty="0"/>
          </a:p>
        </p:txBody>
      </p:sp>
    </p:spTree>
    <p:extLst>
      <p:ext uri="{BB962C8B-B14F-4D97-AF65-F5344CB8AC3E}">
        <p14:creationId xmlns:p14="http://schemas.microsoft.com/office/powerpoint/2010/main" val="2217544041"/>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1A7978-6523-6C9D-745D-50F5CD380FE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E6F503-3E2D-98A3-307B-EE9EE19066D7}"/>
              </a:ext>
            </a:extLst>
          </p:cNvPr>
          <p:cNvSpPr>
            <a:spLocks noGrp="1"/>
          </p:cNvSpPr>
          <p:nvPr>
            <p:ph type="title"/>
          </p:nvPr>
        </p:nvSpPr>
        <p:spPr/>
        <p:txBody>
          <a:bodyPr/>
          <a:lstStyle/>
          <a:p>
            <a:r>
              <a:rPr lang="de-DE" dirty="0" err="1"/>
              <a:t>Learnings</a:t>
            </a:r>
            <a:endParaRPr lang="de-DE" dirty="0"/>
          </a:p>
        </p:txBody>
      </p:sp>
      <p:sp>
        <p:nvSpPr>
          <p:cNvPr id="3" name="Content Placeholder 2">
            <a:extLst>
              <a:ext uri="{FF2B5EF4-FFF2-40B4-BE49-F238E27FC236}">
                <a16:creationId xmlns:a16="http://schemas.microsoft.com/office/drawing/2014/main" id="{C30AB891-28A9-1D39-6B38-A318C18B91A4}"/>
              </a:ext>
            </a:extLst>
          </p:cNvPr>
          <p:cNvSpPr>
            <a:spLocks noGrp="1"/>
          </p:cNvSpPr>
          <p:nvPr>
            <p:ph idx="1"/>
          </p:nvPr>
        </p:nvSpPr>
        <p:spPr/>
        <p:txBody>
          <a:bodyPr/>
          <a:lstStyle/>
          <a:p>
            <a:r>
              <a:rPr lang="de-DE" dirty="0"/>
              <a:t>Klassische ASR ist auf </a:t>
            </a:r>
            <a:r>
              <a:rPr lang="de-DE" dirty="0" err="1"/>
              <a:t>Phonemebene</a:t>
            </a:r>
            <a:r>
              <a:rPr lang="de-DE" dirty="0"/>
              <a:t> im Mandarin noch üblich</a:t>
            </a:r>
          </a:p>
          <a:p>
            <a:r>
              <a:rPr lang="de-DE" dirty="0"/>
              <a:t>Der Trend geht zu Multimodalen Modellen</a:t>
            </a:r>
          </a:p>
          <a:p>
            <a:r>
              <a:rPr lang="de-DE" dirty="0"/>
              <a:t>Chinesisch ist besonders herausfordernd, weil hier der Kontext wichtig ist</a:t>
            </a:r>
          </a:p>
          <a:p>
            <a:r>
              <a:rPr lang="de-DE" dirty="0"/>
              <a:t>Bei Chinesisch wird häufig CER verwendet, weil Worte schwerer zu definieren sind</a:t>
            </a:r>
          </a:p>
          <a:p>
            <a:endParaRPr lang="de-DE" dirty="0"/>
          </a:p>
        </p:txBody>
      </p:sp>
    </p:spTree>
    <p:extLst>
      <p:ext uri="{BB962C8B-B14F-4D97-AF65-F5344CB8AC3E}">
        <p14:creationId xmlns:p14="http://schemas.microsoft.com/office/powerpoint/2010/main" val="3096104646"/>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FA1EB4-47D3-A6DB-04E2-D471C719D2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BF0DDE-A74E-433E-FF09-6553DBC5AB77}"/>
              </a:ext>
            </a:extLst>
          </p:cNvPr>
          <p:cNvSpPr>
            <a:spLocks noGrp="1"/>
          </p:cNvSpPr>
          <p:nvPr>
            <p:ph type="title"/>
          </p:nvPr>
        </p:nvSpPr>
        <p:spPr/>
        <p:txBody>
          <a:bodyPr/>
          <a:lstStyle/>
          <a:p>
            <a:r>
              <a:rPr lang="de-DE" dirty="0"/>
              <a:t>Forschungslücken</a:t>
            </a:r>
          </a:p>
        </p:txBody>
      </p:sp>
      <p:sp>
        <p:nvSpPr>
          <p:cNvPr id="3" name="Content Placeholder 2">
            <a:extLst>
              <a:ext uri="{FF2B5EF4-FFF2-40B4-BE49-F238E27FC236}">
                <a16:creationId xmlns:a16="http://schemas.microsoft.com/office/drawing/2014/main" id="{877D3F64-6B11-A0DA-FCBF-AD6813655A9C}"/>
              </a:ext>
            </a:extLst>
          </p:cNvPr>
          <p:cNvSpPr>
            <a:spLocks noGrp="1"/>
          </p:cNvSpPr>
          <p:nvPr>
            <p:ph idx="1"/>
          </p:nvPr>
        </p:nvSpPr>
        <p:spPr/>
        <p:txBody>
          <a:bodyPr/>
          <a:lstStyle/>
          <a:p>
            <a:r>
              <a:rPr lang="de-DE" dirty="0"/>
              <a:t>Wenige State-</a:t>
            </a:r>
            <a:r>
              <a:rPr lang="de-DE" dirty="0" err="1"/>
              <a:t>Of</a:t>
            </a:r>
            <a:r>
              <a:rPr lang="de-DE" dirty="0"/>
              <a:t>-The-Art Modelle für Chinesische ASR</a:t>
            </a:r>
          </a:p>
          <a:p>
            <a:r>
              <a:rPr lang="de-DE" dirty="0"/>
              <a:t>Noch weniger für ASR auf chinesischer </a:t>
            </a:r>
            <a:r>
              <a:rPr lang="de-DE" dirty="0" err="1"/>
              <a:t>Phonemebene</a:t>
            </a:r>
            <a:endParaRPr lang="de-DE" dirty="0"/>
          </a:p>
          <a:p>
            <a:r>
              <a:rPr lang="de-DE" dirty="0"/>
              <a:t>Sehr wenige Studien mit Nichtmuttersprachlern</a:t>
            </a:r>
          </a:p>
          <a:p>
            <a:r>
              <a:rPr lang="de-DE" dirty="0"/>
              <a:t>Kein systematischer Vergleich zwischen den besten Modellen</a:t>
            </a:r>
          </a:p>
          <a:p>
            <a:r>
              <a:rPr lang="de-DE" dirty="0"/>
              <a:t>Töne werden in klassischer ASR häufig nicht explizit ausgewertet und betrachtet</a:t>
            </a:r>
          </a:p>
          <a:p>
            <a:endParaRPr lang="de-DE" dirty="0"/>
          </a:p>
          <a:p>
            <a:endParaRPr lang="de-DE" dirty="0"/>
          </a:p>
        </p:txBody>
      </p:sp>
    </p:spTree>
    <p:extLst>
      <p:ext uri="{BB962C8B-B14F-4D97-AF65-F5344CB8AC3E}">
        <p14:creationId xmlns:p14="http://schemas.microsoft.com/office/powerpoint/2010/main" val="2872295227"/>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69D8DB-8B1A-9EBB-243B-25A4597F5B00}"/>
              </a:ext>
            </a:extLst>
          </p:cNvPr>
          <p:cNvSpPr>
            <a:spLocks noGrp="1"/>
          </p:cNvSpPr>
          <p:nvPr>
            <p:ph type="title"/>
          </p:nvPr>
        </p:nvSpPr>
        <p:spPr/>
        <p:txBody>
          <a:bodyPr/>
          <a:lstStyle/>
          <a:p>
            <a:r>
              <a:rPr lang="de-DE" dirty="0"/>
              <a:t>Einsortieren in AufbauArbeit.docx </a:t>
            </a:r>
            <a:r>
              <a:rPr lang="de-DE"/>
              <a:t>die Literatur</a:t>
            </a:r>
          </a:p>
        </p:txBody>
      </p:sp>
      <p:sp>
        <p:nvSpPr>
          <p:cNvPr id="3" name="Content Placeholder 2">
            <a:extLst>
              <a:ext uri="{FF2B5EF4-FFF2-40B4-BE49-F238E27FC236}">
                <a16:creationId xmlns:a16="http://schemas.microsoft.com/office/drawing/2014/main" id="{101740F3-B21D-9CB9-3D9D-B25991EA7A8B}"/>
              </a:ext>
            </a:extLst>
          </p:cNvPr>
          <p:cNvSpPr>
            <a:spLocks noGrp="1"/>
          </p:cNvSpPr>
          <p:nvPr>
            <p:ph idx="1"/>
          </p:nvPr>
        </p:nvSpPr>
        <p:spPr/>
        <p:txBody>
          <a:bodyPr/>
          <a:lstStyle/>
          <a:p>
            <a:endParaRPr lang="de-DE"/>
          </a:p>
        </p:txBody>
      </p:sp>
    </p:spTree>
    <p:extLst>
      <p:ext uri="{BB962C8B-B14F-4D97-AF65-F5344CB8AC3E}">
        <p14:creationId xmlns:p14="http://schemas.microsoft.com/office/powerpoint/2010/main" val="7948202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18440</Words>
  <Application>Microsoft Office PowerPoint</Application>
  <PresentationFormat>Widescreen</PresentationFormat>
  <Paragraphs>2275</Paragraphs>
  <Slides>115</Slides>
  <Notes>71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115</vt:i4>
      </vt:variant>
    </vt:vector>
  </HeadingPairs>
  <TitlesOfParts>
    <vt:vector size="121" baseType="lpstr">
      <vt:lpstr>Mona Sans VF</vt:lpstr>
      <vt:lpstr>Monaspace Neon</vt:lpstr>
      <vt:lpstr>Aptos</vt:lpstr>
      <vt:lpstr>Aptos Display</vt:lpstr>
      <vt:lpstr>Arial</vt:lpstr>
      <vt:lpstr>Office Theme</vt:lpstr>
      <vt:lpstr>Thema</vt:lpstr>
      <vt:lpstr>Agenda</vt:lpstr>
      <vt:lpstr>Motivation, Story telling</vt:lpstr>
      <vt:lpstr>Können multimodale Foundation Models Mandarin phonetisch und tonal transkribieren?</vt:lpstr>
      <vt:lpstr>Detailfragen</vt:lpstr>
      <vt:lpstr>Zusatzfragen</vt:lpstr>
      <vt:lpstr>PowerPoint Presentation</vt:lpstr>
      <vt:lpstr>Was lernen wir aus den Papern?</vt:lpstr>
      <vt:lpstr>42 Papers, vier Analysekriterien</vt:lpstr>
      <vt:lpstr>Wie sich die Papers ins Related-Work-Kapitel einfügen</vt:lpstr>
      <vt:lpstr>Learning 1 — SOTA bei Mandarin-ASR, aber Evaluation endet auf der Zeichenebene</vt:lpstr>
      <vt:lpstr>Learning 2 — Audio → LLM → Pinyin funktioniert, aber ohne Tonmarker</vt:lpstr>
      <vt:lpstr>Learning 3 — Tonerkennung ist ein aktives Feld, getragen von dedizierten Modellen; sogar Whisper „kollabiert"</vt:lpstr>
      <vt:lpstr>Learning 4 — Mandarin-Benchmarks existieren; Tongenauigkeit misst keiner</vt:lpstr>
      <vt:lpstr>Was wir aus der Literatur konkret übernehmen</vt:lpstr>
      <vt:lpstr>Vier Lücken, die die Literatur offen lässt</vt:lpstr>
      <vt:lpstr>Welche Lücken diese Arbeit schließt — Mapping auf die Forschungsfragen</vt:lpstr>
      <vt:lpstr>Die Lücke in einem Bild: niemand verbindet LLM + Audio + Töne</vt:lpstr>
      <vt:lpstr>Zitate</vt:lpstr>
      <vt:lpstr>PowerPoint Presentation</vt:lpstr>
      <vt:lpstr>Benutzte Datasets</vt:lpstr>
      <vt:lpstr>Datasets Used in 42 Papers: Scale and Scope </vt:lpstr>
      <vt:lpstr>Training Data Scale: The Big Players</vt:lpstr>
      <vt:lpstr>Key Mandarin Datasets Across 42 Papers</vt:lpstr>
      <vt:lpstr>Audio Processing: Who Takes Audio Directly?</vt:lpstr>
      <vt:lpstr>Tone Perfect: Why This Dataset?</vt:lpstr>
      <vt:lpstr>Dataset Gaps: What's Missing?</vt:lpstr>
      <vt:lpstr>PowerPoint Presentation</vt:lpstr>
      <vt:lpstr>Fehlermetriken</vt:lpstr>
      <vt:lpstr>„CER" ist nicht gleich „CER" — die versteckte Referenz-Einheit</vt:lpstr>
      <vt:lpstr>Wer misst auf welcher Ebene? Übersichtskarte </vt:lpstr>
      <vt:lpstr> Referenz vs. Hypothese — die 8 phonetisch relevanten Papers im Detail </vt:lpstr>
      <vt:lpstr>Vier Strategien für Töne — und ihre Konsequenzen</vt:lpstr>
      <vt:lpstr>Wie wird gerechnet? — Von Levenshtein bis Feature-Distanz</vt:lpstr>
      <vt:lpstr> 41 von 42 Papers: Jeder Fehler kostet genau 1</vt:lpstr>
      <vt:lpstr>Gewichtete Ton-Fehler? — Niemand.</vt:lpstr>
      <vt:lpstr>Unser Ansatz — Segment und Ton entkoppelt, fair gewichtet</vt:lpstr>
      <vt:lpstr>Drei Token-Definitionen für Mandarin — mit verschiedenen Ergebnissen</vt:lpstr>
      <vt:lpstr>Was existiert, was fehlt — und was wir beitragen</vt:lpstr>
      <vt:lpstr>Vollständige Metrik-Methodik-Übersicht (Backup / Handout)</vt:lpstr>
      <vt:lpstr>PowerPoint Presentation</vt:lpstr>
      <vt:lpstr>Modellauswahl</vt:lpstr>
      <vt:lpstr>12 Modelle — aber nicht alle messen dasselbe</vt:lpstr>
      <vt:lpstr>Warum ASR-Systeme nur Baseline sind</vt:lpstr>
      <vt:lpstr>Überraschung — nur 1 von 12 Modellen braucht lokale GPU</vt:lpstr>
      <vt:lpstr>Kostenschätzung — mit verifizierten Preisen (Stand Juni 2026)</vt:lpstr>
      <vt:lpstr>Strategie: günstig anfangen, teuer nur bei Bedarf</vt:lpstr>
      <vt:lpstr>Vor dem ersten Euro: 3 Dinge prüfen</vt:lpstr>
      <vt:lpstr>PowerPoint Presentation</vt:lpstr>
      <vt:lpstr>Chinesische Korpera</vt:lpstr>
      <vt:lpstr>20 Mandarin-Korpora recherchiert — nur 3 passen wirklich</vt:lpstr>
      <vt:lpstr>Korpus-Übersicht: Native, L2, und warum die meisten nicht passen</vt:lpstr>
      <vt:lpstr>Tone Perfect — Perfekt für isolierte Tonevaluation</vt:lpstr>
      <vt:lpstr>L2-Datensätze — klein, aber die einzigen öffentlichen mit Tönen</vt:lpstr>
      <vt:lpstr>170h AISHELL, 755h MAGICDATA — aber kein Ton</vt:lpstr>
      <vt:lpstr>Datensatz-Zuordnung: 3 Korpora für 5 Forschungsfragen</vt:lpstr>
      <vt:lpstr>Ausgeschlossen — und warum (Backup-Folie)</vt:lpstr>
      <vt:lpstr>PowerPoint Presentation</vt:lpstr>
      <vt:lpstr>Klassische Transcriptionstools</vt:lpstr>
      <vt:lpstr>Mandarin-Transkription &amp; Tonerkennung ohne LLMs — die 3 Tiers</vt:lpstr>
      <vt:lpstr>Tier A — Text→Pinyin: gelöst, aber nur die kanonische Referenz</vt:lpstr>
      <vt:lpstr>Tier B (kommerziell) — APIs, die aus Audio den Ton bewerten</vt:lpstr>
      <vt:lpstr>Tier B (akademisch) — Native + isolierte Silben: praktisch gelöst</vt:lpstr>
      <vt:lpstr>L2-Lerner — hier brechen ALLE Tools ein (DER 26–32 %)</vt:lpstr>
      <vt:lpstr>Tier C — Pitch-Analyse: Praat, Parselmouth, ProsodyPro, MFA</vt:lpstr>
      <vt:lpstr>Die naheliegende Pipeline (Whisper→g2pW) — und ihr blinder Fleck</vt:lpstr>
      <vt:lpstr>Die Benchmark-Lücke — LLMs sind bei Phonologie schwach &amp; ungetestet</vt:lpstr>
      <vt:lpstr>Was genau fehlt — und wie wir uns abgrenzen</vt:lpstr>
      <vt:lpstr>Wie wir die Tools nutzen — drei Rollen</vt:lpstr>
      <vt:lpstr>PowerPoint Presentation</vt:lpstr>
      <vt:lpstr>Transkribierungssysteme für Mandarin</vt:lpstr>
      <vt:lpstr>All Phonetic Transcription Systems for Mandarin Chinese</vt:lpstr>
      <vt:lpstr>All Phonetic Transcription Systems for Mandarin Chinese</vt:lpstr>
      <vt:lpstr>7 Ways to Represent Mandarin Tones (nach Hacking Chinese + Literatur)</vt:lpstr>
      <vt:lpstr>Mandarin Syllable Structure: What We Evaluate</vt:lpstr>
      <vt:lpstr>Our Choice: Pinyin + Tone Numbers — Why?</vt:lpstr>
      <vt:lpstr>Chirkova (2025): The Only Systematic Comparison</vt:lpstr>
      <vt:lpstr>Pilot Experiment: Which Transcription Format Works Best with LLMs?</vt:lpstr>
      <vt:lpstr>Pilot Design: 400 Samples × 3 Models × 6 Formats</vt:lpstr>
      <vt:lpstr>What the Pilot Could Tell Us</vt:lpstr>
      <vt:lpstr>PowerPoint Presentation</vt:lpstr>
      <vt:lpstr>Experiment</vt:lpstr>
      <vt:lpstr>5 Forschungsfragen — 3 Bewertungsachsen statt nur CER</vt:lpstr>
      <vt:lpstr>Die Experimente — 5 Pflicht + 2 Kür</vt:lpstr>
      <vt:lpstr>Modellauswahl — 3 Märkte × 3 Systemtypen</vt:lpstr>
      <vt:lpstr>Welche Daten? — Pflicht-Korpora + Kür-Korpus</vt:lpstr>
      <vt:lpstr>API-Kosten — Pflicht-Kern für 15–30 €</vt:lpstr>
      <vt:lpstr>Phasenstrategie — günstig → teuer → Kür</vt:lpstr>
      <vt:lpstr>Was MUSS rein, was KANN rein?</vt:lpstr>
      <vt:lpstr>Kür — Eigener L2-Korpus: 8–12 deutsche Lerner</vt:lpstr>
      <vt:lpstr>Kür — Annotationsworkflow: perzeptiv, halbautomatisch</vt:lpstr>
      <vt:lpstr>6 Metriken — Ton, Phonem, Zeichen</vt:lpstr>
      <vt:lpstr>Zeitplan — 8 Wochen Pflicht + 4 Wochen Puffer/Kür</vt:lpstr>
      <vt:lpstr>Methodik auf einen Blick</vt:lpstr>
      <vt:lpstr>PowerPoint Presentation</vt:lpstr>
      <vt:lpstr>PowerPoint Presentation</vt:lpstr>
      <vt:lpstr>Schlüsselworte</vt:lpstr>
      <vt:lpstr>Begriffabgrenzung</vt:lpstr>
      <vt:lpstr>Begriffsabgrenzung 2</vt:lpstr>
      <vt:lpstr>Probleme im Chinesischen bezüglich ASR</vt:lpstr>
      <vt:lpstr>Chinesische Töne</vt:lpstr>
      <vt:lpstr>Survey Paper für Multimodale Modelle?</vt:lpstr>
      <vt:lpstr>A Survey of Large Audio Language Models: Generalization, Trustworthiness, and Outlook </vt:lpstr>
      <vt:lpstr>On The Landscape of Spoken Language Models: A Comprehensive Survey</vt:lpstr>
      <vt:lpstr>Frontiermodelle</vt:lpstr>
      <vt:lpstr>Benchmark Paper ASR (generell)</vt:lpstr>
      <vt:lpstr>Gibt es phonem auf englisch?</vt:lpstr>
      <vt:lpstr>Vergleich von Frontiermodellen für ASR im Chinesischen (Satzebene)</vt:lpstr>
      <vt:lpstr>Vergleich für ASR im Chinesischen auf Phonemebene</vt:lpstr>
      <vt:lpstr>Andere interessante Studien</vt:lpstr>
      <vt:lpstr>Andere interessante Studien</vt:lpstr>
      <vt:lpstr>Chinesische Transcriptionsformen</vt:lpstr>
      <vt:lpstr>Learnings</vt:lpstr>
      <vt:lpstr>Forschungslücken</vt:lpstr>
      <vt:lpstr>Einsortieren in AufbauArbeit.docx die Literatur</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Dosch Stefan</dc:creator>
  <cp:lastModifiedBy>Dosch Stefan</cp:lastModifiedBy>
  <cp:revision>1</cp:revision>
  <dcterms:created xsi:type="dcterms:W3CDTF">2026-05-24T00:29:38Z</dcterms:created>
  <dcterms:modified xsi:type="dcterms:W3CDTF">2026-06-29T05:40:03Z</dcterms:modified>
</cp:coreProperties>
</file>