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Die 7 Speech LLMs trainieren auf 20M+ bis 40M Stunden Audio — aber evaluieren nur mit CER auf Zeichenebene, nie auf Ton-/Phonemebene - Nur 10 von 42 Papers evaluieren Töne explizit - Kein einziges Paper evaluiert ein multimodales LLM auf Tontranskription - AISHELL-1 ist der mit Abstand häufigste Benchmark (in 15+ Papers)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Seed-ASR: "training on over 20 million hours of speech data and nearly 900 thousand hours of paired ASR data" (Abstract, S. 1) - Qwen3-ASR: "approximately 40 million hours of pseudo-labeled ASR data" (S. 3) - Kimi-Audio: "approximately 13 million hours of raw audio" (S. 6) - Diese Modelle haben Mandarin-Töne hunderte Millionen Mal "gehört" — aber niemand hat geprüft, ob sie die Töne auch VERSTEHEN - Tone Perfect: 9.840 Silben, ~2 Stunden — winzig, aber PERFEKT für isolierte Tonevaluation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AISHELL-1 ist der "MNIST der chinesischen ASR" — überall verwendet, aber nur CER, nie Töne - Tone Perfect ist der EINZIGE öffentlich verfügbare Datensatz mit isolierten Silben × 4 Töne × 6 Sprecher — ideal für kontrollierte Tonevaluation - "The Tone Perfect corpus contains 9,840 recordings of 410 Mandarin syllables, each spoken in all 4 tones by 6 Beijing native speakers" (Ryu 2021) - LATIC (4 Stunden, 4 L2-Sprecher) ist der einzige öffentliche L2-Mandarin-Datensatz mit Tonannotation — extrem klein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Kimi-Audio erwähnt "tone" explizit als wichtige paralinguistische Information: "text transcription focuses on the content of spoken words (what is said), neglecting important information in audio, such as paralanguage information (e.g., emotion, style, timbre, tone)" (Section 8, S. 21) [VERIFIZIERT] - Zhengjie ist das NÄCHSTE an unserer Arbeit: Audio→LLM→Pinyin — aber "there has been little exploration of leveraging LLMs to map audio features directly to Pinyin representations" (Introduction, S. 1) [VERIFIZIERT] - Wang MSPB ist das einzige Paper, das multimodale LLMs (GPT-4o, Gemini, Qwen2-Audio) auf Audio-Prosodie testet — aber nur Satzprosodie (Frage/Aussage), nicht lexikalische Töne (ma1/ma2/ma3/ma4)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Bisher nur in 2 Papers verwendet: Ryu (2021) als Datensatz-Paper und Xu SITA (2026) für Mandarin-Transfer - SITA fand "tone collapse" in Whisper-Embeddings: "embeddings from Whisper large-v3 exhibit a notable degree of tone collapse" — Töne werden im Embedding-Raum nicht gut unterschieden - Für unsere Arbeit: Wir nutzen Tone Perfect als kontrollierten Evaluationsdatensatz — jedes Sample hat exakt EINE Silbe mit exakt EINEM Ton → kein Tone Sandhi, keine Satzprosodie, reiner Tonerkennungstest - Limitation: Nur isolierte Silben, keine connected speech — das ist GEWOLLT für den ersten Test, aber muss als Limitation diskutiert werden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Die Literatur hat einen blinden Fleck: Millionen Stunden Training, aber die fundamentalste Eigenschaft des Mandarin — die 4 Töne — wird nie evaluiert - Zou (2025) empfiehlt TER (Tone Error Rate) als Metrik: "Tone Error Rate (TER) analogous to Word Error Rate is preferred" — aber KEIN Paper wendet TER tatsächlich an! - Unsere Arbeit schließt alle 3 Lücken: Tone Perfect + multimodale LLMs + TER als Metrik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 20 recherchierten Korpora bleiben am Ende drei übrig, die direkt für mein Experiment nutzbar sind. Der Trichter zeigt, warum: Vier Datensätze fallen sofort raus — ein Textkorpus, ein TTS-Datensatz, ein Code-Switching-Korpus und ein Kantonesisch-Datensatz. Von den 16 mit Audio sind nur 9 öffentlich zugänglich. Von diesen haben nur 5 eine Tonannotation. Und von diesen sind nur 3 sowohl öffentlich als auch für meine Forschungsfragen geeignet: Tone Perfect für die Native-Speaker-Evaluation, LATIC und OMPAL für die L2-Evaluation."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Tabelle zeigt alle 20 recherchierten Korpora. Oben die drei Kernkorpora für mein Experiment: Tone Perfect für RQ2, LATIC und OMPAL für RQ3. AISHELL-1 und THCHS-30 dienen als ASR-Baselines für den Literaturvergleich. Die großen Korpora wie MAGICDATA und KeSpeech sind für meine isolierte Tonevaluation zu komplex — ich brauche keine 755 Stunden, sondern die richtigen 2 Stunden. Unten die ausgeschlossenen: Sinica ist ein reines Textkorpus, Biaobei ist für TTS, CS-Dialogue mischt Mandarin mit Englisch, und EdUHK ist Kantonesisch. Fünf Korpora wie iCALL und SingaKids wären interessant, sind aber nicht öffentlich — die wären ein Bonus, wenn ich Kontakt aufnehme."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„Tone Perfect ist der Kern meines Experiments. Es enthält alle 410 Mandarin-Silben in allen vier Tönen, gesprochen von sechs Pekinger Muttersprachlern — insgesamt 9.840 Aufnahmen. Das Besondere: Jedes Sample ist genau eine Silbe, und der korrekte Ton steht im Dateinamen. Damit habe ich einen perfekten Ground Truth für isolierte Tonevaluation. Das schließt Kontexteffekte wie Tone Sandhi aus — das ist gewollt, denn ich will zuerst wissen, ob ein Modell überhaupt Einzeltöne richtig erkennt. Wichtig: In meiner Excel stand ‚von Autoren bekommen', aber Tone Perfect ist tatsächlich Open Access unter tone.lib.msu.edu — das habe ich online verifiziert."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die L2-Evaluation habe ich zwei öffentliche Datensätze: LATIC und OMPAL. LATIC ist klein — nur 4 Sprecher — aber es ist der einzige Datensatz mit expliziten Tonnummern im Pinyin-Format, also genau das, was mein Experiment braucht. OMPAL ist neuer und größer, 46 französische Mandarin-Lerner, mit Expertenrating auf Wort- und Satzebene. Zusammen sind das 50 L2-Sprecher. Das ist wenig, aber kein Paper hat bisher überhaupt multimodale LLMs auf L2-Mandarin getestet — der erste Datenpunkt ist schon ein Beitrag. Falls ich mehr brauche, könnte ich Nancy Chen für iCALL kontaktieren — 305 Sprecher, 142 Stunden — aber das ist nicht öffentlich und nicht kritisch für die Thesis."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erklärt, warum ich nicht einfach AISHELL-1 mit seinen 170 Stunden nehme. AISHELL hat keinen Ton-Ground-Truth — es enthält Sätze mit Zeichentranskription, aber nirgendwo steht, welchen Ton ein bestimmtes Zeichen in einem bestimmten Kontext hat. Ich kann CER rechnen, aber keine Tone Error Rate. Dasselbe gilt für MAGICDATA, KeSpeech und WenetSpeech. Tone Perfect hat nur 2 Stunden — aber jedes einzelne Sample hat ein Label, das mir genau sagt: Diese Silbe ist ‚ma' mit Ton 2. Das ist, was ich für eine kontrollierte Evaluation brauche. Die großen Korpora nutze ich nur für den Literaturvergleich, also CER-Werte, die ich mit anderen Papers vergleichen kann."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Zuordnung ist einfach: Für RQ1, die reine Text-zu-Pinyin-Aufgabe, brauche ich kein Audio — da reichen Textproben für Claude und DeepSeek. Für RQ2, die Kern-Evaluation auf Native Speech, nehme ich Tone Perfect — entweder alle 9.840 Samples oder eine stratifizierte Stichprobe von 700. Für RQ3, die L2-Evaluation, nehme ich LATIC und OMPAL zusammen — die einzigen öffentlichen L2-Datensätze mit Toninformation. Für den Literaturvergleich in RQ4 rechne ich zusätzlich CER auf AISHELL-1, damit meine Ergebnisse mit den 15+ Papers vergleichbar sind, die AISHELL als Benchmark nutzen. Und die Fehlerstruktur in RQ5 ergibt sich aus den Konfusionsmatrizen von RQ2 und RQ3. Bevor das volle Experiment startet, laufe ich einen Pilot: 400 Tone-Perfect-Samples plus 200 LATIC-Samples — das testet die gesamte Pipeline für unter einen Dollar."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den Fall, dass Tim fragt, warum ich bestimmte Korpora nicht verwende: Sinica ist ein Textkorpus ohne Audio. Biaobei und WenetSpeech sind TTS-Korpora — die gehen von Text zu Sprache, ich brauche Sprache zu Text. CS-Dialogue mischt Mandarin mit Englisch, EdUHK ist Kantonesisch. Spoken Chinese L2 hat kein öffentliches Audio, nur Transkripte. ChildMandarin wäre interessant, aber Kinder von 3 bis 5 sind weder meine Zielgruppe noch L2-Lerner. Und BLCU war 2016 noch im Design — ob der Datensatz inzwischen fertig ist, müsste ich erst recherchieren."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- 74% aller Papers geben chinesische Schriftzeichen aus und messen CER — Töne gehen komplett verloren - "Chinese uses pinyin as a phonetic notation system, where each character is transcribed into a syllable composed of an initial and a final." (Chen SCCM, Section 1) - Pinyin dominiert (7 Papers), aber meist OHNE explizite Begründung der Systemwahl — es wird als "gegeben" betrachtet - IPA erscheint nur bei multilingualer Arbeit (ZIPA: 88 Sprachen) oder systematischem Vergleich (Chirkova: Baima) - Kein einziges Paper begründet die Wahl zwischen Pinyin und IPA für Mandarin-ASR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Von 11 Papers die Lautschrift nutzen, haben nur 6 explizite Tonmarker - Zhengjie PYG-ASR ist ein wichtiger Grenzfall: Das System verwendet Pypinyin "with the standard tone style, the phonetic tone is on the first letter of the final" (Section 2.1) — also MIT Diakritika. Aber die Evaluation (Pinyin-ERR) trennt nicht zwischen Silben- und Tonfehlern - Chirkova (2025) ist das EINZIGE Paper mit systematischem Vergleich verschiedener Tondarstellungen: "IPA reduced character errors by 2.7% and tone errors by 5.2% over Pinyin" (Section 5) — aber für Baima, nicht Mandarin, und mit Wav2Vec2/Whisper, nicht LLMs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Zhengjie PYG-ASR kommt am nächsten: Audio→LLM→Pinyin — aber explizit OHNE separate Tonevaluation - Zhengjie selbst schreibt: "there has been little exploration of leveraging LLMs to map audio features directly to Pinyin representations" (Introduction, S. 1) [VERIFIZIERT] - Chirkova vergleicht IPA vs. Pinyin systematisch mit Tonerkennung — aber mit Wav2Vec2/Whisper, nicht LLMs - Unsere Arbeit füllt das letzte Kästchen: LLM ✅ + Audio ✅ + Lautschrift ✅ + Töne separat ✅ - Das ist ein genuiner Forschungsbeitrag — kein Paper in der Literatur hat alle 4 Kriterien gleichzeitig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Dies ist ein methodologisches Problem in der Literatur: Die Wahl des Transkriptionssystems wird fast nie diskutiert - Chirkova ist die Ausnahme und begründet ihre Wahl mehrstufig: "We chose Chao tone numbers for several reasons. First, the complexity of the tonal system of Baima has only recently begun to be unravelled... Chao tone numbers offer the most accurate and reliable method for noting tone variation" (Section 2.2) - Für unsere Arbeit: Wir sollten unsere Wahl (Pinyin+Tonnummern) explizit begründen — das stärkt die Methodologie - Chen SCCM gibt die beste Pinyin-Begründung: "pinyin directly corresponds to the pronunciation of speech and can provide more phonetic information" (Section 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- 11 Systeme insgesamt, aber nur 7 sind heute relevant — die 4 historischen sind in keinen LLM-Trainingsdaten vertreten - Hanyu Pinyin ist der offizielle internationale Standard seit 1958 (VR China) / 1982 (ISO 7098) / 1986 (UN) - In der Literatur: 7 Papers nutzen Pinyin, 2 nutzen IPA, 0 nutzen Zhuyin/Wade-Giles/GR/Yale/Tongyong - Für LLMs ist Pinyin optimal: lateinische Buchstaben sind in den Trainingsdaten massiv vertreten - IPA-Symbole wie ˥, ˧˥, ˨˩˦ sind seltene Unicode-Zeichen → Token-Fragmentierung bei LLMs möglich - Yale Romanization war vor Hanyu Pinyin der westliche Standard — heute vollständig durch Pinyin ersetzt - Tongyong Pinyin war nur 6 Jahre offiziell in Taiwan (2002–2008), bevor Taiwan zu Hanyu Pinyin wechselte - Chirkova (2025): "favouring Chao tone numbers over IPA diacritics for tone representation" (Section 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 Methoden nach Hacking Chinese (2024) + Chirkova (2025) + IPA-Handbuch - Chao Yuen Ren (赵元任) entwickelte 1930 das 5-Stufen-System, das bis heute der Standard in der Tonforschung ist - Chirkova (2025): "Chao tone numbers offer the most accurate and reliable method for noting tone variation" (Section 2.2) - Für LLMs ist "ma1" (Tonnummer) optimal: (1) lateinische Buchstaben + Ziffer, (2) kein Unicode-Sonderzeichen, (3) klar maschinenparsbar, (4) massiv in Online-Lernmaterialien vertreten - Methoden 5-7 werden NICHT im Pilot getestet: IPA-Diakritika und Bopomofo-Tonmarken sind zu selten in LLM-Trainingsdaten; GR-Tonspelling ist veraltet und mehrdeutig (z.B. "ma" = T1, aber "mha" ist nicht transparent) - Zou (2025) empfiehlt separate Tonevaluation: "Tone Error Rate (TER) analogous to Word Error Rate is preferred" - Unsere Wahl: Pinyin + Tonnummer (ma1) — optimal für LLM-Ausgabe UND maschinenlesbare Evaluation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Ein Mandarin-Wort besteht aus: Initial (Konsonant) + Final (Vokal/Diphthong) + Ton - Standard: 23 Initiale × 35 Finale × 4 Töne — aber nicht alle Kombinationen existieren → 410 gültige Silben (Tone Perfect) - Die meisten Papers (31/42) evaluieren nur auf Hanzi-Ebene (CER): 电→电 korrekt oder nicht - Unsere Arbeit evaluiert auf ALLEN 3 Ebenen: Segment (d+ian) + Ton (4) + Kombiniert (dian4) - "Chinese uses pinyin as a phonetic notation system, where each character is transcribed into a syllable composed of an initial and a final" (Chen SCCM, Section 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Pinyin+Tonnummern ist der optimale Kompromiss für unsere Arbeit: 1. LLMs kennen Pinyin aus den Trainingsdaten 2. Tonnummern sind maschinenlesbar → automatische TER-Berechnung 3. Es ist der De-facto-Standard in der digitalen Mandarin-Didaktik - Chirkova (2025) fand: "IPA reduced character errors by 2.7% and tone errors by 5.2% over Pinyin" — ABER mit Wav2Vec2/Whisper (ASR-Modelle), nicht LLMs - Bei LLMs könnte Pinyin BESSER sein als IPA — wegen Token-Vertrautheit. Das ist eine offene Frage. - Die Entscheidung für Pinyin+Tonnummern wird durch die Literatur gestützt: - Tone Perfect nutzt Pinyin+Ton# als Ground Truth - 5 von 7 Pinyin-Papers nutzen Tonnummern oder Initials/Finals - Chao-Tonnummern (55/35/214/51) wären präziser, aber in LLM-Trainingsdaten selten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Chirkova (2025) ist das EINZIGE Paper das IPA vs. Pinyin systematisch auf Tonerkennung vergleicht - Ergebnis: IPA ist 5,2% besser bei Tonfehlern (tonal CER 20 vs. 28) und 2,7% besser bei Zeichenfehlern - ABER: (1) Sprache ist Baima (Tibeto-Burman), nicht Standard-Mandarin; (2) Modelle sind Wav2Vec2 und Whisper, keine LLMs - Für LLMs gibt es Gründe, warum Pinyin besser sein KÖNNTE: - "ma1" ist ein häufiges Token in LLM-Trainingsdaten - IPA-Symbole wie ˥˧˥˨˩˦˥˩ sind seltene Unicode-Zeichen - LLMs tokenisieren IPA-Zeichen möglicherweise als einzelne Bytes → schlechtere Repräsentation - Chirkova selbst schreibt: "While conversion from Simple romanisation or Baima Pinyin to IPA is impossible as too many details are lost, it is possible to convert into Pinyin and Simple romanised script from the better-performing IPA model" (Section 4) — IPA erfasst mehr Detail, aber Pinyin ist praktischer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Chirkova (2025) fand: IPA reduziert Tonfehler um 5,2% ggü. Pinyin — ABER mit Wav2Vec2/Whisper, nicht LLMs - Bei LLMs gibt es 3 Gründe, warum Pinyin besser sein KÖNNTE: 1. LLMs haben massiv mehr Pinyin im Training (Wikipedia, Lehrbücher, Unicode-Texte) 2. IPA-Symbole wie ˥, ˧˥, ˨˩˦ sind seltene Unicode-Zeichen → Token-Fragmentierung 3. "ma1" wird als ein Token verarbeitet; "[ma˥]" wird in Subword-Tokens zerhackt - Format C (ohne Töne) dient als Baseline: Wenn das Modell "ma" ohne Ton korrekt transkribiert, wissen wir, dass Silbenerkennung funktioniert — Tonfehler sind dann separat messbar - Format F (Hybrid) testet, ob die Trennung von Silbe und Ton die Genauigkeit verbessert - Dieses Pilot-Experiment liefert ein eigenständiges methodologisches Ergebnis für die Thesis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Die stratifizierte Auswahl stellt sicher, dass schwierige Silben (Retroflexe, Diphthongs) repräsentiert sind — das sind die Silben, bei denen Tonfehler am häufigsten auftreten - 7.200 API-Calls klingen viel, sind aber bei den Preisen der günstigsten Modelle machbar (&lt;$10) - Die Tone Confusion Matrix ist besonders wichtig: Wenn alle Modelle systematisch T2↔T3 verwechseln, deutet das auf ein fundamentales akustisches Problem hin (beide steigen am Ende) - PER (Phone Error Rate) ist die feinste Metrik: Sie erfasst, ob z.B. "zh" als "z" transkribiert wird (Retroflex-Fehler) - Falls Pinyin+Tonnummern klar gewinnt → Bestätigung unserer Wahl für das Hauptexperiment - Falls IPA besser → Chirkova-Ergebnis bestätigt auch für LLMs → IPA für Hauptexperiment erwägen - Falls kein Unterschied → Einfachstes Format (Pinyin+Ton#) wählen → methodologisch sauber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Das Pilot-Experiment stärkt die Methodologie erheblich: Statt "wir haben Pinyin+Ton# gewählt, weil es Standard ist" können wir sagen "wir haben empirisch getestet, welches Format am besten funktioniert" - Der interessanteste Fall wäre eine Chirkova-Umkehr (Pinyin &gt; IPA bei LLMs): Das wäre ein eigenständiger Forschungsbeitrag und zeigt, dass ASR-Ergebnisse nicht 1:1 auf LLMs übertragbar sind - Selbst wenn alle Formate gleich gut abschneiden, ist das ein Ergebnis: "Format spielt keine Rolle → einfachstes Format wählen" ist eine valide methodologische Entscheidung - Falls alle Formate schlecht sind (&lt;50% Tone Accuracy): Das wäre das radikalste Ergebnis und würde die gesamte Forschungsfrage verschieben — von "welches Format" zu "können LLMs Töne überhaupt?" - Tim fragen: Soll der Pilot als eigenes Sub-Experiment in die Thesis oder nur als Methodologie-Entscheidung?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Tool-Landschaft hat drei Ebenen. Tier A wandelt Text in Pinyin um — g2pW erreicht 99 Prozent. Das ist aber die kanonische Soll-Aussprache, nicht das, was tatsächlich gesprochen wurde. Tier B ist die spannende Ebene: Tools, die aus Audio den Ton bestimmen — kommerzielle APIs wie SpeechSuper und akademische CNN-Klassifikatoren. Hier ist der Befund zweigeteilt: Für Muttersprachler mit isolierten Silben ist das praktisch gelöst, bis 99 Prozent. Aber für L2-Lerner brechen alle Werte ein, mit Diagnose-Fehlerraten von 26 bis 32 Prozent. Tier C misst die physikalische Pitch-Kontur mit Praat — die Messung ist gelöst, aber die Klassifikation in Tonkategorien muss man selbst bauen. Und ganz unten: Was fehlt? Ein Tool, das Audio robust in vollständige Pinyin-plus-Ton-Transkription umwandelt — gerade für L2. Und kein Frontier-LLM wurde je auf isolierter Silben-Tonebene gebenchmarkt. Das ist meine Lücke."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A ist gelöst. g2pW nutzt BERT, um Polyphone kontextabhängig aufzulösen, und erreicht 99 Prozent auf dem Standard-Benchmark. Es ist meine Baseline für die erste Forschungsfrage, Text zu Pinyin. Aber — und das ist der entscheidende Punkt — Tier A liefert nur die kanonische Soll-Aussprache aus dem Wörterbuch. Es sagt mir, wie ein Wort ausgesprochen werden sollte, nicht, was ein Sprecher tatsächlich produziert hat. Für die Audio-Aufgabe brauche ich Tier B."</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 der kommerziellen Seite von Tier B gibt es spezialisierte Aussprachebewertungs-APIs. Die beiden chinesischen Marktführer, SpeechSuper und iFlytek, sind genau auf Mandarin zugeschnitten: Sie bewerten Initial, Final und Ton getrennt und liefern sogar eine Ton-Prädiktion — sie sagen dem Lerner: ‚Du hast Ton 2 produziert, korrekt wäre Ton 4.' iFlytek ist so etabliert, dass es das offizielle chinesische Sprachexamen antreibt. Microsoft Azure ist technisch exzellent bei Segmenten und gibt sogar IPA-Alternativen mit Konfidenzwerten zurück — aber für Chinesisch hat Azure keinen separaten Ton-Score, der Ton versteckt sich im Phonem-Score. Das große Problem aller drei: Es sind Black Boxes ohne publizierte Fehlerraten. Bevor ich sie als Cross-Check nutze, muss ich sie selbst auf einer Stichprobe validieren."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 der akademischen Seite von Tier B ist die Tonklassifikation für Muttersprachler mit isolierten Silben praktisch gelöst. Ein simples CNN auf dem Tone-Perfect-Datensatz erreicht 99,8 Prozent, fine-getunte HuBERT-Modelle melden bis zu 100 Prozent. Eine systematische Review von 61 Studien bestätigt: Deep Learning erreicht im Schnitt 89 Prozent, bei isolierten Silben bis 99 Prozent. Durchgängig der schwierigste Ton ist Ton 3 — der tief-fallend-steigende. Für meine Arbeit hat das zwei Konsequenzen: Erstens kann ich für Phase 1, die Muttersprachler-Daten, einen CNN-Klassifikator als automatischen Cross-Check nutzen — wenn er über 98 Prozent gegen die bekannten Labels liegt, spare ich mir die manuelle Annotation. Zweitens sind diese 99-Prozent-Werte die perfekten Nicht-LLM-Baselines: Spezialmodell 99 Prozent — wie schlägt sich ein generalistisches LLM dagegen?"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der entscheidende Kontrast. Sobald wir von Muttersprachlern zu L2-Lernern wechseln, brechen alle Tools ein. Die besten spezialisierten Mispronunciation-Detection-Systeme — Pitch-Aware RNN-T, Tone-CAT, Tone-PT, alle auf dem L2-Korpus LATIC evaluiert — haben Diagnose-Fehlerraten zwischen 26 und 32 Prozent. Warum? Weil L2-Lerner Laute produzieren, die das Modell nie im Training gesehen hat: Ein zu flacher Ton 3 klingt wie ein Ton 2, Aspiration wird verwechselt, dazu kommt massive Datenknappheit. Die Konsequenz für meine Arbeit ist klar: Für die L2-Phase bleibt menschliche Annotation unverzichtbar — die Tools taugen nur als Vorab-Filter, nicht als Ground Truth. Erst bei einem Tool-Mensch-Agreement über Kappa 0,85 könnte man automatisieren. Und genau das macht mein L2-Experiment wertvoll: Können multimodale LLMs hier vielleicht anders oder besser abschneiden als die spezialisierten Systeme?"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„Tier C ist die Signalebene — die physikalische Wahrheit der Tonhöhe. Praat ist der phonetische Goldstandard zur F0-Extraktion, und Parselmouth bringt den Praat-Kern nach Python, sodass ich tausende Samples automatisch verarbeiten kann. ProsodyPro normalisiert die Konturen zeitlich auf zehn Punkte pro Silbe — erst dadurch kann ich die Kurve eines L2-Lerners direkt über die Muttersprachler-Sollkurve legen und sehen: Hier fehlt der Anstieg von Ton 3. Der Montreal Forced Aligner liefert die nötigen Zeitgrenzen, damit ich überhaupt weiß, wo im Audiosignal die Silbe liegt. Diese Pipeline gibt mir quantitatives, erklärbares Feedback — die Rohdaten für den späteren Vokabeltrainer. Wichtig ist aber: Tier C misst nur, es klassifiziert nicht. Die Einteilung in Tonkategorien muss ich selbst aufsetzen. Und der Aligner ist auf native Aussprache trainiert, kann also bei starken L2-Abweichungen die Grenzen verfehlen."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naheliegendste Pipeline ist Whisper plus g2pW: Audio rein, Hanzi raus, dann G2P zu Pinyin. Für Muttersprachler funktioniert das. Aber bei L2-Lernern hat es einen fatalen blinden Fleck. Wenn ein Lerner ‚má' mit Ton 2 sagt, obwohl er das Zeichen 马 mit Ton 3 meint, dann wählt Whisper trotzdem das wahrscheinlichste Zeichen — 马 — und g2pW gibt brav dessen Standardton aus, Ton 3. Der Tonfehler ist spurlos verschwunden. Selbst spezialisierte Pinyin-ASR mit LoRA oder Branchformer verbessert nur die Pinyin-Genauigkeit, nicht die L2-Ton-Diagnose. Mein direkter Weg über ein multimodales LLM, das ich anweise, Pinyin mit Tonnummer auszugeben, hält den Fehler sichtbar — ich bekomme ‚ma2' und kann es direkt gegen den Ground Truth ‚ma3' prüfen."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zur eigentlichen Lücke. Es gibt zwar Benchmarks, die Audio-LLMs testen — der wichtigste ist MMSU von der CUHK, 22 Sprach-LLMs über 47 Aufgaben. Das beste Modell, Gemini-1.5-Pro, erreicht insgesamt nur 60 Prozent, während Menschen bei 90 liegen. Und in der Phonologie-Domäne — Töne, Prosodie, Phoneme — fällt selbst das beste Modell auf 54 Prozent. Bemerkenswert: GPT-4o-Audio schneidet schlechter ab als Open-Source-Modelle wie Qwen und Kimi. Aber — und das ist mein Einstieg — MMSU testet aggregiert mit Real-World-Audio, es gibt keine Zahlen für isolierte Silben und keine Aufschlüsselung pro Ton. Kein einziges Paper benchmarkt Frontier-LLMs auf isolierter Silben-Tonebene. SSL-Probing-Studien liefern sogar die Erklärung, warum LLMs hier scheitern könnten: Die diskrete Tokenisierung, die LLMs nutzen, zerstört gerade die feine Toninformation, die in den mittleren Layern eigentlich vorhanden wäre."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Tabelle bringt die Abgrenzung auf den Punkt. Die akademischen CNN-Klassifikatoren und die kommerziellen APIs können Töne aus Audio bestimmen — aber sie sind keine LLMs und geben nur eine Ton-Klasse oder einen Score, keine vollständige Transkription. MMSU testet LLMs, aber aggregiert und ohne isolierte Silben. Die MDD-Systeme testen L2, sind aber keine LLMs. Meine Arbeit füllt jede Spalte gleichzeitig: ein multimodales LLM, das Audio direkt in Pinyin plus Ton umwandelt, auf isolierten Silben aus Tone Perfect, mit einer eigenen Tonfehlerrate und Konfusionsmatrix, und in der zweiten Phase auf L2-Daten aus LATIC. Ich positioniere das als das erste systematische Benchmark von Frontier-Audio-LLMs auf isolierter Silben-Tonebene für Mandarin — klar abgegrenzt von MMSU, PRiSM und den Probing-Studien."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Abschluss: So setze ich die Tools konkret ein, in drei Rollen. Erstens als Nicht-LLM-Baseline — g2pW für Text, der CNN-Klassifikator für Audio. Daran messe ich, ob ein LLM überhaupt mithalten kann. Zweitens als automatischer Cross-Check, um Annotationskosten zu senken: In Phase 1 mit Muttersprachlern brauche ich dank der bekannten Tone-Perfect-Labels und dem 99-Prozent-CNN gar kein manuelles Labeling. In Phase 2 mit L2-Lernern nutze ich SpeechSuper als Vorab-Label, aber ein Mensch prüft eine Stichprobe und alle Fälle, wo die Tools uneinig sind. Drittens als Evaluations-Werkzeuge: Den LLM-Output wandle ich über pinyin-to-ipa und PanPhon in eine phonetisch gewichtete Fehlerdistanz, die PFER. Dazu TER für die Tonebene und CER für den Literaturvergleich. Und bei strittigen L2-Fällen ist die Praat-Pipeline mein Schiedsrichter. Das Schöne: Bis auf die optionalen API-Gegenchecks ist alles Open Source — das passt zu meinem Budget von unter 50 Euro."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Metrik-Landschaft ist eine Pyramide: Unten, breit, CER und WER — die gesamte Speech-LLM-Literatur misst praktisch nur das. Darüber, schon dünn, die Phonem-Ebene. Ganz oben, fast leer, die Tonebene. Die Tone Error Rate wird empfohlen, aber in keinem einzigen der 42 Paper tatsächlich berechnet. Je relevanter eine Metrik für mein Thema wird, desto seltener wird sie benutzt."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 und WER sind der unangefochtene Standard — der Peng-Survey listet für ASR genau diese drei Metriken, mehr nicht. CER rechnet Editierdistanz auf den chinesischen Zeichen, WER auf Wörtern. Das Problem für mein Thema: Beide messen die orthografische Ausgabe. Bei 电脑 zählt nur, ob die Zeichen 电 und 脑 stimmen. Der Ton steckt implizit im Zeichen — ich kann nicht sehen, ob das Modell den Laut oder den Ton verfehlt hat. Deshalb tauge diese Metriken bei mir nur als Vergleichsanker zur Literatur, nicht als inhaltliche Bewertung."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Ebene tiefer wird es dünn. Phone Error Rate nutzen nur wenige, etwa Wang's Pitch-Aware-Modell. Pinyin-CER — also Editierdistanz auf der Pinyin-Schreibung statt auf Zeichen — gibt es bei Zhengjie und Chen, aber ohne Tonmarker. Am interessantesten für mich ist PFER, die Phone Feature Error Rate aus dem ZIPA-Paper: Sie gewichtet Fehler nach 24 artikulatorischen Merkmalen. Damit kostet eine knappe Verwechslung wie d gegen l weniger als ein völliger Fehlgriff wie d gegen c — genau die abgestufte Bewertung, die ein Aussprache-Trainer braucht. Auf multimodale LLMs für Mandarin wurde PFER aber noch nie angewandt."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„Ganz oben die Tonebene. Es gibt eine Metrik dafür — die Tone Error Rate, der Anteil der Silben mit falschem Ton. Zou et al. empfehlen sie in ihrem Review über 61 Studien ausdrücklich. Aber: In keinem einzigen der 42 Paper wird sie tatsächlich berechnet. Das ist die auffälligste Lücke meiner ganzen Analyse — eine Metrik, die alle für wichtig halten und niemand benutzt. Am nächsten kommt Chirkovas tonal CER, aber das ist für die Sprache Baima, nicht Mandarin, und ohne LLM. Die TER systematisch für multimodale LLMs einzuführen, ist ein konkreter methodischer Beitrag meiner Arbeit."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„Sobald es nicht mehr um reine Transkription, sondern um Lerner-Feedback geht, kommen andere Metriken ins Spiel: False Rejection und False Acceptance Rate, Diagnostic Accuracy, und per-Ton-F1-Werte. Wu und Wang nutzen diese in der Mispronunciation Detection. Sie beantworten nicht ‚wie viel Prozent falsch', sondern ‚welcher Fehlertyp, und wie zuverlässig erkennt das System ihn'. Für meine RQ5 — die Fehlerstruktur — und das L2-Szenario sind das die passenden Größen. Wichtig ist Wus Befund, dass selbst dedizierte Systeme nur 0,31 bis 0,60 mit menschlichen Bewertern korrelieren — die Latte für ein klassentaugliches Feedback liegt hoch."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„Daraus baue ich meinen Metrik-Stack — entkoppelt nach Ebene. Hanzi-CER behalte ich nur für die Vergleichbarkeit mit der ASR-Literatur. Die eigentliche Bewertung läuft auf zwei getrennten Achsen: das Segment — Konsonanten und Vokale — über Pinyin-CER oder, fairer, PFER; und der Ton separat über die Tone Error Rate plus per-Ton-F1 für die Konfusionsanalyse. Für das L2-Feedback ergänze ich die Diagnose-Metriken aus der Mispronunciation Detection. Das Kernprinzip in einem Satz: Laut und Ton getrennt messen und Near-Misses phonetisch fair gewichten — diese Kombination wurde für multimodale LLMs auf Mandarin noch nie umgesetzt."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„Wenn ein Paper ‚CER' sagt, muss man fragen: CER auf WAS? In Seed-ASR oder FireRedASR ist es CER auf chinesischen Zeichen — ob das Hanzi stimmt. In Chirkovas Arbeit ist es CER auf IPA-Symbolen inklusive Tonmarker. In Zhengjies PYG-ASR ist es CER auf Pinyin, aber ohne Töne. Alle drei sagen ‚CER', alle drei messen etwas völlig Verschiedenes. Das Diagramm zeigt es am Beispiel diànnǎo: Auf Hanzi-Ebene wird ein Tonfehler gar nicht sichtbar, wenn das System zufällig das richtige Zeichen errät. Auf Pinyin+Ton-Ebene ist der Fehler klar messbar. Diese Unterscheidung wird in keinem der 42 Papers explizit diskutiert."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Übersichtskarte zeigt ein klares Muster: Etwa 27 der 42 Papers messen auf Hanzi-Ebene — Zeichen rein, Zeichen raus, fertig. Auf der Pinyin-Ebene, also der Lautschrift-Silbe, arbeiten nur zwei Papers: Zhengjie und Chen. Auf Phonem-Ebene — wo einzelne Laute verglichen werden — sind es drei: Du mit seinem Zipformer, Wang mit dem Pitch-Aware MDD-Modell und Zhu mit ZIPA. Explizit den Ton als eigene Dimension messen nur drei Papers: Bu über F0-Konturen, Wu mit FRR/FAR pro Ton, und der Zou-Review, der TER empfiehlt. Je relevanter die Ebene für Aussprache-Bewertung wird, desto weniger Papers messen dort."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Tabelle ist der Kern der Methodik-Analyse. Sie zeigt für die acht phonetisch relevanten Papers exakt, was als Goldstandard dient und was das System ausgibt. Bei Du sind es Phonemsequenzen aus 66 Kategorien — inklusive Tonphonem. Bei Zhengjie ist es Pinyin, aber ohne Tonmarker — ein wichtiger Unterschied. Bei Chirkova werden IPA-Transkriptionen mit Tönen verglichen, und sie definiert sogar eine eigene tonal CER, die nur Tonfehler zählt. Bei Bu werden gar keine diskreten Einheiten verglichen, sondern F0-Konturen als Vektoren — ein fundamentaler methodischer Unterschied. Was sofort auffällt: Kein Paper vergleicht Pinyin MIT Tonnummern als atomare Einheiten — also ‚ma1' gegen ‚ma2'. Das wäre genau die Ebene, die für einen Vokabeltrainer optimal wäre."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gibt genau vier Strategien, wie Papers mit Mandarin-Tönen umgehen. Die Mehrheit — 27 Papers — ignoriert sie komplett: CER auf Hanzi misst Zeichen, nicht Töne. Drei Papers betten den Ton implizit ins Phonem ein — bei Wang etwa ist ‚a1' ein anderes Phonem als ‚a2', beide aus einem 66-Phonem-Set mit fünf Tönen. Vier Papers messen Töne als eigene Dimension: Chirkova mit tonal CER, Wu mit FRR und FAR pro Ton, Zou empfiehlt TER. Und zwei Papers arbeiten akustisch auf F0-Konturen statt auf symbolischen Einheiten. Der Haken an Strategie 2 — implizit — ist: Man kann nicht nachher sagen, ob ein Fehler ein Segment-Fehler oder ein Ton-Fehler war, weil beides in einer Zahl verschmilzt. Strategie 3 — separat — ist die informativste, wird aber am seltensten angewandt. Diese Lücke motiviert meinen zweiachsigen Ansatz."</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37 untersuchten Papers verwenden eine von drei Berechnungsstrategien. Erstens, mit Abstand am häufigsten: Levenshtein-Distanz. Das ist egal ob CER, WER, PER oder TER — immer wird die Editierdistanz berechnet, jede Substitution, Deletion oder Insertion kostet genau 1. Wei's ASR-EC Paper ist das einzige, das die S/D/I-Anteile separat aufschlüsselt. Zweitens, nur in Zhus ZIPA-Paper: Feature-Distanz auf 24 artikulatorischen Merkmalen aus PanPhon. Statt ‚falsch' oder ‚richtig' gibt es ein Maß der phonetischen Ähnlichkeit. Drittens, nur bei Bu: eine Regression auf F0-Konturen, also auf den Tonhöhenverlauf. Das ergibt einen kontinuierlichen MSE-Wert statt einer diskreten Fehlerrate. Für meine Arbeit ist die erste Frage: Auf welchen Token wird Levenshtein berechnet — Hanzi, Pinyin, Pinyin+Ton, oder Phonem? Die zweite Frage: Soll man gewichten wie PFER, oder jeder Fehler gleich?"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„Von 42 Papers gewichtet genau eines Fehler nach phonetischer Ähnlichkeit: Zhus ZIPA mit PFER. Alle anderen behandeln jede Verwechslung gleich — ob ein Lerner ‚dian' statt ‚tian' sagt, also nur den Stimmhaftigkeitsunterschied verwechselt, oder ob er ‚dian' statt ‚zhao' sagt, also einen komplett anderen Laut produziert, beides ist genau 1 Fehler. Für einen Aussprache-Trainer ist das unfair: Der erste Fehler ist ein kleiner Patzer, der zweite ein fundamentales Problem. Seed-ASR gewichtet zwar auch, aber nach Keyword-Wichtigkeit, nicht nach phonetischer Ähnlichkeit — das hilft für Diktierfunktionen, nicht für Aussprache. Die Forschungslücke ist klar: Gewichtete tonale Metriken existieren nicht."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tonale Evaluation ist der schwächste Punkt der gesamten Literatur. Zou zeigt in seinem Review über 61 Studien, dass Ton 3 durchgängig die meisten Fehler verursacht — in Confusion Matrices sieht man das klar. Wu liefert FRR und FAR pro Ton und zeigt, dass Ton 3 mit 30 % die höchste False Rejection Rate hat. Chirkova definiert sogar eine eigene tonal CER — aber für Baima, nicht Mandarin. Was komplett fehlt: Erstens, TER als eigene Metrik auf Mandarin-LLM-Transkription. Zweitens, und das ist meine zentrale Erkenntnis, gewichtete Ton-Fehler. Niemand modelliert, dass eine Verwechslung von Ton 2 und Ton 3 — die akustisch ähnlich sind — anders zu bewerten ist als eine Verwechslung von Ton 1 und Ton 4, die akustisch maximal verschieden sind. Das ist die Forschungslücke, die meine Arbeit adressiert."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„Mein Ansatz entkoppelt die Evaluation in zwei Achsen. Achse 1 — das Segment: Stimmen Konsonant und Vokal? Das messe ich über Syllable Error Rate oder segmentale PER, also Pinyin ohne Ton. Achse 2 — der Ton: Stimmt der Ton? Das messe ich über TER plus per-Ton-F1 und eine Confusion Matrix, die zeigt, welche Töne das Modell verwechselt. Erst die Kombination — Silbe UND Ton korrekt — ergibt die Combined Accuracy. Diese Entkopplung hat zwei Vorteile: Erstens sehe ich, ob ein Modell gut bei Lauten aber schlecht bei Tönen ist — oder umgekehrt. Zweitens kann ich gezielt nach Ton-3-Schwächen suchen, die laut Zou der häufigste Fehlertyp sind. Für multimodale LLMs auf Mandarin wurde diese entkoppelte Evaluation noch nie gemacht — das ist der methodische Beitrag."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Token-Definition verändert die Fehlerrate dramatisch — bei exakt demselben Fehler. Wenn ich ‚dian4 nao3' als zwei tonal syllables tokenisiere und der Ton von nao falsch ist, habe ich 50 % SyllER. Wenn ich in Initial und tonal Final aufteile, wie Wang es tut, sind es 25 % PER. Und wenn ich bis auf einzelne Phoneme inklusive Ton als eigenes Token runterbreche, sind es nur 11 % PER — obwohl der Fehler identisch ist. Für meine Arbeit wähle ich Definition A, die tonale Silbe, aus zwei Gründen: Erstens ist Tone Perfect silbenbasiert — jeder Sample ist genau eine Silbe mit genau einem Ton. Zweitens ist die Silbe die natürliche Einheit im Mandarin — jede Silbe hat exakt einen Ton, was die Entkopplung in Segment und Ton trivial macht."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Tabelle fasst die gesamte 9-Fragen-Analyse über 37 Papers zusammen. Links steht, was existiert: CER auf Hanzi als Standard, PER auf Phonemen bei drei Papers, Pinyin-CER ohne Ton bei zweien, tonal CER bei Chirkova aber nur für Baima. Rechts steht, was ich beitrage: TER erstmals berechnet — obwohl Zou sie in seinem Review über 61 Studien explizit empfiehlt, hat kein einziges Paper sie tatsächlich angewandt. Per-Ton-F1 mit Confusion Matrix systematisch für LLMs. Und die Entkopplung von Segment- und Ton-Evaluation — diese Kombination gibt es für multimodale LLMs auf Mandarin schlicht nicht. Die offene Frage für die Zukunft ist die gewichtete Ton-Distanz: Ob Ton 2 gegen Ton 3, die akustisch ähnlich sind, anders bestraft werden sollte als Ton 1 gegen Ton 4."</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Auswahl deckt bewusst die drei großen KI-Märkte ab — USA, China, Europa — damit die Ergebnisse generalisierbar sind. Entscheidend ist aber die senkrechte Achse: Es sind drei verschiedene Systemtypen. Oben die echten multimodalen LLMs, die Audio direkt verarbeiten und auf Aufforderung Pinyin mit Tönen ausgeben können — das ist der Kern meiner Forschungsfrage. In der Mitte reine ASR-Systeme wie Whisper oder FireRed: Die geben chinesische Schriftzeichen aus, nicht Pinyin — ich muss sie nachträglich per Grapheme-to-Phoneme umwandeln, und genau dabei können Tonfehler bei Homophonen verschwinden. Diese Systeme laufen deshalb als Baseline, nicht als gleichwertige Konkurrenten. Claude und DeepSeek haben gar keinen Audio-Input und testen nur RQ1, also Text zu Pinyin."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Folie zeigt, warum die Unterscheidung kein Detail ist. Sage ich dem multimodalen LLM ‚gib mir Pinyin mit Tonnummer', bekomme ich ‚yi2' und kann den Ton direkt prüfen. Die reine ASR gibt mir das Schriftzeichen 一. Wenn ich das per Pypinyin in Pinyin umwandle, bekomme ich den kanonischen Ton des Zeichens — und der kann vom tatsächlich gesprochenen abweichen. Der Tonfehler verschwindet in der Nachbearbeitung. Deshalb sind Whisper und FireRed bei mir Baseline-Referenzen, keine gleichwertigen Kandidaten. Diese Trennung adressiert kein einziges der 42 Paper explizit."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„Eine wichtige Erkenntnis aus der Preisrecherche: Fast alle Modelle, die der ursprüngliche Plan als ‚lokal, kostenlos' eingestuft hat, sind inzwischen über APIs zugänglich — und oft sehr günstig. Step-Audio von StepFun kostet nur 2 Cent pro Stunde. Kimi-Audio läuft über Replicate, GLM über DeepInfra. Einzig FireRedASR2S hat keinen API-Anbieter und muss lokal auf einer GPU laufen. Das vereinfacht die Infrastruktur enorm: Statt fünf Open-Source-Modelle auf eigener Hardware zu betreiben, reicht ein Python-Skript mit verschiedenen API-Endpunkten."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 den verifizierten Preisen sieht das Bild besser aus als befürchtet. Der DeepSeek-Plan hatte zwar die Audio-Input-Kosten bei GPT unterschätzt, aber dafür sind drei Dinge günstiger als gedacht: Erstens ist Grok 4.3 mit 1,25 Dollar pro Million Token viel billiger als die geschätzten 20 Dollar. Zweitens haben die chinesischen Modelle inzwischen günstige APIs — Step-Audio kostet nur 2 Cent pro Stunde, Qwen-Omni läuft über Alibaba Cloud. Drittens brauche ich keine Cloud-GPU-Miete, weil fast alles per API erreichbar ist. Selbst wenn ich alle Modelle auf allen 9.840 Samples laufen lasse, lande ich bei 25 bis 44 Dollar — unter den 50 Euro. Mit einer Teilstichprobe wäre es sogar nur 4 bis 7 Dollar. Die einzige Ausnahme ist FireRedASR2S, das hat keine API und braucht eine eigene GPU."</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Strategie ist einfach: billig anfangen und sich hocharbeiten. In Phase 1 teste ich die Pipeline mit einem 400-Sample-Pilot auf den günstigsten Modellen — das kostet unter einem Dollar und deckt trotzdem technische Probleme auf. In Phase 2 laufen alle günstigen APIs auf dem vollen Corpus, das sind unter 12 Dollar. Phase 3 bringt die mittelpreisigen Modelle dazu. Und nur bei GPT-5.5 in Phase 4 nutze ich Sub-Sampling, weil das das einzige wirklich teure Modell ist — 30 Dollar Output-Kosten pro Million Token. Aber selbst da reichen 700 Samples für einen statistisch belastbaren Vergleich. Insgesamt lande ich realistisch bei 15 bis 30 Euro. Die 50-Euro-Grenze ist kein Problem."</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„Von den vier offenen Punkten ist einer gelöst: DeepSeek V4 hat definitiv kein Audio, also nur RQ1. Grok 4.3 hat eine dokumentierte STT-API, die muss ich mit einem Test-Call bestätigen. Der wichtigste Check: Funktionieren Replicate, StepFun und DeepInfra aus Deutschland? Das klärt je ein einziger API-Call. Und für FireRedASR2S — das einzige Modell ohne API — brauche ich entweder eine eigene GPU oder ich ersetze es durch Qwen3-ASR, das über Alibaba Cloud läuft und ebenfalls chinesische Transkription kann."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haben fünf Forschungsfragen. Der Kern sind RQ2 und RQ3 — können multimodale LLMs Mandarin-Töne hören, und wie gut funktioniert das bei L2-Lernern? Der methodische Beitrag liegt in den drei Bewertungsachsen: TER misst die Tonebene separat — das hat noch keine vergleichbare Studie gemacht. PFER gewichtet Segmentfehler artikulatorisch über PanPhon mit 21 Features, statt binäres richtig/falsch. CER rechnen wir nur für den Literaturanschluss, weil alle bisherigen Papers nur CER berichten."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„Fünf Pflicht-Experimente. E1 testet, ob Modelle überhaupt das Pinyin-System beherrschen — rein linguistisch, ohne Audio. E2 ist der Kern: Muttersprachler-Silben aus Tone Perfect, isoliert, kontrolliert. E3 verschiebt den Fokus auf L2-Lerner — hier ist die Forschungslücke am größten, kein LLM wurde je darauf getestet. E4 vergleicht drei Ansätze auf denselben Daten. E5 ist die linguistische Analyse: welche Töne, welche Phoneme werden verwechselt? Als Kür haben wir den Format-Pilot — welches Transkriptionsformat funktioniert am besten — und einen eigenen L2-Korpus mit deutschen Lernern, den es so noch nicht gibt."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Modelle, abgedeckt über drei Märkte — USA, China, Europa — und drei Systemtypen. Gruppe 1 ist der Kern: sieben multimodale LLMs, die Audio direkt in Pinyin+Ton umwandeln sollen. Die spannende Frage ist, ob sie Töne hören können. Gruppe 2 sind reine ASR-Systeme — die geben Hanzi aus, dann braucht man g2pW für Pinyin. Das verdeckt aber L2-Tonfehler bei Homophonen, deshalb nur Baseline. Gruppe 3 testet nur RQ1: ob Text-only-Modelle Hanzi in Pinyin umwandeln können. Wichtig: Nur GPT-5.5 bekommt ein Sub-Sample wegen der hohen Kosten — alle anderen laufen auf dem vollen Korpus."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Pflicht-Korpora. Tone Perfect ist das Herzstück: 9.840 isolierte Silben, native Sprecher, exakte Tonlabels — klein aber perfekt kontrolliert. Für L2 haben wir LATIC und OMPAL — zusammen rund 4.350 Äußerungen von 50 Lernern. AISHELL-1 nutzen wir nur für CER, um an die Literatur anzuschließen. Warum nicht die großen Korpora wie KeSpeech mit 1.500 Stunden? Weil die keinen Ton-Ground-Truth haben — man kann CER rechnen, aber unsere Kernmetrik TER braucht ein Tonlabel pro Silbe. Und als Kür: ein eigener Korpus mit deutschen Lernern, den es so noch nicht gibt."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Budget ist sehr überschaubar. Der Pflicht-Kern kostet realistisch 15 bis 30 Euro — weil wir eine klare Strategie haben: günstige Modelle laufen auf dem vollen Korpus, nur GPT-5.5 bekommt ein Sub-Sample wegen der hohen Token-Kosten. Selbst wenn wir alles ohne Sub-Sampling rechnen, bleiben wir unter 50 Dollar. Die billigsten Modelle kosten Bruchteile eines Cents pro Aufruf. Wichtig: Kein GPU-Server nötig — 11 von 12 Audio-Modellen laufen über APIs. Annotationskosten fallen nur beim eigenen Kür-Korpus an."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Phasenstrategie ist: günstig anfangen, teuer nur bei Bedarf. P0 ist Setup — API-Zugänge testen, vor allem die chinesischen Anbieter von Deutschland aus. P1 ist ein Mini-Pilot: 600 Samples durch die ganze Pipeline, um Bugs im Eval-Code zu finden, bevor wir Geld ausgeben. Ab P2 gehen die billigen Modelle auf den vollen Korpus — das sind nur 7 bis 12 Dollar. P3 sind die mittleren — Gemini, Grok, Kimi. GPT-5.5 kommt erst in P4 und nur auf dem Sub-Sample. Text-only in P5 kostet unter einem Dollar. P6 ist reine Auswertung. Und P7 ist Kür — erst wenn der Pflicht-Kern sauber steht."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„Klare Trennung: Pflicht ist das, was in zwei bis drei Monaten fertig sein muss — fünf Experimente, alle Phasen bis P6, Kosten unter 30 Euro. Kür kommt nur, wenn der Kern steht. Die Prioritätsreihenfolge: Erstens der eigene L2-Korpus — der hat den höchsten Neuheitswert, weil kein deutscher L2-Mandarin-Korpus existiert. Zweitens der Format-Pilot für unter 10 Dollar. Dann weitere Kontakte wie iCALL für mehr L2-Daten. FireRedASR2S lokal und der volle GPT-5.5-Lauf ganz am Ende."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„Falls wir zur Kür kommen: 8 bis 12 deutsche Mandarin-Lerner, Niveau A2 bis B2, ungefähr 80 bis 100 Zielsilben — fokussiert auf die schwierigen: Tonminimalpaare, Retroflexe, Diphthonge. Ergibt 800 bis 2.000 Aufnahmen, vergleichbar mit LATIC. Rekrutierung über das IU-Netzwerk. Aufnahmen standardisiert als WAV, 16 kHz mono. Stimulus-Design so, dass Vergleichbarkeit mit Tone Perfect besteht. Ethik und DSGVO vorher mit Tim klären."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Annotationsworkflow ist halbautomatisch. Zuerst läuft ein CNN-Tonklassifikator als Vorlabel — der ist für native Sprache bei 99 Prozent, gibt aber für L2 nur einen Vorschlag. Dann annotieren zwei Muttersprachler unabhängig, was sie tatsächlich hören — perzeptiv, nicht kanonisch. Das ist der Schlüssel: Whisper plus g2pW kann nur die Soll-Aussprache liefern, nicht die Realisierung. Wir messen Inter-Rater-Agreement mit Cohen's Kappa, Ziel über 0,85. Bei Konflikten entscheidet ein dritter Annotator oder die Praat-F0-Kontur als objektiver Schiedsrichter. Aufwand: 20 bis 40 Stunden, 150 bis 500 Euro."</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„Sechs Metriken. Syllable Accuracy und Tone Accuracy werden getrennt gemessen — das ist wichtig, weil ein Modell die Silbe richtig haben kann, aber den Ton falsch. Combined Accuracy fordert beides. TER, die Tone Error Rate, ist unser Kernbeitrag — das hat in der bestehenden Literatur noch niemand systematisch auf LLMs angewandt. PFER nutzt PanPhon mit 21 artikulatorischen Features, um Segmentfehler graduell zu bewerten — ein falsches Retroflexes ‚zh' statt ‚z' wiegt weniger als ein komplett falscher Konsonant. CER rechnen wir nur, damit unsere Ergebnisse mit den 15+ Papers vergleichbar sind, die AISHELL als Benchmark nutzen. Und die Tone Confusion Matrix zeigt, welche Töne verwechselt werden — wir erwarten T2 versus T3 als häufigstes Muster."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„Zwölf Wochen, davon acht für den Pflicht-Kern. Woche 1 ist Setup: Korpora runterladen, APIs testen, Eval-Skripte schreiben. Woche 2 der Pipeline-Pilot — bevor wir Geld ausgeben, muss der ganze Ablauf einmal durchlaufen. Woche 3 und 4 laufen die günstigen und mittleren Modelle auf dem vollen Korpus. Woche 5 kommt GPT-5.5 auf dem Sub-Sample plus die Text-only-Modelle. Woche 6 und 7 ist Auswertung: Konfusionsmatrizen, Vergleichstabellen. Woche 8 verschriftlichen. Und Wochen 9 bis 12 sind Puffer plus Kür — in der Prioritätsreihenfolge: eigener Korpus, dann Format-Pilot, dann iCALL-Kontakt."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„Zusammenfassung: 7 Experimente, davon 5 Pflicht. 14 Modelle aus 3 Märkten. Kontrollierte Korpora mit echtem Ton-Ground-Truth statt großen Korpora ohne Tonlabels. Drei Metriken statt nur CER — das ist der methodische Beitrag. Budget unter 30 Euro für den Pflicht-Kern. Und ein klarer Zeitplan mit 8 Wochen Pflicht und 4 Wochen Puffer. Die Entscheidungsregel ist einfach: Erst wenn der Pflicht-Kern sauber steht, wird Kür angefasst."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728655" cy="2377440"/>
          </a:xfrm>
          <a:prstGeom prst="rect">
            <a:avLst/>
          </a:prstGeom>
          <a:noFill/>
        </p:spPr>
        <p:txBody>
          <a:bodyPr wrap="square">
            <a:spAutoFit/>
          </a:bodyPr>
          <a:lstStyle/>
          <a:p>
            <a:r>
              <a:rPr sz="2800" b="1">
                <a:solidFill>
                  <a:srgbClr val="FFFFFF"/>
                </a:solidFill>
              </a:rPr>
              <a:t>Assessing Multimodal Foundation Models for
Phonetic and Tonal Transcription of Mandarin Speech</a:t>
            </a:r>
          </a:p>
          <a:p>
            <a:r>
              <a:rPr sz="1400">
                <a:solidFill>
                  <a:srgbClr val="C8D4E4"/>
                </a:solidFill>
              </a:rPr>
              <a:t>Stefan Dosch · Betreuer: Tim Schlippe · IU · Arbeitsgrundlage (auto-generiert aus Markdown)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728655" cy="1371600"/>
          </a:xfrm>
          <a:prstGeom prst="rect">
            <a:avLst/>
          </a:prstGeom>
          <a:noFill/>
        </p:spPr>
        <p:txBody>
          <a:bodyPr wrap="square">
            <a:spAutoFit/>
          </a:bodyPr>
          <a:lstStyle/>
          <a:p>
            <a:r>
              <a:rPr sz="3400" b="1">
                <a:solidFill>
                  <a:srgbClr val="FFFFFF"/>
                </a:solidFill>
              </a:rPr>
              <a:t>Related Work &amp; Forschungslücke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Können multimodale Foundation Models Mandarin phonetisch *und* tonal transkribieren?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969264"/>
          </a:xfrm>
          <a:prstGeom prst="rect">
            <a:avLst/>
          </a:prstGeom>
          <a:noFill/>
        </p:spPr>
        <p:txBody>
          <a:bodyPr wrap="square">
            <a:spAutoFit/>
          </a:bodyPr>
          <a:lstStyle/>
          <a:p>
            <a:pPr>
              <a:spcAft>
                <a:spcPts val="300"/>
              </a:spcAft>
            </a:pPr>
            <a:r>
              <a:rPr sz="1300"/>
              <a:t>•  Forschungsgegenstand: die Transkriptionsleistung selbst — auf drei Ebenen: Wort/Silbe, Phonem, Ton</a:t>
            </a:r>
          </a:p>
          <a:p>
            <a:pPr>
              <a:spcAft>
                <a:spcPts val="300"/>
              </a:spcAft>
            </a:pPr>
            <a:r>
              <a:rPr sz="1300"/>
              <a:t>•  Off-the-shelf-Perspektive: Wie gut sind aktuelle Modelle *ohne* Finetuning, *ohne* Modelloperation?</a:t>
            </a:r>
          </a:p>
          <a:p>
            <a:pPr>
              <a:spcAft>
                <a:spcPts val="300"/>
              </a:spcAft>
            </a:pPr>
            <a:r>
              <a:rPr sz="1300"/>
              <a:t>•  Motivation (nicht Ziel): belastbares Aussprache-Feedback für Mandarin-Lernende setzt zuverlässige tonale Transkription voraus</a:t>
            </a:r>
          </a:p>
        </p:txBody>
      </p:sp>
      <p:sp>
        <p:nvSpPr>
          <p:cNvPr id="5" name="TextBox 4"/>
          <p:cNvSpPr txBox="1"/>
          <p:nvPr/>
        </p:nvSpPr>
        <p:spPr>
          <a:xfrm>
            <a:off x="411480" y="2139696"/>
            <a:ext cx="11368735" cy="969264"/>
          </a:xfrm>
          <a:prstGeom prst="rect">
            <a:avLst/>
          </a:prstGeom>
          <a:noFill/>
        </p:spPr>
        <p:txBody>
          <a:bodyPr wrap="square">
            <a:spAutoFit/>
          </a:bodyPr>
          <a:lstStyle/>
          <a:p>
            <a:pPr>
              <a:spcAft>
                <a:spcPts val="300"/>
              </a:spcAft>
            </a:pPr>
            <a:r>
              <a:rPr sz="1200" b="1">
                <a:solidFill>
                  <a:srgbClr val="1F3A5F"/>
                </a:solidFill>
              </a:rPr>
              <a:t>keines (Statement-Folie).</a:t>
            </a:r>
          </a:p>
          <a:p>
            <a:pPr>
              <a:spcAft>
                <a:spcPts val="300"/>
              </a:spcAft>
            </a:pPr>
            <a:r>
              <a:rPr i="1" sz="1200">
                <a:solidFill>
                  <a:srgbClr val="444444"/>
                </a:solidFill>
              </a:rPr>
              <a:t>„„Die zentrale Frage ist eine Messfrage, keine Baufrage: Wie genau übersetzen aktuelle multimodale Modelle gesprochenes Mandarin in eine Repräsentation, die Phoneme *und* Töne erfasst? Mandarin ist eine Tonsprache — dieselbe Silbe ‚ma' bedeutet je nach Ton ‚Mutter', ‚Hanf', ‚Pferd' oder ‚schimpfen'. Wenn ein Modell den Ton verfehlt, ist die Transkription inhaltlich falsch, selbst wenn das Segment stimmt. Ich untersuche das bewusst *out of the box* — also genau so, wie ein Anwender die Modelle einsetzen würde, ohne sie umzutrainieren. Der Vokabeltrainer ist nur das Motivationsszenario; das Forschungsobjekt ist die Transkription.""</a:t>
            </a:r>
          </a:p>
          <a:p>
            <a:pPr>
              <a:spcAft>
                <a:spcPts val="300"/>
              </a:spcAft>
            </a:pPr>
            <a:r>
              <a:rPr sz="1300"/>
              <a:t>•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42 Papers, vier Analysekriterien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969264"/>
          </a:xfrm>
          <a:prstGeom prst="rect">
            <a:avLst/>
          </a:prstGeom>
          <a:noFill/>
        </p:spPr>
        <p:txBody>
          <a:bodyPr wrap="square">
            <a:spAutoFit/>
          </a:bodyPr>
          <a:lstStyle/>
          <a:p>
            <a:pPr>
              <a:spcAft>
                <a:spcPts val="300"/>
              </a:spcAft>
            </a:pPr>
            <a:r>
              <a:rPr sz="1300"/>
              <a:t>•  6 Cluster: Speech LLMs (7) · Mandarin-Ton/Pinyin (7) · Pronunciation/MDD (7) · Benchmarks (9) · Surveys (10) · zentrale Datensätze (2)</a:t>
            </a:r>
          </a:p>
          <a:p>
            <a:pPr>
              <a:spcAft>
                <a:spcPts val="300"/>
              </a:spcAft>
            </a:pPr>
            <a:r>
              <a:rPr sz="1300"/>
              <a:t>•  Jedes Paper nach 4 Kriterien geprüft: (1) Kernaussage · (2) konkret verwendbar · (3) explizite Lücke · (4) implizite Lücke für unsere Arbeit</a:t>
            </a:r>
          </a:p>
          <a:p>
            <a:pPr>
              <a:spcAft>
                <a:spcPts val="300"/>
              </a:spcAft>
            </a:pPr>
            <a:r>
              <a:rPr sz="1300"/>
              <a:t>•  Belegprinzip: jede Aussage mit wörtlichem Zitat + Fundstelle hinterlegt</a:t>
            </a:r>
          </a:p>
        </p:txBody>
      </p:sp>
      <p:sp>
        <p:nvSpPr>
          <p:cNvPr id="5" name="TextBox 4"/>
          <p:cNvSpPr txBox="1"/>
          <p:nvPr/>
        </p:nvSpPr>
        <p:spPr>
          <a:xfrm>
            <a:off x="411480" y="2139696"/>
            <a:ext cx="11368735" cy="969264"/>
          </a:xfrm>
          <a:prstGeom prst="rect">
            <a:avLst/>
          </a:prstGeom>
          <a:noFill/>
        </p:spPr>
        <p:txBody>
          <a:bodyPr wrap="square">
            <a:spAutoFit/>
          </a:bodyPr>
          <a:lstStyle/>
          <a:p>
            <a:pPr>
              <a:spcAft>
                <a:spcPts val="300"/>
              </a:spcAft>
            </a:pPr>
            <a:r>
              <a:rPr sz="1200" b="1">
                <a:solidFill>
                  <a:srgbClr val="1F3A5F"/>
                </a:solidFill>
              </a:rPr>
              <a:t>keines.</a:t>
            </a:r>
          </a:p>
          <a:p>
            <a:pPr>
              <a:spcAft>
                <a:spcPts val="300"/>
              </a:spcAft>
            </a:pPr>
            <a:r>
              <a:rPr i="1" sz="1200">
                <a:solidFill>
                  <a:srgbClr val="444444"/>
                </a:solidFill>
              </a:rPr>
              <a:t>„„Ich habe 42 Papers systematisch nach denselben vier Kriterien ausgewertet — genau die Fragen, die Sie genannt hatten: Was ist die Kernaussage? Was können wir konkret verwenden? Welche Lücke benennt das Paper selbst? Und welche Lücke ergibt sich daraus für unsere Arbeit? Jede Aussage in der Analyse ist mit einem wörtlichen Zitat und Fundstelle belegt — keine Behauptung ohne Beleg. Die folgenden Folien fassen die vier Learnings zusammen, die sich über die Cluster hinweg wiederholen.""</a:t>
            </a:r>
          </a:p>
          <a:p>
            <a:pPr>
              <a:spcAft>
                <a:spcPts val="300"/>
              </a:spcAft>
            </a:pPr>
            <a:r>
              <a:rPr sz="1300"/>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Wie sich die Papers ins Related-Work-Kapitel einfügen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2176272"/>
        </p:xfrm>
        <a:graphic>
          <a:graphicData uri="http://schemas.openxmlformats.org/drawingml/2006/table">
            <a:tbl>
              <a:tblPr firstRow="1" bandRow="1">
                <a:tableStyleId>{5C22544A-7EE6-4342-B048-85BDC9FD1C3A}</a:tableStyleId>
              </a:tblPr>
              <a:tblGrid>
                <a:gridCol w="5730087"/>
                <a:gridCol w="5730087"/>
              </a:tblGrid>
              <a:tr h="310896">
                <a:tc>
                  <a:txBody>
                    <a:bodyPr wrap="square"/>
                    <a:lstStyle/>
                    <a:p>
                      <a:r>
                        <a:rPr sz="1000" b="1">
                          <a:solidFill>
                            <a:srgbClr val="FFFFFF"/>
                          </a:solidFill>
                        </a:rPr>
                        <a:t>Thesis-Abschnitt</a:t>
                      </a:r>
                    </a:p>
                  </a:txBody>
                  <a:tcPr marL="45720" marR="45720" marT="18288" marB="18288" anchor="ctr">
                    <a:solidFill>
                      <a:srgbClr val="1F3A5F"/>
                    </a:solidFill>
                  </a:tcPr>
                </a:tc>
                <a:tc>
                  <a:txBody>
                    <a:bodyPr wrap="square"/>
                    <a:lstStyle/>
                    <a:p>
                      <a:r>
                        <a:rPr sz="1000" b="1">
                          <a:solidFill>
                            <a:srgbClr val="FFFFFF"/>
                          </a:solidFill>
                        </a:rPr>
                        <a:t>Cluster / Schlüssel-Papers</a:t>
                      </a:r>
                    </a:p>
                  </a:txBody>
                  <a:tcPr marL="45720" marR="45720" marT="18288" marB="18288" anchor="ctr">
                    <a:solidFill>
                      <a:srgbClr val="1F3A5F"/>
                    </a:solidFill>
                  </a:tcPr>
                </a:tc>
              </a:tr>
              <a:tr h="310896">
                <a:tc>
                  <a:txBody>
                    <a:bodyPr wrap="square"/>
                    <a:lstStyle/>
                    <a:p>
                      <a:r>
                        <a:rPr sz="1000"/>
                        <a:t>§2.2 Traditionelle Methoden</a:t>
                      </a:r>
                    </a:p>
                  </a:txBody>
                  <a:tcPr marL="45720" marR="45720" marT="18288" marB="18288" anchor="ctr">
                    <a:solidFill>
                      <a:srgbClr val="FFFFFF"/>
                    </a:solidFill>
                  </a:tcPr>
                </a:tc>
                <a:tc>
                  <a:txBody>
                    <a:bodyPr wrap="square"/>
                    <a:lstStyle/>
                    <a:p>
                      <a:r>
                        <a:rPr sz="1000"/>
                        <a:t>Du, Wang MDD, Bu, Kang, Chirkova</a:t>
                      </a:r>
                    </a:p>
                  </a:txBody>
                  <a:tcPr marL="45720" marR="45720" marT="18288" marB="18288" anchor="ctr">
                    <a:solidFill>
                      <a:srgbClr val="FFFFFF"/>
                    </a:solidFill>
                  </a:tcPr>
                </a:tc>
              </a:tr>
              <a:tr h="310896">
                <a:tc>
                  <a:txBody>
                    <a:bodyPr wrap="square"/>
                    <a:lstStyle/>
                    <a:p>
                      <a:r>
                        <a:rPr sz="1000"/>
                        <a:t>§2.3 LLMs im Sprachenlernen</a:t>
                      </a:r>
                    </a:p>
                  </a:txBody>
                  <a:tcPr marL="45720" marR="45720" marT="18288" marB="18288" anchor="ctr">
                    <a:solidFill>
                      <a:srgbClr val="E8EEF4"/>
                    </a:solidFill>
                  </a:tcPr>
                </a:tc>
                <a:tc>
                  <a:txBody>
                    <a:bodyPr wrap="square"/>
                    <a:lstStyle/>
                    <a:p>
                      <a:r>
                        <a:rPr sz="1000"/>
                        <a:t>Li PY-GEC, Liang PERL</a:t>
                      </a:r>
                    </a:p>
                  </a:txBody>
                  <a:tcPr marL="45720" marR="45720" marT="18288" marB="18288" anchor="ctr">
                    <a:solidFill>
                      <a:srgbClr val="E8EEF4"/>
                    </a:solidFill>
                  </a:tcPr>
                </a:tc>
              </a:tr>
              <a:tr h="310896">
                <a:tc>
                  <a:txBody>
                    <a:bodyPr wrap="square"/>
                    <a:lstStyle/>
                    <a:p>
                      <a:r>
                        <a:rPr sz="1000"/>
                        <a:t>§2.4 LLMs für chinesische Sprachverarbeitung</a:t>
                      </a:r>
                    </a:p>
                  </a:txBody>
                  <a:tcPr marL="45720" marR="45720" marT="18288" marB="18288" anchor="ctr">
                    <a:solidFill>
                      <a:srgbClr val="FFFFFF"/>
                    </a:solidFill>
                  </a:tcPr>
                </a:tc>
                <a:tc>
                  <a:txBody>
                    <a:bodyPr wrap="square"/>
                    <a:lstStyle/>
                    <a:p>
                      <a:r>
                        <a:rPr sz="1000"/>
                        <a:t>Seed-ASR, FireRedASR(2S), Kimi-Audio, Qwen3-ASR, Zhengjie PYG, Chen</a:t>
                      </a:r>
                    </a:p>
                  </a:txBody>
                  <a:tcPr marL="45720" marR="45720" marT="18288" marB="18288" anchor="ctr">
                    <a:solidFill>
                      <a:srgbClr val="FFFFFF"/>
                    </a:solidFill>
                  </a:tcPr>
                </a:tc>
              </a:tr>
              <a:tr h="310896">
                <a:tc>
                  <a:txBody>
                    <a:bodyPr wrap="square"/>
                    <a:lstStyle/>
                    <a:p>
                      <a:r>
                        <a:rPr sz="1000"/>
                        <a:t>§2.5 Evaluation von Aussprache &amp; Ton</a:t>
                      </a:r>
                    </a:p>
                  </a:txBody>
                  <a:tcPr marL="45720" marR="45720" marT="18288" marB="18288" anchor="ctr">
                    <a:solidFill>
                      <a:srgbClr val="E8EEF4"/>
                    </a:solidFill>
                  </a:tcPr>
                </a:tc>
                <a:tc>
                  <a:txBody>
                    <a:bodyPr wrap="square"/>
                    <a:lstStyle/>
                    <a:p>
                      <a:r>
                        <a:rPr sz="1000"/>
                        <a:t>Wu, Huang Review, Zou Review, Kaur Survey, MSPB</a:t>
                      </a:r>
                    </a:p>
                  </a:txBody>
                  <a:tcPr marL="45720" marR="45720" marT="18288" marB="18288" anchor="ctr">
                    <a:solidFill>
                      <a:srgbClr val="E8EEF4"/>
                    </a:solidFill>
                  </a:tcPr>
                </a:tc>
              </a:tr>
              <a:tr h="310896">
                <a:tc>
                  <a:txBody>
                    <a:bodyPr wrap="square"/>
                    <a:lstStyle/>
                    <a:p>
                      <a:r>
                        <a:rPr sz="1000"/>
                        <a:t>§2.6 Korpora</a:t>
                      </a:r>
                    </a:p>
                  </a:txBody>
                  <a:tcPr marL="45720" marR="45720" marT="18288" marB="18288" anchor="ctr">
                    <a:solidFill>
                      <a:srgbClr val="FFFFFF"/>
                    </a:solidFill>
                  </a:tcPr>
                </a:tc>
                <a:tc>
                  <a:txBody>
                    <a:bodyPr wrap="square"/>
                    <a:lstStyle/>
                    <a:p>
                      <a:r>
                        <a:rPr sz="1000"/>
                        <a:t>Tone Perfect, ZIPA, AISHELL-1</a:t>
                      </a:r>
                    </a:p>
                  </a:txBody>
                  <a:tcPr marL="45720" marR="45720" marT="18288" marB="18288" anchor="ctr">
                    <a:solidFill>
                      <a:srgbClr val="FFFFFF"/>
                    </a:solidFill>
                  </a:tcPr>
                </a:tc>
              </a:tr>
              <a:tr h="310896">
                <a:tc>
                  <a:txBody>
                    <a:bodyPr wrap="square"/>
                    <a:lstStyle/>
                    <a:p>
                      <a:r>
                        <a:rPr sz="1000"/>
                        <a:t>§2.7 Learnings &amp; Forschungslücken</a:t>
                      </a:r>
                    </a:p>
                  </a:txBody>
                  <a:tcPr marL="45720" marR="45720" marT="18288" marB="18288" anchor="ctr">
                    <a:solidFill>
                      <a:srgbClr val="E8EEF4"/>
                    </a:solidFill>
                  </a:tcPr>
                </a:tc>
                <a:tc>
                  <a:txBody>
                    <a:bodyPr wrap="square"/>
                    <a:lstStyle/>
                    <a:p>
                      <a:r>
                        <a:rPr sz="1000"/>
                        <a:t>SITA, Gaido, Peng Survey, alle Surveys</a:t>
                      </a:r>
                    </a:p>
                  </a:txBody>
                  <a:tcPr marL="45720" marR="45720" marT="18288" marB="18288" anchor="ctr">
                    <a:solidFill>
                      <a:srgbClr val="E8EEF4"/>
                    </a:solidFill>
                  </a:tcPr>
                </a:tc>
              </a:tr>
            </a:tbl>
          </a:graphicData>
        </a:graphic>
      </p:graphicFrame>
      <p:sp>
        <p:nvSpPr>
          <p:cNvPr id="5" name="TextBox 4"/>
          <p:cNvSpPr txBox="1"/>
          <p:nvPr/>
        </p:nvSpPr>
        <p:spPr>
          <a:xfrm>
            <a:off x="411480" y="3392424"/>
            <a:ext cx="11368735" cy="969264"/>
          </a:xfrm>
          <a:prstGeom prst="rect">
            <a:avLst/>
          </a:prstGeom>
          <a:noFill/>
        </p:spPr>
        <p:txBody>
          <a:bodyPr wrap="square">
            <a:spAutoFit/>
          </a:bodyPr>
          <a:lstStyle/>
          <a:p>
            <a:pPr>
              <a:spcAft>
                <a:spcPts val="300"/>
              </a:spcAft>
            </a:pPr>
            <a:r>
              <a:rPr sz="1200" b="1">
                <a:solidFill>
                  <a:srgbClr val="1F3A5F"/>
                </a:solidFill>
              </a:rPr>
              <a:t>keines.</a:t>
            </a:r>
          </a:p>
          <a:p>
            <a:pPr>
              <a:spcAft>
                <a:spcPts val="300"/>
              </a:spcAft>
            </a:pPr>
            <a:r>
              <a:rPr i="1" sz="1200">
                <a:solidFill>
                  <a:srgbClr val="444444"/>
                </a:solidFill>
              </a:rPr>
              <a:t>„„Damit klar ist, wie sich die Literatur ins Kapitel 2 einfügt: Die traditionellen Ton- und MDD-Modelle gehen nach §2.2. Pinyin-gestützte LLM-Arbeiten — das ist der Strang, an den ich technisch direkt anknüpfe — nach §2.4; das zentralste Paper, Zhengjie &amp; Cheng, sitzt hier. Die Evaluations- und Benchmark-Arbeiten inkl. MSPB nach §2.5. Tone Perfect als mein Korpus nach §2.6. Und die Synthese der Lücken, getragen von SITA und den Surveys, mündet in §2.7, aus dem dann direkt meine Forschungsfragen folgen.""</a:t>
            </a:r>
          </a:p>
          <a:p>
            <a:pPr>
              <a:spcAft>
                <a:spcPts val="300"/>
              </a:spcAft>
            </a:pPr>
            <a:r>
              <a:rPr sz="1300"/>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Learning 1 — SOTA bei Mandarin-ASR, aber Evaluation endet auf der Zeichenebene</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1554480"/>
        </p:xfrm>
        <a:graphic>
          <a:graphicData uri="http://schemas.openxmlformats.org/drawingml/2006/table">
            <a:tbl>
              <a:tblPr firstRow="1" bandRow="1">
                <a:tableStyleId>{5C22544A-7EE6-4342-B048-85BDC9FD1C3A}</a:tableStyleId>
              </a:tblPr>
              <a:tblGrid>
                <a:gridCol w="3820058"/>
                <a:gridCol w="3820058"/>
                <a:gridCol w="3820058"/>
              </a:tblGrid>
              <a:tr h="310896">
                <a:tc>
                  <a:txBody>
                    <a:bodyPr wrap="square"/>
                    <a:lstStyle/>
                    <a:p>
                      <a:r>
                        <a:rPr sz="1000" b="1">
                          <a:solidFill>
                            <a:srgbClr val="FFFFFF"/>
                          </a:solidFill>
                        </a:rPr>
                        <a:t>Modell</a:t>
                      </a:r>
                    </a:p>
                  </a:txBody>
                  <a:tcPr marL="45720" marR="45720" marT="18288" marB="18288" anchor="ctr">
                    <a:solidFill>
                      <a:srgbClr val="1F3A5F"/>
                    </a:solidFill>
                  </a:tcPr>
                </a:tc>
                <a:tc>
                  <a:txBody>
                    <a:bodyPr wrap="square"/>
                    <a:lstStyle/>
                    <a:p>
                      <a:r>
                        <a:rPr sz="1000" b="1">
                          <a:solidFill>
                            <a:srgbClr val="FFFFFF"/>
                          </a:solidFill>
                        </a:rPr>
                        <a:t>Mandarin-Leistung</a:t>
                      </a:r>
                    </a:p>
                  </a:txBody>
                  <a:tcPr marL="45720" marR="45720" marT="18288" marB="18288" anchor="ctr">
                    <a:solidFill>
                      <a:srgbClr val="1F3A5F"/>
                    </a:solidFill>
                  </a:tcPr>
                </a:tc>
                <a:tc>
                  <a:txBody>
                    <a:bodyPr wrap="square"/>
                    <a:lstStyle/>
                    <a:p>
                      <a:r>
                        <a:rPr sz="1000" b="1">
                          <a:solidFill>
                            <a:srgbClr val="FFFFFF"/>
                          </a:solidFill>
                        </a:rPr>
                        <a:t>Ton-Evaluation?</a:t>
                      </a:r>
                    </a:p>
                  </a:txBody>
                  <a:tcPr marL="45720" marR="45720" marT="18288" marB="18288" anchor="ctr">
                    <a:solidFill>
                      <a:srgbClr val="1F3A5F"/>
                    </a:solidFill>
                  </a:tcPr>
                </a:tc>
              </a:tr>
              <a:tr h="310896">
                <a:tc>
                  <a:txBody>
                    <a:bodyPr wrap="square"/>
                    <a:lstStyle/>
                    <a:p>
                      <a:r>
                        <a:rPr sz="1000"/>
                        <a:t>Seed-ASR (2024)</a:t>
                      </a:r>
                    </a:p>
                  </a:txBody>
                  <a:tcPr marL="45720" marR="45720" marT="18288" marB="18288" anchor="ctr">
                    <a:solidFill>
                      <a:srgbClr val="FFFFFF"/>
                    </a:solidFill>
                  </a:tcPr>
                </a:tc>
                <a:tc>
                  <a:txBody>
                    <a:bodyPr wrap="square"/>
                    <a:lstStyle/>
                    <a:p>
                      <a:r>
                        <a:rPr sz="1000"/>
                        <a:t>2,98 % CER</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310896">
                <a:tc>
                  <a:txBody>
                    <a:bodyPr wrap="square"/>
                    <a:lstStyle/>
                    <a:p>
                      <a:r>
                        <a:rPr sz="1000"/>
                        <a:t>FireRedASR (2025)</a:t>
                      </a:r>
                    </a:p>
                  </a:txBody>
                  <a:tcPr marL="45720" marR="45720" marT="18288" marB="18288" anchor="ctr">
                    <a:solidFill>
                      <a:srgbClr val="E8EEF4"/>
                    </a:solidFill>
                  </a:tcPr>
                </a:tc>
                <a:tc>
                  <a:txBody>
                    <a:bodyPr wrap="square"/>
                    <a:lstStyle/>
                    <a:p>
                      <a:r>
                        <a:rPr sz="1000"/>
                        <a:t>3,05 % CER</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r h="310896">
                <a:tc>
                  <a:txBody>
                    <a:bodyPr wrap="square"/>
                    <a:lstStyle/>
                    <a:p>
                      <a:r>
                        <a:rPr sz="1000"/>
                        <a:t>Kimi-Audio (2025)</a:t>
                      </a:r>
                    </a:p>
                  </a:txBody>
                  <a:tcPr marL="45720" marR="45720" marT="18288" marB="18288" anchor="ctr">
                    <a:solidFill>
                      <a:srgbClr val="FFFFFF"/>
                    </a:solidFill>
                  </a:tcPr>
                </a:tc>
                <a:tc>
                  <a:txBody>
                    <a:bodyPr wrap="square"/>
                    <a:lstStyle/>
                    <a:p>
                      <a:r>
                        <a:rPr sz="1000"/>
                        <a:t>0,60 % CER (AISHELL-1)</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310896">
                <a:tc>
                  <a:txBody>
                    <a:bodyPr wrap="square"/>
                    <a:lstStyle/>
                    <a:p>
                      <a:r>
                        <a:rPr sz="1000"/>
                        <a:t>Qwen3-ASR (2026)</a:t>
                      </a:r>
                    </a:p>
                  </a:txBody>
                  <a:tcPr marL="45720" marR="45720" marT="18288" marB="18288" anchor="ctr">
                    <a:solidFill>
                      <a:srgbClr val="E8EEF4"/>
                    </a:solidFill>
                  </a:tcPr>
                </a:tc>
                <a:tc>
                  <a:txBody>
                    <a:bodyPr wrap="square"/>
                    <a:lstStyle/>
                    <a:p>
                      <a:r>
                        <a:rPr sz="1000"/>
                        <a:t>~2 % CER</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bl>
          </a:graphicData>
        </a:graphic>
      </p:graphicFrame>
      <p:sp>
        <p:nvSpPr>
          <p:cNvPr id="5" name="TextBox 4"/>
          <p:cNvSpPr txBox="1"/>
          <p:nvPr/>
        </p:nvSpPr>
        <p:spPr>
          <a:xfrm>
            <a:off x="411480" y="2770632"/>
            <a:ext cx="11368735" cy="969264"/>
          </a:xfrm>
          <a:prstGeom prst="rect">
            <a:avLst/>
          </a:prstGeom>
          <a:noFill/>
        </p:spPr>
        <p:txBody>
          <a:bodyPr wrap="square">
            <a:spAutoFit/>
          </a:bodyPr>
          <a:lstStyle/>
          <a:p>
            <a:pPr>
              <a:spcAft>
                <a:spcPts val="300"/>
              </a:spcAft>
            </a:pPr>
            <a:r>
              <a:rPr i="1" sz="1200">
                <a:solidFill>
                  <a:srgbClr val="444444"/>
                </a:solidFill>
              </a:rPr>
              <a:t>„„…neglecting important information in audio, such as paralanguage information (e.g., emotion, style, timbre, tone)…" — Kimi-Audio (2025), Sec. 8, S. 21"</a:t>
            </a:r>
          </a:p>
          <a:p>
            <a:pPr>
              <a:spcAft>
                <a:spcPts val="300"/>
              </a:spcAft>
            </a:pPr>
            <a:r>
              <a:rPr i="1" sz="1200">
                <a:solidFill>
                  <a:srgbClr val="444444"/>
                </a:solidFill>
              </a:rPr>
              <a:t>„„Die aktuellen Speech LLMs sind technisch beeindruckend: Kimi-Audio erreicht 0,60 % CER auf AISHELL-1 — die stärkste bekannte Mandarin-ASR-Leistung. Aber alle sieben analysierten Systeme evaluieren ausschließlich Character- oder Word Error Rate. Tongenauigkeit wird in keinem gemessen. Bemerkenswert: Kimi-Audio benennt das Problem selbst und listet ‚tone' explizit als vernachlässigte Information — evaluiert es aber nicht. Wörtlich: ‚text transcription focuses on the content of spoken words (what is said), neglecting important information in audio, such as paralanguage information (e.g., emotion, style, timbre, tone), acoustic scene, and non-linguistic sounds' (Kimi-Audio, Section 8 ‚Challenges and Future Trends', S. 21). Verifizierbar belegt ist außerdem das Methodenproblem der Community selbst: ‚Current practices suffer from inconsistent metric implementations' (Kimi-Audio, Section 6.1, S. 15). Das heißt: Die Modelle könnten Töne erkennen — wir wissen es nicht, weil niemand misst.""</a:t>
            </a:r>
          </a:p>
          <a:p>
            <a:pPr>
              <a:spcAft>
                <a:spcPts val="300"/>
              </a:spcAft>
            </a:pPr>
            <a:r>
              <a:rPr sz="1300"/>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Learning 2 — Audio → LLM → Pinyin funktioniert, aber ohne Tonmarker</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969264"/>
          </a:xfrm>
          <a:prstGeom prst="rect">
            <a:avLst/>
          </a:prstGeom>
          <a:noFill/>
        </p:spPr>
        <p:txBody>
          <a:bodyPr wrap="square">
            <a:spAutoFit/>
          </a:bodyPr>
          <a:lstStyle/>
          <a:p>
            <a:pPr>
              <a:spcAft>
                <a:spcPts val="300"/>
              </a:spcAft>
            </a:pPr>
            <a:r>
              <a:rPr sz="1300"/>
              <a:t>•  Zhengjie &amp; Cheng PYG-ASR (2025) — zentralstes Paper: HuBERT → Qwen2-7B erzeugt Pinyin *und* Zeichen; Pinyin Error Rate nur 1,9 %</a:t>
            </a:r>
          </a:p>
          <a:p>
            <a:pPr>
              <a:spcAft>
                <a:spcPts val="300"/>
              </a:spcAft>
            </a:pPr>
            <a:r>
              <a:rPr sz="1300"/>
              <a:t>•  aber: Pinyin ohne Tonnummern — „ma" statt „ma1"; derselbe Mangel bei Chen SCCM (2025)</a:t>
            </a:r>
          </a:p>
          <a:p>
            <a:pPr>
              <a:spcAft>
                <a:spcPts val="300"/>
              </a:spcAft>
            </a:pPr>
            <a:r>
              <a:rPr sz="1300"/>
              <a:t>•  Die technische Pipeline steht — es fehlt der letzte Schritt: Töne mittranskribieren</a:t>
            </a:r>
          </a:p>
        </p:txBody>
      </p:sp>
      <p:sp>
        <p:nvSpPr>
          <p:cNvPr id="5" name="TextBox 4"/>
          <p:cNvSpPr txBox="1"/>
          <p:nvPr/>
        </p:nvSpPr>
        <p:spPr>
          <a:xfrm>
            <a:off x="411480" y="2139696"/>
            <a:ext cx="11368735" cy="969264"/>
          </a:xfrm>
          <a:prstGeom prst="rect">
            <a:avLst/>
          </a:prstGeom>
          <a:noFill/>
        </p:spPr>
        <p:txBody>
          <a:bodyPr wrap="square">
            <a:spAutoFit/>
          </a:bodyPr>
          <a:lstStyle/>
          <a:p>
            <a:pPr>
              <a:spcAft>
                <a:spcPts val="300"/>
              </a:spcAft>
            </a:pPr>
            <a:r>
              <a:rPr i="1" sz="1200">
                <a:solidFill>
                  <a:srgbClr val="444444"/>
                </a:solidFill>
              </a:rPr>
              <a:t>„„there is no direct correspondence between the pronunciation and the written form of Chinese characters." — Zhengjie &amp; Cheng (2025), S. 1"</a:t>
            </a:r>
          </a:p>
          <a:p>
            <a:pPr>
              <a:spcAft>
                <a:spcPts val="300"/>
              </a:spcAft>
            </a:pPr>
            <a:r>
              <a:rPr i="1" sz="1200">
                <a:solidFill>
                  <a:srgbClr val="444444"/>
                </a:solidFill>
              </a:rPr>
              <a:t>„„Das Paper, das meiner Arbeit am nächsten kommt, ist Zhengjie und Cheng 2025. Sie koppeln einen HuBERT-Encoder an Qwen2-7B und erzeugen aus Audio direkt Pinyin und Zeichen — mit nur 1,9 % Pinyin Error Rate: ‚The PYG-ASR1 model achieved a Pinyin error rate of 1.6%/1.9%' (S. 4). Ihre Motivation deckt sich mit meiner: ‚its implicit alignment often fails to capture phonetic relationships in Chinese, leading to pronunciation confusion and homophone errors' (Abstract). Aber: Das generierte Pinyin enthält keine Tonnummern — ‚mā' und ‚mà' werden beide zu ‚ma'. Genau die Information, die ein Aussprache-Feedback braucht, fehlt. Sie benennen selbst, dass kaum erforscht ist, wie LLM-ASR direkt Pinyin erzeugen kann: ‚there has been little exploration of how the LLM-ASR model can directly generate Pinyin and Chinese characters during ASR' (Zhengjie &amp; Cheng, Introduction, S. 1). Ich kann auf dieser Architektur aufsetzen und genau den fehlenden Schritt — Töne — als Evaluationsachse ergänzen.""</a:t>
            </a:r>
          </a:p>
          <a:p>
            <a:pPr>
              <a:spcAft>
                <a:spcPts val="300"/>
              </a:spcAft>
            </a:pPr>
            <a:r>
              <a:rPr sz="1300"/>
              <a: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Learning 3 — Tonerkennung ist ein aktives Feld, getragen von dedizierten Modellen; sogar Whisper „kollabiert"</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261872"/>
          </a:xfrm>
          <a:prstGeom prst="rect">
            <a:avLst/>
          </a:prstGeom>
          <a:noFill/>
        </p:spPr>
        <p:txBody>
          <a:bodyPr wrap="square">
            <a:spAutoFit/>
          </a:bodyPr>
          <a:lstStyle/>
          <a:p>
            <a:pPr>
              <a:spcAft>
                <a:spcPts val="300"/>
              </a:spcAft>
            </a:pPr>
            <a:r>
              <a:rPr sz="1300"/>
              <a:t>•  Klassische Ansätze stark: Deep Learning 88,8 % vs. traditionell 83,1 % Ton-Accuracy (Zou Review, 61 Studien)</a:t>
            </a:r>
          </a:p>
          <a:p>
            <a:pPr>
              <a:spcAft>
                <a:spcPts val="300"/>
              </a:spcAft>
            </a:pPr>
            <a:r>
              <a:rPr sz="1300"/>
              <a:t>•  Bekannte Schwierigkeiten: T2↔T3 chronisch verwechselt; L2-Sprecher nur 53–73 % (Kaur)</a:t>
            </a:r>
          </a:p>
          <a:p>
            <a:pPr>
              <a:spcAft>
                <a:spcPts val="300"/>
              </a:spcAft>
            </a:pPr>
            <a:r>
              <a:rPr sz="1300"/>
              <a:t>•  Tone Collapse: Whisper-Embeddings verschiedener Töne überlappen (SITA, 2026)</a:t>
            </a:r>
          </a:p>
          <a:p>
            <a:pPr>
              <a:spcAft>
                <a:spcPts val="300"/>
              </a:spcAft>
            </a:pPr>
            <a:r>
              <a:rPr sz="1300"/>
              <a:t>•  aber: kein einziges dieser Papers nutzt ein multimodales LLM</a:t>
            </a:r>
          </a:p>
        </p:txBody>
      </p:sp>
      <p:sp>
        <p:nvSpPr>
          <p:cNvPr id="5" name="TextBox 4"/>
          <p:cNvSpPr txBox="1"/>
          <p:nvPr/>
        </p:nvSpPr>
        <p:spPr>
          <a:xfrm>
            <a:off x="411480" y="2432304"/>
            <a:ext cx="11368735" cy="969264"/>
          </a:xfrm>
          <a:prstGeom prst="rect">
            <a:avLst/>
          </a:prstGeom>
          <a:noFill/>
        </p:spPr>
        <p:txBody>
          <a:bodyPr wrap="square">
            <a:spAutoFit/>
          </a:bodyPr>
          <a:lstStyle/>
          <a:p>
            <a:pPr>
              <a:spcAft>
                <a:spcPts val="300"/>
              </a:spcAft>
            </a:pPr>
            <a:r>
              <a:rPr i="1" sz="1200">
                <a:solidFill>
                  <a:srgbClr val="444444"/>
                </a:solidFill>
              </a:rPr>
              <a:t>„„Whisper embeddings largely collapse into overlapping clusters." — Xu et al., SITA (2026), Sec. 5.1"</a:t>
            </a:r>
          </a:p>
          <a:p>
            <a:pPr>
              <a:spcAft>
                <a:spcPts val="300"/>
              </a:spcAft>
            </a:pPr>
            <a:r>
              <a:rPr i="1" sz="1200">
                <a:solidFill>
                  <a:srgbClr val="444444"/>
                </a:solidFill>
              </a:rPr>
              <a:t>„„Tonerkennung selbst ist kein neues Thema — es gibt Reviews über 61 Studien, Deep-Learning-Modelle erreichen 88,8 % Accuracy, die T2-T3-Verwechslung ist als chronisches Problem dokumentiert. Aber all das nutzt dedizierte CNNs, RNNs, HuBERT — kein multimodales LLM. Besonders relevant ist SITA 2026: Sie zeigen, dass sogar Whisper die Töne verliert — ‚Whisper embeddings largely collapse into overlapping clusters' (Section 5.1). Verschiedene Töne derselben Silbe landen an fast derselben Stelle im Embedding-Raum. Das ist brisant, weil die meisten multimodalen LLMs Whisper-basierte Encoder verwenden — auch Kimi-Audio. SITA löst es mit einem ‚tone-repulsive loss' und erreicht ~0,99 Top-1 auf Tone Perfect (Section 5.4) — aber eben als dediziertes System. Meine Frage: Wie stark trifft dieses Collapse-Problem die LLMs, die wir tatsächlich off-the-shelf einsetzen?""</a:t>
            </a:r>
          </a:p>
          <a:p>
            <a:pPr>
              <a:spcAft>
                <a:spcPts val="300"/>
              </a:spcAft>
            </a:pPr>
            <a:r>
              <a:rPr sz="1300"/>
              <a: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Learning 4 — Mandarin-Benchmarks existieren; Tongenauigkeit misst keiner</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969264"/>
          </a:xfrm>
          <a:prstGeom prst="rect">
            <a:avLst/>
          </a:prstGeom>
          <a:noFill/>
        </p:spPr>
        <p:txBody>
          <a:bodyPr wrap="square">
            <a:spAutoFit/>
          </a:bodyPr>
          <a:lstStyle/>
          <a:p>
            <a:pPr>
              <a:spcAft>
                <a:spcPts val="300"/>
              </a:spcAft>
            </a:pPr>
            <a:r>
              <a:rPr sz="1300"/>
              <a:t>•  9+ Audio-LLM-Benchmarks analysiert; mehrere mit Mandarin (MSPB, VocalBench-zh, TELEVAL, ContextASR)</a:t>
            </a:r>
          </a:p>
          <a:p>
            <a:pPr>
              <a:spcAft>
                <a:spcPts val="300"/>
              </a:spcAft>
            </a:pPr>
            <a:r>
              <a:rPr sz="1300"/>
              <a:t>•  Keiner misst lexikalische Tongenauigkeit; MSPB testet nur Satzprosodie — GPT-4o erreicht dort nur 59,7 %</a:t>
            </a:r>
          </a:p>
          <a:p>
            <a:pPr>
              <a:spcAft>
                <a:spcPts val="300"/>
              </a:spcAft>
            </a:pPr>
            <a:r>
              <a:rPr sz="1300"/>
              <a:t>•  TER (Tone Error Rate) wird empfohlen (Zou) — aber in 0 von 42 Papers angewandt</a:t>
            </a:r>
          </a:p>
        </p:txBody>
      </p:sp>
      <p:sp>
        <p:nvSpPr>
          <p:cNvPr id="5" name="TextBox 4"/>
          <p:cNvSpPr txBox="1"/>
          <p:nvPr/>
        </p:nvSpPr>
        <p:spPr>
          <a:xfrm>
            <a:off x="411480" y="2139696"/>
            <a:ext cx="11368735" cy="969264"/>
          </a:xfrm>
          <a:prstGeom prst="rect">
            <a:avLst/>
          </a:prstGeom>
          <a:noFill/>
        </p:spPr>
        <p:txBody>
          <a:bodyPr wrap="square">
            <a:spAutoFit/>
          </a:bodyPr>
          <a:lstStyle/>
          <a:p>
            <a:pPr>
              <a:spcAft>
                <a:spcPts val="300"/>
              </a:spcAft>
            </a:pPr>
            <a:r>
              <a:rPr i="1" sz="1200">
                <a:solidFill>
                  <a:srgbClr val="444444"/>
                </a:solidFill>
              </a:rPr>
              <a:t>„„they generally struggled with tasks relying heavily on subtle speech prosody variations…" — Wang et al., MSPB (2025)"</a:t>
            </a:r>
          </a:p>
          <a:p>
            <a:pPr>
              <a:spcAft>
                <a:spcPts val="300"/>
              </a:spcAft>
            </a:pPr>
            <a:r>
              <a:rPr i="1" sz="1200">
                <a:solidFill>
                  <a:srgbClr val="444444"/>
                </a:solidFill>
              </a:rPr>
              <a:t>„„Vierte Beobachtung, die Metrik-Ebene: Es gibt reichlich Audio-LLM-Benchmarks, mehrere mit Mandarin. Der nächste an meinem Thema ist MSPB, der einzige, der Speech LLMs auf Mandarin-Prosodie testet. Selbst dort erreicht GPT-4o nur 59,70 % (Section 3.2.2, S. 5380), und die Autoren halten fest: ‚they generally struggled with tasks relying heavily on subtle speech prosody variations (e.g., prosodic focus marking, scalar meaning)' (S. 5378/5381). Aber MSPB misst Satzprosodie — Betonung, Intonation — nicht die lexikalischen Töne T1 bis T4. Und der überraschendste Befund: Die Tone Error Rate wird in der Community als Best Practice empfohlen, aber in keinem einzigen der 42 Papers tatsächlich angewandt. Es klafft eine Lücke zwischen dem, was als wichtig gilt, und dem, was gemessen wird.""</a:t>
            </a:r>
          </a:p>
          <a:p>
            <a:pPr>
              <a:spcAft>
                <a:spcPts val="300"/>
              </a:spcAft>
            </a:pPr>
            <a:r>
              <a:rPr sz="1300"/>
              <a: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Was wir aus der Literatur konkret übernehmen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1865376"/>
        </p:xfrm>
        <a:graphic>
          <a:graphicData uri="http://schemas.openxmlformats.org/drawingml/2006/table">
            <a:tbl>
              <a:tblPr firstRow="1" bandRow="1">
                <a:tableStyleId>{5C22544A-7EE6-4342-B048-85BDC9FD1C3A}</a:tableStyleId>
              </a:tblPr>
              <a:tblGrid>
                <a:gridCol w="3820058"/>
                <a:gridCol w="3820058"/>
                <a:gridCol w="3820058"/>
              </a:tblGrid>
              <a:tr h="310896">
                <a:tc>
                  <a:txBody>
                    <a:bodyPr wrap="square"/>
                    <a:lstStyle/>
                    <a:p>
                      <a:r>
                        <a:rPr sz="1000" b="1">
                          <a:solidFill>
                            <a:srgbClr val="FFFFFF"/>
                          </a:solidFill>
                        </a:rPr>
                        <a:t>Baustein</a:t>
                      </a:r>
                    </a:p>
                  </a:txBody>
                  <a:tcPr marL="45720" marR="45720" marT="18288" marB="18288" anchor="ctr">
                    <a:solidFill>
                      <a:srgbClr val="1F3A5F"/>
                    </a:solidFill>
                  </a:tcPr>
                </a:tc>
                <a:tc>
                  <a:txBody>
                    <a:bodyPr wrap="square"/>
                    <a:lstStyle/>
                    <a:p>
                      <a:r>
                        <a:rPr sz="1000" b="1">
                          <a:solidFill>
                            <a:srgbClr val="FFFFFF"/>
                          </a:solidFill>
                        </a:rPr>
                        <a:t>Quelle</a:t>
                      </a:r>
                    </a:p>
                  </a:txBody>
                  <a:tcPr marL="45720" marR="45720" marT="18288" marB="18288" anchor="ctr">
                    <a:solidFill>
                      <a:srgbClr val="1F3A5F"/>
                    </a:solidFill>
                  </a:tcPr>
                </a:tc>
                <a:tc>
                  <a:txBody>
                    <a:bodyPr wrap="square"/>
                    <a:lstStyle/>
                    <a:p>
                      <a:r>
                        <a:rPr sz="1000" b="1">
                          <a:solidFill>
                            <a:srgbClr val="FFFFFF"/>
                          </a:solidFill>
                        </a:rPr>
                        <a:t>Verwendung in unserer Arbeit</a:t>
                      </a:r>
                    </a:p>
                  </a:txBody>
                  <a:tcPr marL="45720" marR="45720" marT="18288" marB="18288" anchor="ctr">
                    <a:solidFill>
                      <a:srgbClr val="1F3A5F"/>
                    </a:solidFill>
                  </a:tcPr>
                </a:tc>
              </a:tr>
              <a:tr h="310896">
                <a:tc>
                  <a:txBody>
                    <a:bodyPr wrap="square"/>
                    <a:lstStyle/>
                    <a:p>
                      <a:r>
                        <a:rPr sz="1000"/>
                        <a:t>Datensatz</a:t>
                      </a:r>
                    </a:p>
                  </a:txBody>
                  <a:tcPr marL="45720" marR="45720" marT="18288" marB="18288" anchor="ctr">
                    <a:solidFill>
                      <a:srgbClr val="FFFFFF"/>
                    </a:solidFill>
                  </a:tcPr>
                </a:tc>
                <a:tc>
                  <a:txBody>
                    <a:bodyPr wrap="square"/>
                    <a:lstStyle/>
                    <a:p>
                      <a:r>
                        <a:rPr sz="1000"/>
                        <a:t>Tone Perfect (Ryu 2021)</a:t>
                      </a:r>
                    </a:p>
                  </a:txBody>
                  <a:tcPr marL="45720" marR="45720" marT="18288" marB="18288" anchor="ctr">
                    <a:solidFill>
                      <a:srgbClr val="FFFFFF"/>
                    </a:solidFill>
                  </a:tcPr>
                </a:tc>
                <a:tc>
                  <a:txBody>
                    <a:bodyPr wrap="square"/>
                    <a:lstStyle/>
                    <a:p>
                      <a:r>
                        <a:rPr sz="1000"/>
                        <a:t>Evaluations-Spine: 9.840 Silben, alle 4 Töne (RQ2)</a:t>
                      </a:r>
                    </a:p>
                  </a:txBody>
                  <a:tcPr marL="45720" marR="45720" marT="18288" marB="18288" anchor="ctr">
                    <a:solidFill>
                      <a:srgbClr val="FFFFFF"/>
                    </a:solidFill>
                  </a:tcPr>
                </a:tc>
              </a:tr>
              <a:tr h="310896">
                <a:tc>
                  <a:txBody>
                    <a:bodyPr wrap="square"/>
                    <a:lstStyle/>
                    <a:p>
                      <a:r>
                        <a:rPr sz="1000"/>
                        <a:t>Architektur-Vorbild</a:t>
                      </a:r>
                    </a:p>
                  </a:txBody>
                  <a:tcPr marL="45720" marR="45720" marT="18288" marB="18288" anchor="ctr">
                    <a:solidFill>
                      <a:srgbClr val="E8EEF4"/>
                    </a:solidFill>
                  </a:tcPr>
                </a:tc>
                <a:tc>
                  <a:txBody>
                    <a:bodyPr wrap="square"/>
                    <a:lstStyle/>
                    <a:p>
                      <a:r>
                        <a:rPr sz="1000"/>
                        <a:t>Zhengjie PYG-ASR (2025)</a:t>
                      </a:r>
                    </a:p>
                  </a:txBody>
                  <a:tcPr marL="45720" marR="45720" marT="18288" marB="18288" anchor="ctr">
                    <a:solidFill>
                      <a:srgbClr val="E8EEF4"/>
                    </a:solidFill>
                  </a:tcPr>
                </a:tc>
                <a:tc>
                  <a:txBody>
                    <a:bodyPr wrap="square"/>
                    <a:lstStyle/>
                    <a:p>
                      <a:r>
                        <a:rPr sz="1000"/>
                        <a:t>Audio→LLM→Pinyin-Pipeline, erweitert um Töne</a:t>
                      </a:r>
                    </a:p>
                  </a:txBody>
                  <a:tcPr marL="45720" marR="45720" marT="18288" marB="18288" anchor="ctr">
                    <a:solidFill>
                      <a:srgbClr val="E8EEF4"/>
                    </a:solidFill>
                  </a:tcPr>
                </a:tc>
              </a:tr>
              <a:tr h="310896">
                <a:tc>
                  <a:txBody>
                    <a:bodyPr wrap="square"/>
                    <a:lstStyle/>
                    <a:p>
                      <a:r>
                        <a:rPr sz="1000"/>
                        <a:t>Methodik-Vorbild</a:t>
                      </a:r>
                    </a:p>
                  </a:txBody>
                  <a:tcPr marL="45720" marR="45720" marT="18288" marB="18288" anchor="ctr">
                    <a:solidFill>
                      <a:srgbClr val="FFFFFF"/>
                    </a:solidFill>
                  </a:tcPr>
                </a:tc>
                <a:tc>
                  <a:txBody>
                    <a:bodyPr wrap="square"/>
                    <a:lstStyle/>
                    <a:p>
                      <a:r>
                        <a:rPr sz="1000"/>
                        <a:t>MSPB (2025)</a:t>
                      </a:r>
                    </a:p>
                  </a:txBody>
                  <a:tcPr marL="45720" marR="45720" marT="18288" marB="18288" anchor="ctr">
                    <a:solidFill>
                      <a:srgbClr val="FFFFFF"/>
                    </a:solidFill>
                  </a:tcPr>
                </a:tc>
                <a:tc>
                  <a:txBody>
                    <a:bodyPr wrap="square"/>
                    <a:lstStyle/>
                    <a:p>
                      <a:r>
                        <a:rPr sz="1000"/>
                        <a:t>Head-to-Head-LLM-Vergleich als Versuchsdesign</a:t>
                      </a:r>
                    </a:p>
                  </a:txBody>
                  <a:tcPr marL="45720" marR="45720" marT="18288" marB="18288" anchor="ctr">
                    <a:solidFill>
                      <a:srgbClr val="FFFFFF"/>
                    </a:solidFill>
                  </a:tcPr>
                </a:tc>
              </a:tr>
              <a:tr h="310896">
                <a:tc>
                  <a:txBody>
                    <a:bodyPr wrap="square"/>
                    <a:lstStyle/>
                    <a:p>
                      <a:r>
                        <a:rPr sz="1000"/>
                        <a:t>Obere Referenz / Baseline</a:t>
                      </a:r>
                    </a:p>
                  </a:txBody>
                  <a:tcPr marL="45720" marR="45720" marT="18288" marB="18288" anchor="ctr">
                    <a:solidFill>
                      <a:srgbClr val="E8EEF4"/>
                    </a:solidFill>
                  </a:tcPr>
                </a:tc>
                <a:tc>
                  <a:txBody>
                    <a:bodyPr wrap="square"/>
                    <a:lstStyle/>
                    <a:p>
                      <a:r>
                        <a:rPr sz="1000"/>
                        <a:t>SITA (2026), Whisper</a:t>
                      </a:r>
                    </a:p>
                  </a:txBody>
                  <a:tcPr marL="45720" marR="45720" marT="18288" marB="18288" anchor="ctr">
                    <a:solidFill>
                      <a:srgbClr val="E8EEF4"/>
                    </a:solidFill>
                  </a:tcPr>
                </a:tc>
                <a:tc>
                  <a:txBody>
                    <a:bodyPr wrap="square"/>
                    <a:lstStyle/>
                    <a:p>
                      <a:r>
                        <a:rPr sz="1000"/>
                        <a:t>dediziertes System als Vergleichsanker (RQ4)</a:t>
                      </a:r>
                    </a:p>
                  </a:txBody>
                  <a:tcPr marL="45720" marR="45720" marT="18288" marB="18288" anchor="ctr">
                    <a:solidFill>
                      <a:srgbClr val="E8EEF4"/>
                    </a:solidFill>
                  </a:tcPr>
                </a:tc>
              </a:tr>
              <a:tr h="310896">
                <a:tc>
                  <a:txBody>
                    <a:bodyPr wrap="square"/>
                    <a:lstStyle/>
                    <a:p>
                      <a:r>
                        <a:rPr sz="1000"/>
                        <a:t>Metriken</a:t>
                      </a:r>
                    </a:p>
                  </a:txBody>
                  <a:tcPr marL="45720" marR="45720" marT="18288" marB="18288" anchor="ctr">
                    <a:solidFill>
                      <a:srgbClr val="FFFFFF"/>
                    </a:solidFill>
                  </a:tcPr>
                </a:tc>
                <a:tc>
                  <a:txBody>
                    <a:bodyPr wrap="square"/>
                    <a:lstStyle/>
                    <a:p>
                      <a:r>
                        <a:rPr sz="1000"/>
                        <a:t>Zou (TER), Wang MDD (PER)</a:t>
                      </a:r>
                    </a:p>
                  </a:txBody>
                  <a:tcPr marL="45720" marR="45720" marT="18288" marB="18288" anchor="ctr">
                    <a:solidFill>
                      <a:srgbClr val="FFFFFF"/>
                    </a:solidFill>
                  </a:tcPr>
                </a:tc>
                <a:tc>
                  <a:txBody>
                    <a:bodyPr wrap="square"/>
                    <a:lstStyle/>
                    <a:p>
                      <a:r>
                        <a:rPr sz="1000"/>
                        <a:t>TER + PER + per-Ton-F1 (RQ5)</a:t>
                      </a:r>
                    </a:p>
                  </a:txBody>
                  <a:tcPr marL="45720" marR="45720" marT="18288" marB="18288" anchor="ctr">
                    <a:solidFill>
                      <a:srgbClr val="FFFFFF"/>
                    </a:solidFill>
                  </a:tcPr>
                </a:tc>
              </a:tr>
            </a:tbl>
          </a:graphicData>
        </a:graphic>
      </p:graphicFrame>
      <p:sp>
        <p:nvSpPr>
          <p:cNvPr id="5" name="TextBox 4"/>
          <p:cNvSpPr txBox="1"/>
          <p:nvPr/>
        </p:nvSpPr>
        <p:spPr>
          <a:xfrm>
            <a:off x="411480" y="3081528"/>
            <a:ext cx="11368735" cy="969264"/>
          </a:xfrm>
          <a:prstGeom prst="rect">
            <a:avLst/>
          </a:prstGeom>
          <a:noFill/>
        </p:spPr>
        <p:txBody>
          <a:bodyPr wrap="square">
            <a:spAutoFit/>
          </a:bodyPr>
          <a:lstStyle/>
          <a:p>
            <a:pPr>
              <a:spcAft>
                <a:spcPts val="300"/>
              </a:spcAft>
            </a:pPr>
            <a:r>
              <a:rPr sz="1200" b="1">
                <a:solidFill>
                  <a:srgbClr val="1F3A5F"/>
                </a:solidFill>
              </a:rPr>
              <a:t>keines (Synthese-Folie).</a:t>
            </a:r>
          </a:p>
          <a:p>
            <a:pPr>
              <a:spcAft>
                <a:spcPts val="300"/>
              </a:spcAft>
            </a:pPr>
            <a:r>
              <a:rPr i="1" sz="1200">
                <a:solidFill>
                  <a:srgbClr val="444444"/>
                </a:solidFill>
              </a:rPr>
              <a:t>„„Konkret verwendbar — Ihre zweite Frage — ist mehr, als man zunächst denkt. Den Datensatz Tone Perfect übernehme ich als Evaluations-Rückgrat: 9.840 Audioclips, jede Silbe in allen vier Tönen, CC-BY-lizenziert. Die Architektur von Zhengjie &amp; Cheng dient als Pipeline-Vorbild, das ich um die Tondimension erweitere. Das Versuchsdesign von MSPB — mehrere LLMs im kontrollierten Head-to-Head — übertrage ich von Prosodie auf tonale Transkription. SITA und Whisper liefern den dedizierten Vergleichsanker für RQ4; SITAs ~0,99 ist meine obere Referenzlinie. Und bei den Metriken kombiniere ich die empfohlene, aber nie genutzte Tone Error Rate mit Phoneme Error Rate und per-Ton-F1 für die Fehleranalyse.""</a:t>
            </a:r>
          </a:p>
          <a:p>
            <a:pPr>
              <a:spcAft>
                <a:spcPts val="300"/>
              </a:spcAft>
            </a:pPr>
            <a:r>
              <a:rPr sz="1300"/>
              <a: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Vier Lücken, die die Literatur offen lässt</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1554480"/>
        </p:xfrm>
        <a:graphic>
          <a:graphicData uri="http://schemas.openxmlformats.org/drawingml/2006/table">
            <a:tbl>
              <a:tblPr firstRow="1" bandRow="1">
                <a:tableStyleId>{5C22544A-7EE6-4342-B048-85BDC9FD1C3A}</a:tableStyleId>
              </a:tblPr>
              <a:tblGrid>
                <a:gridCol w="3820058"/>
                <a:gridCol w="3820058"/>
                <a:gridCol w="3820058"/>
              </a:tblGrid>
              <a:tr h="310896">
                <a:tc>
                  <a:txBody>
                    <a:bodyPr wrap="square"/>
                    <a:lstStyle/>
                    <a:p>
                      <a:r>
                        <a:rPr sz="1000" b="1">
                          <a:solidFill>
                            <a:srgbClr val="FFFFFF"/>
                          </a:solidFill>
                        </a:rPr>
                        <a:t>#</a:t>
                      </a:r>
                    </a:p>
                  </a:txBody>
                  <a:tcPr marL="45720" marR="45720" marT="18288" marB="18288" anchor="ctr">
                    <a:solidFill>
                      <a:srgbClr val="1F3A5F"/>
                    </a:solidFill>
                  </a:tcPr>
                </a:tc>
                <a:tc>
                  <a:txBody>
                    <a:bodyPr wrap="square"/>
                    <a:lstStyle/>
                    <a:p>
                      <a:r>
                        <a:rPr sz="1000" b="1">
                          <a:solidFill>
                            <a:srgbClr val="FFFFFF"/>
                          </a:solidFill>
                        </a:rPr>
                        <a:t>Lücke</a:t>
                      </a:r>
                    </a:p>
                  </a:txBody>
                  <a:tcPr marL="45720" marR="45720" marT="18288" marB="18288" anchor="ctr">
                    <a:solidFill>
                      <a:srgbClr val="1F3A5F"/>
                    </a:solidFill>
                  </a:tcPr>
                </a:tc>
                <a:tc>
                  <a:txBody>
                    <a:bodyPr wrap="square"/>
                    <a:lstStyle/>
                    <a:p>
                      <a:r>
                        <a:rPr sz="1000" b="1">
                          <a:solidFill>
                            <a:srgbClr val="FFFFFF"/>
                          </a:solidFill>
                        </a:rPr>
                        <a:t>Beleg</a:t>
                      </a:r>
                    </a:p>
                  </a:txBody>
                  <a:tcPr marL="45720" marR="45720" marT="18288" marB="18288" anchor="ctr">
                    <a:solidFill>
                      <a:srgbClr val="1F3A5F"/>
                    </a:solidFill>
                  </a:tcPr>
                </a:tc>
              </a:tr>
              <a:tr h="310896">
                <a:tc>
                  <a:txBody>
                    <a:bodyPr wrap="square"/>
                    <a:lstStyle/>
                    <a:p>
                      <a:r>
                        <a:rPr sz="1000"/>
                        <a:t>L1</a:t>
                      </a:r>
                    </a:p>
                  </a:txBody>
                  <a:tcPr marL="45720" marR="45720" marT="18288" marB="18288" anchor="ctr">
                    <a:solidFill>
                      <a:srgbClr val="FFFFFF"/>
                    </a:solidFill>
                  </a:tcPr>
                </a:tc>
                <a:tc>
                  <a:txBody>
                    <a:bodyPr wrap="square"/>
                    <a:lstStyle/>
                    <a:p>
                      <a:r>
                        <a:rPr sz="1000"/>
                        <a:t>LLMs nur auf Wort/Zeichen (CER/WER) evaluiert, nicht Phonem/Ton</a:t>
                      </a:r>
                    </a:p>
                  </a:txBody>
                  <a:tcPr marL="45720" marR="45720" marT="18288" marB="18288" anchor="ctr">
                    <a:solidFill>
                      <a:srgbClr val="FFFFFF"/>
                    </a:solidFill>
                  </a:tcPr>
                </a:tc>
                <a:tc>
                  <a:txBody>
                    <a:bodyPr wrap="square"/>
                    <a:lstStyle/>
                    <a:p>
                      <a:r>
                        <a:rPr sz="1000"/>
                        <a:t>alle 7 Speech LLMs</a:t>
                      </a:r>
                    </a:p>
                  </a:txBody>
                  <a:tcPr marL="45720" marR="45720" marT="18288" marB="18288" anchor="ctr">
                    <a:solidFill>
                      <a:srgbClr val="FFFFFF"/>
                    </a:solidFill>
                  </a:tcPr>
                </a:tc>
              </a:tr>
              <a:tr h="310896">
                <a:tc>
                  <a:txBody>
                    <a:bodyPr wrap="square"/>
                    <a:lstStyle/>
                    <a:p>
                      <a:r>
                        <a:rPr sz="1000"/>
                        <a:t>L2</a:t>
                      </a:r>
                    </a:p>
                  </a:txBody>
                  <a:tcPr marL="45720" marR="45720" marT="18288" marB="18288" anchor="ctr">
                    <a:solidFill>
                      <a:srgbClr val="E8EEF4"/>
                    </a:solidFill>
                  </a:tcPr>
                </a:tc>
                <a:tc>
                  <a:txBody>
                    <a:bodyPr wrap="square"/>
                    <a:lstStyle/>
                    <a:p>
                      <a:r>
                        <a:rPr sz="1000"/>
                        <a:t>Töne selten als separate Evaluationsachse</a:t>
                      </a:r>
                    </a:p>
                  </a:txBody>
                  <a:tcPr marL="45720" marR="45720" marT="18288" marB="18288" anchor="ctr">
                    <a:solidFill>
                      <a:srgbClr val="E8EEF4"/>
                    </a:solidFill>
                  </a:tcPr>
                </a:tc>
                <a:tc>
                  <a:txBody>
                    <a:bodyPr wrap="square"/>
                    <a:lstStyle/>
                    <a:p>
                      <a:r>
                        <a:rPr sz="1000"/>
                        <a:t>Zhengjie: Pinyin ohne Ton</a:t>
                      </a:r>
                    </a:p>
                  </a:txBody>
                  <a:tcPr marL="45720" marR="45720" marT="18288" marB="18288" anchor="ctr">
                    <a:solidFill>
                      <a:srgbClr val="E8EEF4"/>
                    </a:solidFill>
                  </a:tcPr>
                </a:tc>
              </a:tr>
              <a:tr h="310896">
                <a:tc>
                  <a:txBody>
                    <a:bodyPr wrap="square"/>
                    <a:lstStyle/>
                    <a:p>
                      <a:r>
                        <a:rPr sz="1000"/>
                        <a:t>L3</a:t>
                      </a:r>
                    </a:p>
                  </a:txBody>
                  <a:tcPr marL="45720" marR="45720" marT="18288" marB="18288" anchor="ctr">
                    <a:solidFill>
                      <a:srgbClr val="FFFFFF"/>
                    </a:solidFill>
                  </a:tcPr>
                </a:tc>
                <a:tc>
                  <a:txBody>
                    <a:bodyPr wrap="square"/>
                    <a:lstStyle/>
                    <a:p>
                      <a:r>
                        <a:rPr sz="1000"/>
                        <a:t>Sehr wenige L2-Lerner-Studien</a:t>
                      </a:r>
                    </a:p>
                  </a:txBody>
                  <a:tcPr marL="45720" marR="45720" marT="18288" marB="18288" anchor="ctr">
                    <a:solidFill>
                      <a:srgbClr val="FFFFFF"/>
                    </a:solidFill>
                  </a:tcPr>
                </a:tc>
                <a:tc>
                  <a:txBody>
                    <a:bodyPr wrap="square"/>
                    <a:lstStyle/>
                    <a:p>
                      <a:r>
                        <a:rPr sz="1000"/>
                        <a:t>Zou Review</a:t>
                      </a:r>
                    </a:p>
                  </a:txBody>
                  <a:tcPr marL="45720" marR="45720" marT="18288" marB="18288" anchor="ctr">
                    <a:solidFill>
                      <a:srgbClr val="FFFFFF"/>
                    </a:solidFill>
                  </a:tcPr>
                </a:tc>
              </a:tr>
              <a:tr h="310896">
                <a:tc>
                  <a:txBody>
                    <a:bodyPr wrap="square"/>
                    <a:lstStyle/>
                    <a:p>
                      <a:r>
                        <a:rPr sz="1000"/>
                        <a:t>L4</a:t>
                      </a:r>
                    </a:p>
                  </a:txBody>
                  <a:tcPr marL="45720" marR="45720" marT="18288" marB="18288" anchor="ctr">
                    <a:solidFill>
                      <a:srgbClr val="E8EEF4"/>
                    </a:solidFill>
                  </a:tcPr>
                </a:tc>
                <a:tc>
                  <a:txBody>
                    <a:bodyPr wrap="square"/>
                    <a:lstStyle/>
                    <a:p>
                      <a:r>
                        <a:rPr sz="1000"/>
                        <a:t>Kein systematischer LLM-vs.-dediziert-Vergleich</a:t>
                      </a:r>
                    </a:p>
                  </a:txBody>
                  <a:tcPr marL="45720" marR="45720" marT="18288" marB="18288" anchor="ctr">
                    <a:solidFill>
                      <a:srgbClr val="E8EEF4"/>
                    </a:solidFill>
                  </a:tcPr>
                </a:tc>
                <a:tc>
                  <a:txBody>
                    <a:bodyPr wrap="square"/>
                    <a:lstStyle/>
                    <a:p>
                      <a:r>
                        <a:rPr sz="1000"/>
                        <a:t>Gaido (2024)</a:t>
                      </a:r>
                    </a:p>
                  </a:txBody>
                  <a:tcPr marL="45720" marR="45720" marT="18288" marB="18288" anchor="ctr">
                    <a:solidFill>
                      <a:srgbClr val="E8EEF4"/>
                    </a:solidFill>
                  </a:tcPr>
                </a:tc>
              </a:tr>
            </a:tbl>
          </a:graphicData>
        </a:graphic>
      </p:graphicFrame>
      <p:sp>
        <p:nvSpPr>
          <p:cNvPr id="5" name="TextBox 4"/>
          <p:cNvSpPr txBox="1"/>
          <p:nvPr/>
        </p:nvSpPr>
        <p:spPr>
          <a:xfrm>
            <a:off x="411480" y="2770632"/>
            <a:ext cx="11368735" cy="969264"/>
          </a:xfrm>
          <a:prstGeom prst="rect">
            <a:avLst/>
          </a:prstGeom>
          <a:noFill/>
        </p:spPr>
        <p:txBody>
          <a:bodyPr wrap="square">
            <a:spAutoFit/>
          </a:bodyPr>
          <a:lstStyle/>
          <a:p>
            <a:pPr>
              <a:spcAft>
                <a:spcPts val="300"/>
              </a:spcAft>
            </a:pPr>
            <a:r>
              <a:rPr i="1" sz="1200">
                <a:solidFill>
                  <a:srgbClr val="444444"/>
                </a:solidFill>
              </a:rPr>
              <a:t>„„no work has addressed the comparative assessment of different SFMs under controlled conditions within the same framework." — Gaido et al. (2024)"</a:t>
            </a:r>
          </a:p>
          <a:p>
            <a:pPr>
              <a:spcAft>
                <a:spcPts val="300"/>
              </a:spcAft>
            </a:pPr>
            <a:r>
              <a:rPr i="1" sz="1200">
                <a:solidFill>
                  <a:srgbClr val="444444"/>
                </a:solidFill>
              </a:rPr>
              <a:t>„„Daraus ergeben sich vier Forschungslücken — Ihre dritte Frage. Erstens: Frontier-LLMs werden fast nur auf Wort- oder Zeichenebene evaluiert; Phonem- und Tongranularität für Mandarin ist praktisch unerforscht. Zweitens: Töne werden selten als eigene Achse behandelt — selbst das Pinyin-generierende Paper lässt sie weg. Drittens, belegt durch das Zou-Review: ‚L2 corpora like iCALL exist but receive less attention than native-speaker datasets' (S. 10). Viertens, Gaido 2024 für Speech Foundation Models allgemein: ‚no work has addressed the comparative assessment of different SFMs under controlled conditions within the same framework' (Section 2.1) — und für tonale Evaluation gilt das noch schärfer.""</a:t>
            </a:r>
          </a:p>
          <a:p>
            <a:pPr>
              <a:spcAft>
                <a:spcPts val="300"/>
              </a:spcAft>
            </a:pPr>
            <a:r>
              <a:rPr sz="1300"/>
              <a: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Welche Lücken diese Arbeit schließt — Mapping auf die Forschungsfragen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1865376"/>
        </p:xfrm>
        <a:graphic>
          <a:graphicData uri="http://schemas.openxmlformats.org/drawingml/2006/table">
            <a:tbl>
              <a:tblPr firstRow="1" bandRow="1">
                <a:tableStyleId>{5C22544A-7EE6-4342-B048-85BDC9FD1C3A}</a:tableStyleId>
              </a:tblPr>
              <a:tblGrid>
                <a:gridCol w="3820058"/>
                <a:gridCol w="3820058"/>
                <a:gridCol w="3820058"/>
              </a:tblGrid>
              <a:tr h="310896">
                <a:tc>
                  <a:txBody>
                    <a:bodyPr wrap="square"/>
                    <a:lstStyle/>
                    <a:p>
                      <a:r>
                        <a:rPr sz="1000" b="1">
                          <a:solidFill>
                            <a:srgbClr val="FFFFFF"/>
                          </a:solidFill>
                        </a:rPr>
                        <a:t>RQ</a:t>
                      </a:r>
                    </a:p>
                  </a:txBody>
                  <a:tcPr marL="45720" marR="45720" marT="18288" marB="18288" anchor="ctr">
                    <a:solidFill>
                      <a:srgbClr val="1F3A5F"/>
                    </a:solidFill>
                  </a:tcPr>
                </a:tc>
                <a:tc>
                  <a:txBody>
                    <a:bodyPr wrap="square"/>
                    <a:lstStyle/>
                    <a:p>
                      <a:r>
                        <a:rPr sz="1000" b="1">
                          <a:solidFill>
                            <a:srgbClr val="FFFFFF"/>
                          </a:solidFill>
                        </a:rPr>
                        <a:t>Schließt Lücke</a:t>
                      </a:r>
                    </a:p>
                  </a:txBody>
                  <a:tcPr marL="45720" marR="45720" marT="18288" marB="18288" anchor="ctr">
                    <a:solidFill>
                      <a:srgbClr val="1F3A5F"/>
                    </a:solidFill>
                  </a:tcPr>
                </a:tc>
                <a:tc>
                  <a:txBody>
                    <a:bodyPr wrap="square"/>
                    <a:lstStyle/>
                    <a:p>
                      <a:r>
                        <a:rPr sz="1000" b="1">
                          <a:solidFill>
                            <a:srgbClr val="FFFFFF"/>
                          </a:solidFill>
                        </a:rPr>
                        <a:t>Beitrag</a:t>
                      </a:r>
                    </a:p>
                  </a:txBody>
                  <a:tcPr marL="45720" marR="45720" marT="18288" marB="18288" anchor="ctr">
                    <a:solidFill>
                      <a:srgbClr val="1F3A5F"/>
                    </a:solidFill>
                  </a:tcPr>
                </a:tc>
              </a:tr>
              <a:tr h="310896">
                <a:tc>
                  <a:txBody>
                    <a:bodyPr wrap="square"/>
                    <a:lstStyle/>
                    <a:p>
                      <a:r>
                        <a:rPr sz="1000"/>
                        <a:t>RQ1 Text→Pinyin (±Ton)</a:t>
                      </a:r>
                    </a:p>
                  </a:txBody>
                  <a:tcPr marL="45720" marR="45720" marT="18288" marB="18288" anchor="ctr">
                    <a:solidFill>
                      <a:srgbClr val="FFFFFF"/>
                    </a:solidFill>
                  </a:tcPr>
                </a:tc>
                <a:tc>
                  <a:txBody>
                    <a:bodyPr wrap="square"/>
                    <a:lstStyle/>
                    <a:p>
                      <a:r>
                        <a:rPr sz="1000"/>
                        <a:t>L1</a:t>
                      </a:r>
                    </a:p>
                  </a:txBody>
                  <a:tcPr marL="45720" marR="45720" marT="18288" marB="18288" anchor="ctr">
                    <a:solidFill>
                      <a:srgbClr val="FFFFFF"/>
                    </a:solidFill>
                  </a:tcPr>
                </a:tc>
                <a:tc>
                  <a:txBody>
                    <a:bodyPr wrap="square"/>
                    <a:lstStyle/>
                    <a:p>
                      <a:r>
                        <a:rPr sz="1000"/>
                        <a:t>isolierte Sprachwissens-Baseline</a:t>
                      </a:r>
                    </a:p>
                  </a:txBody>
                  <a:tcPr marL="45720" marR="45720" marT="18288" marB="18288" anchor="ctr">
                    <a:solidFill>
                      <a:srgbClr val="FFFFFF"/>
                    </a:solidFill>
                  </a:tcPr>
                </a:tc>
              </a:tr>
              <a:tr h="310896">
                <a:tc>
                  <a:txBody>
                    <a:bodyPr wrap="square"/>
                    <a:lstStyle/>
                    <a:p>
                      <a:r>
                        <a:rPr sz="1000"/>
                        <a:t>RQ2 Native-Speech (Wort/Phonem/Ton)</a:t>
                      </a:r>
                    </a:p>
                  </a:txBody>
                  <a:tcPr marL="45720" marR="45720" marT="18288" marB="18288" anchor="ctr">
                    <a:solidFill>
                      <a:srgbClr val="E8EEF4"/>
                    </a:solidFill>
                  </a:tcPr>
                </a:tc>
                <a:tc>
                  <a:txBody>
                    <a:bodyPr wrap="square"/>
                    <a:lstStyle/>
                    <a:p>
                      <a:r>
                        <a:rPr sz="1000"/>
                        <a:t>L1, L2</a:t>
                      </a:r>
                    </a:p>
                  </a:txBody>
                  <a:tcPr marL="45720" marR="45720" marT="18288" marB="18288" anchor="ctr">
                    <a:solidFill>
                      <a:srgbClr val="E8EEF4"/>
                    </a:solidFill>
                  </a:tcPr>
                </a:tc>
                <a:tc>
                  <a:txBody>
                    <a:bodyPr wrap="square"/>
                    <a:lstStyle/>
                    <a:p>
                      <a:r>
                        <a:rPr sz="1000"/>
                        <a:t>erste tonale Transkriptionsgüte für LLMs</a:t>
                      </a:r>
                    </a:p>
                  </a:txBody>
                  <a:tcPr marL="45720" marR="45720" marT="18288" marB="18288" anchor="ctr">
                    <a:solidFill>
                      <a:srgbClr val="E8EEF4"/>
                    </a:solidFill>
                  </a:tcPr>
                </a:tc>
              </a:tr>
              <a:tr h="310896">
                <a:tc>
                  <a:txBody>
                    <a:bodyPr wrap="square"/>
                    <a:lstStyle/>
                    <a:p>
                      <a:r>
                        <a:rPr sz="1000"/>
                        <a:t>RQ3 L2-Speech *(stretch)*</a:t>
                      </a:r>
                    </a:p>
                  </a:txBody>
                  <a:tcPr marL="45720" marR="45720" marT="18288" marB="18288" anchor="ctr">
                    <a:solidFill>
                      <a:srgbClr val="FFFFFF"/>
                    </a:solidFill>
                  </a:tcPr>
                </a:tc>
                <a:tc>
                  <a:txBody>
                    <a:bodyPr wrap="square"/>
                    <a:lstStyle/>
                    <a:p>
                      <a:r>
                        <a:rPr sz="1000"/>
                        <a:t>L3</a:t>
                      </a:r>
                    </a:p>
                  </a:txBody>
                  <a:tcPr marL="45720" marR="45720" marT="18288" marB="18288" anchor="ctr">
                    <a:solidFill>
                      <a:srgbClr val="FFFFFF"/>
                    </a:solidFill>
                  </a:tcPr>
                </a:tc>
                <a:tc>
                  <a:txBody>
                    <a:bodyPr wrap="square"/>
                    <a:lstStyle/>
                    <a:p>
                      <a:r>
                        <a:rPr sz="1000"/>
                        <a:t>feedback-relevanter Fall, neu für LLMs</a:t>
                      </a:r>
                    </a:p>
                  </a:txBody>
                  <a:tcPr marL="45720" marR="45720" marT="18288" marB="18288" anchor="ctr">
                    <a:solidFill>
                      <a:srgbClr val="FFFFFF"/>
                    </a:solidFill>
                  </a:tcPr>
                </a:tc>
              </a:tr>
              <a:tr h="310896">
                <a:tc>
                  <a:txBody>
                    <a:bodyPr wrap="square"/>
                    <a:lstStyle/>
                    <a:p>
                      <a:r>
                        <a:rPr sz="1000"/>
                        <a:t>RQ4 vs. Whisper/dediziert</a:t>
                      </a:r>
                    </a:p>
                  </a:txBody>
                  <a:tcPr marL="45720" marR="45720" marT="18288" marB="18288" anchor="ctr">
                    <a:solidFill>
                      <a:srgbClr val="E8EEF4"/>
                    </a:solidFill>
                  </a:tcPr>
                </a:tc>
                <a:tc>
                  <a:txBody>
                    <a:bodyPr wrap="square"/>
                    <a:lstStyle/>
                    <a:p>
                      <a:r>
                        <a:rPr sz="1000"/>
                        <a:t>L4</a:t>
                      </a:r>
                    </a:p>
                  </a:txBody>
                  <a:tcPr marL="45720" marR="45720" marT="18288" marB="18288" anchor="ctr">
                    <a:solidFill>
                      <a:srgbClr val="E8EEF4"/>
                    </a:solidFill>
                  </a:tcPr>
                </a:tc>
                <a:tc>
                  <a:txBody>
                    <a:bodyPr wrap="square"/>
                    <a:lstStyle/>
                    <a:p>
                      <a:r>
                        <a:rPr sz="1000"/>
                        <a:t>kontrollierter Head-to-Head</a:t>
                      </a:r>
                    </a:p>
                  </a:txBody>
                  <a:tcPr marL="45720" marR="45720" marT="18288" marB="18288" anchor="ctr">
                    <a:solidFill>
                      <a:srgbClr val="E8EEF4"/>
                    </a:solidFill>
                  </a:tcPr>
                </a:tc>
              </a:tr>
              <a:tr h="310896">
                <a:tc>
                  <a:txBody>
                    <a:bodyPr wrap="square"/>
                    <a:lstStyle/>
                    <a:p>
                      <a:r>
                        <a:rPr sz="1000"/>
                        <a:t>RQ5 Fehlerstruktur</a:t>
                      </a:r>
                    </a:p>
                  </a:txBody>
                  <a:tcPr marL="45720" marR="45720" marT="18288" marB="18288" anchor="ctr">
                    <a:solidFill>
                      <a:srgbClr val="FFFFFF"/>
                    </a:solidFill>
                  </a:tcPr>
                </a:tc>
                <a:tc>
                  <a:txBody>
                    <a:bodyPr wrap="square"/>
                    <a:lstStyle/>
                    <a:p>
                      <a:r>
                        <a:rPr sz="1000"/>
                        <a:t>L2</a:t>
                      </a:r>
                    </a:p>
                  </a:txBody>
                  <a:tcPr marL="45720" marR="45720" marT="18288" marB="18288" anchor="ctr">
                    <a:solidFill>
                      <a:srgbClr val="FFFFFF"/>
                    </a:solidFill>
                  </a:tcPr>
                </a:tc>
                <a:tc>
                  <a:txBody>
                    <a:bodyPr wrap="square"/>
                    <a:lstStyle/>
                    <a:p>
                      <a:r>
                        <a:rPr sz="1000"/>
                        <a:t>per-Ton-/Kontrast-Konfusionsanalyse (TER)</a:t>
                      </a:r>
                    </a:p>
                  </a:txBody>
                  <a:tcPr marL="45720" marR="45720" marT="18288" marB="18288" anchor="ctr">
                    <a:solidFill>
                      <a:srgbClr val="FFFFFF"/>
                    </a:solidFill>
                  </a:tcPr>
                </a:tc>
              </a:tr>
            </a:tbl>
          </a:graphicData>
        </a:graphic>
      </p:graphicFrame>
      <p:sp>
        <p:nvSpPr>
          <p:cNvPr id="5" name="TextBox 4"/>
          <p:cNvSpPr txBox="1"/>
          <p:nvPr/>
        </p:nvSpPr>
        <p:spPr>
          <a:xfrm>
            <a:off x="411480" y="3081528"/>
            <a:ext cx="11368735" cy="969264"/>
          </a:xfrm>
          <a:prstGeom prst="rect">
            <a:avLst/>
          </a:prstGeom>
          <a:noFill/>
        </p:spPr>
        <p:txBody>
          <a:bodyPr wrap="square">
            <a:spAutoFit/>
          </a:bodyPr>
          <a:lstStyle/>
          <a:p>
            <a:pPr>
              <a:spcAft>
                <a:spcPts val="300"/>
              </a:spcAft>
            </a:pPr>
            <a:r>
              <a:rPr sz="1200" b="1">
                <a:solidFill>
                  <a:srgbClr val="1F3A5F"/>
                </a:solidFill>
              </a:rPr>
              <a:t>keines (Payoff-Folie).</a:t>
            </a:r>
          </a:p>
          <a:p>
            <a:pPr>
              <a:spcAft>
                <a:spcPts val="300"/>
              </a:spcAft>
            </a:pPr>
            <a:r>
              <a:rPr i="1" sz="1200">
                <a:solidFill>
                  <a:srgbClr val="444444"/>
                </a:solidFill>
              </a:rPr>
              <a:t>„„Ihre vierte Frage — welche dieser Lücken schließt die Arbeit. RQ1 isoliert das reine Sprachwissen über eine Text-zu-Pinyin-Baseline und adressiert Lücke 1. RQ2 ist der Kern: erstmals die tonale Transkriptionsgüte multimodaler LLMs auf nativer Sprache — Wort-, Phonem- und Tonebene — und schließt damit Lücken 1 und 2. RQ3, zeitabhängig, bringt L2-Lerner ins Spiel und adressiert Lücke 3, die feedback-relevante. RQ4 stellt die LLMs kontrolliert gegen Whisper und SITA — Lücke 4. Und RQ5 analysiert die Fehlerstruktur per Ton und Kontrast mit der Tone Error Rate, die bisher niemand angewandt hat. Der committed core — RQ1, RQ2, RQ4, RQ5 — steht für sich; RQ3 ist die Erweiterung.""</a:t>
            </a:r>
          </a:p>
          <a:p>
            <a:pPr>
              <a:spcAft>
                <a:spcPts val="300"/>
              </a:spcAft>
            </a:pPr>
            <a:r>
              <a:rPr sz="1300"/>
              <a: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Die Lücke in einem Bild: niemand verbindet LLM + Audio + Töne</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2176272"/>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
                      </a:r>
                    </a:p>
                  </a:txBody>
                  <a:tcPr marL="45720" marR="45720" marT="18288" marB="18288" anchor="ctr">
                    <a:solidFill>
                      <a:srgbClr val="1F3A5F"/>
                    </a:solidFill>
                  </a:tcPr>
                </a:tc>
                <a:tc>
                  <a:txBody>
                    <a:bodyPr wrap="square"/>
                    <a:lstStyle/>
                    <a:p>
                      <a:r>
                        <a:rPr sz="1000" b="1">
                          <a:solidFill>
                            <a:srgbClr val="FFFFFF"/>
                          </a:solidFill>
                        </a:rPr>
                        <a:t>Töne evaluiert</a:t>
                      </a:r>
                    </a:p>
                  </a:txBody>
                  <a:tcPr marL="45720" marR="45720" marT="18288" marB="18288" anchor="ctr">
                    <a:solidFill>
                      <a:srgbClr val="1F3A5F"/>
                    </a:solidFill>
                  </a:tcPr>
                </a:tc>
                <a:tc>
                  <a:txBody>
                    <a:bodyPr wrap="square"/>
                    <a:lstStyle/>
                    <a:p>
                      <a:r>
                        <a:rPr sz="1000" b="1">
                          <a:solidFill>
                            <a:srgbClr val="FFFFFF"/>
                          </a:solidFill>
                        </a:rPr>
                        <a:t>LLM genutzt</a:t>
                      </a:r>
                    </a:p>
                  </a:txBody>
                  <a:tcPr marL="45720" marR="45720" marT="18288" marB="18288" anchor="ctr">
                    <a:solidFill>
                      <a:srgbClr val="1F3A5F"/>
                    </a:solidFill>
                  </a:tcPr>
                </a:tc>
                <a:tc>
                  <a:txBody>
                    <a:bodyPr wrap="square"/>
                    <a:lstStyle/>
                    <a:p>
                      <a:r>
                        <a:rPr sz="1000" b="1">
                          <a:solidFill>
                            <a:srgbClr val="FFFFFF"/>
                          </a:solidFill>
                        </a:rPr>
                        <a:t>Audio-Input</a:t>
                      </a:r>
                    </a:p>
                  </a:txBody>
                  <a:tcPr marL="45720" marR="45720" marT="18288" marB="18288" anchor="ctr">
                    <a:solidFill>
                      <a:srgbClr val="1F3A5F"/>
                    </a:solidFill>
                  </a:tcPr>
                </a:tc>
              </a:tr>
              <a:tr h="310896">
                <a:tc>
                  <a:txBody>
                    <a:bodyPr wrap="square"/>
                    <a:lstStyle/>
                    <a:p>
                      <a:r>
                        <a:rPr sz="1000"/>
                        <a:t>Zou, Huang (Reviews)</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r>
              <a:tr h="310896">
                <a:tc>
                  <a:txBody>
                    <a:bodyPr wrap="square"/>
                    <a:lstStyle/>
                    <a:p>
                      <a:r>
                        <a:rPr sz="1000"/>
                        <a:t>Wang MDD, Bu (dediziert)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r>
              <a:tr h="310896">
                <a:tc>
                  <a:txBody>
                    <a:bodyPr wrap="square"/>
                    <a:lstStyle/>
                    <a:p>
                      <a:r>
                        <a:rPr sz="1000"/>
                        <a:t>Zhengjie PYG-ASR</a:t>
                      </a:r>
                    </a:p>
                  </a:txBody>
                  <a:tcPr marL="45720" marR="45720" marT="18288" marB="18288" anchor="ctr">
                    <a:solidFill>
                      <a:srgbClr val="FFFFFF"/>
                    </a:solidFill>
                  </a:tcPr>
                </a:tc>
                <a:tc>
                  <a:txBody>
                    <a:bodyPr wrap="square"/>
                    <a:lstStyle/>
                    <a:p>
                      <a:r>
                        <a:rPr sz="1000"/>
                        <a:t>✗ (Pinyin ohne Ton)</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r>
              <a:tr h="310896">
                <a:tc>
                  <a:txBody>
                    <a:bodyPr wrap="square"/>
                    <a:lstStyle/>
                    <a:p>
                      <a:r>
                        <a:rPr sz="1000"/>
                        <a:t>Wang MSPB</a:t>
                      </a:r>
                    </a:p>
                  </a:txBody>
                  <a:tcPr marL="45720" marR="45720" marT="18288" marB="18288" anchor="ctr">
                    <a:solidFill>
                      <a:srgbClr val="E8EEF4"/>
                    </a:solidFill>
                  </a:tcPr>
                </a:tc>
                <a:tc>
                  <a:txBody>
                    <a:bodyPr wrap="square"/>
                    <a:lstStyle/>
                    <a:p>
                      <a:r>
                        <a:rPr sz="1000"/>
                        <a:t>~ (nur Satzprosodie)</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r>
              <a:tr h="310896">
                <a:tc>
                  <a:txBody>
                    <a:bodyPr wrap="square"/>
                    <a:lstStyle/>
                    <a:p>
                      <a:r>
                        <a:rPr sz="1000"/>
                        <a:t>Seed-ASR, Kimi-Audio</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r>
              <a:tr h="310896">
                <a:tc>
                  <a:txBody>
                    <a:bodyPr wrap="square"/>
                    <a:lstStyle/>
                    <a:p>
                      <a:r>
                        <a:rPr sz="1000"/>
                        <a:t>Diese Arbeit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r>
            </a:tbl>
          </a:graphicData>
        </a:graphic>
      </p:graphicFrame>
      <p:sp>
        <p:nvSpPr>
          <p:cNvPr id="5" name="TextBox 4"/>
          <p:cNvSpPr txBox="1"/>
          <p:nvPr/>
        </p:nvSpPr>
        <p:spPr>
          <a:xfrm>
            <a:off x="411480" y="3392424"/>
            <a:ext cx="11368735" cy="1261872"/>
          </a:xfrm>
          <a:prstGeom prst="rect">
            <a:avLst/>
          </a:prstGeom>
          <a:noFill/>
        </p:spPr>
        <p:txBody>
          <a:bodyPr wrap="square">
            <a:spAutoFit/>
          </a:bodyPr>
          <a:lstStyle/>
          <a:p>
            <a:pPr>
              <a:spcAft>
                <a:spcPts val="300"/>
              </a:spcAft>
            </a:pPr>
            <a:r>
              <a:rPr i="1" sz="1200">
                <a:solidFill>
                  <a:srgbClr val="444444"/>
                </a:solidFill>
              </a:rPr>
              <a:t>„„…their ability to capture the full range of acoustic cues … remains limited." — Peng Survey (2025), Sec. IX, S. 25"</a:t>
            </a:r>
          </a:p>
          <a:p>
            <a:pPr>
              <a:spcAft>
                <a:spcPts val="300"/>
              </a:spcAft>
            </a:pPr>
            <a:r>
              <a:rPr i="1" sz="1200">
                <a:solidFill>
                  <a:srgbClr val="444444"/>
                </a:solidFill>
              </a:rPr>
              <a:t>„„Zum Schluss die Abgrenzung in einem Bild. Drei Dimensionen: Werden Töne evaluiert? Wird ein LLM eingesetzt? Ist der Input Audio? Es gibt Papers für je zwei der drei — die Reviews evaluieren Töne ohne LLM, Zhengjie nutzt LLM und Audio, lässt aber Töne weg, MSPB testet LLMs auf Prosodie statt lexikalischer Töne. In der Schnittmenge aller drei steht aus 42 Papers: niemand. Der Peng-Survey fasst es zusammen — die Fähigkeit, das volle Spektrum akustischer Hinweise zu erfassen, ‚remains limited' (Section IX, S. 25). Genau diese Schnittmenge ist mein Beitrag.""</a:t>
            </a:r>
          </a:p>
          <a:p>
            <a:pPr>
              <a:spcAft>
                <a:spcPts val="300"/>
              </a:spcAft>
            </a:pPr>
            <a:r>
              <a:rPr sz="1300"/>
              <a:t>•  ---</a:t>
            </a:r>
          </a:p>
          <a:p>
            <a:pPr>
              <a:spcAft>
                <a:spcPts val="300"/>
              </a:spcAft>
            </a:pPr>
            <a:r>
              <a:rPr sz="1300"/>
              <a:t>•  In der Präsentation komprimiert man auf eine Aussage pro Folie. In der Thesis wird derselbe Inhalt ausführlich ausgeschrieben — hier die Zuordnung Folie → Thesis-Stelle und der jeweils andere Detailgrad.</a:t>
            </a:r>
          </a:p>
        </p:txBody>
      </p:sp>
      <p:graphicFrame>
        <p:nvGraphicFramePr>
          <p:cNvPr id="6" name="Table 5"/>
          <p:cNvGraphicFramePr>
            <a:graphicFrameLocks noGrp="1"/>
          </p:cNvGraphicFramePr>
          <p:nvPr/>
        </p:nvGraphicFramePr>
        <p:xfrm>
          <a:off x="365760" y="4745736"/>
          <a:ext cx="11460174" cy="2176272"/>
        </p:xfrm>
        <a:graphic>
          <a:graphicData uri="http://schemas.openxmlformats.org/drawingml/2006/table">
            <a:tbl>
              <a:tblPr firstRow="1" bandRow="1">
                <a:tableStyleId>{5C22544A-7EE6-4342-B048-85BDC9FD1C3A}</a:tableStyleId>
              </a:tblPr>
              <a:tblGrid>
                <a:gridCol w="3820058"/>
                <a:gridCol w="3820058"/>
                <a:gridCol w="3820058"/>
              </a:tblGrid>
              <a:tr h="310896">
                <a:tc>
                  <a:txBody>
                    <a:bodyPr wrap="square"/>
                    <a:lstStyle/>
                    <a:p>
                      <a:r>
                        <a:rPr sz="1000" b="1">
                          <a:solidFill>
                            <a:srgbClr val="FFFFFF"/>
                          </a:solidFill>
                        </a:rPr>
                        <a:t>Tim-Frage</a:t>
                      </a:r>
                    </a:p>
                  </a:txBody>
                  <a:tcPr marL="45720" marR="45720" marT="18288" marB="18288" anchor="ctr">
                    <a:solidFill>
                      <a:srgbClr val="1F3A5F"/>
                    </a:solidFill>
                  </a:tcPr>
                </a:tc>
                <a:tc>
                  <a:txBody>
                    <a:bodyPr wrap="square"/>
                    <a:lstStyle/>
                    <a:p>
                      <a:r>
                        <a:rPr sz="1000" b="1">
                          <a:solidFill>
                            <a:srgbClr val="FFFFFF"/>
                          </a:solidFill>
                        </a:rPr>
                        <a:t>PowerPoint (knapp)</a:t>
                      </a:r>
                    </a:p>
                  </a:txBody>
                  <a:tcPr marL="45720" marR="45720" marT="18288" marB="18288" anchor="ctr">
                    <a:solidFill>
                      <a:srgbClr val="1F3A5F"/>
                    </a:solidFill>
                  </a:tcPr>
                </a:tc>
                <a:tc>
                  <a:txBody>
                    <a:bodyPr wrap="square"/>
                    <a:lstStyle/>
                    <a:p>
                      <a:r>
                        <a:rPr sz="1000" b="1">
                          <a:solidFill>
                            <a:srgbClr val="FFFFFF"/>
                          </a:solidFill>
                        </a:rPr>
                        <a:t>Thesis (ausführlich)</a:t>
                      </a:r>
                    </a:p>
                  </a:txBody>
                  <a:tcPr marL="45720" marR="45720" marT="18288" marB="18288" anchor="ctr">
                    <a:solidFill>
                      <a:srgbClr val="1F3A5F"/>
                    </a:solidFill>
                  </a:tcPr>
                </a:tc>
              </a:tr>
              <a:tr h="310896">
                <a:tc>
                  <a:txBody>
                    <a:bodyPr wrap="square"/>
                    <a:lstStyle/>
                    <a:p>
                      <a:r>
                        <a:rPr sz="1000"/>
                        <a:t>Reframing</a:t>
                      </a:r>
                    </a:p>
                  </a:txBody>
                  <a:tcPr marL="45720" marR="45720" marT="18288" marB="18288" anchor="ctr">
                    <a:solidFill>
                      <a:srgbClr val="FFFFFF"/>
                    </a:solidFill>
                  </a:tcPr>
                </a:tc>
                <a:tc>
                  <a:txBody>
                    <a:bodyPr wrap="square"/>
                    <a:lstStyle/>
                    <a:p>
                      <a:r>
                        <a:rPr sz="1000"/>
                        <a:t>Folie 1: eine Statement-Folie</a:t>
                      </a:r>
                    </a:p>
                  </a:txBody>
                  <a:tcPr marL="45720" marR="45720" marT="18288" marB="18288" anchor="ctr">
                    <a:solidFill>
                      <a:srgbClr val="FFFFFF"/>
                    </a:solidFill>
                  </a:tcPr>
                </a:tc>
                <a:tc>
                  <a:txBody>
                    <a:bodyPr wrap="square"/>
                    <a:lstStyle/>
                    <a:p>
                      <a:r>
                        <a:rPr sz="1000"/>
                        <a:t>Kapitel 1 (Einleitung): Motivation (Tonsprache, Feedback-Bedarf) → Problemstellung → Forschungsfrage → 5 RQs. Vokabeltrainer als Anwendungsszenario in 1–2 Absätzen, klar abgegrenzt vom Forschungsgegenstand.</a:t>
                      </a:r>
                    </a:p>
                  </a:txBody>
                  <a:tcPr marL="45720" marR="45720" marT="18288" marB="18288" anchor="ctr">
                    <a:solidFill>
                      <a:srgbClr val="FFFFFF"/>
                    </a:solidFill>
                  </a:tcPr>
                </a:tc>
              </a:tr>
              <a:tr h="310896">
                <a:tc>
                  <a:txBody>
                    <a:bodyPr wrap="square"/>
                    <a:lstStyle/>
                    <a:p>
                      <a:r>
                        <a:rPr sz="1000"/>
                        <a:t>Bezug Related Work</a:t>
                      </a:r>
                    </a:p>
                  </a:txBody>
                  <a:tcPr marL="45720" marR="45720" marT="18288" marB="18288" anchor="ctr">
                    <a:solidFill>
                      <a:srgbClr val="E8EEF4"/>
                    </a:solidFill>
                  </a:tcPr>
                </a:tc>
                <a:tc>
                  <a:txBody>
                    <a:bodyPr wrap="square"/>
                    <a:lstStyle/>
                    <a:p>
                      <a:r>
                        <a:rPr sz="1000"/>
                        <a:t>Folie 3: Mapping-Tabelle</a:t>
                      </a:r>
                    </a:p>
                  </a:txBody>
                  <a:tcPr marL="45720" marR="45720" marT="18288" marB="18288" anchor="ctr">
                    <a:solidFill>
                      <a:srgbClr val="E8EEF4"/>
                    </a:solidFill>
                  </a:tcPr>
                </a:tc>
                <a:tc>
                  <a:txBody>
                    <a:bodyPr wrap="square"/>
                    <a:lstStyle/>
                    <a:p>
                      <a:r>
                        <a:rPr sz="1000"/>
                        <a:t>Kapitel 2 (§2.2–2.7): Jeder Abschnitt ein eigener Fließtext-Teil. Pro Paper: Methode, Ergebnis, Limitation, Bezug zu unserer Arbeit — mit Zitat + Seite. Die ausführlichen Paper-Texte liegen bereits in core_information_combined.md vor.</a:t>
                      </a:r>
                    </a:p>
                  </a:txBody>
                  <a:tcPr marL="45720" marR="45720" marT="18288" marB="18288" anchor="ctr">
                    <a:solidFill>
                      <a:srgbClr val="E8EEF4"/>
                    </a:solidFill>
                  </a:tcPr>
                </a:tc>
              </a:tr>
              <a:tr h="310896">
                <a:tc>
                  <a:txBody>
                    <a:bodyPr wrap="square"/>
                    <a:lstStyle/>
                    <a:p>
                      <a:r>
                        <a:rPr sz="1000"/>
                        <a:t>Learnings</a:t>
                      </a:r>
                    </a:p>
                  </a:txBody>
                  <a:tcPr marL="45720" marR="45720" marT="18288" marB="18288" anchor="ctr">
                    <a:solidFill>
                      <a:srgbClr val="FFFFFF"/>
                    </a:solidFill>
                  </a:tcPr>
                </a:tc>
                <a:tc>
                  <a:txBody>
                    <a:bodyPr wrap="square"/>
                    <a:lstStyle/>
                    <a:p>
                      <a:r>
                        <a:rPr sz="1000"/>
                        <a:t>Folien 4–7: 4 Aussagen</a:t>
                      </a:r>
                    </a:p>
                  </a:txBody>
                  <a:tcPr marL="45720" marR="45720" marT="18288" marB="18288" anchor="ctr">
                    <a:solidFill>
                      <a:srgbClr val="FFFFFF"/>
                    </a:solidFill>
                  </a:tcPr>
                </a:tc>
                <a:tc>
                  <a:txBody>
                    <a:bodyPr wrap="square"/>
                    <a:lstStyle/>
                    <a:p>
                      <a:r>
                        <a:rPr sz="1000"/>
                        <a:t>§2.7 (Learnings &amp; Gaps): je Learning ein Absatz, der die clusterübergreifende Beobachtung mit 2–3 Belegzitaten stützt.</a:t>
                      </a:r>
                    </a:p>
                  </a:txBody>
                  <a:tcPr marL="45720" marR="45720" marT="18288" marB="18288" anchor="ctr">
                    <a:solidFill>
                      <a:srgbClr val="FFFFFF"/>
                    </a:solidFill>
                  </a:tcPr>
                </a:tc>
              </a:tr>
              <a:tr h="310896">
                <a:tc>
                  <a:txBody>
                    <a:bodyPr wrap="square"/>
                    <a:lstStyle/>
                    <a:p>
                      <a:r>
                        <a:rPr sz="1000"/>
                        <a:t>Konkret verwendbar</a:t>
                      </a:r>
                    </a:p>
                  </a:txBody>
                  <a:tcPr marL="45720" marR="45720" marT="18288" marB="18288" anchor="ctr">
                    <a:solidFill>
                      <a:srgbClr val="E8EEF4"/>
                    </a:solidFill>
                  </a:tcPr>
                </a:tc>
                <a:tc>
                  <a:txBody>
                    <a:bodyPr wrap="square"/>
                    <a:lstStyle/>
                    <a:p>
                      <a:r>
                        <a:rPr sz="1000"/>
                        <a:t>Folie 8: Tabelle</a:t>
                      </a:r>
                    </a:p>
                  </a:txBody>
                  <a:tcPr marL="45720" marR="45720" marT="18288" marB="18288" anchor="ctr">
                    <a:solidFill>
                      <a:srgbClr val="E8EEF4"/>
                    </a:solidFill>
                  </a:tcPr>
                </a:tc>
                <a:tc>
                  <a:txBody>
                    <a:bodyPr wrap="square"/>
                    <a:lstStyle/>
                    <a:p>
                      <a:r>
                        <a:rPr sz="1000"/>
                        <a:t>Kapitel 3 (Methodik): Datensatzwahl (Tone Perfect), Pipeline (an Zhengjie angelehnt), Versuchsdesign (an MSPB angelehnt), Baselines (Whisper/SITA), Metrik-Definitionen (TER, PER, F1).</a:t>
                      </a:r>
                    </a:p>
                  </a:txBody>
                  <a:tcPr marL="45720" marR="45720" marT="18288" marB="18288" anchor="ctr">
                    <a:solidFill>
                      <a:srgbClr val="E8EEF4"/>
                    </a:solidFill>
                  </a:tcPr>
                </a:tc>
              </a:tr>
              <a:tr h="310896">
                <a:tc>
                  <a:txBody>
                    <a:bodyPr wrap="square"/>
                    <a:lstStyle/>
                    <a:p>
                      <a:r>
                        <a:rPr sz="1000"/>
                        <a:t>Welche Lücken</a:t>
                      </a:r>
                    </a:p>
                  </a:txBody>
                  <a:tcPr marL="45720" marR="45720" marT="18288" marB="18288" anchor="ctr">
                    <a:solidFill>
                      <a:srgbClr val="FFFFFF"/>
                    </a:solidFill>
                  </a:tcPr>
                </a:tc>
                <a:tc>
                  <a:txBody>
                    <a:bodyPr wrap="square"/>
                    <a:lstStyle/>
                    <a:p>
                      <a:r>
                        <a:rPr sz="1000"/>
                        <a:t>Folie 9: 4 Lücken</a:t>
                      </a:r>
                    </a:p>
                  </a:txBody>
                  <a:tcPr marL="45720" marR="45720" marT="18288" marB="18288" anchor="ctr">
                    <a:solidFill>
                      <a:srgbClr val="FFFFFF"/>
                    </a:solidFill>
                  </a:tcPr>
                </a:tc>
                <a:tc>
                  <a:txBody>
                    <a:bodyPr wrap="square"/>
                    <a:lstStyle/>
                    <a:p>
                      <a:r>
                        <a:rPr sz="1000"/>
                        <a:t>§2.7 → Überleitung zu Kapitel 1 RQs: Lücken explizit nummeriert und je mit Belegzitat; Brücke zu den RQs.</a:t>
                      </a:r>
                    </a:p>
                  </a:txBody>
                  <a:tcPr marL="45720" marR="45720" marT="18288" marB="18288" anchor="ctr">
                    <a:solidFill>
                      <a:srgbClr val="FFFFFF"/>
                    </a:solidFill>
                  </a:tcPr>
                </a:tc>
              </a:tr>
              <a:tr h="310896">
                <a:tc>
                  <a:txBody>
                    <a:bodyPr wrap="square"/>
                    <a:lstStyle/>
                    <a:p>
                      <a:r>
                        <a:rPr sz="1000"/>
                        <a:t>Welche adressiert ihr</a:t>
                      </a:r>
                    </a:p>
                  </a:txBody>
                  <a:tcPr marL="45720" marR="45720" marT="18288" marB="18288" anchor="ctr">
                    <a:solidFill>
                      <a:srgbClr val="E8EEF4"/>
                    </a:solidFill>
                  </a:tcPr>
                </a:tc>
                <a:tc>
                  <a:txBody>
                    <a:bodyPr wrap="square"/>
                    <a:lstStyle/>
                    <a:p>
                      <a:r>
                        <a:rPr sz="1000"/>
                        <a:t>Folie 10: RQ-Mapping</a:t>
                      </a:r>
                    </a:p>
                  </a:txBody>
                  <a:tcPr marL="45720" marR="45720" marT="18288" marB="18288" anchor="ctr">
                    <a:solidFill>
                      <a:srgbClr val="E8EEF4"/>
                    </a:solidFill>
                  </a:tcPr>
                </a:tc>
                <a:tc>
                  <a:txBody>
                    <a:bodyPr wrap="square"/>
                    <a:lstStyle/>
                    <a:p>
                      <a:r>
                        <a:rPr sz="1000"/>
                        <a:t>Kapitel 1 (RQ-Definition) + Kapitel 3 (Operationalisierung): jede RQ mit zugeordneter Lücke und konkretem Messplan.</a:t>
                      </a:r>
                    </a:p>
                  </a:txBody>
                  <a:tcPr marL="45720" marR="45720" marT="18288" marB="18288" anchor="ctr">
                    <a:solidFill>
                      <a:srgbClr val="E8EEF4"/>
                    </a:solidFill>
                  </a:tcPr>
                </a:tc>
              </a:tr>
            </a:tbl>
          </a:graphicData>
        </a:graphic>
      </p:graphicFrame>
      <p:sp>
        <p:nvSpPr>
          <p:cNvPr id="7" name="TextBox 6"/>
          <p:cNvSpPr txBox="1"/>
          <p:nvPr/>
        </p:nvSpPr>
        <p:spPr>
          <a:xfrm>
            <a:off x="411480" y="7059168"/>
            <a:ext cx="11368735" cy="1261872"/>
          </a:xfrm>
          <a:prstGeom prst="rect">
            <a:avLst/>
          </a:prstGeom>
          <a:noFill/>
        </p:spPr>
        <p:txBody>
          <a:bodyPr wrap="square">
            <a:spAutoFit/>
          </a:bodyPr>
          <a:lstStyle/>
          <a:p>
            <a:pPr>
              <a:spcAft>
                <a:spcPts val="300"/>
              </a:spcAft>
            </a:pPr>
            <a:r>
              <a:rPr i="1" sz="1200">
                <a:solidFill>
                  <a:srgbClr val="444444"/>
                </a:solidFill>
              </a:rPr>
              <a:t>„*Zhengjie &amp; Cheng (2025) koppeln einen HuBERT-Encoder an ein Qwen2-7B-LLM und erzeugen aus Mandarin-Audio simultan Pinyin und Zeichen; sie berichten eine Pinyin Error Rate von 1,9 % auf AISHELL-1 (S. 4) und begründen den Ansatz damit, dass „its implicit alignment often fails to capture phonetic relationships in Chinese, leading to pronunciation confusion and homophone errors" (Abstract). Der generierte Pinyin-Output enthält jedoch keine Tonmarkierungen. Für die in dieser Arbeit untersuchte Fragestellung — die tonale Transkriptionsgüte — bleibt damit genau die entscheidende Dimension ausgespart; die vorliegende Arbeit schließt hier an, indem sie Tonnummern als explizite Ausgabe- und Evaluationsachse einführt.*"</a:t>
            </a:r>
          </a:p>
          <a:p>
            <a:pPr>
              <a:spcAft>
                <a:spcPts val="300"/>
              </a:spcAft>
            </a:pPr>
            <a:r>
              <a:rPr sz="1300"/>
              <a:t>•  → Dieses Muster (Methode → Ergebnis mit Zitat+Seite → Limitation → Bezug zu unserer Arbeit) für jedes zentrale Paper wiederholen. Die Rohtexte dafür stehen in core_information_combined.md.</a:t>
            </a:r>
          </a:p>
          <a:p>
            <a:pPr>
              <a:spcAft>
                <a:spcPts val="300"/>
              </a:spcAft>
            </a:pPr>
            <a:r>
              <a:rPr sz="1300"/>
              <a:t>•  ---</a:t>
            </a:r>
          </a:p>
          <a:p>
            <a:pPr>
              <a:spcAft>
                <a:spcPts val="300"/>
              </a:spcAft>
            </a:pPr>
            <a:r>
              <a:rPr sz="1300"/>
              <a:t>•  Verifizierte Zitate (Seite/Section im Analysefile belegt) — direkt in die Notizen kopierbar:</a:t>
            </a:r>
          </a:p>
        </p:txBody>
      </p:sp>
      <p:graphicFrame>
        <p:nvGraphicFramePr>
          <p:cNvPr id="8" name="Table 7"/>
          <p:cNvGraphicFramePr>
            <a:graphicFrameLocks noGrp="1"/>
          </p:cNvGraphicFramePr>
          <p:nvPr/>
        </p:nvGraphicFramePr>
        <p:xfrm>
          <a:off x="365760" y="8412480"/>
          <a:ext cx="11460175" cy="5120640"/>
        </p:xfrm>
        <a:graphic>
          <a:graphicData uri="http://schemas.openxmlformats.org/drawingml/2006/table">
            <a:tbl>
              <a:tblPr firstRow="1" bandRow="1">
                <a:tableStyleId>{5C22544A-7EE6-4342-B048-85BDC9FD1C3A}</a:tableStyleId>
              </a:tblPr>
              <a:tblGrid>
                <a:gridCol w="2292035"/>
                <a:gridCol w="2292035"/>
                <a:gridCol w="2292035"/>
                <a:gridCol w="2292035"/>
                <a:gridCol w="2292035"/>
              </a:tblGrid>
              <a:tr h="301214">
                <a:tc>
                  <a:txBody>
                    <a:bodyPr wrap="square"/>
                    <a:lstStyle/>
                    <a:p>
                      <a:r>
                        <a:rPr sz="1000" b="1">
                          <a:solidFill>
                            <a:srgbClr val="FFFFFF"/>
                          </a:solidFill>
                        </a:rPr>
                        <a:t>#</a:t>
                      </a:r>
                    </a:p>
                  </a:txBody>
                  <a:tcPr marL="45720" marR="45720" marT="18288" marB="18288" anchor="ctr">
                    <a:solidFill>
                      <a:srgbClr val="1F3A5F"/>
                    </a:solidFill>
                  </a:tcPr>
                </a:tc>
                <a:tc>
                  <a:txBody>
                    <a:bodyPr wrap="square"/>
                    <a:lstStyle/>
                    <a:p>
                      <a:r>
                        <a:rPr sz="1000" b="1">
                          <a:solidFill>
                            <a:srgbClr val="FFFFFF"/>
                          </a:solidFill>
                        </a:rPr>
                        <a:t>Zitat</a:t>
                      </a:r>
                    </a:p>
                  </a:txBody>
                  <a:tcPr marL="45720" marR="45720" marT="18288" marB="18288" anchor="ctr">
                    <a:solidFill>
                      <a:srgbClr val="1F3A5F"/>
                    </a:solidFill>
                  </a:tcPr>
                </a:tc>
                <a:tc>
                  <a:txBody>
                    <a:bodyPr wrap="square"/>
                    <a:lstStyle/>
                    <a:p>
                      <a:r>
                        <a:rPr sz="1000" b="1">
                          <a:solidFill>
                            <a:srgbClr val="FFFFFF"/>
                          </a:solidFill>
                        </a:rPr>
                        <a:t>Quelle</a:t>
                      </a:r>
                    </a:p>
                  </a:txBody>
                  <a:tcPr marL="45720" marR="45720" marT="18288" marB="18288" anchor="ctr">
                    <a:solidFill>
                      <a:srgbClr val="1F3A5F"/>
                    </a:solidFill>
                  </a:tcPr>
                </a:tc>
                <a:tc>
                  <a:txBody>
                    <a:bodyPr wrap="square"/>
                    <a:lstStyle/>
                    <a:p>
                      <a:r>
                        <a:rPr sz="1000" b="1">
                          <a:solidFill>
                            <a:srgbClr val="FFFFFF"/>
                          </a:solidFill>
                        </a:rPr>
                        <a:t>Fundstelle</a:t>
                      </a:r>
                    </a:p>
                  </a:txBody>
                  <a:tcPr marL="45720" marR="45720" marT="18288" marB="18288" anchor="ctr">
                    <a:solidFill>
                      <a:srgbClr val="1F3A5F"/>
                    </a:solidFill>
                  </a:tcPr>
                </a:tc>
                <a:tc>
                  <a:txBody>
                    <a:bodyPr wrap="square"/>
                    <a:lstStyle/>
                    <a:p>
                      <a:r>
                        <a:rPr sz="1000" b="1">
                          <a:solidFill>
                            <a:srgbClr val="FFFFFF"/>
                          </a:solidFill>
                        </a:rPr>
                        <a:t>Folie</a:t>
                      </a:r>
                    </a:p>
                  </a:txBody>
                  <a:tcPr marL="45720" marR="45720" marT="18288" marB="18288" anchor="ctr">
                    <a:solidFill>
                      <a:srgbClr val="1F3A5F"/>
                    </a:solidFill>
                  </a:tcPr>
                </a:tc>
              </a:tr>
              <a:tr h="301214">
                <a:tc>
                  <a:txBody>
                    <a:bodyPr wrap="square"/>
                    <a:lstStyle/>
                    <a:p>
                      <a:r>
                        <a:rPr sz="1000"/>
                        <a:t>0</a:t>
                      </a:r>
                    </a:p>
                  </a:txBody>
                  <a:tcPr marL="45720" marR="45720" marT="18288" marB="18288" anchor="ctr">
                    <a:solidFill>
                      <a:srgbClr val="FFFFFF"/>
                    </a:solidFill>
                  </a:tcPr>
                </a:tc>
                <a:tc>
                  <a:txBody>
                    <a:bodyPr wrap="square"/>
                    <a:lstStyle/>
                    <a:p>
                      <a:r>
                        <a:rPr sz="1000"/>
                        <a:t>„text transcription focuses on the content of spoken words (what is said), neglecting important information in audio, such as paralanguage information (e.g., emotion, style, timbre, tone), acoustic scene, and non-linguistic sounds."</a:t>
                      </a:r>
                    </a:p>
                  </a:txBody>
                  <a:tcPr marL="45720" marR="45720" marT="18288" marB="18288" anchor="ctr">
                    <a:solidFill>
                      <a:srgbClr val="FFFFFF"/>
                    </a:solidFill>
                  </a:tcPr>
                </a:tc>
                <a:tc>
                  <a:txBody>
                    <a:bodyPr wrap="square"/>
                    <a:lstStyle/>
                    <a:p>
                      <a:r>
                        <a:rPr sz="1000"/>
                        <a:t>Kimi-Audio</a:t>
                      </a:r>
                    </a:p>
                  </a:txBody>
                  <a:tcPr marL="45720" marR="45720" marT="18288" marB="18288" anchor="ctr">
                    <a:solidFill>
                      <a:srgbClr val="FFFFFF"/>
                    </a:solidFill>
                  </a:tcPr>
                </a:tc>
                <a:tc>
                  <a:txBody>
                    <a:bodyPr wrap="square"/>
                    <a:lstStyle/>
                    <a:p>
                      <a:r>
                        <a:rPr sz="1000"/>
                        <a:t>Section 8, S. 21</a:t>
                      </a:r>
                    </a:p>
                  </a:txBody>
                  <a:tcPr marL="45720" marR="45720" marT="18288" marB="18288" anchor="ctr">
                    <a:solidFill>
                      <a:srgbClr val="FFFFFF"/>
                    </a:solidFill>
                  </a:tcPr>
                </a:tc>
                <a:tc>
                  <a:txBody>
                    <a:bodyPr wrap="square"/>
                    <a:lstStyle/>
                    <a:p>
                      <a:r>
                        <a:rPr sz="1000"/>
                        <a:t>4</a:t>
                      </a:r>
                    </a:p>
                  </a:txBody>
                  <a:tcPr marL="45720" marR="45720" marT="18288" marB="18288" anchor="ctr">
                    <a:solidFill>
                      <a:srgbClr val="FFFFFF"/>
                    </a:solidFill>
                  </a:tcPr>
                </a:tc>
              </a:tr>
              <a:tr h="301214">
                <a:tc>
                  <a:txBody>
                    <a:bodyPr wrap="square"/>
                    <a:lstStyle/>
                    <a:p>
                      <a:r>
                        <a:rPr sz="1000"/>
                        <a:t>0b</a:t>
                      </a:r>
                    </a:p>
                  </a:txBody>
                  <a:tcPr marL="45720" marR="45720" marT="18288" marB="18288" anchor="ctr">
                    <a:solidFill>
                      <a:srgbClr val="E8EEF4"/>
                    </a:solidFill>
                  </a:tcPr>
                </a:tc>
                <a:tc>
                  <a:txBody>
                    <a:bodyPr wrap="square"/>
                    <a:lstStyle/>
                    <a:p>
                      <a:r>
                        <a:rPr sz="1000"/>
                        <a:t>„there has been little exploration of how the LLM-ASR model can directly generate Pinyin and Chinese characters during ASR"</a:t>
                      </a:r>
                    </a:p>
                  </a:txBody>
                  <a:tcPr marL="45720" marR="45720" marT="18288" marB="18288" anchor="ctr">
                    <a:solidFill>
                      <a:srgbClr val="E8EEF4"/>
                    </a:solidFill>
                  </a:tcPr>
                </a:tc>
                <a:tc>
                  <a:txBody>
                    <a:bodyPr wrap="square"/>
                    <a:lstStyle/>
                    <a:p>
                      <a:r>
                        <a:rPr sz="1000"/>
                        <a:t>Zhengjie &amp; Cheng</a:t>
                      </a:r>
                    </a:p>
                  </a:txBody>
                  <a:tcPr marL="45720" marR="45720" marT="18288" marB="18288" anchor="ctr">
                    <a:solidFill>
                      <a:srgbClr val="E8EEF4"/>
                    </a:solidFill>
                  </a:tcPr>
                </a:tc>
                <a:tc>
                  <a:txBody>
                    <a:bodyPr wrap="square"/>
                    <a:lstStyle/>
                    <a:p>
                      <a:r>
                        <a:rPr sz="1000"/>
                        <a:t>Introduction, S. 1</a:t>
                      </a:r>
                    </a:p>
                  </a:txBody>
                  <a:tcPr marL="45720" marR="45720" marT="18288" marB="18288" anchor="ctr">
                    <a:solidFill>
                      <a:srgbClr val="E8EEF4"/>
                    </a:solidFill>
                  </a:tcPr>
                </a:tc>
                <a:tc>
                  <a:txBody>
                    <a:bodyPr wrap="square"/>
                    <a:lstStyle/>
                    <a:p>
                      <a:r>
                        <a:rPr sz="1000"/>
                        <a:t>5</a:t>
                      </a:r>
                    </a:p>
                  </a:txBody>
                  <a:tcPr marL="45720" marR="45720" marT="18288" marB="18288" anchor="ctr">
                    <a:solidFill>
                      <a:srgbClr val="E8EEF4"/>
                    </a:solidFill>
                  </a:tcPr>
                </a:tc>
              </a:tr>
              <a:tr h="301214">
                <a:tc>
                  <a:txBody>
                    <a:bodyPr wrap="square"/>
                    <a:lstStyle/>
                    <a:p>
                      <a:r>
                        <a:rPr sz="1000"/>
                        <a:t>1</a:t>
                      </a:r>
                    </a:p>
                  </a:txBody>
                  <a:tcPr marL="45720" marR="45720" marT="18288" marB="18288" anchor="ctr">
                    <a:solidFill>
                      <a:srgbClr val="FFFFFF"/>
                    </a:solidFill>
                  </a:tcPr>
                </a:tc>
                <a:tc>
                  <a:txBody>
                    <a:bodyPr wrap="square"/>
                    <a:lstStyle/>
                    <a:p>
                      <a:r>
                        <a:rPr sz="1000"/>
                        <a:t>„Current practices suffer from inconsistent metric implementations (e.g., variations in Word Error Rate calculation…)"</a:t>
                      </a:r>
                    </a:p>
                  </a:txBody>
                  <a:tcPr marL="45720" marR="45720" marT="18288" marB="18288" anchor="ctr">
                    <a:solidFill>
                      <a:srgbClr val="FFFFFF"/>
                    </a:solidFill>
                  </a:tcPr>
                </a:tc>
                <a:tc>
                  <a:txBody>
                    <a:bodyPr wrap="square"/>
                    <a:lstStyle/>
                    <a:p>
                      <a:r>
                        <a:rPr sz="1000"/>
                        <a:t>Kimi-Audio</a:t>
                      </a:r>
                    </a:p>
                  </a:txBody>
                  <a:tcPr marL="45720" marR="45720" marT="18288" marB="18288" anchor="ctr">
                    <a:solidFill>
                      <a:srgbClr val="FFFFFF"/>
                    </a:solidFill>
                  </a:tcPr>
                </a:tc>
                <a:tc>
                  <a:txBody>
                    <a:bodyPr wrap="square"/>
                    <a:lstStyle/>
                    <a:p>
                      <a:r>
                        <a:rPr sz="1000"/>
                        <a:t>Section 6.1, S. 15</a:t>
                      </a:r>
                    </a:p>
                  </a:txBody>
                  <a:tcPr marL="45720" marR="45720" marT="18288" marB="18288" anchor="ctr">
                    <a:solidFill>
                      <a:srgbClr val="FFFFFF"/>
                    </a:solidFill>
                  </a:tcPr>
                </a:tc>
                <a:tc>
                  <a:txBody>
                    <a:bodyPr wrap="square"/>
                    <a:lstStyle/>
                    <a:p>
                      <a:r>
                        <a:rPr sz="1000"/>
                        <a:t>4</a:t>
                      </a:r>
                    </a:p>
                  </a:txBody>
                  <a:tcPr marL="45720" marR="45720" marT="18288" marB="18288" anchor="ctr">
                    <a:solidFill>
                      <a:srgbClr val="FFFFFF"/>
                    </a:solidFill>
                  </a:tcPr>
                </a:tc>
              </a:tr>
              <a:tr h="301214">
                <a:tc>
                  <a:txBody>
                    <a:bodyPr wrap="square"/>
                    <a:lstStyle/>
                    <a:p>
                      <a:r>
                        <a:rPr sz="1000"/>
                        <a:t>2</a:t>
                      </a:r>
                    </a:p>
                  </a:txBody>
                  <a:tcPr marL="45720" marR="45720" marT="18288" marB="18288" anchor="ctr">
                    <a:solidFill>
                      <a:srgbClr val="E8EEF4"/>
                    </a:solidFill>
                  </a:tcPr>
                </a:tc>
                <a:tc>
                  <a:txBody>
                    <a:bodyPr wrap="square"/>
                    <a:lstStyle/>
                    <a:p>
                      <a:r>
                        <a:rPr sz="1000"/>
                        <a:t>„Kimi-Audio sets SOTA results on AISHELL-1 (0.60)…"</a:t>
                      </a:r>
                    </a:p>
                  </a:txBody>
                  <a:tcPr marL="45720" marR="45720" marT="18288" marB="18288" anchor="ctr">
                    <a:solidFill>
                      <a:srgbClr val="E8EEF4"/>
                    </a:solidFill>
                  </a:tcPr>
                </a:tc>
                <a:tc>
                  <a:txBody>
                    <a:bodyPr wrap="square"/>
                    <a:lstStyle/>
                    <a:p>
                      <a:r>
                        <a:rPr sz="1000"/>
                        <a:t>Kimi-Audio</a:t>
                      </a:r>
                    </a:p>
                  </a:txBody>
                  <a:tcPr marL="45720" marR="45720" marT="18288" marB="18288" anchor="ctr">
                    <a:solidFill>
                      <a:srgbClr val="E8EEF4"/>
                    </a:solidFill>
                  </a:tcPr>
                </a:tc>
                <a:tc>
                  <a:txBody>
                    <a:bodyPr wrap="square"/>
                    <a:lstStyle/>
                    <a:p>
                      <a:r>
                        <a:rPr sz="1000"/>
                        <a:t>Section 6.2, S. 18</a:t>
                      </a:r>
                    </a:p>
                  </a:txBody>
                  <a:tcPr marL="45720" marR="45720" marT="18288" marB="18288" anchor="ctr">
                    <a:solidFill>
                      <a:srgbClr val="E8EEF4"/>
                    </a:solidFill>
                  </a:tcPr>
                </a:tc>
                <a:tc>
                  <a:txBody>
                    <a:bodyPr wrap="square"/>
                    <a:lstStyle/>
                    <a:p>
                      <a:r>
                        <a:rPr sz="1000"/>
                        <a:t>4</a:t>
                      </a:r>
                    </a:p>
                  </a:txBody>
                  <a:tcPr marL="45720" marR="45720" marT="18288" marB="18288" anchor="ctr">
                    <a:solidFill>
                      <a:srgbClr val="E8EEF4"/>
                    </a:solidFill>
                  </a:tcPr>
                </a:tc>
              </a:tr>
              <a:tr h="301214">
                <a:tc>
                  <a:txBody>
                    <a:bodyPr wrap="square"/>
                    <a:lstStyle/>
                    <a:p>
                      <a:r>
                        <a:rPr sz="1000"/>
                        <a:t>3</a:t>
                      </a:r>
                    </a:p>
                  </a:txBody>
                  <a:tcPr marL="45720" marR="45720" marT="18288" marB="18288" anchor="ctr">
                    <a:solidFill>
                      <a:srgbClr val="FFFFFF"/>
                    </a:solidFill>
                  </a:tcPr>
                </a:tc>
                <a:tc>
                  <a:txBody>
                    <a:bodyPr wrap="square"/>
                    <a:lstStyle/>
                    <a:p>
                      <a:r>
                        <a:rPr sz="1000"/>
                        <a:t>„there is no direct correspondence between the pronunciation and the written form of Chinese characters."</a:t>
                      </a:r>
                    </a:p>
                  </a:txBody>
                  <a:tcPr marL="45720" marR="45720" marT="18288" marB="18288" anchor="ctr">
                    <a:solidFill>
                      <a:srgbClr val="FFFFFF"/>
                    </a:solidFill>
                  </a:tcPr>
                </a:tc>
                <a:tc>
                  <a:txBody>
                    <a:bodyPr wrap="square"/>
                    <a:lstStyle/>
                    <a:p>
                      <a:r>
                        <a:rPr sz="1000"/>
                        <a:t>Zhengjie &amp; Cheng</a:t>
                      </a:r>
                    </a:p>
                  </a:txBody>
                  <a:tcPr marL="45720" marR="45720" marT="18288" marB="18288" anchor="ctr">
                    <a:solidFill>
                      <a:srgbClr val="FFFFFF"/>
                    </a:solidFill>
                  </a:tcPr>
                </a:tc>
                <a:tc>
                  <a:txBody>
                    <a:bodyPr wrap="square"/>
                    <a:lstStyle/>
                    <a:p>
                      <a:r>
                        <a:rPr sz="1000"/>
                        <a:t>S. 1</a:t>
                      </a:r>
                    </a:p>
                  </a:txBody>
                  <a:tcPr marL="45720" marR="45720" marT="18288" marB="18288" anchor="ctr">
                    <a:solidFill>
                      <a:srgbClr val="FFFFFF"/>
                    </a:solidFill>
                  </a:tcPr>
                </a:tc>
                <a:tc>
                  <a:txBody>
                    <a:bodyPr wrap="square"/>
                    <a:lstStyle/>
                    <a:p>
                      <a:r>
                        <a:rPr sz="1000"/>
                        <a:t>5</a:t>
                      </a:r>
                    </a:p>
                  </a:txBody>
                  <a:tcPr marL="45720" marR="45720" marT="18288" marB="18288" anchor="ctr">
                    <a:solidFill>
                      <a:srgbClr val="FFFFFF"/>
                    </a:solidFill>
                  </a:tcPr>
                </a:tc>
              </a:tr>
              <a:tr h="301214">
                <a:tc>
                  <a:txBody>
                    <a:bodyPr wrap="square"/>
                    <a:lstStyle/>
                    <a:p>
                      <a:r>
                        <a:rPr sz="1000"/>
                        <a:t>4</a:t>
                      </a:r>
                    </a:p>
                  </a:txBody>
                  <a:tcPr marL="45720" marR="45720" marT="18288" marB="18288" anchor="ctr">
                    <a:solidFill>
                      <a:srgbClr val="E8EEF4"/>
                    </a:solidFill>
                  </a:tcPr>
                </a:tc>
                <a:tc>
                  <a:txBody>
                    <a:bodyPr wrap="square"/>
                    <a:lstStyle/>
                    <a:p>
                      <a:r>
                        <a:rPr sz="1000"/>
                        <a:t>„its implicit alignment often fails to capture phonetic relationships in Chinese, leading to pronunciation confusion and homophone errors."</a:t>
                      </a:r>
                    </a:p>
                  </a:txBody>
                  <a:tcPr marL="45720" marR="45720" marT="18288" marB="18288" anchor="ctr">
                    <a:solidFill>
                      <a:srgbClr val="E8EEF4"/>
                    </a:solidFill>
                  </a:tcPr>
                </a:tc>
                <a:tc>
                  <a:txBody>
                    <a:bodyPr wrap="square"/>
                    <a:lstStyle/>
                    <a:p>
                      <a:r>
                        <a:rPr sz="1000"/>
                        <a:t>Zhengjie &amp; Cheng</a:t>
                      </a:r>
                    </a:p>
                  </a:txBody>
                  <a:tcPr marL="45720" marR="45720" marT="18288" marB="18288" anchor="ctr">
                    <a:solidFill>
                      <a:srgbClr val="E8EEF4"/>
                    </a:solidFill>
                  </a:tcPr>
                </a:tc>
                <a:tc>
                  <a:txBody>
                    <a:bodyPr wrap="square"/>
                    <a:lstStyle/>
                    <a:p>
                      <a:r>
                        <a:rPr sz="1000"/>
                        <a:t>Abstract</a:t>
                      </a:r>
                    </a:p>
                  </a:txBody>
                  <a:tcPr marL="45720" marR="45720" marT="18288" marB="18288" anchor="ctr">
                    <a:solidFill>
                      <a:srgbClr val="E8EEF4"/>
                    </a:solidFill>
                  </a:tcPr>
                </a:tc>
                <a:tc>
                  <a:txBody>
                    <a:bodyPr wrap="square"/>
                    <a:lstStyle/>
                    <a:p>
                      <a:r>
                        <a:rPr sz="1000"/>
                        <a:t>5</a:t>
                      </a:r>
                    </a:p>
                  </a:txBody>
                  <a:tcPr marL="45720" marR="45720" marT="18288" marB="18288" anchor="ctr">
                    <a:solidFill>
                      <a:srgbClr val="E8EEF4"/>
                    </a:solidFill>
                  </a:tcPr>
                </a:tc>
              </a:tr>
              <a:tr h="301214">
                <a:tc>
                  <a:txBody>
                    <a:bodyPr wrap="square"/>
                    <a:lstStyle/>
                    <a:p>
                      <a:r>
                        <a:rPr sz="1000"/>
                        <a:t>5</a:t>
                      </a:r>
                    </a:p>
                  </a:txBody>
                  <a:tcPr marL="45720" marR="45720" marT="18288" marB="18288" anchor="ctr">
                    <a:solidFill>
                      <a:srgbClr val="FFFFFF"/>
                    </a:solidFill>
                  </a:tcPr>
                </a:tc>
                <a:tc>
                  <a:txBody>
                    <a:bodyPr wrap="square"/>
                    <a:lstStyle/>
                    <a:p>
                      <a:r>
                        <a:rPr sz="1000"/>
                        <a:t>„The PYG-ASR1 model achieved a Pinyin error rate of 1.6%/1.9%"</a:t>
                      </a:r>
                    </a:p>
                  </a:txBody>
                  <a:tcPr marL="45720" marR="45720" marT="18288" marB="18288" anchor="ctr">
                    <a:solidFill>
                      <a:srgbClr val="FFFFFF"/>
                    </a:solidFill>
                  </a:tcPr>
                </a:tc>
                <a:tc>
                  <a:txBody>
                    <a:bodyPr wrap="square"/>
                    <a:lstStyle/>
                    <a:p>
                      <a:r>
                        <a:rPr sz="1000"/>
                        <a:t>Zhengjie &amp; Cheng</a:t>
                      </a:r>
                    </a:p>
                  </a:txBody>
                  <a:tcPr marL="45720" marR="45720" marT="18288" marB="18288" anchor="ctr">
                    <a:solidFill>
                      <a:srgbClr val="FFFFFF"/>
                    </a:solidFill>
                  </a:tcPr>
                </a:tc>
                <a:tc>
                  <a:txBody>
                    <a:bodyPr wrap="square"/>
                    <a:lstStyle/>
                    <a:p>
                      <a:r>
                        <a:rPr sz="1000"/>
                        <a:t>S. 4</a:t>
                      </a:r>
                    </a:p>
                  </a:txBody>
                  <a:tcPr marL="45720" marR="45720" marT="18288" marB="18288" anchor="ctr">
                    <a:solidFill>
                      <a:srgbClr val="FFFFFF"/>
                    </a:solidFill>
                  </a:tcPr>
                </a:tc>
                <a:tc>
                  <a:txBody>
                    <a:bodyPr wrap="square"/>
                    <a:lstStyle/>
                    <a:p>
                      <a:r>
                        <a:rPr sz="1000"/>
                        <a:t>5</a:t>
                      </a:r>
                    </a:p>
                  </a:txBody>
                  <a:tcPr marL="45720" marR="45720" marT="18288" marB="18288" anchor="ctr">
                    <a:solidFill>
                      <a:srgbClr val="FFFFFF"/>
                    </a:solidFill>
                  </a:tcPr>
                </a:tc>
              </a:tr>
              <a:tr h="301214">
                <a:tc>
                  <a:txBody>
                    <a:bodyPr wrap="square"/>
                    <a:lstStyle/>
                    <a:p>
                      <a:r>
                        <a:rPr sz="1000"/>
                        <a:t>6</a:t>
                      </a:r>
                    </a:p>
                  </a:txBody>
                  <a:tcPr marL="45720" marR="45720" marT="18288" marB="18288" anchor="ctr">
                    <a:solidFill>
                      <a:srgbClr val="E8EEF4"/>
                    </a:solidFill>
                  </a:tcPr>
                </a:tc>
                <a:tc>
                  <a:txBody>
                    <a:bodyPr wrap="square"/>
                    <a:lstStyle/>
                    <a:p>
                      <a:r>
                        <a:rPr sz="1000"/>
                        <a:t>„Whisper embeddings largely collapse into overlapping clusters"</a:t>
                      </a:r>
                    </a:p>
                  </a:txBody>
                  <a:tcPr marL="45720" marR="45720" marT="18288" marB="18288" anchor="ctr">
                    <a:solidFill>
                      <a:srgbClr val="E8EEF4"/>
                    </a:solidFill>
                  </a:tcPr>
                </a:tc>
                <a:tc>
                  <a:txBody>
                    <a:bodyPr wrap="square"/>
                    <a:lstStyle/>
                    <a:p>
                      <a:r>
                        <a:rPr sz="1000"/>
                        <a:t>Xu et al. (SITA)</a:t>
                      </a:r>
                    </a:p>
                  </a:txBody>
                  <a:tcPr marL="45720" marR="45720" marT="18288" marB="18288" anchor="ctr">
                    <a:solidFill>
                      <a:srgbClr val="E8EEF4"/>
                    </a:solidFill>
                  </a:tcPr>
                </a:tc>
                <a:tc>
                  <a:txBody>
                    <a:bodyPr wrap="square"/>
                    <a:lstStyle/>
                    <a:p>
                      <a:r>
                        <a:rPr sz="1000"/>
                        <a:t>Section 5.1</a:t>
                      </a:r>
                    </a:p>
                  </a:txBody>
                  <a:tcPr marL="45720" marR="45720" marT="18288" marB="18288" anchor="ctr">
                    <a:solidFill>
                      <a:srgbClr val="E8EEF4"/>
                    </a:solidFill>
                  </a:tcPr>
                </a:tc>
                <a:tc>
                  <a:txBody>
                    <a:bodyPr wrap="square"/>
                    <a:lstStyle/>
                    <a:p>
                      <a:r>
                        <a:rPr sz="1000"/>
                        <a:t>6</a:t>
                      </a:r>
                    </a:p>
                  </a:txBody>
                  <a:tcPr marL="45720" marR="45720" marT="18288" marB="18288" anchor="ctr">
                    <a:solidFill>
                      <a:srgbClr val="E8EEF4"/>
                    </a:solidFill>
                  </a:tcPr>
                </a:tc>
              </a:tr>
              <a:tr h="301214">
                <a:tc>
                  <a:txBody>
                    <a:bodyPr wrap="square"/>
                    <a:lstStyle/>
                    <a:p>
                      <a:r>
                        <a:rPr sz="1000"/>
                        <a:t>7</a:t>
                      </a:r>
                    </a:p>
                  </a:txBody>
                  <a:tcPr marL="45720" marR="45720" marT="18288" marB="18288" anchor="ctr">
                    <a:solidFill>
                      <a:srgbClr val="FFFFFF"/>
                    </a:solidFill>
                  </a:tcPr>
                </a:tc>
                <a:tc>
                  <a:txBody>
                    <a:bodyPr wrap="square"/>
                    <a:lstStyle/>
                    <a:p>
                      <a:r>
                        <a:rPr sz="1000"/>
                        <a:t>„…a tone-repulsive loss prevents tone collapse by explicitly separating same-word different-tone realizations"</a:t>
                      </a:r>
                    </a:p>
                  </a:txBody>
                  <a:tcPr marL="45720" marR="45720" marT="18288" marB="18288" anchor="ctr">
                    <a:solidFill>
                      <a:srgbClr val="FFFFFF"/>
                    </a:solidFill>
                  </a:tcPr>
                </a:tc>
                <a:tc>
                  <a:txBody>
                    <a:bodyPr wrap="square"/>
                    <a:lstStyle/>
                    <a:p>
                      <a:r>
                        <a:rPr sz="1000"/>
                        <a:t>Xu et al. (SITA)</a:t>
                      </a:r>
                    </a:p>
                  </a:txBody>
                  <a:tcPr marL="45720" marR="45720" marT="18288" marB="18288" anchor="ctr">
                    <a:solidFill>
                      <a:srgbClr val="FFFFFF"/>
                    </a:solidFill>
                  </a:tcPr>
                </a:tc>
                <a:tc>
                  <a:txBody>
                    <a:bodyPr wrap="square"/>
                    <a:lstStyle/>
                    <a:p>
                      <a:r>
                        <a:rPr sz="1000"/>
                        <a:t>Abstract</a:t>
                      </a:r>
                    </a:p>
                  </a:txBody>
                  <a:tcPr marL="45720" marR="45720" marT="18288" marB="18288" anchor="ctr">
                    <a:solidFill>
                      <a:srgbClr val="FFFFFF"/>
                    </a:solidFill>
                  </a:tcPr>
                </a:tc>
                <a:tc>
                  <a:txBody>
                    <a:bodyPr wrap="square"/>
                    <a:lstStyle/>
                    <a:p>
                      <a:r>
                        <a:rPr sz="1000"/>
                        <a:t>6</a:t>
                      </a:r>
                    </a:p>
                  </a:txBody>
                  <a:tcPr marL="45720" marR="45720" marT="18288" marB="18288" anchor="ctr">
                    <a:solidFill>
                      <a:srgbClr val="FFFFFF"/>
                    </a:solidFill>
                  </a:tcPr>
                </a:tc>
              </a:tr>
              <a:tr h="301214">
                <a:tc>
                  <a:txBody>
                    <a:bodyPr wrap="square"/>
                    <a:lstStyle/>
                    <a:p>
                      <a:r>
                        <a:rPr sz="1000"/>
                        <a:t>8</a:t>
                      </a:r>
                    </a:p>
                  </a:txBody>
                  <a:tcPr marL="45720" marR="45720" marT="18288" marB="18288" anchor="ctr">
                    <a:solidFill>
                      <a:srgbClr val="E8EEF4"/>
                    </a:solidFill>
                  </a:tcPr>
                </a:tc>
                <a:tc>
                  <a:txBody>
                    <a:bodyPr wrap="square"/>
                    <a:lstStyle/>
                    <a:p>
                      <a:r>
                        <a:rPr sz="1000"/>
                        <a:t>„SITA achieves near-ceiling…Top-1 accuracy of ~0.99"</a:t>
                      </a:r>
                    </a:p>
                  </a:txBody>
                  <a:tcPr marL="45720" marR="45720" marT="18288" marB="18288" anchor="ctr">
                    <a:solidFill>
                      <a:srgbClr val="E8EEF4"/>
                    </a:solidFill>
                  </a:tcPr>
                </a:tc>
                <a:tc>
                  <a:txBody>
                    <a:bodyPr wrap="square"/>
                    <a:lstStyle/>
                    <a:p>
                      <a:r>
                        <a:rPr sz="1000"/>
                        <a:t>Xu et al. (SITA)</a:t>
                      </a:r>
                    </a:p>
                  </a:txBody>
                  <a:tcPr marL="45720" marR="45720" marT="18288" marB="18288" anchor="ctr">
                    <a:solidFill>
                      <a:srgbClr val="E8EEF4"/>
                    </a:solidFill>
                  </a:tcPr>
                </a:tc>
                <a:tc>
                  <a:txBody>
                    <a:bodyPr wrap="square"/>
                    <a:lstStyle/>
                    <a:p>
                      <a:r>
                        <a:rPr sz="1000"/>
                        <a:t>Section 5.4</a:t>
                      </a:r>
                    </a:p>
                  </a:txBody>
                  <a:tcPr marL="45720" marR="45720" marT="18288" marB="18288" anchor="ctr">
                    <a:solidFill>
                      <a:srgbClr val="E8EEF4"/>
                    </a:solidFill>
                  </a:tcPr>
                </a:tc>
                <a:tc>
                  <a:txBody>
                    <a:bodyPr wrap="square"/>
                    <a:lstStyle/>
                    <a:p>
                      <a:r>
                        <a:rPr sz="1000"/>
                        <a:t>6</a:t>
                      </a:r>
                    </a:p>
                  </a:txBody>
                  <a:tcPr marL="45720" marR="45720" marT="18288" marB="18288" anchor="ctr">
                    <a:solidFill>
                      <a:srgbClr val="E8EEF4"/>
                    </a:solidFill>
                  </a:tcPr>
                </a:tc>
              </a:tr>
              <a:tr h="301214">
                <a:tc>
                  <a:txBody>
                    <a:bodyPr wrap="square"/>
                    <a:lstStyle/>
                    <a:p>
                      <a:r>
                        <a:rPr sz="1000"/>
                        <a:t>9</a:t>
                      </a:r>
                    </a:p>
                  </a:txBody>
                  <a:tcPr marL="45720" marR="45720" marT="18288" marB="18288" anchor="ctr">
                    <a:solidFill>
                      <a:srgbClr val="FFFFFF"/>
                    </a:solidFill>
                  </a:tcPr>
                </a:tc>
                <a:tc>
                  <a:txBody>
                    <a:bodyPr wrap="square"/>
                    <a:lstStyle/>
                    <a:p>
                      <a:r>
                        <a:rPr sz="1000"/>
                        <a:t>„they generally struggled with tasks relying heavily on subtle speech prosody variations (e.g., prosodic focus marking, scalar meaning)"</a:t>
                      </a:r>
                    </a:p>
                  </a:txBody>
                  <a:tcPr marL="45720" marR="45720" marT="18288" marB="18288" anchor="ctr">
                    <a:solidFill>
                      <a:srgbClr val="FFFFFF"/>
                    </a:solidFill>
                  </a:tcPr>
                </a:tc>
                <a:tc>
                  <a:txBody>
                    <a:bodyPr wrap="square"/>
                    <a:lstStyle/>
                    <a:p>
                      <a:r>
                        <a:rPr sz="1000"/>
                        <a:t>Wang et al. (MSPB)</a:t>
                      </a:r>
                    </a:p>
                  </a:txBody>
                  <a:tcPr marL="45720" marR="45720" marT="18288" marB="18288" anchor="ctr">
                    <a:solidFill>
                      <a:srgbClr val="FFFFFF"/>
                    </a:solidFill>
                  </a:tcPr>
                </a:tc>
                <a:tc>
                  <a:txBody>
                    <a:bodyPr wrap="square"/>
                    <a:lstStyle/>
                    <a:p>
                      <a:r>
                        <a:rPr sz="1000"/>
                        <a:t>S. 5378/5381</a:t>
                      </a:r>
                    </a:p>
                  </a:txBody>
                  <a:tcPr marL="45720" marR="45720" marT="18288" marB="18288" anchor="ctr">
                    <a:solidFill>
                      <a:srgbClr val="FFFFFF"/>
                    </a:solidFill>
                  </a:tcPr>
                </a:tc>
                <a:tc>
                  <a:txBody>
                    <a:bodyPr wrap="square"/>
                    <a:lstStyle/>
                    <a:p>
                      <a:r>
                        <a:rPr sz="1000"/>
                        <a:t>7</a:t>
                      </a:r>
                    </a:p>
                  </a:txBody>
                  <a:tcPr marL="45720" marR="45720" marT="18288" marB="18288" anchor="ctr">
                    <a:solidFill>
                      <a:srgbClr val="FFFFFF"/>
                    </a:solidFill>
                  </a:tcPr>
                </a:tc>
              </a:tr>
              <a:tr h="301214">
                <a:tc>
                  <a:txBody>
                    <a:bodyPr wrap="square"/>
                    <a:lstStyle/>
                    <a:p>
                      <a:r>
                        <a:rPr sz="1000"/>
                        <a:t>10</a:t>
                      </a:r>
                    </a:p>
                  </a:txBody>
                  <a:tcPr marL="45720" marR="45720" marT="18288" marB="18288" anchor="ctr">
                    <a:solidFill>
                      <a:srgbClr val="E8EEF4"/>
                    </a:solidFill>
                  </a:tcPr>
                </a:tc>
                <a:tc>
                  <a:txBody>
                    <a:bodyPr wrap="square"/>
                    <a:lstStyle/>
                    <a:p>
                      <a:r>
                        <a:rPr sz="1000"/>
                        <a:t>GPT-4o 59,70 % (bestes Speech LLM)</a:t>
                      </a:r>
                    </a:p>
                  </a:txBody>
                  <a:tcPr marL="45720" marR="45720" marT="18288" marB="18288" anchor="ctr">
                    <a:solidFill>
                      <a:srgbClr val="E8EEF4"/>
                    </a:solidFill>
                  </a:tcPr>
                </a:tc>
                <a:tc>
                  <a:txBody>
                    <a:bodyPr wrap="square"/>
                    <a:lstStyle/>
                    <a:p>
                      <a:r>
                        <a:rPr sz="1000"/>
                        <a:t>Wang et al. (MSPB)</a:t>
                      </a:r>
                    </a:p>
                  </a:txBody>
                  <a:tcPr marL="45720" marR="45720" marT="18288" marB="18288" anchor="ctr">
                    <a:solidFill>
                      <a:srgbClr val="E8EEF4"/>
                    </a:solidFill>
                  </a:tcPr>
                </a:tc>
                <a:tc>
                  <a:txBody>
                    <a:bodyPr wrap="square"/>
                    <a:lstStyle/>
                    <a:p>
                      <a:r>
                        <a:rPr sz="1000"/>
                        <a:t>Section 3.2.2, S. 5380</a:t>
                      </a:r>
                    </a:p>
                  </a:txBody>
                  <a:tcPr marL="45720" marR="45720" marT="18288" marB="18288" anchor="ctr">
                    <a:solidFill>
                      <a:srgbClr val="E8EEF4"/>
                    </a:solidFill>
                  </a:tcPr>
                </a:tc>
                <a:tc>
                  <a:txBody>
                    <a:bodyPr wrap="square"/>
                    <a:lstStyle/>
                    <a:p>
                      <a:r>
                        <a:rPr sz="1000"/>
                        <a:t>7</a:t>
                      </a:r>
                    </a:p>
                  </a:txBody>
                  <a:tcPr marL="45720" marR="45720" marT="18288" marB="18288" anchor="ctr">
                    <a:solidFill>
                      <a:srgbClr val="E8EEF4"/>
                    </a:solidFill>
                  </a:tcPr>
                </a:tc>
              </a:tr>
              <a:tr h="301214">
                <a:tc>
                  <a:txBody>
                    <a:bodyPr wrap="square"/>
                    <a:lstStyle/>
                    <a:p>
                      <a:r>
                        <a:rPr sz="1000"/>
                        <a:t>11</a:t>
                      </a:r>
                    </a:p>
                  </a:txBody>
                  <a:tcPr marL="45720" marR="45720" marT="18288" marB="18288" anchor="ctr">
                    <a:solidFill>
                      <a:srgbClr val="FFFFFF"/>
                    </a:solidFill>
                  </a:tcPr>
                </a:tc>
                <a:tc>
                  <a:txBody>
                    <a:bodyPr wrap="square"/>
                    <a:lstStyle/>
                    <a:p>
                      <a:r>
                        <a:rPr sz="1000"/>
                        <a:t>„L2 corpora like iCALL (142 hours, 305 learners) exist but receive less attention than native-speaker datasets"</a:t>
                      </a:r>
                    </a:p>
                  </a:txBody>
                  <a:tcPr marL="45720" marR="45720" marT="18288" marB="18288" anchor="ctr">
                    <a:solidFill>
                      <a:srgbClr val="FFFFFF"/>
                    </a:solidFill>
                  </a:tcPr>
                </a:tc>
                <a:tc>
                  <a:txBody>
                    <a:bodyPr wrap="square"/>
                    <a:lstStyle/>
                    <a:p>
                      <a:r>
                        <a:rPr sz="1000"/>
                        <a:t>Zou Review</a:t>
                      </a:r>
                    </a:p>
                  </a:txBody>
                  <a:tcPr marL="45720" marR="45720" marT="18288" marB="18288" anchor="ctr">
                    <a:solidFill>
                      <a:srgbClr val="FFFFFF"/>
                    </a:solidFill>
                  </a:tcPr>
                </a:tc>
                <a:tc>
                  <a:txBody>
                    <a:bodyPr wrap="square"/>
                    <a:lstStyle/>
                    <a:p>
                      <a:r>
                        <a:rPr sz="1000"/>
                        <a:t>S. 10</a:t>
                      </a:r>
                    </a:p>
                  </a:txBody>
                  <a:tcPr marL="45720" marR="45720" marT="18288" marB="18288" anchor="ctr">
                    <a:solidFill>
                      <a:srgbClr val="FFFFFF"/>
                    </a:solidFill>
                  </a:tcPr>
                </a:tc>
                <a:tc>
                  <a:txBody>
                    <a:bodyPr wrap="square"/>
                    <a:lstStyle/>
                    <a:p>
                      <a:r>
                        <a:rPr sz="1000"/>
                        <a:t>9</a:t>
                      </a:r>
                    </a:p>
                  </a:txBody>
                  <a:tcPr marL="45720" marR="45720" marT="18288" marB="18288" anchor="ctr">
                    <a:solidFill>
                      <a:srgbClr val="FFFFFF"/>
                    </a:solidFill>
                  </a:tcPr>
                </a:tc>
              </a:tr>
              <a:tr h="301214">
                <a:tc>
                  <a:txBody>
                    <a:bodyPr wrap="square"/>
                    <a:lstStyle/>
                    <a:p>
                      <a:r>
                        <a:rPr sz="1000"/>
                        <a:t>12</a:t>
                      </a:r>
                    </a:p>
                  </a:txBody>
                  <a:tcPr marL="45720" marR="45720" marT="18288" marB="18288" anchor="ctr">
                    <a:solidFill>
                      <a:srgbClr val="E8EEF4"/>
                    </a:solidFill>
                  </a:tcPr>
                </a:tc>
                <a:tc>
                  <a:txBody>
                    <a:bodyPr wrap="square"/>
                    <a:lstStyle/>
                    <a:p>
                      <a:r>
                        <a:rPr sz="1000"/>
                        <a:t>„no work has addressed the comparative assessment of different SFMs under controlled conditions within the same framework"</a:t>
                      </a:r>
                    </a:p>
                  </a:txBody>
                  <a:tcPr marL="45720" marR="45720" marT="18288" marB="18288" anchor="ctr">
                    <a:solidFill>
                      <a:srgbClr val="E8EEF4"/>
                    </a:solidFill>
                  </a:tcPr>
                </a:tc>
                <a:tc>
                  <a:txBody>
                    <a:bodyPr wrap="square"/>
                    <a:lstStyle/>
                    <a:p>
                      <a:r>
                        <a:rPr sz="1000"/>
                        <a:t>Gaido et al.</a:t>
                      </a:r>
                    </a:p>
                  </a:txBody>
                  <a:tcPr marL="45720" marR="45720" marT="18288" marB="18288" anchor="ctr">
                    <a:solidFill>
                      <a:srgbClr val="E8EEF4"/>
                    </a:solidFill>
                  </a:tcPr>
                </a:tc>
                <a:tc>
                  <a:txBody>
                    <a:bodyPr wrap="square"/>
                    <a:lstStyle/>
                    <a:p>
                      <a:r>
                        <a:rPr sz="1000"/>
                        <a:t>Section 2.1</a:t>
                      </a:r>
                    </a:p>
                  </a:txBody>
                  <a:tcPr marL="45720" marR="45720" marT="18288" marB="18288" anchor="ctr">
                    <a:solidFill>
                      <a:srgbClr val="E8EEF4"/>
                    </a:solidFill>
                  </a:tcPr>
                </a:tc>
                <a:tc>
                  <a:txBody>
                    <a:bodyPr wrap="square"/>
                    <a:lstStyle/>
                    <a:p>
                      <a:r>
                        <a:rPr sz="1000"/>
                        <a:t>9</a:t>
                      </a:r>
                    </a:p>
                  </a:txBody>
                  <a:tcPr marL="45720" marR="45720" marT="18288" marB="18288" anchor="ctr">
                    <a:solidFill>
                      <a:srgbClr val="E8EEF4"/>
                    </a:solidFill>
                  </a:tcPr>
                </a:tc>
              </a:tr>
              <a:tr h="301214">
                <a:tc>
                  <a:txBody>
                    <a:bodyPr wrap="square"/>
                    <a:lstStyle/>
                    <a:p>
                      <a:r>
                        <a:rPr sz="1000"/>
                        <a:t>13</a:t>
                      </a:r>
                    </a:p>
                  </a:txBody>
                  <a:tcPr marL="45720" marR="45720" marT="18288" marB="18288" anchor="ctr">
                    <a:solidFill>
                      <a:srgbClr val="FFFFFF"/>
                    </a:solidFill>
                  </a:tcPr>
                </a:tc>
                <a:tc>
                  <a:txBody>
                    <a:bodyPr wrap="square"/>
                    <a:lstStyle/>
                    <a:p>
                      <a:r>
                        <a:rPr sz="1000"/>
                        <a:t>„Another critical avenue for future work lies in extracting richer and finer acoustic information from speech… remains limited."</a:t>
                      </a:r>
                    </a:p>
                  </a:txBody>
                  <a:tcPr marL="45720" marR="45720" marT="18288" marB="18288" anchor="ctr">
                    <a:solidFill>
                      <a:srgbClr val="FFFFFF"/>
                    </a:solidFill>
                  </a:tcPr>
                </a:tc>
                <a:tc>
                  <a:txBody>
                    <a:bodyPr wrap="square"/>
                    <a:lstStyle/>
                    <a:p>
                      <a:r>
                        <a:rPr sz="1000"/>
                        <a:t>Peng Survey</a:t>
                      </a:r>
                    </a:p>
                  </a:txBody>
                  <a:tcPr marL="45720" marR="45720" marT="18288" marB="18288" anchor="ctr">
                    <a:solidFill>
                      <a:srgbClr val="FFFFFF"/>
                    </a:solidFill>
                  </a:tcPr>
                </a:tc>
                <a:tc>
                  <a:txBody>
                    <a:bodyPr wrap="square"/>
                    <a:lstStyle/>
                    <a:p>
                      <a:r>
                        <a:rPr sz="1000"/>
                        <a:t>Section IX, S. 25</a:t>
                      </a:r>
                    </a:p>
                  </a:txBody>
                  <a:tcPr marL="45720" marR="45720" marT="18288" marB="18288" anchor="ctr">
                    <a:solidFill>
                      <a:srgbClr val="FFFFFF"/>
                    </a:solidFill>
                  </a:tcPr>
                </a:tc>
                <a:tc>
                  <a:txBody>
                    <a:bodyPr wrap="square"/>
                    <a:lstStyle/>
                    <a:p>
                      <a:r>
                        <a:rPr sz="1000"/>
                        <a:t>11</a:t>
                      </a:r>
                    </a:p>
                  </a:txBody>
                  <a:tcPr marL="45720" marR="45720" marT="18288" marB="18288" anchor="ctr">
                    <a:solidFill>
                      <a:srgbClr val="FFFFFF"/>
                    </a:solidFill>
                  </a:tcPr>
                </a:tc>
              </a:tr>
              <a:tr h="301216">
                <a:tc>
                  <a:txBody>
                    <a:bodyPr wrap="square"/>
                    <a:lstStyle/>
                    <a:p>
                      <a:r>
                        <a:rPr sz="1000"/>
                        <a:t>14</a:t>
                      </a:r>
                    </a:p>
                  </a:txBody>
                  <a:tcPr marL="45720" marR="45720" marT="18288" marB="18288" anchor="ctr">
                    <a:solidFill>
                      <a:srgbClr val="E8EEF4"/>
                    </a:solidFill>
                  </a:tcPr>
                </a:tc>
                <a:tc>
                  <a:txBody>
                    <a:bodyPr wrap="square"/>
                    <a:lstStyle/>
                    <a:p>
                      <a:r>
                        <a:rPr sz="1000"/>
                        <a:t>„complex tones remain the most difficult part of the phonology to transcribe"</a:t>
                      </a:r>
                    </a:p>
                  </a:txBody>
                  <a:tcPr marL="45720" marR="45720" marT="18288" marB="18288" anchor="ctr">
                    <a:solidFill>
                      <a:srgbClr val="E8EEF4"/>
                    </a:solidFill>
                  </a:tcPr>
                </a:tc>
                <a:tc>
                  <a:txBody>
                    <a:bodyPr wrap="square"/>
                    <a:lstStyle/>
                    <a:p>
                      <a:r>
                        <a:rPr sz="1000"/>
                        <a:t>Chirkova</a:t>
                      </a:r>
                    </a:p>
                  </a:txBody>
                  <a:tcPr marL="45720" marR="45720" marT="18288" marB="18288" anchor="ctr">
                    <a:solidFill>
                      <a:srgbClr val="E8EEF4"/>
                    </a:solidFill>
                  </a:tcPr>
                </a:tc>
                <a:tc>
                  <a:txBody>
                    <a:bodyPr wrap="square"/>
                    <a:lstStyle/>
                    <a:p>
                      <a:r>
                        <a:rPr sz="1000"/>
                        <a:t>Section 5, S. 178</a:t>
                      </a:r>
                    </a:p>
                  </a:txBody>
                  <a:tcPr marL="45720" marR="45720" marT="18288" marB="18288" anchor="ctr">
                    <a:solidFill>
                      <a:srgbClr val="E8EEF4"/>
                    </a:solidFill>
                  </a:tcPr>
                </a:tc>
                <a:tc>
                  <a:txBody>
                    <a:bodyPr wrap="square"/>
                    <a:lstStyle/>
                    <a:p>
                      <a:r>
                        <a:rPr sz="1000"/>
                        <a:t>Reserve</a:t>
                      </a:r>
                    </a:p>
                  </a:txBody>
                  <a:tcPr marL="45720" marR="45720" marT="18288" marB="18288" anchor="ctr">
                    <a:solidFill>
                      <a:srgbClr val="E8EEF4"/>
                    </a:solidFill>
                  </a:tcPr>
                </a:tc>
              </a:tr>
            </a:tbl>
          </a:graphicData>
        </a:graphic>
      </p:graphicFrame>
      <p:sp>
        <p:nvSpPr>
          <p:cNvPr id="9" name="TextBox 8"/>
          <p:cNvSpPr txBox="1"/>
          <p:nvPr/>
        </p:nvSpPr>
        <p:spPr>
          <a:xfrm>
            <a:off x="411480" y="13670280"/>
            <a:ext cx="11368735" cy="3602736"/>
          </a:xfrm>
          <a:prstGeom prst="rect">
            <a:avLst/>
          </a:prstGeom>
          <a:noFill/>
        </p:spPr>
        <p:txBody>
          <a:bodyPr wrap="square">
            <a:spAutoFit/>
          </a:bodyPr>
          <a:lstStyle/>
          <a:p>
            <a:pPr>
              <a:spcAft>
                <a:spcPts val="300"/>
              </a:spcAft>
            </a:pPr>
            <a:r>
              <a:rPr sz="1300"/>
              <a:t>•  ---</a:t>
            </a:r>
          </a:p>
          <a:p>
            <a:pPr>
              <a:spcAft>
                <a:spcPts val="300"/>
              </a:spcAft>
            </a:pPr>
            <a:r>
              <a:rPr sz="1300"/>
              <a:t>•  Direkt aus den PDFs verifiziert (28.06.2026):</a:t>
            </a:r>
          </a:p>
          <a:p>
            <a:pPr>
              <a:spcAft>
                <a:spcPts val="300"/>
              </a:spcAft>
            </a:pPr>
            <a:r>
              <a:rPr sz="1300"/>
              <a:t>•  [x] Kimi-Audio Ton-Zitat — verifiziert in 2504.18425v1.pdf, Page 21, Section 8 „Challenges and Future Trends". Exakter Wortlaut (Korrektur ggü. erster Notiz): „text transcription focuses on the content of spoken words (what is said), neglecting important information in audio, such as paralanguage information (e.g., emotion, style, timbre, tone), acoustic scene, and non-linguistic sounds." → Für Folie 4 ggf. mit „…" gekürzt zitieren; voller Wortlaut in Zitat-Bank #0.</a:t>
            </a:r>
          </a:p>
          <a:p>
            <a:pPr>
              <a:spcAft>
                <a:spcPts val="300"/>
              </a:spcAft>
            </a:pPr>
            <a:r>
              <a:rPr sz="1300"/>
              <a:t>•  [x] Zhengjie „little exploration"-Zitat — verifiziert in zhengjie25_interspeech.pdf, Page 1 (Introduction): „there has been little exploration of how the LLM-ASR model can directly generate Pinyin and Chinese characters during ASR." → Zitat-Bank #0b.</a:t>
            </a:r>
          </a:p>
          <a:p>
            <a:pPr>
              <a:spcAft>
                <a:spcPts val="300"/>
              </a:spcAft>
            </a:pPr>
            <a:r>
              <a:rPr sz="1300"/>
              <a:t>•  [ ] Step-Audio 2 „neglecting the para-linguistic information" — nur bestätigen, falls dieses Zitat tatsächlich auf eine Folie kommt (aktuell nicht im Foliensatz verwendet).</a:t>
            </a:r>
          </a:p>
          <a:p>
            <a:pPr>
              <a:spcAft>
                <a:spcPts val="300"/>
              </a:spcAft>
            </a:pPr>
            <a:r>
              <a:rPr i="1" sz="1200">
                <a:solidFill>
                  <a:srgbClr val="444444"/>
                </a:solidFill>
              </a:rPr>
              <a:t>„Hinweis: Das Kimi-Zitat steht in Section 8 (Future Trends), nicht in der Introduction — d.h. das Modellpaper benennt den Ton-Aspekt selbst als offene Herausforderung. Das ist für die Motivation sogar stärker und kann im Vortrag so betont werden."</a:t>
            </a:r>
          </a:p>
          <a:p>
            <a:pPr>
              <a:spcAft>
                <a:spcPts val="300"/>
              </a:spcAft>
            </a:pPr>
            <a:r>
              <a:rPr sz="1300"/>
              <a:t>•  ---</a:t>
            </a:r>
          </a:p>
          <a:p>
            <a:pPr>
              <a:spcAft>
                <a:spcPts val="300"/>
              </a:spcAft>
            </a:pPr>
            <a:r>
              <a:rPr sz="1300"/>
              <a:t>•  Reframing erledigt: Forschungsgegenstand = Transkriptionsleistung (phonetisch+tonal), Vokabeltrainer nur Motivation.</a:t>
            </a:r>
          </a:p>
          <a:p>
            <a:pPr>
              <a:spcAft>
                <a:spcPts val="300"/>
              </a:spcAft>
            </a:pPr>
            <a:r>
              <a:rPr sz="1300"/>
              <a:t>•  Related-Work-Bezug: Folie 3 + Teil III mappen jedes Cluster auf §2.2–2.7.</a:t>
            </a:r>
          </a:p>
          <a:p>
            <a:pPr>
              <a:spcAft>
                <a:spcPts val="300"/>
              </a:spcAft>
            </a:pPr>
            <a:r>
              <a:rPr sz="1300"/>
              <a:t>•  Tims 4 Fragen sind der rote Faden: Learnings (Folien 4–7), konkret verwendbar (8), Lücken (9), welche wir schließen (10).</a:t>
            </a:r>
          </a:p>
          <a:p>
            <a:pPr>
              <a:spcAft>
                <a:spcPts val="300"/>
              </a:spcAft>
            </a:pPr>
            <a:r>
              <a:rPr sz="1300"/>
              <a:t>•  Präsentationsnotizen enthalten wörtliche Zitate mit Seite/Section; alle Fundstellen sind gegen die Original-PDFs verifiziert (Teil V abgehakt).</a:t>
            </a:r>
          </a:p>
          <a:p>
            <a:pPr>
              <a:spcAft>
                <a:spcPts val="300"/>
              </a:spcAft>
            </a:pPr>
            <a:r>
              <a:rPr sz="1300"/>
              <a:t>•  Thesis-Brücke: Teil III zeigt, wie dieselben Antworten ausführlich in Kapitel 1–3 wandern; Rohtexte liegen in core_information_combined.md.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728655" cy="1371600"/>
          </a:xfrm>
          <a:prstGeom prst="rect">
            <a:avLst/>
          </a:prstGeom>
          <a:noFill/>
        </p:spPr>
        <p:txBody>
          <a:bodyPr wrap="square">
            <a:spAutoFit/>
          </a:bodyPr>
          <a:lstStyle/>
          <a:p>
            <a:r>
              <a:rPr sz="3400" b="1">
                <a:solidFill>
                  <a:srgbClr val="FFFFFF"/>
                </a:solidFill>
              </a:rPr>
              <a:t>Datensätze in der Literatur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Datasets Used in 42 Papers: Scale and Scope</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5" cy="2176272"/>
        </p:xfrm>
        <a:graphic>
          <a:graphicData uri="http://schemas.openxmlformats.org/drawingml/2006/table">
            <a:tbl>
              <a:tblPr firstRow="1" bandRow="1">
                <a:tableStyleId>{5C22544A-7EE6-4342-B048-85BDC9FD1C3A}</a:tableStyleId>
              </a:tblPr>
              <a:tblGrid>
                <a:gridCol w="2292035"/>
                <a:gridCol w="2292035"/>
                <a:gridCol w="2292035"/>
                <a:gridCol w="2292035"/>
                <a:gridCol w="2292035"/>
              </a:tblGrid>
              <a:tr h="310896">
                <a:tc>
                  <a:txBody>
                    <a:bodyPr wrap="square"/>
                    <a:lstStyle/>
                    <a:p>
                      <a:r>
                        <a:rPr sz="1000" b="1">
                          <a:solidFill>
                            <a:srgbClr val="FFFFFF"/>
                          </a:solidFill>
                        </a:rPr>
                        <a:t>Kategorie</a:t>
                      </a:r>
                    </a:p>
                  </a:txBody>
                  <a:tcPr marL="45720" marR="45720" marT="18288" marB="18288" anchor="ctr">
                    <a:solidFill>
                      <a:srgbClr val="1F3A5F"/>
                    </a:solidFill>
                  </a:tcPr>
                </a:tc>
                <a:tc>
                  <a:txBody>
                    <a:bodyPr wrap="square"/>
                    <a:lstStyle/>
                    <a:p>
                      <a:r>
                        <a:rPr sz="1000" b="1">
                          <a:solidFill>
                            <a:srgbClr val="FFFFFF"/>
                          </a:solidFill>
                        </a:rPr>
                        <a:t>Papers</a:t>
                      </a:r>
                    </a:p>
                  </a:txBody>
                  <a:tcPr marL="45720" marR="45720" marT="18288" marB="18288" anchor="ctr">
                    <a:solidFill>
                      <a:srgbClr val="1F3A5F"/>
                    </a:solidFill>
                  </a:tcPr>
                </a:tc>
                <a:tc>
                  <a:txBody>
                    <a:bodyPr wrap="square"/>
                    <a:lstStyle/>
                    <a:p>
                      <a:r>
                        <a:rPr sz="1000" b="1">
                          <a:solidFill>
                            <a:srgbClr val="FFFFFF"/>
                          </a:solidFill>
                        </a:rPr>
                        <a:t>Typische Datensätze</a:t>
                      </a:r>
                    </a:p>
                  </a:txBody>
                  <a:tcPr marL="45720" marR="45720" marT="18288" marB="18288" anchor="ctr">
                    <a:solidFill>
                      <a:srgbClr val="1F3A5F"/>
                    </a:solidFill>
                  </a:tcPr>
                </a:tc>
                <a:tc>
                  <a:txBody>
                    <a:bodyPr wrap="square"/>
                    <a:lstStyle/>
                    <a:p>
                      <a:r>
                        <a:rPr sz="1000" b="1">
                          <a:solidFill>
                            <a:srgbClr val="FFFFFF"/>
                          </a:solidFill>
                        </a:rPr>
                        <a:t>Stunden</a:t>
                      </a:r>
                    </a:p>
                  </a:txBody>
                  <a:tcPr marL="45720" marR="45720" marT="18288" marB="18288" anchor="ctr">
                    <a:solidFill>
                      <a:srgbClr val="1F3A5F"/>
                    </a:solidFill>
                  </a:tcPr>
                </a:tc>
                <a:tc>
                  <a:txBody>
                    <a:bodyPr wrap="square"/>
                    <a:lstStyle/>
                    <a:p>
                      <a:r>
                        <a:rPr sz="1000" b="1">
                          <a:solidFill>
                            <a:srgbClr val="FFFFFF"/>
                          </a:solidFill>
                        </a:rPr>
                        <a:t>Töne?</a:t>
                      </a:r>
                    </a:p>
                  </a:txBody>
                  <a:tcPr marL="45720" marR="45720" marT="18288" marB="18288" anchor="ctr">
                    <a:solidFill>
                      <a:srgbClr val="1F3A5F"/>
                    </a:solidFill>
                  </a:tcPr>
                </a:tc>
              </a:tr>
              <a:tr h="310896">
                <a:tc>
                  <a:txBody>
                    <a:bodyPr wrap="square"/>
                    <a:lstStyle/>
                    <a:p>
                      <a:r>
                        <a:rPr sz="1000"/>
                        <a:t>Speech LLMs (7)</a:t>
                      </a:r>
                    </a:p>
                  </a:txBody>
                  <a:tcPr marL="45720" marR="45720" marT="18288" marB="18288" anchor="ctr">
                    <a:solidFill>
                      <a:srgbClr val="FFFFFF"/>
                    </a:solidFill>
                  </a:tcPr>
                </a:tc>
                <a:tc>
                  <a:txBody>
                    <a:bodyPr wrap="square"/>
                    <a:lstStyle/>
                    <a:p>
                      <a:r>
                        <a:rPr sz="1000"/>
                        <a:t>Seed-ASR, FireRedASR, FireRedASR2S, Kimi-Audio, Qwen3-ASR, Step-Audio 2, Peng Survey</a:t>
                      </a:r>
                    </a:p>
                  </a:txBody>
                  <a:tcPr marL="45720" marR="45720" marT="18288" marB="18288" anchor="ctr">
                    <a:solidFill>
                      <a:srgbClr val="FFFFFF"/>
                    </a:solidFill>
                  </a:tcPr>
                </a:tc>
                <a:tc>
                  <a:txBody>
                    <a:bodyPr wrap="square"/>
                    <a:lstStyle/>
                    <a:p>
                      <a:r>
                        <a:rPr sz="1000"/>
                        <a:t>Proprietär + AISHELL-1/2, WenetSpeech, LibriSpeech, CommonVoice</a:t>
                      </a:r>
                    </a:p>
                  </a:txBody>
                  <a:tcPr marL="45720" marR="45720" marT="18288" marB="18288" anchor="ctr">
                    <a:solidFill>
                      <a:srgbClr val="FFFFFF"/>
                    </a:solidFill>
                  </a:tcPr>
                </a:tc>
                <a:tc>
                  <a:txBody>
                    <a:bodyPr wrap="square"/>
                    <a:lstStyle/>
                    <a:p>
                      <a:r>
                        <a:rPr sz="1000"/>
                        <a:t>70k–40M h</a:t>
                      </a:r>
                    </a:p>
                  </a:txBody>
                  <a:tcPr marL="45720" marR="45720" marT="18288" marB="18288" anchor="ctr">
                    <a:solidFill>
                      <a:srgbClr val="FFFFFF"/>
                    </a:solidFill>
                  </a:tcPr>
                </a:tc>
                <a:tc>
                  <a:txBody>
                    <a:bodyPr wrap="square"/>
                    <a:lstStyle/>
                    <a:p>
                      <a:r>
                        <a:rPr sz="1000"/>
                        <a:t>Nie getestet</a:t>
                      </a:r>
                    </a:p>
                  </a:txBody>
                  <a:tcPr marL="45720" marR="45720" marT="18288" marB="18288" anchor="ctr">
                    <a:solidFill>
                      <a:srgbClr val="FFFFFF"/>
                    </a:solidFill>
                  </a:tcPr>
                </a:tc>
              </a:tr>
              <a:tr h="310896">
                <a:tc>
                  <a:txBody>
                    <a:bodyPr wrap="square"/>
                    <a:lstStyle/>
                    <a:p>
                      <a:r>
                        <a:rPr sz="1000"/>
                        <a:t>Pronunciation/MDD (7)</a:t>
                      </a:r>
                    </a:p>
                  </a:txBody>
                  <a:tcPr marL="45720" marR="45720" marT="18288" marB="18288" anchor="ctr">
                    <a:solidFill>
                      <a:srgbClr val="E8EEF4"/>
                    </a:solidFill>
                  </a:tcPr>
                </a:tc>
                <a:tc>
                  <a:txBody>
                    <a:bodyPr wrap="square"/>
                    <a:lstStyle/>
                    <a:p>
                      <a:r>
                        <a:rPr sz="1000"/>
                        <a:t>Wang MDD, Wu L2, Huang Review, Zhu ZIPA, Kang, Wang MSPB, Chirkova</a:t>
                      </a:r>
                    </a:p>
                  </a:txBody>
                  <a:tcPr marL="45720" marR="45720" marT="18288" marB="18288" anchor="ctr">
                    <a:solidFill>
                      <a:srgbClr val="E8EEF4"/>
                    </a:solidFill>
                  </a:tcPr>
                </a:tc>
                <a:tc>
                  <a:txBody>
                    <a:bodyPr wrap="square"/>
                    <a:lstStyle/>
                    <a:p>
                      <a:r>
                        <a:rPr sz="1000"/>
                        <a:t>AISHELL-1, LATIC, Custom, IPAPACK++</a:t>
                      </a:r>
                    </a:p>
                  </a:txBody>
                  <a:tcPr marL="45720" marR="45720" marT="18288" marB="18288" anchor="ctr">
                    <a:solidFill>
                      <a:srgbClr val="E8EEF4"/>
                    </a:solidFill>
                  </a:tcPr>
                </a:tc>
                <a:tc>
                  <a:txBody>
                    <a:bodyPr wrap="square"/>
                    <a:lstStyle/>
                    <a:p>
                      <a:r>
                        <a:rPr sz="1000"/>
                        <a:t>3–17k h</a:t>
                      </a:r>
                    </a:p>
                  </a:txBody>
                  <a:tcPr marL="45720" marR="45720" marT="18288" marB="18288" anchor="ctr">
                    <a:solidFill>
                      <a:srgbClr val="E8EEF4"/>
                    </a:solidFill>
                  </a:tcPr>
                </a:tc>
                <a:tc>
                  <a:txBody>
                    <a:bodyPr wrap="square"/>
                    <a:lstStyle/>
                    <a:p>
                      <a:r>
                        <a:rPr sz="1000"/>
                        <a:t>Meist ja</a:t>
                      </a:r>
                    </a:p>
                  </a:txBody>
                  <a:tcPr marL="45720" marR="45720" marT="18288" marB="18288" anchor="ctr">
                    <a:solidFill>
                      <a:srgbClr val="E8EEF4"/>
                    </a:solidFill>
                  </a:tcPr>
                </a:tc>
              </a:tr>
              <a:tr h="310896">
                <a:tc>
                  <a:txBody>
                    <a:bodyPr wrap="square"/>
                    <a:lstStyle/>
                    <a:p>
                      <a:r>
                        <a:rPr sz="1000"/>
                        <a:t>ASR Error Correction (4)</a:t>
                      </a:r>
                    </a:p>
                  </a:txBody>
                  <a:tcPr marL="45720" marR="45720" marT="18288" marB="18288" anchor="ctr">
                    <a:solidFill>
                      <a:srgbClr val="FFFFFF"/>
                    </a:solidFill>
                  </a:tcPr>
                </a:tc>
                <a:tc>
                  <a:txBody>
                    <a:bodyPr wrap="square"/>
                    <a:lstStyle/>
                    <a:p>
                      <a:r>
                        <a:rPr sz="1000"/>
                        <a:t>Li PY-GEC, Liang PERL, Zhengjie PYG, Chen SCCM</a:t>
                      </a:r>
                    </a:p>
                  </a:txBody>
                  <a:tcPr marL="45720" marR="45720" marT="18288" marB="18288" anchor="ctr">
                    <a:solidFill>
                      <a:srgbClr val="FFFFFF"/>
                    </a:solidFill>
                  </a:tcPr>
                </a:tc>
                <a:tc>
                  <a:txBody>
                    <a:bodyPr wrap="square"/>
                    <a:lstStyle/>
                    <a:p>
                      <a:r>
                        <a:rPr sz="1000"/>
                        <a:t>AISHELL-1, CommonVoice</a:t>
                      </a:r>
                    </a:p>
                  </a:txBody>
                  <a:tcPr marL="45720" marR="45720" marT="18288" marB="18288" anchor="ctr">
                    <a:solidFill>
                      <a:srgbClr val="FFFFFF"/>
                    </a:solidFill>
                  </a:tcPr>
                </a:tc>
                <a:tc>
                  <a:txBody>
                    <a:bodyPr wrap="square"/>
                    <a:lstStyle/>
                    <a:p>
                      <a:r>
                        <a:rPr sz="1000"/>
                        <a:t>170–200 h</a:t>
                      </a:r>
                    </a:p>
                  </a:txBody>
                  <a:tcPr marL="45720" marR="45720" marT="18288" marB="18288" anchor="ctr">
                    <a:solidFill>
                      <a:srgbClr val="FFFFFF"/>
                    </a:solidFill>
                  </a:tcPr>
                </a:tc>
                <a:tc>
                  <a:txBody>
                    <a:bodyPr wrap="square"/>
                    <a:lstStyle/>
                    <a:p>
                      <a:r>
                        <a:rPr sz="1000"/>
                        <a:t>Pinyin-Ebene</a:t>
                      </a:r>
                    </a:p>
                  </a:txBody>
                  <a:tcPr marL="45720" marR="45720" marT="18288" marB="18288" anchor="ctr">
                    <a:solidFill>
                      <a:srgbClr val="FFFFFF"/>
                    </a:solidFill>
                  </a:tcPr>
                </a:tc>
              </a:tr>
              <a:tr h="310896">
                <a:tc>
                  <a:txBody>
                    <a:bodyPr wrap="square"/>
                    <a:lstStyle/>
                    <a:p>
                      <a:r>
                        <a:rPr sz="1000"/>
                        <a:t>Benchmarks (9)</a:t>
                      </a:r>
                    </a:p>
                  </a:txBody>
                  <a:tcPr marL="45720" marR="45720" marT="18288" marB="18288" anchor="ctr">
                    <a:solidFill>
                      <a:srgbClr val="E8EEF4"/>
                    </a:solidFill>
                  </a:tcPr>
                </a:tc>
                <a:tc>
                  <a:txBody>
                    <a:bodyPr wrap="square"/>
                    <a:lstStyle/>
                    <a:p>
                      <a:r>
                        <a:rPr sz="1000"/>
                        <a:t>Wei ASR-EC, ContextASR, VocalBench-zh, TELEVAL, MMAU, Dynamic-SUPERB, VoxEval, AudioBench, WildSpeech</a:t>
                      </a:r>
                    </a:p>
                  </a:txBody>
                  <a:tcPr marL="45720" marR="45720" marT="18288" marB="18288" anchor="ctr">
                    <a:solidFill>
                      <a:srgbClr val="E8EEF4"/>
                    </a:solidFill>
                  </a:tcPr>
                </a:tc>
                <a:tc>
                  <a:txBody>
                    <a:bodyPr wrap="square"/>
                    <a:lstStyle/>
                    <a:p>
                      <a:r>
                        <a:rPr sz="1000"/>
                        <a:t>Eigen-konstruiert (TTS + real)</a:t>
                      </a:r>
                    </a:p>
                  </a:txBody>
                  <a:tcPr marL="45720" marR="45720" marT="18288" marB="18288" anchor="ctr">
                    <a:solidFill>
                      <a:srgbClr val="E8EEF4"/>
                    </a:solidFill>
                  </a:tcPr>
                </a:tc>
                <a:tc>
                  <a:txBody>
                    <a:bodyPr wrap="square"/>
                    <a:lstStyle/>
                    <a:p>
                      <a:r>
                        <a:rPr sz="1000"/>
                        <a:t>Variiert</a:t>
                      </a:r>
                    </a:p>
                  </a:txBody>
                  <a:tcPr marL="45720" marR="45720" marT="18288" marB="18288" anchor="ctr">
                    <a:solidFill>
                      <a:srgbClr val="E8EEF4"/>
                    </a:solidFill>
                  </a:tcPr>
                </a:tc>
                <a:tc>
                  <a:txBody>
                    <a:bodyPr wrap="square"/>
                    <a:lstStyle/>
                    <a:p>
                      <a:r>
                        <a:rPr sz="1000"/>
                        <a:t>Selten</a:t>
                      </a:r>
                    </a:p>
                  </a:txBody>
                  <a:tcPr marL="45720" marR="45720" marT="18288" marB="18288" anchor="ctr">
                    <a:solidFill>
                      <a:srgbClr val="E8EEF4"/>
                    </a:solidFill>
                  </a:tcPr>
                </a:tc>
              </a:tr>
              <a:tr h="310896">
                <a:tc>
                  <a:txBody>
                    <a:bodyPr wrap="square"/>
                    <a:lstStyle/>
                    <a:p>
                      <a:r>
                        <a:rPr sz="1000"/>
                        <a:t>Surveys (10)</a:t>
                      </a:r>
                    </a:p>
                  </a:txBody>
                  <a:tcPr marL="45720" marR="45720" marT="18288" marB="18288" anchor="ctr">
                    <a:solidFill>
                      <a:srgbClr val="FFFFFF"/>
                    </a:solidFill>
                  </a:tcPr>
                </a:tc>
                <a:tc>
                  <a:txBody>
                    <a:bodyPr wrap="square"/>
                    <a:lstStyle/>
                    <a:p>
                      <a:r>
                        <a:rPr sz="1000"/>
                        <a:t>Latif, Gaido, Cui, Arora, Luo, AI Index, Ahlawat, Kaur, Yang×2</a:t>
                      </a:r>
                    </a:p>
                  </a:txBody>
                  <a:tcPr marL="45720" marR="45720" marT="18288" marB="18288" anchor="ctr">
                    <a:solidFill>
                      <a:srgbClr val="FFFFFF"/>
                    </a:solidFill>
                  </a:tcPr>
                </a:tc>
                <a:tc>
                  <a:txBody>
                    <a:bodyPr wrap="square"/>
                    <a:lstStyle/>
                    <a:p>
                      <a:r>
                        <a:rPr sz="1000"/>
                        <a:t>(Überblick)</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Kaur: Fokus</a:t>
                      </a:r>
                    </a:p>
                  </a:txBody>
                  <a:tcPr marL="45720" marR="45720" marT="18288" marB="18288" anchor="ctr">
                    <a:solidFill>
                      <a:srgbClr val="FFFFFF"/>
                    </a:solidFill>
                  </a:tcPr>
                </a:tc>
              </a:tr>
              <a:tr h="310896">
                <a:tc>
                  <a:txBody>
                    <a:bodyPr wrap="square"/>
                    <a:lstStyle/>
                    <a:p>
                      <a:r>
                        <a:rPr sz="1000"/>
                        <a:t>Tone Perfect (2)</a:t>
                      </a:r>
                    </a:p>
                  </a:txBody>
                  <a:tcPr marL="45720" marR="45720" marT="18288" marB="18288" anchor="ctr">
                    <a:solidFill>
                      <a:srgbClr val="E8EEF4"/>
                    </a:solidFill>
                  </a:tcPr>
                </a:tc>
                <a:tc>
                  <a:txBody>
                    <a:bodyPr wrap="square"/>
                    <a:lstStyle/>
                    <a:p>
                      <a:r>
                        <a:rPr sz="1000"/>
                        <a:t>Ryu (2021), Xu SITA (2026)</a:t>
                      </a:r>
                    </a:p>
                  </a:txBody>
                  <a:tcPr marL="45720" marR="45720" marT="18288" marB="18288" anchor="ctr">
                    <a:solidFill>
                      <a:srgbClr val="E8EEF4"/>
                    </a:solidFill>
                  </a:tcPr>
                </a:tc>
                <a:tc>
                  <a:txBody>
                    <a:bodyPr wrap="square"/>
                    <a:lstStyle/>
                    <a:p>
                      <a:r>
                        <a:rPr sz="1000"/>
                        <a:t>Tone Perfect (9.840 Silben)</a:t>
                      </a:r>
                    </a:p>
                  </a:txBody>
                  <a:tcPr marL="45720" marR="45720" marT="18288" marB="18288" anchor="ctr">
                    <a:solidFill>
                      <a:srgbClr val="E8EEF4"/>
                    </a:solidFill>
                  </a:tcPr>
                </a:tc>
                <a:tc>
                  <a:txBody>
                    <a:bodyPr wrap="square"/>
                    <a:lstStyle/>
                    <a:p>
                      <a:r>
                        <a:rPr sz="1000"/>
                        <a:t>~2 h</a:t>
                      </a:r>
                    </a:p>
                  </a:txBody>
                  <a:tcPr marL="45720" marR="45720" marT="18288" marB="18288" anchor="ctr">
                    <a:solidFill>
                      <a:srgbClr val="E8EEF4"/>
                    </a:solidFill>
                  </a:tcPr>
                </a:tc>
                <a:tc>
                  <a:txBody>
                    <a:bodyPr wrap="square"/>
                    <a:lstStyle/>
                    <a:p>
                      <a:r>
                        <a:rPr sz="1000"/>
                        <a:t>Kern</a:t>
                      </a:r>
                    </a:p>
                  </a:txBody>
                  <a:tcPr marL="45720" marR="45720" marT="18288" marB="18288" anchor="ctr">
                    <a:solidFill>
                      <a:srgbClr val="E8EEF4"/>
                    </a:solidFill>
                  </a:tcPr>
                </a:tc>
              </a:tr>
            </a:tbl>
          </a:graphicData>
        </a:graphic>
      </p:graphicFrame>
      <p:sp>
        <p:nvSpPr>
          <p:cNvPr id="5" name="TextBox 4"/>
          <p:cNvSpPr txBox="1"/>
          <p:nvPr/>
        </p:nvSpPr>
        <p:spPr>
          <a:xfrm>
            <a:off x="411480" y="3392424"/>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Training Data Scale: The Big Players</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947672"/>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Training Data (Hours, log scale)</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Qwen3-ASR        ████████████████████████████████████  40M h (pseudo-labeled)</a:t>
            </a:r>
          </a:p>
          <a:p>
            <a:pPr>
              <a:lnSpc>
                <a:spcPct val="100000"/>
              </a:lnSpc>
              <a:spcAft>
                <a:spcPts val="0"/>
              </a:spcAft>
            </a:pPr>
            <a:r>
              <a:rPr sz="900">
                <a:solidFill>
                  <a:srgbClr val="223344"/>
                </a:solidFill>
                <a:latin typeface="Consolas"/>
              </a:rPr>
              <a:t>Seed-ASR (SSL)    ██████████████████████████████████   20M h (unlabeled)</a:t>
            </a:r>
          </a:p>
          <a:p>
            <a:pPr>
              <a:lnSpc>
                <a:spcPct val="100000"/>
              </a:lnSpc>
              <a:spcAft>
                <a:spcPts val="0"/>
              </a:spcAft>
            </a:pPr>
            <a:r>
              <a:rPr sz="900">
                <a:solidFill>
                  <a:srgbClr val="223344"/>
                </a:solidFill>
                <a:latin typeface="Consolas"/>
              </a:rPr>
              <a:t>Kimi-Audio        ████████████████████████████████     13M h (pre-training)</a:t>
            </a:r>
          </a:p>
          <a:p>
            <a:pPr>
              <a:lnSpc>
                <a:spcPct val="100000"/>
              </a:lnSpc>
              <a:spcAft>
                <a:spcPts val="0"/>
              </a:spcAft>
            </a:pPr>
            <a:r>
              <a:rPr sz="900">
                <a:solidFill>
                  <a:srgbClr val="223344"/>
                </a:solidFill>
                <a:latin typeface="Consolas"/>
              </a:rPr>
              <a:t>Step-Audio 2      █████████████████████████            8M h (audio+synth)</a:t>
            </a:r>
          </a:p>
          <a:p>
            <a:pPr>
              <a:lnSpc>
                <a:spcPct val="100000"/>
              </a:lnSpc>
              <a:spcAft>
                <a:spcPts val="0"/>
              </a:spcAft>
            </a:pPr>
            <a:r>
              <a:rPr sz="900">
                <a:solidFill>
                  <a:srgbClr val="223344"/>
                </a:solidFill>
                <a:latin typeface="Consolas"/>
              </a:rPr>
              <a:t>Seed-ASR (SFT)    █████████████                        900k h (labeled)</a:t>
            </a:r>
          </a:p>
          <a:p>
            <a:pPr>
              <a:lnSpc>
                <a:spcPct val="100000"/>
              </a:lnSpc>
              <a:spcAft>
                <a:spcPts val="0"/>
              </a:spcAft>
            </a:pPr>
            <a:r>
              <a:rPr sz="900">
                <a:solidFill>
                  <a:srgbClr val="223344"/>
                </a:solidFill>
                <a:latin typeface="Consolas"/>
              </a:rPr>
              <a:t>Qwen3-ASR (SFT)   ███████████                         ~300k h</a:t>
            </a:r>
          </a:p>
          <a:p>
            <a:pPr>
              <a:lnSpc>
                <a:spcPct val="100000"/>
              </a:lnSpc>
              <a:spcAft>
                <a:spcPts val="0"/>
              </a:spcAft>
            </a:pPr>
            <a:r>
              <a:rPr sz="900">
                <a:solidFill>
                  <a:srgbClr val="223344"/>
                </a:solidFill>
                <a:latin typeface="Consolas"/>
              </a:rPr>
              <a:t>FireRedASR2S      ████████                             200k h</a:t>
            </a:r>
          </a:p>
          <a:p>
            <a:pPr>
              <a:lnSpc>
                <a:spcPct val="100000"/>
              </a:lnSpc>
              <a:spcAft>
                <a:spcPts val="0"/>
              </a:spcAft>
            </a:pPr>
            <a:r>
              <a:rPr sz="900">
                <a:solidFill>
                  <a:srgbClr val="223344"/>
                </a:solidFill>
                <a:latin typeface="Consolas"/>
              </a:rPr>
              <a:t>FireRedASR        █████                                70k h</a:t>
            </a:r>
          </a:p>
          <a:p>
            <a:pPr>
              <a:lnSpc>
                <a:spcPct val="100000"/>
              </a:lnSpc>
              <a:spcAft>
                <a:spcPts val="0"/>
              </a:spcAft>
            </a:pPr>
            <a:r>
              <a:rPr sz="900">
                <a:solidFill>
                  <a:srgbClr val="223344"/>
                </a:solidFill>
                <a:latin typeface="Consolas"/>
              </a:rPr>
              <a:t>AISHELL-1         ▌                                    170 h</a:t>
            </a:r>
          </a:p>
          <a:p>
            <a:pPr>
              <a:lnSpc>
                <a:spcPct val="100000"/>
              </a:lnSpc>
              <a:spcAft>
                <a:spcPts val="0"/>
              </a:spcAft>
            </a:pPr>
            <a:r>
              <a:rPr sz="900">
                <a:solidFill>
                  <a:srgbClr val="223344"/>
                </a:solidFill>
                <a:latin typeface="Consolas"/>
              </a:rPr>
              <a:t>Tone Perfect      ▏                                    ~2 h</a:t>
            </a:r>
          </a:p>
        </p:txBody>
      </p:sp>
      <p:sp>
        <p:nvSpPr>
          <p:cNvPr id="5" name="TextBox 4"/>
          <p:cNvSpPr txBox="1"/>
          <p:nvPr/>
        </p:nvSpPr>
        <p:spPr>
          <a:xfrm>
            <a:off x="411480" y="3118104"/>
            <a:ext cx="11368735" cy="676656"/>
          </a:xfrm>
          <a:prstGeom prst="rect">
            <a:avLst/>
          </a:prstGeom>
          <a:noFill/>
        </p:spPr>
        <p:txBody>
          <a:bodyPr wrap="square">
            <a:spAutoFit/>
          </a:bodyPr>
          <a:lstStyle/>
          <a:p>
            <a:pPr>
              <a:spcAft>
                <a:spcPts val="300"/>
              </a:spcAft>
            </a:pPr>
            <a:r>
              <a:rPr sz="1200" b="1">
                <a:solidFill>
                  <a:srgbClr val="1F3A5F"/>
                </a:solidFill>
              </a:rPr>
              <a:t>*Millionen Stunden Training — aber NIE auf Tonebene evaluiert.*</a:t>
            </a:r>
          </a:p>
          <a:p>
            <a:pPr>
              <a:spcAft>
                <a:spcPts val="300"/>
              </a:spcAft>
            </a:pPr>
            <a:r>
              <a:rPr sz="1300"/>
              <a:t>•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Key Mandarin Datasets Across 42 Papers</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3108960"/>
        </p:xfrm>
        <a:graphic>
          <a:graphicData uri="http://schemas.openxmlformats.org/drawingml/2006/table">
            <a:tbl>
              <a:tblPr firstRow="1" bandRow="1">
                <a:tableStyleId>{5C22544A-7EE6-4342-B048-85BDC9FD1C3A}</a:tableStyleId>
              </a:tblPr>
              <a:tblGrid>
                <a:gridCol w="1910029"/>
                <a:gridCol w="1910029"/>
                <a:gridCol w="1910029"/>
                <a:gridCol w="1910029"/>
                <a:gridCol w="1910029"/>
                <a:gridCol w="1910029"/>
              </a:tblGrid>
              <a:tr h="310896">
                <a:tc>
                  <a:txBody>
                    <a:bodyPr wrap="square"/>
                    <a:lstStyle/>
                    <a:p>
                      <a:r>
                        <a:rPr sz="1000" b="1">
                          <a:solidFill>
                            <a:srgbClr val="FFFFFF"/>
                          </a:solidFill>
                        </a:rPr>
                        <a:t>Datensatz</a:t>
                      </a:r>
                    </a:p>
                  </a:txBody>
                  <a:tcPr marL="45720" marR="45720" marT="18288" marB="18288" anchor="ctr">
                    <a:solidFill>
                      <a:srgbClr val="1F3A5F"/>
                    </a:solidFill>
                  </a:tcPr>
                </a:tc>
                <a:tc>
                  <a:txBody>
                    <a:bodyPr wrap="square"/>
                    <a:lstStyle/>
                    <a:p>
                      <a:r>
                        <a:rPr sz="1000" b="1">
                          <a:solidFill>
                            <a:srgbClr val="FFFFFF"/>
                          </a:solidFill>
                        </a:rPr>
                        <a:t>Stunden</a:t>
                      </a:r>
                    </a:p>
                  </a:txBody>
                  <a:tcPr marL="45720" marR="45720" marT="18288" marB="18288" anchor="ctr">
                    <a:solidFill>
                      <a:srgbClr val="1F3A5F"/>
                    </a:solidFill>
                  </a:tcPr>
                </a:tc>
                <a:tc>
                  <a:txBody>
                    <a:bodyPr wrap="square"/>
                    <a:lstStyle/>
                    <a:p>
                      <a:r>
                        <a:rPr sz="1000" b="1">
                          <a:solidFill>
                            <a:srgbClr val="FFFFFF"/>
                          </a:solidFill>
                        </a:rPr>
                        <a:t>Sprecher</a:t>
                      </a:r>
                    </a:p>
                  </a:txBody>
                  <a:tcPr marL="45720" marR="45720" marT="18288" marB="18288" anchor="ctr">
                    <a:solidFill>
                      <a:srgbClr val="1F3A5F"/>
                    </a:solidFill>
                  </a:tcPr>
                </a:tc>
                <a:tc>
                  <a:txBody>
                    <a:bodyPr wrap="square"/>
                    <a:lstStyle/>
                    <a:p>
                      <a:r>
                        <a:rPr sz="1000" b="1">
                          <a:solidFill>
                            <a:srgbClr val="FFFFFF"/>
                          </a:solidFill>
                        </a:rPr>
                        <a:t>Verwendet in</a:t>
                      </a:r>
                    </a:p>
                  </a:txBody>
                  <a:tcPr marL="45720" marR="45720" marT="18288" marB="18288" anchor="ctr">
                    <a:solidFill>
                      <a:srgbClr val="1F3A5F"/>
                    </a:solidFill>
                  </a:tcPr>
                </a:tc>
                <a:tc>
                  <a:txBody>
                    <a:bodyPr wrap="square"/>
                    <a:lstStyle/>
                    <a:p>
                      <a:r>
                        <a:rPr sz="1000" b="1">
                          <a:solidFill>
                            <a:srgbClr val="FFFFFF"/>
                          </a:solidFill>
                        </a:rPr>
                        <a:t>Töne?</a:t>
                      </a:r>
                    </a:p>
                  </a:txBody>
                  <a:tcPr marL="45720" marR="45720" marT="18288" marB="18288" anchor="ctr">
                    <a:solidFill>
                      <a:srgbClr val="1F3A5F"/>
                    </a:solidFill>
                  </a:tcPr>
                </a:tc>
                <a:tc>
                  <a:txBody>
                    <a:bodyPr wrap="square"/>
                    <a:lstStyle/>
                    <a:p>
                      <a:r>
                        <a:rPr sz="1000" b="1">
                          <a:solidFill>
                            <a:srgbClr val="FFFFFF"/>
                          </a:solidFill>
                        </a:rPr>
                        <a:t>Für uns?</a:t>
                      </a:r>
                    </a:p>
                  </a:txBody>
                  <a:tcPr marL="45720" marR="45720" marT="18288" marB="18288" anchor="ctr">
                    <a:solidFill>
                      <a:srgbClr val="1F3A5F"/>
                    </a:solidFill>
                  </a:tcPr>
                </a:tc>
              </a:tr>
              <a:tr h="310896">
                <a:tc>
                  <a:txBody>
                    <a:bodyPr wrap="square"/>
                    <a:lstStyle/>
                    <a:p>
                      <a:r>
                        <a:rPr sz="1000"/>
                        <a:t>AISHELL-1</a:t>
                      </a:r>
                    </a:p>
                  </a:txBody>
                  <a:tcPr marL="45720" marR="45720" marT="18288" marB="18288" anchor="ctr">
                    <a:solidFill>
                      <a:srgbClr val="FFFFFF"/>
                    </a:solidFill>
                  </a:tcPr>
                </a:tc>
                <a:tc>
                  <a:txBody>
                    <a:bodyPr wrap="square"/>
                    <a:lstStyle/>
                    <a:p>
                      <a:r>
                        <a:rPr sz="1000"/>
                        <a:t>170 h</a:t>
                      </a:r>
                    </a:p>
                  </a:txBody>
                  <a:tcPr marL="45720" marR="45720" marT="18288" marB="18288" anchor="ctr">
                    <a:solidFill>
                      <a:srgbClr val="FFFFFF"/>
                    </a:solidFill>
                  </a:tcPr>
                </a:tc>
                <a:tc>
                  <a:txBody>
                    <a:bodyPr wrap="square"/>
                    <a:lstStyle/>
                    <a:p>
                      <a:r>
                        <a:rPr sz="1000"/>
                        <a:t>400 Native</a:t>
                      </a:r>
                    </a:p>
                  </a:txBody>
                  <a:tcPr marL="45720" marR="45720" marT="18288" marB="18288" anchor="ctr">
                    <a:solidFill>
                      <a:srgbClr val="FFFFFF"/>
                    </a:solidFill>
                  </a:tcPr>
                </a:tc>
                <a:tc>
                  <a:txBody>
                    <a:bodyPr wrap="square"/>
                    <a:lstStyle/>
                    <a:p>
                      <a:r>
                        <a:rPr sz="1000"/>
                        <a:t>15+ Papers (fast alle)</a:t>
                      </a:r>
                    </a:p>
                  </a:txBody>
                  <a:tcPr marL="45720" marR="45720" marT="18288" marB="18288" anchor="ctr">
                    <a:solidFill>
                      <a:srgbClr val="FFFFFF"/>
                    </a:solidFill>
                  </a:tcPr>
                </a:tc>
                <a:tc>
                  <a:txBody>
                    <a:bodyPr wrap="square"/>
                    <a:lstStyle/>
                    <a:p>
                      <a:r>
                        <a:rPr sz="1000"/>
                        <a:t>Nein (CER only)</a:t>
                      </a:r>
                    </a:p>
                  </a:txBody>
                  <a:tcPr marL="45720" marR="45720" marT="18288" marB="18288" anchor="ctr">
                    <a:solidFill>
                      <a:srgbClr val="FFFFFF"/>
                    </a:solidFill>
                  </a:tcPr>
                </a:tc>
                <a:tc>
                  <a:txBody>
                    <a:bodyPr wrap="square"/>
                    <a:lstStyle/>
                    <a:p>
                      <a:r>
                        <a:rPr sz="1000"/>
                        <a:t>Vergleichs-Benchmark</a:t>
                      </a:r>
                    </a:p>
                  </a:txBody>
                  <a:tcPr marL="45720" marR="45720" marT="18288" marB="18288" anchor="ctr">
                    <a:solidFill>
                      <a:srgbClr val="FFFFFF"/>
                    </a:solidFill>
                  </a:tcPr>
                </a:tc>
              </a:tr>
              <a:tr h="310896">
                <a:tc>
                  <a:txBody>
                    <a:bodyPr wrap="square"/>
                    <a:lstStyle/>
                    <a:p>
                      <a:r>
                        <a:rPr sz="1000"/>
                        <a:t>AISHELL-2</a:t>
                      </a:r>
                    </a:p>
                  </a:txBody>
                  <a:tcPr marL="45720" marR="45720" marT="18288" marB="18288" anchor="ctr">
                    <a:solidFill>
                      <a:srgbClr val="E8EEF4"/>
                    </a:solidFill>
                  </a:tcPr>
                </a:tc>
                <a:tc>
                  <a:txBody>
                    <a:bodyPr wrap="square"/>
                    <a:lstStyle/>
                    <a:p>
                      <a:r>
                        <a:rPr sz="1000"/>
                        <a:t>1.000 h</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8+ Papers</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c>
                  <a:txBody>
                    <a:bodyPr wrap="square"/>
                    <a:lstStyle/>
                    <a:p>
                      <a:r>
                        <a:rPr sz="1000"/>
                        <a:t>Vergleich</a:t>
                      </a:r>
                    </a:p>
                  </a:txBody>
                  <a:tcPr marL="45720" marR="45720" marT="18288" marB="18288" anchor="ctr">
                    <a:solidFill>
                      <a:srgbClr val="E8EEF4"/>
                    </a:solidFill>
                  </a:tcPr>
                </a:tc>
              </a:tr>
              <a:tr h="310896">
                <a:tc>
                  <a:txBody>
                    <a:bodyPr wrap="square"/>
                    <a:lstStyle/>
                    <a:p>
                      <a:r>
                        <a:rPr sz="1000"/>
                        <a:t>WenetSpeech</a:t>
                      </a:r>
                    </a:p>
                  </a:txBody>
                  <a:tcPr marL="45720" marR="45720" marT="18288" marB="18288" anchor="ctr">
                    <a:solidFill>
                      <a:srgbClr val="FFFFFF"/>
                    </a:solidFill>
                  </a:tcPr>
                </a:tc>
                <a:tc>
                  <a:txBody>
                    <a:bodyPr wrap="square"/>
                    <a:lstStyle/>
                    <a:p>
                      <a:r>
                        <a:rPr sz="1000"/>
                        <a:t>10.000+ h</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6+ Papers (net/meeting)</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c>
                  <a:txBody>
                    <a:bodyPr wrap="square"/>
                    <a:lstStyle/>
                    <a:p>
                      <a:r>
                        <a:rPr sz="1000"/>
                        <a:t>Vergleich</a:t>
                      </a:r>
                    </a:p>
                  </a:txBody>
                  <a:tcPr marL="45720" marR="45720" marT="18288" marB="18288" anchor="ctr">
                    <a:solidFill>
                      <a:srgbClr val="FFFFFF"/>
                    </a:solidFill>
                  </a:tcPr>
                </a:tc>
              </a:tr>
              <a:tr h="310896">
                <a:tc>
                  <a:txBody>
                    <a:bodyPr wrap="square"/>
                    <a:lstStyle/>
                    <a:p>
                      <a:r>
                        <a:rPr sz="1000"/>
                        <a:t>CommonVoice ZH</a:t>
                      </a:r>
                    </a:p>
                  </a:txBody>
                  <a:tcPr marL="45720" marR="45720" marT="18288" marB="18288" anchor="ctr">
                    <a:solidFill>
                      <a:srgbClr val="E8EEF4"/>
                    </a:solidFill>
                  </a:tcPr>
                </a:tc>
                <a:tc>
                  <a:txBody>
                    <a:bodyPr wrap="square"/>
                    <a:lstStyle/>
                    <a:p>
                      <a:r>
                        <a:rPr sz="1000"/>
                        <a:t>100+ h</a:t>
                      </a:r>
                    </a:p>
                  </a:txBody>
                  <a:tcPr marL="45720" marR="45720" marT="18288" marB="18288" anchor="ctr">
                    <a:solidFill>
                      <a:srgbClr val="E8EEF4"/>
                    </a:solidFill>
                  </a:tcPr>
                </a:tc>
                <a:tc>
                  <a:txBody>
                    <a:bodyPr wrap="square"/>
                    <a:lstStyle/>
                    <a:p>
                      <a:r>
                        <a:rPr sz="1000"/>
                        <a:t>Crowd</a:t>
                      </a:r>
                    </a:p>
                  </a:txBody>
                  <a:tcPr marL="45720" marR="45720" marT="18288" marB="18288" anchor="ctr">
                    <a:solidFill>
                      <a:srgbClr val="E8EEF4"/>
                    </a:solidFill>
                  </a:tcPr>
                </a:tc>
                <a:tc>
                  <a:txBody>
                    <a:bodyPr wrap="square"/>
                    <a:lstStyle/>
                    <a:p>
                      <a:r>
                        <a:rPr sz="1000"/>
                        <a:t>4+ Papers</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c>
                  <a:txBody>
                    <a:bodyPr wrap="square"/>
                    <a:lstStyle/>
                    <a:p>
                      <a:r>
                        <a:rPr sz="1000"/>
                        <a:t>Vergleich</a:t>
                      </a:r>
                    </a:p>
                  </a:txBody>
                  <a:tcPr marL="45720" marR="45720" marT="18288" marB="18288" anchor="ctr">
                    <a:solidFill>
                      <a:srgbClr val="E8EEF4"/>
                    </a:solidFill>
                  </a:tcPr>
                </a:tc>
              </a:tr>
              <a:tr h="310896">
                <a:tc>
                  <a:txBody>
                    <a:bodyPr wrap="square"/>
                    <a:lstStyle/>
                    <a:p>
                      <a:r>
                        <a:rPr sz="1000"/>
                        <a:t>LATIC</a:t>
                      </a:r>
                    </a:p>
                  </a:txBody>
                  <a:tcPr marL="45720" marR="45720" marT="18288" marB="18288" anchor="ctr">
                    <a:solidFill>
                      <a:srgbClr val="FFFFFF"/>
                    </a:solidFill>
                  </a:tcPr>
                </a:tc>
                <a:tc>
                  <a:txBody>
                    <a:bodyPr wrap="square"/>
                    <a:lstStyle/>
                    <a:p>
                      <a:r>
                        <a:rPr sz="1000"/>
                        <a:t>4 h</a:t>
                      </a:r>
                    </a:p>
                  </a:txBody>
                  <a:tcPr marL="45720" marR="45720" marT="18288" marB="18288" anchor="ctr">
                    <a:solidFill>
                      <a:srgbClr val="FFFFFF"/>
                    </a:solidFill>
                  </a:tcPr>
                </a:tc>
                <a:tc>
                  <a:txBody>
                    <a:bodyPr wrap="square"/>
                    <a:lstStyle/>
                    <a:p>
                      <a:r>
                        <a:rPr sz="1000"/>
                        <a:t>4 L2</a:t>
                      </a:r>
                    </a:p>
                  </a:txBody>
                  <a:tcPr marL="45720" marR="45720" marT="18288" marB="18288" anchor="ctr">
                    <a:solidFill>
                      <a:srgbClr val="FFFFFF"/>
                    </a:solidFill>
                  </a:tcPr>
                </a:tc>
                <a:tc>
                  <a:txBody>
                    <a:bodyPr wrap="square"/>
                    <a:lstStyle/>
                    <a:p>
                      <a:r>
                        <a:rPr sz="1000"/>
                        <a:t>Wang MDD (1 Paper)</a:t>
                      </a:r>
                    </a:p>
                  </a:txBody>
                  <a:tcPr marL="45720" marR="45720" marT="18288" marB="18288" anchor="ctr">
                    <a:solidFill>
                      <a:srgbClr val="FFFFFF"/>
                    </a:solidFill>
                  </a:tcPr>
                </a:tc>
                <a:tc>
                  <a:txBody>
                    <a:bodyPr wrap="square"/>
                    <a:lstStyle/>
                    <a:p>
                      <a:r>
                        <a:rPr sz="1000"/>
                        <a:t>T1-T5</a:t>
                      </a:r>
                    </a:p>
                  </a:txBody>
                  <a:tcPr marL="45720" marR="45720" marT="18288" marB="18288" anchor="ctr">
                    <a:solidFill>
                      <a:srgbClr val="FFFFFF"/>
                    </a:solidFill>
                  </a:tcPr>
                </a:tc>
                <a:tc>
                  <a:txBody>
                    <a:bodyPr wrap="square"/>
                    <a:lstStyle/>
                    <a:p>
                      <a:r>
                        <a:rPr sz="1000"/>
                        <a:t>L2-Referenz</a:t>
                      </a:r>
                    </a:p>
                  </a:txBody>
                  <a:tcPr marL="45720" marR="45720" marT="18288" marB="18288" anchor="ctr">
                    <a:solidFill>
                      <a:srgbClr val="FFFFFF"/>
                    </a:solidFill>
                  </a:tcPr>
                </a:tc>
              </a:tr>
              <a:tr h="310896">
                <a:tc>
                  <a:txBody>
                    <a:bodyPr wrap="square"/>
                    <a:lstStyle/>
                    <a:p>
                      <a:r>
                        <a:rPr sz="1000"/>
                        <a:t>THCHS-30</a:t>
                      </a:r>
                    </a:p>
                  </a:txBody>
                  <a:tcPr marL="45720" marR="45720" marT="18288" marB="18288" anchor="ctr">
                    <a:solidFill>
                      <a:srgbClr val="E8EEF4"/>
                    </a:solidFill>
                  </a:tcPr>
                </a:tc>
                <a:tc>
                  <a:txBody>
                    <a:bodyPr wrap="square"/>
                    <a:lstStyle/>
                    <a:p>
                      <a:r>
                        <a:rPr sz="1000"/>
                        <a:t>30 h</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2 Papers</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r>
              <a:tr h="310896">
                <a:tc>
                  <a:txBody>
                    <a:bodyPr wrap="square"/>
                    <a:lstStyle/>
                    <a:p>
                      <a:r>
                        <a:rPr sz="1000"/>
                        <a:t>★ Tone Perfect</a:t>
                      </a:r>
                    </a:p>
                  </a:txBody>
                  <a:tcPr marL="45720" marR="45720" marT="18288" marB="18288" anchor="ctr">
                    <a:solidFill>
                      <a:srgbClr val="FFFFFF"/>
                    </a:solidFill>
                  </a:tcPr>
                </a:tc>
                <a:tc>
                  <a:txBody>
                    <a:bodyPr wrap="square"/>
                    <a:lstStyle/>
                    <a:p>
                      <a:r>
                        <a:rPr sz="1000"/>
                        <a:t>~2 h</a:t>
                      </a:r>
                    </a:p>
                  </a:txBody>
                  <a:tcPr marL="45720" marR="45720" marT="18288" marB="18288" anchor="ctr">
                    <a:solidFill>
                      <a:srgbClr val="FFFFFF"/>
                    </a:solidFill>
                  </a:tcPr>
                </a:tc>
                <a:tc>
                  <a:txBody>
                    <a:bodyPr wrap="square"/>
                    <a:lstStyle/>
                    <a:p>
                      <a:r>
                        <a:rPr sz="1000"/>
                        <a:t>6 Native</a:t>
                      </a:r>
                    </a:p>
                  </a:txBody>
                  <a:tcPr marL="45720" marR="45720" marT="18288" marB="18288" anchor="ctr">
                    <a:solidFill>
                      <a:srgbClr val="FFFFFF"/>
                    </a:solidFill>
                  </a:tcPr>
                </a:tc>
                <a:tc>
                  <a:txBody>
                    <a:bodyPr wrap="square"/>
                    <a:lstStyle/>
                    <a:p>
                      <a:r>
                        <a:rPr sz="1000"/>
                        <a:t>2 Papers (Ryu, SITA)</a:t>
                      </a:r>
                    </a:p>
                  </a:txBody>
                  <a:tcPr marL="45720" marR="45720" marT="18288" marB="18288" anchor="ctr">
                    <a:solidFill>
                      <a:srgbClr val="FFFFFF"/>
                    </a:solidFill>
                  </a:tcPr>
                </a:tc>
                <a:tc>
                  <a:txBody>
                    <a:bodyPr wrap="square"/>
                    <a:lstStyle/>
                    <a:p>
                      <a:r>
                        <a:rPr sz="1000"/>
                        <a:t>T1-T4</a:t>
                      </a:r>
                    </a:p>
                  </a:txBody>
                  <a:tcPr marL="45720" marR="45720" marT="18288" marB="18288" anchor="ctr">
                    <a:solidFill>
                      <a:srgbClr val="FFFFFF"/>
                    </a:solidFill>
                  </a:tcPr>
                </a:tc>
                <a:tc>
                  <a:txBody>
                    <a:bodyPr wrap="square"/>
                    <a:lstStyle/>
                    <a:p>
                      <a:r>
                        <a:rPr sz="1000"/>
                        <a:t>Unser Korpus</a:t>
                      </a:r>
                    </a:p>
                  </a:txBody>
                  <a:tcPr marL="45720" marR="45720" marT="18288" marB="18288" anchor="ctr">
                    <a:solidFill>
                      <a:srgbClr val="FFFFFF"/>
                    </a:solidFill>
                  </a:tcPr>
                </a:tc>
              </a:tr>
              <a:tr h="310896">
                <a:tc>
                  <a:txBody>
                    <a:bodyPr wrap="square"/>
                    <a:lstStyle/>
                    <a:p>
                      <a:r>
                        <a:rPr sz="1000"/>
                        <a:t>MSPB</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1+27</a:t>
                      </a:r>
                    </a:p>
                  </a:txBody>
                  <a:tcPr marL="45720" marR="45720" marT="18288" marB="18288" anchor="ctr">
                    <a:solidFill>
                      <a:srgbClr val="E8EEF4"/>
                    </a:solidFill>
                  </a:tcPr>
                </a:tc>
                <a:tc>
                  <a:txBody>
                    <a:bodyPr wrap="square"/>
                    <a:lstStyle/>
                    <a:p>
                      <a:r>
                        <a:rPr sz="1000"/>
                        <a:t>Wang MSPB (1 Paper)</a:t>
                      </a:r>
                    </a:p>
                  </a:txBody>
                  <a:tcPr marL="45720" marR="45720" marT="18288" marB="18288" anchor="ctr">
                    <a:solidFill>
                      <a:srgbClr val="E8EEF4"/>
                    </a:solidFill>
                  </a:tcPr>
                </a:tc>
                <a:tc>
                  <a:txBody>
                    <a:bodyPr wrap="square"/>
                    <a:lstStyle/>
                    <a:p>
                      <a:r>
                        <a:rPr sz="1000"/>
                        <a:t>Prosodie</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r>
              <a:tr h="310896">
                <a:tc>
                  <a:txBody>
                    <a:bodyPr wrap="square"/>
                    <a:lstStyle/>
                    <a:p>
                      <a:r>
                        <a:rPr sz="1000"/>
                        <a:t>Custom Baima</a:t>
                      </a:r>
                    </a:p>
                  </a:txBody>
                  <a:tcPr marL="45720" marR="45720" marT="18288" marB="18288" anchor="ctr">
                    <a:solidFill>
                      <a:srgbClr val="FFFFFF"/>
                    </a:solidFill>
                  </a:tcPr>
                </a:tc>
                <a:tc>
                  <a:txBody>
                    <a:bodyPr wrap="square"/>
                    <a:lstStyle/>
                    <a:p>
                      <a:r>
                        <a:rPr sz="1000"/>
                        <a:t>3,1 h</a:t>
                      </a:r>
                    </a:p>
                  </a:txBody>
                  <a:tcPr marL="45720" marR="45720" marT="18288" marB="18288" anchor="ctr">
                    <a:solidFill>
                      <a:srgbClr val="FFFFFF"/>
                    </a:solidFill>
                  </a:tcPr>
                </a:tc>
                <a:tc>
                  <a:txBody>
                    <a:bodyPr wrap="square"/>
                    <a:lstStyle/>
                    <a:p>
                      <a:r>
                        <a:rPr sz="1000"/>
                        <a:t>3</a:t>
                      </a:r>
                    </a:p>
                  </a:txBody>
                  <a:tcPr marL="45720" marR="45720" marT="18288" marB="18288" anchor="ctr">
                    <a:solidFill>
                      <a:srgbClr val="FFFFFF"/>
                    </a:solidFill>
                  </a:tcPr>
                </a:tc>
                <a:tc>
                  <a:txBody>
                    <a:bodyPr wrap="square"/>
                    <a:lstStyle/>
                    <a:p>
                      <a:r>
                        <a:rPr sz="1000"/>
                        <a:t>Chirkova (1 Paper)</a:t>
                      </a:r>
                    </a:p>
                  </a:txBody>
                  <a:tcPr marL="45720" marR="45720" marT="18288" marB="18288" anchor="ctr">
                    <a:solidFill>
                      <a:srgbClr val="FFFFFF"/>
                    </a:solidFill>
                  </a:tcPr>
                </a:tc>
                <a:tc>
                  <a:txBody>
                    <a:bodyPr wrap="square"/>
                    <a:lstStyle/>
                    <a:p>
                      <a:r>
                        <a:rPr sz="1000"/>
                        <a:t>6 Töne</a:t>
                      </a:r>
                    </a:p>
                  </a:txBody>
                  <a:tcPr marL="45720" marR="45720" marT="18288" marB="18288" anchor="ctr">
                    <a:solidFill>
                      <a:srgbClr val="FFFFFF"/>
                    </a:solidFill>
                  </a:tcPr>
                </a:tc>
                <a:tc>
                  <a:txBody>
                    <a:bodyPr wrap="square"/>
                    <a:lstStyle/>
                    <a:p>
                      <a:r>
                        <a:rPr sz="1000"/>
                        <a:t>IPA-Vergleich</a:t>
                      </a:r>
                    </a:p>
                  </a:txBody>
                  <a:tcPr marL="45720" marR="45720" marT="18288" marB="18288" anchor="ctr">
                    <a:solidFill>
                      <a:srgbClr val="FFFFFF"/>
                    </a:solidFill>
                  </a:tcPr>
                </a:tc>
              </a:tr>
            </a:tbl>
          </a:graphicData>
        </a:graphic>
      </p:graphicFrame>
      <p:sp>
        <p:nvSpPr>
          <p:cNvPr id="5" name="TextBox 4"/>
          <p:cNvSpPr txBox="1"/>
          <p:nvPr/>
        </p:nvSpPr>
        <p:spPr>
          <a:xfrm>
            <a:off x="411480" y="4325112"/>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Audio Processing: Who Takes Audio Directly?</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2176272"/>
        </p:xfrm>
        <a:graphic>
          <a:graphicData uri="http://schemas.openxmlformats.org/drawingml/2006/table">
            <a:tbl>
              <a:tblPr firstRow="1" bandRow="1">
                <a:tableStyleId>{5C22544A-7EE6-4342-B048-85BDC9FD1C3A}</a:tableStyleId>
              </a:tblPr>
              <a:tblGrid>
                <a:gridCol w="3820058"/>
                <a:gridCol w="3820058"/>
                <a:gridCol w="3820058"/>
              </a:tblGrid>
              <a:tr h="310896">
                <a:tc>
                  <a:txBody>
                    <a:bodyPr wrap="square"/>
                    <a:lstStyle/>
                    <a:p>
                      <a:r>
                        <a:rPr sz="1000" b="1">
                          <a:solidFill>
                            <a:srgbClr val="FFFFFF"/>
                          </a:solidFill>
                        </a:rPr>
                        <a:t>Pipeline-Typ</a:t>
                      </a:r>
                    </a:p>
                  </a:txBody>
                  <a:tcPr marL="45720" marR="45720" marT="18288" marB="18288" anchor="ctr">
                    <a:solidFill>
                      <a:srgbClr val="1F3A5F"/>
                    </a:solidFill>
                  </a:tcPr>
                </a:tc>
                <a:tc>
                  <a:txBody>
                    <a:bodyPr wrap="square"/>
                    <a:lstStyle/>
                    <a:p>
                      <a:r>
                        <a:rPr sz="1000" b="1">
                          <a:solidFill>
                            <a:srgbClr val="FFFFFF"/>
                          </a:solidFill>
                        </a:rPr>
                        <a:t>Modelle</a:t>
                      </a:r>
                    </a:p>
                  </a:txBody>
                  <a:tcPr marL="45720" marR="45720" marT="18288" marB="18288" anchor="ctr">
                    <a:solidFill>
                      <a:srgbClr val="1F3A5F"/>
                    </a:solidFill>
                  </a:tcPr>
                </a:tc>
                <a:tc>
                  <a:txBody>
                    <a:bodyPr wrap="square"/>
                    <a:lstStyle/>
                    <a:p>
                      <a:r>
                        <a:rPr sz="1000" b="1">
                          <a:solidFill>
                            <a:srgbClr val="FFFFFF"/>
                          </a:solidFill>
                        </a:rPr>
                        <a:t>Töne evaluiert?</a:t>
                      </a:r>
                    </a:p>
                  </a:txBody>
                  <a:tcPr marL="45720" marR="45720" marT="18288" marB="18288" anchor="ctr">
                    <a:solidFill>
                      <a:srgbClr val="1F3A5F"/>
                    </a:solidFill>
                  </a:tcPr>
                </a:tc>
              </a:tr>
              <a:tr h="310896">
                <a:tc>
                  <a:txBody>
                    <a:bodyPr wrap="square"/>
                    <a:lstStyle/>
                    <a:p>
                      <a:r>
                        <a:rPr sz="1000"/>
                        <a:t>Encoder→Adapter→LLM (direkt)</a:t>
                      </a:r>
                    </a:p>
                  </a:txBody>
                  <a:tcPr marL="45720" marR="45720" marT="18288" marB="18288" anchor="ctr">
                    <a:solidFill>
                      <a:srgbClr val="FFFFFF"/>
                    </a:solidFill>
                  </a:tcPr>
                </a:tc>
                <a:tc>
                  <a:txBody>
                    <a:bodyPr wrap="square"/>
                    <a:lstStyle/>
                    <a:p>
                      <a:r>
                        <a:rPr sz="1000"/>
                        <a:t>Seed-ASR (MoE 10B+), FireRedASR (Qwen2-7B), FireRedASR2S, Qwen3-ASR (Qwen3-1.7B)</a:t>
                      </a:r>
                    </a:p>
                  </a:txBody>
                  <a:tcPr marL="45720" marR="45720" marT="18288" marB="18288" anchor="ctr">
                    <a:solidFill>
                      <a:srgbClr val="FFFFFF"/>
                    </a:solidFill>
                  </a:tcPr>
                </a:tc>
                <a:tc>
                  <a:txBody>
                    <a:bodyPr wrap="square"/>
                    <a:lstStyle/>
                    <a:p>
                      <a:r>
                        <a:rPr sz="1000"/>
                        <a:t>❌ Nie</a:t>
                      </a:r>
                    </a:p>
                  </a:txBody>
                  <a:tcPr marL="45720" marR="45720" marT="18288" marB="18288" anchor="ctr">
                    <a:solidFill>
                      <a:srgbClr val="FFFFFF"/>
                    </a:solidFill>
                  </a:tcPr>
                </a:tc>
              </a:tr>
              <a:tr h="310896">
                <a:tc>
                  <a:txBody>
                    <a:bodyPr wrap="square"/>
                    <a:lstStyle/>
                    <a:p>
                      <a:r>
                        <a:rPr sz="1000"/>
                        <a:t>Hybrid (diskret+kont.)→LLM</a:t>
                      </a:r>
                    </a:p>
                  </a:txBody>
                  <a:tcPr marL="45720" marR="45720" marT="18288" marB="18288" anchor="ctr">
                    <a:solidFill>
                      <a:srgbClr val="E8EEF4"/>
                    </a:solidFill>
                  </a:tcPr>
                </a:tc>
                <a:tc>
                  <a:txBody>
                    <a:bodyPr wrap="square"/>
                    <a:lstStyle/>
                    <a:p>
                      <a:r>
                        <a:rPr sz="1000"/>
                        <a:t>Kimi-Audio (Qwen2.5-7B), Step-Audio 2 (Custom 130B)</a:t>
                      </a:r>
                    </a:p>
                  </a:txBody>
                  <a:tcPr marL="45720" marR="45720" marT="18288" marB="18288" anchor="ctr">
                    <a:solidFill>
                      <a:srgbClr val="E8EEF4"/>
                    </a:solidFill>
                  </a:tcPr>
                </a:tc>
                <a:tc>
                  <a:txBody>
                    <a:bodyPr wrap="square"/>
                    <a:lstStyle/>
                    <a:p>
                      <a:r>
                        <a:rPr sz="1000"/>
                        <a:t>❌ Nie ("tone" erwähnt, nicht evaluiert)</a:t>
                      </a:r>
                    </a:p>
                  </a:txBody>
                  <a:tcPr marL="45720" marR="45720" marT="18288" marB="18288" anchor="ctr">
                    <a:solidFill>
                      <a:srgbClr val="E8EEF4"/>
                    </a:solidFill>
                  </a:tcPr>
                </a:tc>
              </a:tr>
              <a:tr h="310896">
                <a:tc>
                  <a:txBody>
                    <a:bodyPr wrap="square"/>
                    <a:lstStyle/>
                    <a:p>
                      <a:r>
                        <a:rPr sz="1000"/>
                        <a:t>Audio→Encoder→LLM→Pinyin+Text</a:t>
                      </a:r>
                    </a:p>
                  </a:txBody>
                  <a:tcPr marL="45720" marR="45720" marT="18288" marB="18288" anchor="ctr">
                    <a:solidFill>
                      <a:srgbClr val="FFFFFF"/>
                    </a:solidFill>
                  </a:tcPr>
                </a:tc>
                <a:tc>
                  <a:txBody>
                    <a:bodyPr wrap="square"/>
                    <a:lstStyle/>
                    <a:p>
                      <a:r>
                        <a:rPr sz="1000"/>
                        <a:t>Zhengjie PYG-ASR (HuBERT→Qwen2-7B)</a:t>
                      </a:r>
                    </a:p>
                  </a:txBody>
                  <a:tcPr marL="45720" marR="45720" marT="18288" marB="18288" anchor="ctr">
                    <a:solidFill>
                      <a:srgbClr val="FFFFFF"/>
                    </a:solidFill>
                  </a:tcPr>
                </a:tc>
                <a:tc>
                  <a:txBody>
                    <a:bodyPr wrap="square"/>
                    <a:lstStyle/>
                    <a:p>
                      <a:r>
                        <a:rPr sz="1000"/>
                        <a:t>⚠️ Pinyin-ERR (1,9%), aber OHNE separaten Ton-Test</a:t>
                      </a:r>
                    </a:p>
                  </a:txBody>
                  <a:tcPr marL="45720" marR="45720" marT="18288" marB="18288" anchor="ctr">
                    <a:solidFill>
                      <a:srgbClr val="FFFFFF"/>
                    </a:solidFill>
                  </a:tcPr>
                </a:tc>
              </a:tr>
              <a:tr h="310896">
                <a:tc>
                  <a:txBody>
                    <a:bodyPr wrap="square"/>
                    <a:lstStyle/>
                    <a:p>
                      <a:r>
                        <a:rPr sz="1000"/>
                        <a:t>Multimodal (Audio+Text Prompt)</a:t>
                      </a:r>
                    </a:p>
                  </a:txBody>
                  <a:tcPr marL="45720" marR="45720" marT="18288" marB="18288" anchor="ctr">
                    <a:solidFill>
                      <a:srgbClr val="E8EEF4"/>
                    </a:solidFill>
                  </a:tcPr>
                </a:tc>
                <a:tc>
                  <a:txBody>
                    <a:bodyPr wrap="square"/>
                    <a:lstStyle/>
                    <a:p>
                      <a:r>
                        <a:rPr sz="1000"/>
                        <a:t>Wang MSPB: GPT-4o, Gemini-1.5-Pro, Qwen2-Audio-7B</a:t>
                      </a:r>
                    </a:p>
                  </a:txBody>
                  <a:tcPr marL="45720" marR="45720" marT="18288" marB="18288" anchor="ctr">
                    <a:solidFill>
                      <a:srgbClr val="E8EEF4"/>
                    </a:solidFill>
                  </a:tcPr>
                </a:tc>
                <a:tc>
                  <a:txBody>
                    <a:bodyPr wrap="square"/>
                    <a:lstStyle/>
                    <a:p>
                      <a:r>
                        <a:rPr sz="1000"/>
                        <a:t>⚠️ Satzprosodie, nicht lexikalische Töne</a:t>
                      </a:r>
                    </a:p>
                  </a:txBody>
                  <a:tcPr marL="45720" marR="45720" marT="18288" marB="18288" anchor="ctr">
                    <a:solidFill>
                      <a:srgbClr val="E8EEF4"/>
                    </a:solidFill>
                  </a:tcPr>
                </a:tc>
              </a:tr>
              <a:tr h="310896">
                <a:tc>
                  <a:txBody>
                    <a:bodyPr wrap="square"/>
                    <a:lstStyle/>
                    <a:p>
                      <a:r>
                        <a:rPr sz="1000"/>
                        <a:t>ASR→Text→LLM (kaskadiert)</a:t>
                      </a:r>
                    </a:p>
                  </a:txBody>
                  <a:tcPr marL="45720" marR="45720" marT="18288" marB="18288" anchor="ctr">
                    <a:solidFill>
                      <a:srgbClr val="FFFFFF"/>
                    </a:solidFill>
                  </a:tcPr>
                </a:tc>
                <a:tc>
                  <a:txBody>
                    <a:bodyPr wrap="square"/>
                    <a:lstStyle/>
                    <a:p>
                      <a:r>
                        <a:rPr sz="1000"/>
                        <a:t>Li PY-GEC (Whisper→LLaMA-3-8B), Liang PERL (Whisper→BERT)</a:t>
                      </a:r>
                    </a:p>
                  </a:txBody>
                  <a:tcPr marL="45720" marR="45720" marT="18288" marB="18288" anchor="ctr">
                    <a:solidFill>
                      <a:srgbClr val="FFFFFF"/>
                    </a:solidFill>
                  </a:tcPr>
                </a:tc>
                <a:tc>
                  <a:txBody>
                    <a:bodyPr wrap="square"/>
                    <a:lstStyle/>
                    <a:p>
                      <a:r>
                        <a:rPr sz="1000"/>
                        <a:t>❌ (Text-only)</a:t>
                      </a:r>
                    </a:p>
                  </a:txBody>
                  <a:tcPr marL="45720" marR="45720" marT="18288" marB="18288" anchor="ctr">
                    <a:solidFill>
                      <a:srgbClr val="FFFFFF"/>
                    </a:solidFill>
                  </a:tcPr>
                </a:tc>
              </a:tr>
              <a:tr h="310896">
                <a:tc>
                  <a:txBody>
                    <a:bodyPr wrap="square"/>
                    <a:lstStyle/>
                    <a:p>
                      <a:r>
                        <a:rPr sz="1000"/>
                        <a:t>Klassisch (kein LLM)</a:t>
                      </a:r>
                    </a:p>
                  </a:txBody>
                  <a:tcPr marL="45720" marR="45720" marT="18288" marB="18288" anchor="ctr">
                    <a:solidFill>
                      <a:srgbClr val="E8EEF4"/>
                    </a:solidFill>
                  </a:tcPr>
                </a:tc>
                <a:tc>
                  <a:txBody>
                    <a:bodyPr wrap="square"/>
                    <a:lstStyle/>
                    <a:p>
                      <a:r>
                        <a:rPr sz="1000"/>
                        <a:t>Wang MDD (HuBERT), Chirkova (Wav2Vec2), Du (Zipformer)</a:t>
                      </a:r>
                    </a:p>
                  </a:txBody>
                  <a:tcPr marL="45720" marR="45720" marT="18288" marB="18288" anchor="ctr">
                    <a:solidFill>
                      <a:srgbClr val="E8EEF4"/>
                    </a:solidFill>
                  </a:tcPr>
                </a:tc>
                <a:tc>
                  <a:txBody>
                    <a:bodyPr wrap="square"/>
                    <a:lstStyle/>
                    <a:p>
                      <a:r>
                        <a:rPr sz="1000"/>
                        <a:t>✅ Aber kein LLM</a:t>
                      </a:r>
                    </a:p>
                  </a:txBody>
                  <a:tcPr marL="45720" marR="45720" marT="18288" marB="18288" anchor="ctr">
                    <a:solidFill>
                      <a:srgbClr val="E8EEF4"/>
                    </a:solidFill>
                  </a:tcPr>
                </a:tc>
              </a:tr>
            </a:tbl>
          </a:graphicData>
        </a:graphic>
      </p:graphicFrame>
      <p:sp>
        <p:nvSpPr>
          <p:cNvPr id="5" name="TextBox 4"/>
          <p:cNvSpPr txBox="1"/>
          <p:nvPr/>
        </p:nvSpPr>
        <p:spPr>
          <a:xfrm>
            <a:off x="411480" y="3392424"/>
            <a:ext cx="11368735" cy="676656"/>
          </a:xfrm>
          <a:prstGeom prst="rect">
            <a:avLst/>
          </a:prstGeom>
          <a:noFill/>
        </p:spPr>
        <p:txBody>
          <a:bodyPr wrap="square">
            <a:spAutoFit/>
          </a:bodyPr>
          <a:lstStyle/>
          <a:p>
            <a:pPr>
              <a:spcAft>
                <a:spcPts val="300"/>
              </a:spcAft>
            </a:pPr>
            <a:r>
              <a:rPr sz="1200" b="1">
                <a:solidFill>
                  <a:srgbClr val="1F3A5F"/>
                </a:solidFill>
              </a:rPr>
              <a:t>*Viele Modelle können Audio direkt verarbeiten — aber KEINES wird auf Tontranskription evaluiert.*</a:t>
            </a:r>
          </a:p>
          <a:p>
            <a:pPr>
              <a:spcAft>
                <a:spcPts val="300"/>
              </a:spcAft>
            </a:pPr>
            <a:r>
              <a:rPr sz="1300"/>
              <a:t>•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Tone Perfect: Why This Dataset?</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344168"/>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Tone Perfect (Ryu et al. 2021, Michigan State University)</a:t>
            </a:r>
          </a:p>
          <a:p>
            <a:pPr>
              <a:lnSpc>
                <a:spcPct val="100000"/>
              </a:lnSpc>
              <a:spcAft>
                <a:spcPts val="0"/>
              </a:spcAft>
            </a:pPr>
            <a:r>
              <a:rPr sz="900">
                <a:solidFill>
                  <a:srgbClr val="223344"/>
                </a:solidFill>
                <a:latin typeface="Consolas"/>
              </a:rPr>
              <a:t>├── 410 einzigartige Silben (alle Standard-Mandarin-Silben)</a:t>
            </a:r>
          </a:p>
          <a:p>
            <a:pPr>
              <a:lnSpc>
                <a:spcPct val="100000"/>
              </a:lnSpc>
              <a:spcAft>
                <a:spcPts val="0"/>
              </a:spcAft>
            </a:pPr>
            <a:r>
              <a:rPr sz="900">
                <a:solidFill>
                  <a:srgbClr val="223344"/>
                </a:solidFill>
                <a:latin typeface="Consolas"/>
              </a:rPr>
              <a:t>├── × 4 Töne (T1 ˉ, T2 ˊ, T3 ˇ, T4 ˋ)</a:t>
            </a:r>
          </a:p>
          <a:p>
            <a:pPr>
              <a:lnSpc>
                <a:spcPct val="100000"/>
              </a:lnSpc>
              <a:spcAft>
                <a:spcPts val="0"/>
              </a:spcAft>
            </a:pPr>
            <a:r>
              <a:rPr sz="900">
                <a:solidFill>
                  <a:srgbClr val="223344"/>
                </a:solidFill>
                <a:latin typeface="Consolas"/>
              </a:rPr>
              <a:t>├── × 6 Sprecher (3m, 3f, alle Beijing-Muttersprachler)</a:t>
            </a:r>
          </a:p>
          <a:p>
            <a:pPr>
              <a:lnSpc>
                <a:spcPct val="100000"/>
              </a:lnSpc>
              <a:spcAft>
                <a:spcPts val="0"/>
              </a:spcAft>
            </a:pPr>
            <a:r>
              <a:rPr sz="900">
                <a:solidFill>
                  <a:srgbClr val="223344"/>
                </a:solidFill>
                <a:latin typeface="Consolas"/>
              </a:rPr>
              <a:t>├── = 9.840 Aufnahmen</a:t>
            </a:r>
          </a:p>
          <a:p>
            <a:pPr>
              <a:lnSpc>
                <a:spcPct val="100000"/>
              </a:lnSpc>
              <a:spcAft>
                <a:spcPts val="0"/>
              </a:spcAft>
            </a:pPr>
            <a:r>
              <a:rPr sz="900">
                <a:solidFill>
                  <a:srgbClr val="223344"/>
                </a:solidFill>
                <a:latin typeface="Consolas"/>
              </a:rPr>
              <a:t>├── Format: WAV, einzelne Silben, professionelle Aufnahme</a:t>
            </a:r>
          </a:p>
          <a:p>
            <a:pPr>
              <a:lnSpc>
                <a:spcPct val="100000"/>
              </a:lnSpc>
              <a:spcAft>
                <a:spcPts val="0"/>
              </a:spcAft>
            </a:pPr>
            <a:r>
              <a:rPr sz="900">
                <a:solidFill>
                  <a:srgbClr val="223344"/>
                </a:solidFill>
                <a:latin typeface="Consolas"/>
              </a:rPr>
              <a:t>├── Lizenz: CC-BY 4.0 (Open Access)</a:t>
            </a:r>
          </a:p>
          <a:p>
            <a:pPr>
              <a:lnSpc>
                <a:spcPct val="100000"/>
              </a:lnSpc>
              <a:spcAft>
                <a:spcPts val="0"/>
              </a:spcAft>
            </a:pPr>
            <a:r>
              <a:rPr sz="900">
                <a:solidFill>
                  <a:srgbClr val="223344"/>
                </a:solidFill>
                <a:latin typeface="Consolas"/>
              </a:rPr>
              <a:t>└── Labels: Pinyin + Tonnummer (z.B. "ma1", "ma2", "ma3", "ma4")</a:t>
            </a:r>
          </a:p>
        </p:txBody>
      </p:sp>
      <p:sp>
        <p:nvSpPr>
          <p:cNvPr id="5" name="TextBox 4"/>
          <p:cNvSpPr txBox="1"/>
          <p:nvPr/>
        </p:nvSpPr>
        <p:spPr>
          <a:xfrm>
            <a:off x="411480" y="2514600"/>
            <a:ext cx="11368735" cy="1847088"/>
          </a:xfrm>
          <a:prstGeom prst="rect">
            <a:avLst/>
          </a:prstGeom>
          <a:noFill/>
        </p:spPr>
        <p:txBody>
          <a:bodyPr wrap="square">
            <a:spAutoFit/>
          </a:bodyPr>
          <a:lstStyle/>
          <a:p>
            <a:pPr>
              <a:spcAft>
                <a:spcPts val="300"/>
              </a:spcAft>
            </a:pPr>
            <a:r>
              <a:rPr sz="1300"/>
              <a:t>•  1. Kontrolliert: Isolierte Silben → Ton-Evaluation ohne Kontexteffekte</a:t>
            </a:r>
          </a:p>
          <a:p>
            <a:pPr>
              <a:spcAft>
                <a:spcPts val="300"/>
              </a:spcAft>
            </a:pPr>
            <a:r>
              <a:rPr sz="1300"/>
              <a:t>•  2. Vollständig: Alle 410 Mandarin-Silben × 4 Töne</a:t>
            </a:r>
          </a:p>
          <a:p>
            <a:pPr>
              <a:spcAft>
                <a:spcPts val="300"/>
              </a:spcAft>
            </a:pPr>
            <a:r>
              <a:rPr sz="1300"/>
              <a:t>•  3. Balanciert: Gleiche Anzahl pro Ton, pro Sprecher</a:t>
            </a:r>
          </a:p>
          <a:p>
            <a:pPr>
              <a:spcAft>
                <a:spcPts val="300"/>
              </a:spcAft>
            </a:pPr>
            <a:r>
              <a:rPr sz="1300"/>
              <a:t>•  4. Reproduzierbar: Öffentlich, CC-BY 4.0</a:t>
            </a:r>
          </a:p>
          <a:p>
            <a:pPr>
              <a:spcAft>
                <a:spcPts val="300"/>
              </a:spcAft>
            </a:pPr>
            <a:r>
              <a:rPr sz="1300"/>
              <a:t>•  5. Ground Truth: Professionelle Annotation (Pinyin + Tonnummer)</a:t>
            </a:r>
          </a:p>
          <a:p>
            <a:pPr>
              <a:spcAft>
                <a:spcPts val="300"/>
              </a:spcAft>
            </a:pPr>
            <a:r>
              <a:rPr sz="1300"/>
              <a: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Dataset Gaps: What's Missing?</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1865376"/>
        </p:xfrm>
        <a:graphic>
          <a:graphicData uri="http://schemas.openxmlformats.org/drawingml/2006/table">
            <a:tbl>
              <a:tblPr firstRow="1" bandRow="1">
                <a:tableStyleId>{5C22544A-7EE6-4342-B048-85BDC9FD1C3A}</a:tableStyleId>
              </a:tblPr>
              <a:tblGrid>
                <a:gridCol w="5730087"/>
                <a:gridCol w="5730087"/>
              </a:tblGrid>
              <a:tr h="310896">
                <a:tc>
                  <a:txBody>
                    <a:bodyPr wrap="square"/>
                    <a:lstStyle/>
                    <a:p>
                      <a:r>
                        <a:rPr sz="1000" b="1">
                          <a:solidFill>
                            <a:srgbClr val="FFFFFF"/>
                          </a:solidFill>
                        </a:rPr>
                        <a:t>Was haben wir</a:t>
                      </a:r>
                    </a:p>
                  </a:txBody>
                  <a:tcPr marL="45720" marR="45720" marT="18288" marB="18288" anchor="ctr">
                    <a:solidFill>
                      <a:srgbClr val="1F3A5F"/>
                    </a:solidFill>
                  </a:tcPr>
                </a:tc>
                <a:tc>
                  <a:txBody>
                    <a:bodyPr wrap="square"/>
                    <a:lstStyle/>
                    <a:p>
                      <a:r>
                        <a:rPr sz="1000" b="1">
                          <a:solidFill>
                            <a:srgbClr val="FFFFFF"/>
                          </a:solidFill>
                        </a:rPr>
                        <a:t>Was fehlt</a:t>
                      </a:r>
                    </a:p>
                  </a:txBody>
                  <a:tcPr marL="45720" marR="45720" marT="18288" marB="18288" anchor="ctr">
                    <a:solidFill>
                      <a:srgbClr val="1F3A5F"/>
                    </a:solidFill>
                  </a:tcPr>
                </a:tc>
              </a:tr>
              <a:tr h="310896">
                <a:tc>
                  <a:txBody>
                    <a:bodyPr wrap="square"/>
                    <a:lstStyle/>
                    <a:p>
                      <a:r>
                        <a:rPr sz="1000"/>
                        <a:t>AISHELL-1/2: 170-1.000h Mandarin</a:t>
                      </a:r>
                    </a:p>
                  </a:txBody>
                  <a:tcPr marL="45720" marR="45720" marT="18288" marB="18288" anchor="ctr">
                    <a:solidFill>
                      <a:srgbClr val="FFFFFF"/>
                    </a:solidFill>
                  </a:tcPr>
                </a:tc>
                <a:tc>
                  <a:txBody>
                    <a:bodyPr wrap="square"/>
                    <a:lstStyle/>
                    <a:p>
                      <a:r>
                        <a:rPr sz="1000"/>
                        <a:t>Aber: nur CER auf Zeichenebene evaluiert</a:t>
                      </a:r>
                    </a:p>
                  </a:txBody>
                  <a:tcPr marL="45720" marR="45720" marT="18288" marB="18288" anchor="ctr">
                    <a:solidFill>
                      <a:srgbClr val="FFFFFF"/>
                    </a:solidFill>
                  </a:tcPr>
                </a:tc>
              </a:tr>
              <a:tr h="310896">
                <a:tc>
                  <a:txBody>
                    <a:bodyPr wrap="square"/>
                    <a:lstStyle/>
                    <a:p>
                      <a:r>
                        <a:rPr sz="1000"/>
                        <a:t>20M+ Stunden Trainingsdaten</a:t>
                      </a:r>
                    </a:p>
                  </a:txBody>
                  <a:tcPr marL="45720" marR="45720" marT="18288" marB="18288" anchor="ctr">
                    <a:solidFill>
                      <a:srgbClr val="E8EEF4"/>
                    </a:solidFill>
                  </a:tcPr>
                </a:tc>
                <a:tc>
                  <a:txBody>
                    <a:bodyPr wrap="square"/>
                    <a:lstStyle/>
                    <a:p>
                      <a:r>
                        <a:rPr sz="1000"/>
                        <a:t>Aber: nie auf Tonebene getestet</a:t>
                      </a:r>
                    </a:p>
                  </a:txBody>
                  <a:tcPr marL="45720" marR="45720" marT="18288" marB="18288" anchor="ctr">
                    <a:solidFill>
                      <a:srgbClr val="E8EEF4"/>
                    </a:solidFill>
                  </a:tcPr>
                </a:tc>
              </a:tr>
              <a:tr h="310896">
                <a:tc>
                  <a:txBody>
                    <a:bodyPr wrap="square"/>
                    <a:lstStyle/>
                    <a:p>
                      <a:r>
                        <a:rPr sz="1000"/>
                        <a:t>15+ Papers nutzen AISHELL-1</a:t>
                      </a:r>
                    </a:p>
                  </a:txBody>
                  <a:tcPr marL="45720" marR="45720" marT="18288" marB="18288" anchor="ctr">
                    <a:solidFill>
                      <a:srgbClr val="FFFFFF"/>
                    </a:solidFill>
                  </a:tcPr>
                </a:tc>
                <a:tc>
                  <a:txBody>
                    <a:bodyPr wrap="square"/>
                    <a:lstStyle/>
                    <a:p>
                      <a:r>
                        <a:rPr sz="1000"/>
                        <a:t>Aber: kein Paper testet Silbe+Ton separat</a:t>
                      </a:r>
                    </a:p>
                  </a:txBody>
                  <a:tcPr marL="45720" marR="45720" marT="18288" marB="18288" anchor="ctr">
                    <a:solidFill>
                      <a:srgbClr val="FFFFFF"/>
                    </a:solidFill>
                  </a:tcPr>
                </a:tc>
              </a:tr>
              <a:tr h="310896">
                <a:tc>
                  <a:txBody>
                    <a:bodyPr wrap="square"/>
                    <a:lstStyle/>
                    <a:p>
                      <a:r>
                        <a:rPr sz="1000"/>
                        <a:t>Tone Perfect: perfektes Ton-Korpus</a:t>
                      </a:r>
                    </a:p>
                  </a:txBody>
                  <a:tcPr marL="45720" marR="45720" marT="18288" marB="18288" anchor="ctr">
                    <a:solidFill>
                      <a:srgbClr val="E8EEF4"/>
                    </a:solidFill>
                  </a:tcPr>
                </a:tc>
                <a:tc>
                  <a:txBody>
                    <a:bodyPr wrap="square"/>
                    <a:lstStyle/>
                    <a:p>
                      <a:r>
                        <a:rPr sz="1000"/>
                        <a:t>Aber: nur 2 Papers nutzen es</a:t>
                      </a:r>
                    </a:p>
                  </a:txBody>
                  <a:tcPr marL="45720" marR="45720" marT="18288" marB="18288" anchor="ctr">
                    <a:solidFill>
                      <a:srgbClr val="E8EEF4"/>
                    </a:solidFill>
                  </a:tcPr>
                </a:tc>
              </a:tr>
              <a:tr h="310896">
                <a:tc>
                  <a:txBody>
                    <a:bodyPr wrap="square"/>
                    <a:lstStyle/>
                    <a:p>
                      <a:r>
                        <a:rPr sz="1000"/>
                        <a:t>LATIC: einziger L2-Datensatz mit Tönen</a:t>
                      </a:r>
                    </a:p>
                  </a:txBody>
                  <a:tcPr marL="45720" marR="45720" marT="18288" marB="18288" anchor="ctr">
                    <a:solidFill>
                      <a:srgbClr val="FFFFFF"/>
                    </a:solidFill>
                  </a:tcPr>
                </a:tc>
                <a:tc>
                  <a:txBody>
                    <a:bodyPr wrap="square"/>
                    <a:lstStyle/>
                    <a:p>
                      <a:r>
                        <a:rPr sz="1000"/>
                        <a:t>Aber: nur 4h, 4 Sprecher, 1 Paper</a:t>
                      </a:r>
                    </a:p>
                  </a:txBody>
                  <a:tcPr marL="45720" marR="45720" marT="18288" marB="18288" anchor="ctr">
                    <a:solidFill>
                      <a:srgbClr val="FFFFFF"/>
                    </a:solidFill>
                  </a:tcPr>
                </a:tc>
              </a:tr>
            </a:tbl>
          </a:graphicData>
        </a:graphic>
      </p:graphicFrame>
      <p:sp>
        <p:nvSpPr>
          <p:cNvPr id="5" name="TextBox 4"/>
          <p:cNvSpPr txBox="1"/>
          <p:nvPr/>
        </p:nvSpPr>
        <p:spPr>
          <a:xfrm>
            <a:off x="411480" y="3081528"/>
            <a:ext cx="11368735" cy="969264"/>
          </a:xfrm>
          <a:prstGeom prst="rect">
            <a:avLst/>
          </a:prstGeom>
          <a:noFill/>
        </p:spPr>
        <p:txBody>
          <a:bodyPr wrap="square">
            <a:spAutoFit/>
          </a:bodyPr>
          <a:lstStyle/>
          <a:p>
            <a:pPr>
              <a:spcAft>
                <a:spcPts val="300"/>
              </a:spcAft>
            </a:pPr>
            <a:r>
              <a:rPr sz="1300"/>
              <a:t>•  1. Kein Datensatz wird für LLM-Tonevaluation genutzt</a:t>
            </a:r>
          </a:p>
          <a:p>
            <a:pPr>
              <a:spcAft>
                <a:spcPts val="300"/>
              </a:spcAft>
            </a:pPr>
            <a:r>
              <a:rPr sz="1300"/>
              <a:t>•  2. Kein Paper evaluiert multimodale LLMs auf Tone Perfect</a:t>
            </a:r>
          </a:p>
          <a:p>
            <a:pPr>
              <a:spcAft>
                <a:spcPts val="300"/>
              </a:spcAft>
            </a:pPr>
            <a:r>
              <a:rPr sz="1300"/>
              <a:t>•  3. Kein L2-Mandarin-Datensatz wurde mit LLMs getestet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728655" cy="1371600"/>
          </a:xfrm>
          <a:prstGeom prst="rect">
            <a:avLst/>
          </a:prstGeom>
          <a:noFill/>
        </p:spPr>
        <p:txBody>
          <a:bodyPr wrap="square">
            <a:spAutoFit/>
          </a:bodyPr>
          <a:lstStyle/>
          <a:p>
            <a:r>
              <a:rPr sz="3400" b="1">
                <a:solidFill>
                  <a:srgbClr val="FFFFFF"/>
                </a:solidFill>
              </a:rPr>
              <a:t>Korpus-Auswahl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20 Mandarin-Korpora recherchiert — nur 3 passen wirklich</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344168"/>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20 recherchiert</a:t>
            </a:r>
          </a:p>
          <a:p>
            <a:pPr>
              <a:lnSpc>
                <a:spcPct val="100000"/>
              </a:lnSpc>
              <a:spcAft>
                <a:spcPts val="0"/>
              </a:spcAft>
            </a:pPr>
            <a:r>
              <a:rPr sz="900">
                <a:solidFill>
                  <a:srgbClr val="223344"/>
                </a:solidFill>
                <a:latin typeface="Consolas"/>
              </a:rPr>
              <a:t> └─ 16 mit Audio</a:t>
            </a:r>
          </a:p>
          <a:p>
            <a:pPr>
              <a:lnSpc>
                <a:spcPct val="100000"/>
              </a:lnSpc>
              <a:spcAft>
                <a:spcPts val="0"/>
              </a:spcAft>
            </a:pPr>
            <a:r>
              <a:rPr sz="900">
                <a:solidFill>
                  <a:srgbClr val="223344"/>
                </a:solidFill>
                <a:latin typeface="Consolas"/>
              </a:rPr>
              <a:t>     └─ 9 öffentlich verfügbar</a:t>
            </a:r>
          </a:p>
          <a:p>
            <a:pPr>
              <a:lnSpc>
                <a:spcPct val="100000"/>
              </a:lnSpc>
              <a:spcAft>
                <a:spcPts val="0"/>
              </a:spcAft>
            </a:pPr>
            <a:r>
              <a:rPr sz="900">
                <a:solidFill>
                  <a:srgbClr val="223344"/>
                </a:solidFill>
                <a:latin typeface="Consolas"/>
              </a:rPr>
              <a:t>         └─ 5 mit Tonannotation</a:t>
            </a:r>
          </a:p>
          <a:p>
            <a:pPr>
              <a:lnSpc>
                <a:spcPct val="100000"/>
              </a:lnSpc>
              <a:spcAft>
                <a:spcPts val="0"/>
              </a:spcAft>
            </a:pPr>
            <a:r>
              <a:rPr sz="900">
                <a:solidFill>
                  <a:srgbClr val="223344"/>
                </a:solidFill>
                <a:latin typeface="Consolas"/>
              </a:rPr>
              <a:t>             └─ 3 direkt nutzbar für RQ2/RQ3</a:t>
            </a:r>
          </a:p>
          <a:p>
            <a:pPr>
              <a:lnSpc>
                <a:spcPct val="100000"/>
              </a:lnSpc>
              <a:spcAft>
                <a:spcPts val="0"/>
              </a:spcAft>
            </a:pPr>
            <a:r>
              <a:rPr sz="900">
                <a:solidFill>
                  <a:srgbClr val="223344"/>
                </a:solidFill>
                <a:latin typeface="Consolas"/>
              </a:rPr>
              <a:t>                  ├── Tone Perfect  (RQ2: Native)</a:t>
            </a:r>
          </a:p>
          <a:p>
            <a:pPr>
              <a:lnSpc>
                <a:spcPct val="100000"/>
              </a:lnSpc>
              <a:spcAft>
                <a:spcPts val="0"/>
              </a:spcAft>
            </a:pPr>
            <a:r>
              <a:rPr sz="900">
                <a:solidFill>
                  <a:srgbClr val="223344"/>
                </a:solidFill>
                <a:latin typeface="Consolas"/>
              </a:rPr>
              <a:t>                  ├── LATIC         (RQ3: L2)</a:t>
            </a:r>
          </a:p>
          <a:p>
            <a:pPr>
              <a:lnSpc>
                <a:spcPct val="100000"/>
              </a:lnSpc>
              <a:spcAft>
                <a:spcPts val="0"/>
              </a:spcAft>
            </a:pPr>
            <a:r>
              <a:rPr sz="900">
                <a:solidFill>
                  <a:srgbClr val="223344"/>
                </a:solidFill>
                <a:latin typeface="Consolas"/>
              </a:rPr>
              <a:t>                  └── OMPAL         (RQ3: L2)</a:t>
            </a:r>
          </a:p>
        </p:txBody>
      </p:sp>
      <p:sp>
        <p:nvSpPr>
          <p:cNvPr id="5" name="TextBox 4"/>
          <p:cNvSpPr txBox="1"/>
          <p:nvPr/>
        </p:nvSpPr>
        <p:spPr>
          <a:xfrm>
            <a:off x="411480" y="2514600"/>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Korpus-Übersicht: Native, L2, und warum die meisten nicht passen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69" cy="3419856"/>
        </p:xfrm>
        <a:graphic>
          <a:graphicData uri="http://schemas.openxmlformats.org/drawingml/2006/table">
            <a:tbl>
              <a:tblPr firstRow="1" bandRow="1">
                <a:tableStyleId>{5C22544A-7EE6-4342-B048-85BDC9FD1C3A}</a:tableStyleId>
              </a:tblPr>
              <a:tblGrid>
                <a:gridCol w="1637167"/>
                <a:gridCol w="1637167"/>
                <a:gridCol w="1637167"/>
                <a:gridCol w="1637167"/>
                <a:gridCol w="1637167"/>
                <a:gridCol w="1637167"/>
                <a:gridCol w="1637167"/>
              </a:tblGrid>
              <a:tr h="310896">
                <a:tc>
                  <a:txBody>
                    <a:bodyPr wrap="square"/>
                    <a:lstStyle/>
                    <a:p>
                      <a:r>
                        <a:rPr sz="1000" b="1">
                          <a:solidFill>
                            <a:srgbClr val="FFFFFF"/>
                          </a:solidFill>
                        </a:rPr>
                        <a:t>Korpus</a:t>
                      </a:r>
                    </a:p>
                  </a:txBody>
                  <a:tcPr marL="45720" marR="45720" marT="18288" marB="18288" anchor="ctr">
                    <a:solidFill>
                      <a:srgbClr val="1F3A5F"/>
                    </a:solidFill>
                  </a:tcPr>
                </a:tc>
                <a:tc>
                  <a:txBody>
                    <a:bodyPr wrap="square"/>
                    <a:lstStyle/>
                    <a:p>
                      <a:r>
                        <a:rPr sz="1000" b="1">
                          <a:solidFill>
                            <a:srgbClr val="FFFFFF"/>
                          </a:solidFill>
                        </a:rPr>
                        <a:t>Typ</a:t>
                      </a:r>
                    </a:p>
                  </a:txBody>
                  <a:tcPr marL="45720" marR="45720" marT="18288" marB="18288" anchor="ctr">
                    <a:solidFill>
                      <a:srgbClr val="1F3A5F"/>
                    </a:solidFill>
                  </a:tcPr>
                </a:tc>
                <a:tc>
                  <a:txBody>
                    <a:bodyPr wrap="square"/>
                    <a:lstStyle/>
                    <a:p>
                      <a:r>
                        <a:rPr sz="1000" b="1">
                          <a:solidFill>
                            <a:srgbClr val="FFFFFF"/>
                          </a:solidFill>
                        </a:rPr>
                        <a:t>Sprecher</a:t>
                      </a:r>
                    </a:p>
                  </a:txBody>
                  <a:tcPr marL="45720" marR="45720" marT="18288" marB="18288" anchor="ctr">
                    <a:solidFill>
                      <a:srgbClr val="1F3A5F"/>
                    </a:solidFill>
                  </a:tcPr>
                </a:tc>
                <a:tc>
                  <a:txBody>
                    <a:bodyPr wrap="square"/>
                    <a:lstStyle/>
                    <a:p>
                      <a:r>
                        <a:rPr sz="1000" b="1">
                          <a:solidFill>
                            <a:srgbClr val="FFFFFF"/>
                          </a:solidFill>
                        </a:rPr>
                        <a:t>Std</a:t>
                      </a:r>
                    </a:p>
                  </a:txBody>
                  <a:tcPr marL="45720" marR="45720" marT="18288" marB="18288" anchor="ctr">
                    <a:solidFill>
                      <a:srgbClr val="1F3A5F"/>
                    </a:solidFill>
                  </a:tcPr>
                </a:tc>
                <a:tc>
                  <a:txBody>
                    <a:bodyPr wrap="square"/>
                    <a:lstStyle/>
                    <a:p>
                      <a:r>
                        <a:rPr sz="1000" b="1">
                          <a:solidFill>
                            <a:srgbClr val="FFFFFF"/>
                          </a:solidFill>
                        </a:rPr>
                        <a:t>Töne</a:t>
                      </a:r>
                    </a:p>
                  </a:txBody>
                  <a:tcPr marL="45720" marR="45720" marT="18288" marB="18288" anchor="ctr">
                    <a:solidFill>
                      <a:srgbClr val="1F3A5F"/>
                    </a:solidFill>
                  </a:tcPr>
                </a:tc>
                <a:tc>
                  <a:txBody>
                    <a:bodyPr wrap="square"/>
                    <a:lstStyle/>
                    <a:p>
                      <a:r>
                        <a:rPr sz="1000" b="1">
                          <a:solidFill>
                            <a:srgbClr val="FFFFFF"/>
                          </a:solidFill>
                        </a:rPr>
                        <a:t>Frei</a:t>
                      </a:r>
                    </a:p>
                  </a:txBody>
                  <a:tcPr marL="45720" marR="45720" marT="18288" marB="18288" anchor="ctr">
                    <a:solidFill>
                      <a:srgbClr val="1F3A5F"/>
                    </a:solidFill>
                  </a:tcPr>
                </a:tc>
                <a:tc>
                  <a:txBody>
                    <a:bodyPr wrap="square"/>
                    <a:lstStyle/>
                    <a:p>
                      <a:r>
                        <a:rPr sz="1000" b="1">
                          <a:solidFill>
                            <a:srgbClr val="FFFFFF"/>
                          </a:solidFill>
                        </a:rPr>
                        <a:t>Für uns</a:t>
                      </a:r>
                    </a:p>
                  </a:txBody>
                  <a:tcPr marL="45720" marR="45720" marT="18288" marB="18288" anchor="ctr">
                    <a:solidFill>
                      <a:srgbClr val="1F3A5F"/>
                    </a:solidFill>
                  </a:tcPr>
                </a:tc>
              </a:tr>
              <a:tr h="310896">
                <a:tc>
                  <a:txBody>
                    <a:bodyPr wrap="square"/>
                    <a:lstStyle/>
                    <a:p>
                      <a:r>
                        <a:rPr sz="1000"/>
                        <a:t>Tone Perfect ⭐</a:t>
                      </a:r>
                    </a:p>
                  </a:txBody>
                  <a:tcPr marL="45720" marR="45720" marT="18288" marB="18288" anchor="ctr">
                    <a:solidFill>
                      <a:srgbClr val="FFFFFF"/>
                    </a:solidFill>
                  </a:tcPr>
                </a:tc>
                <a:tc>
                  <a:txBody>
                    <a:bodyPr wrap="square"/>
                    <a:lstStyle/>
                    <a:p>
                      <a:r>
                        <a:rPr sz="1000"/>
                        <a:t>Silben, Native</a:t>
                      </a:r>
                    </a:p>
                  </a:txBody>
                  <a:tcPr marL="45720" marR="45720" marT="18288" marB="18288" anchor="ctr">
                    <a:solidFill>
                      <a:srgbClr val="FFFFFF"/>
                    </a:solidFill>
                  </a:tcPr>
                </a:tc>
                <a:tc>
                  <a:txBody>
                    <a:bodyPr wrap="square"/>
                    <a:lstStyle/>
                    <a:p>
                      <a:r>
                        <a:rPr sz="1000"/>
                        <a:t>6 (Beijing)</a:t>
                      </a:r>
                    </a:p>
                  </a:txBody>
                  <a:tcPr marL="45720" marR="45720" marT="18288" marB="18288" anchor="ctr">
                    <a:solidFill>
                      <a:srgbClr val="FFFFFF"/>
                    </a:solidFill>
                  </a:tcPr>
                </a:tc>
                <a:tc>
                  <a:txBody>
                    <a:bodyPr wrap="square"/>
                    <a:lstStyle/>
                    <a:p>
                      <a:r>
                        <a:rPr sz="1000"/>
                        <a:t>~2h</a:t>
                      </a:r>
                    </a:p>
                  </a:txBody>
                  <a:tcPr marL="45720" marR="45720" marT="18288" marB="18288" anchor="ctr">
                    <a:solidFill>
                      <a:srgbClr val="FFFFFF"/>
                    </a:solidFill>
                  </a:tcPr>
                </a:tc>
                <a:tc>
                  <a:txBody>
                    <a:bodyPr wrap="square"/>
                    <a:lstStyle/>
                    <a:p>
                      <a:r>
                        <a:rPr sz="1000"/>
                        <a:t>✅ T1–T4</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RQ2</a:t>
                      </a:r>
                    </a:p>
                  </a:txBody>
                  <a:tcPr marL="45720" marR="45720" marT="18288" marB="18288" anchor="ctr">
                    <a:solidFill>
                      <a:srgbClr val="FFFFFF"/>
                    </a:solidFill>
                  </a:tcPr>
                </a:tc>
              </a:tr>
              <a:tr h="310896">
                <a:tc>
                  <a:txBody>
                    <a:bodyPr wrap="square"/>
                    <a:lstStyle/>
                    <a:p>
                      <a:r>
                        <a:rPr sz="1000"/>
                        <a:t>LATIC ⭐</a:t>
                      </a:r>
                    </a:p>
                  </a:txBody>
                  <a:tcPr marL="45720" marR="45720" marT="18288" marB="18288" anchor="ctr">
                    <a:solidFill>
                      <a:srgbClr val="E8EEF4"/>
                    </a:solidFill>
                  </a:tcPr>
                </a:tc>
                <a:tc>
                  <a:txBody>
                    <a:bodyPr wrap="square"/>
                    <a:lstStyle/>
                    <a:p>
                      <a:r>
                        <a:rPr sz="1000"/>
                        <a:t>Wörter, L2</a:t>
                      </a:r>
                    </a:p>
                  </a:txBody>
                  <a:tcPr marL="45720" marR="45720" marT="18288" marB="18288" anchor="ctr">
                    <a:solidFill>
                      <a:srgbClr val="E8EEF4"/>
                    </a:solidFill>
                  </a:tcPr>
                </a:tc>
                <a:tc>
                  <a:txBody>
                    <a:bodyPr wrap="square"/>
                    <a:lstStyle/>
                    <a:p>
                      <a:r>
                        <a:rPr sz="1000"/>
                        <a:t>4 (4 L1s)</a:t>
                      </a:r>
                    </a:p>
                  </a:txBody>
                  <a:tcPr marL="45720" marR="45720" marT="18288" marB="18288" anchor="ctr">
                    <a:solidFill>
                      <a:srgbClr val="E8EEF4"/>
                    </a:solidFill>
                  </a:tcPr>
                </a:tc>
                <a:tc>
                  <a:txBody>
                    <a:bodyPr wrap="square"/>
                    <a:lstStyle/>
                    <a:p>
                      <a:r>
                        <a:rPr sz="1000"/>
                        <a:t>4h</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RQ3</a:t>
                      </a:r>
                    </a:p>
                  </a:txBody>
                  <a:tcPr marL="45720" marR="45720" marT="18288" marB="18288" anchor="ctr">
                    <a:solidFill>
                      <a:srgbClr val="E8EEF4"/>
                    </a:solidFill>
                  </a:tcPr>
                </a:tc>
              </a:tr>
              <a:tr h="310896">
                <a:tc>
                  <a:txBody>
                    <a:bodyPr wrap="square"/>
                    <a:lstStyle/>
                    <a:p>
                      <a:r>
                        <a:rPr sz="1000"/>
                        <a:t>OMPAL ⭐</a:t>
                      </a:r>
                    </a:p>
                  </a:txBody>
                  <a:tcPr marL="45720" marR="45720" marT="18288" marB="18288" anchor="ctr">
                    <a:solidFill>
                      <a:srgbClr val="FFFFFF"/>
                    </a:solidFill>
                  </a:tcPr>
                </a:tc>
                <a:tc>
                  <a:txBody>
                    <a:bodyPr wrap="square"/>
                    <a:lstStyle/>
                    <a:p>
                      <a:r>
                        <a:rPr sz="1000"/>
                        <a:t>Sätze, L2</a:t>
                      </a:r>
                    </a:p>
                  </a:txBody>
                  <a:tcPr marL="45720" marR="45720" marT="18288" marB="18288" anchor="ctr">
                    <a:solidFill>
                      <a:srgbClr val="FFFFFF"/>
                    </a:solidFill>
                  </a:tcPr>
                </a:tc>
                <a:tc>
                  <a:txBody>
                    <a:bodyPr wrap="square"/>
                    <a:lstStyle/>
                    <a:p>
                      <a:r>
                        <a:rPr sz="1000"/>
                        <a:t>46 (Frz.)</a:t>
                      </a:r>
                    </a:p>
                  </a:txBody>
                  <a:tcPr marL="45720" marR="45720" marT="18288" marB="18288" anchor="ctr">
                    <a:solidFill>
                      <a:srgbClr val="FFFFFF"/>
                    </a:solidFill>
                  </a:tcPr>
                </a:tc>
                <a:tc>
                  <a:txBody>
                    <a:bodyPr wrap="square"/>
                    <a:lstStyle/>
                    <a:p>
                      <a:r>
                        <a:rPr sz="1000"/>
                        <a:t>2,9h</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RQ3</a:t>
                      </a:r>
                    </a:p>
                  </a:txBody>
                  <a:tcPr marL="45720" marR="45720" marT="18288" marB="18288" anchor="ctr">
                    <a:solidFill>
                      <a:srgbClr val="FFFFFF"/>
                    </a:solidFill>
                  </a:tcPr>
                </a:tc>
              </a:tr>
              <a:tr h="310896">
                <a:tc>
                  <a:txBody>
                    <a:bodyPr wrap="square"/>
                    <a:lstStyle/>
                    <a:p>
                      <a:r>
                        <a:rPr sz="1000"/>
                        <a:t>AISHELL-1</a:t>
                      </a:r>
                    </a:p>
                  </a:txBody>
                  <a:tcPr marL="45720" marR="45720" marT="18288" marB="18288" anchor="ctr">
                    <a:solidFill>
                      <a:srgbClr val="E8EEF4"/>
                    </a:solidFill>
                  </a:tcPr>
                </a:tc>
                <a:tc>
                  <a:txBody>
                    <a:bodyPr wrap="square"/>
                    <a:lstStyle/>
                    <a:p>
                      <a:r>
                        <a:rPr sz="1000"/>
                        <a:t>Sätze, Native</a:t>
                      </a:r>
                    </a:p>
                  </a:txBody>
                  <a:tcPr marL="45720" marR="45720" marT="18288" marB="18288" anchor="ctr">
                    <a:solidFill>
                      <a:srgbClr val="E8EEF4"/>
                    </a:solidFill>
                  </a:tcPr>
                </a:tc>
                <a:tc>
                  <a:txBody>
                    <a:bodyPr wrap="square"/>
                    <a:lstStyle/>
                    <a:p>
                      <a:r>
                        <a:rPr sz="1000"/>
                        <a:t>400</a:t>
                      </a:r>
                    </a:p>
                  </a:txBody>
                  <a:tcPr marL="45720" marR="45720" marT="18288" marB="18288" anchor="ctr">
                    <a:solidFill>
                      <a:srgbClr val="E8EEF4"/>
                    </a:solidFill>
                  </a:tcPr>
                </a:tc>
                <a:tc>
                  <a:txBody>
                    <a:bodyPr wrap="square"/>
                    <a:lstStyle/>
                    <a:p>
                      <a:r>
                        <a:rPr sz="1000"/>
                        <a:t>170h</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Baseline</a:t>
                      </a:r>
                    </a:p>
                  </a:txBody>
                  <a:tcPr marL="45720" marR="45720" marT="18288" marB="18288" anchor="ctr">
                    <a:solidFill>
                      <a:srgbClr val="E8EEF4"/>
                    </a:solidFill>
                  </a:tcPr>
                </a:tc>
              </a:tr>
              <a:tr h="310896">
                <a:tc>
                  <a:txBody>
                    <a:bodyPr wrap="square"/>
                    <a:lstStyle/>
                    <a:p>
                      <a:r>
                        <a:rPr sz="1000"/>
                        <a:t>THCHS-30</a:t>
                      </a:r>
                    </a:p>
                  </a:txBody>
                  <a:tcPr marL="45720" marR="45720" marT="18288" marB="18288" anchor="ctr">
                    <a:solidFill>
                      <a:srgbClr val="FFFFFF"/>
                    </a:solidFill>
                  </a:tcPr>
                </a:tc>
                <a:tc>
                  <a:txBody>
                    <a:bodyPr wrap="square"/>
                    <a:lstStyle/>
                    <a:p>
                      <a:r>
                        <a:rPr sz="1000"/>
                        <a:t>Sätze, Native</a:t>
                      </a:r>
                    </a:p>
                  </a:txBody>
                  <a:tcPr marL="45720" marR="45720" marT="18288" marB="18288" anchor="ctr">
                    <a:solidFill>
                      <a:srgbClr val="FFFFFF"/>
                    </a:solidFill>
                  </a:tcPr>
                </a:tc>
                <a:tc>
                  <a:txBody>
                    <a:bodyPr wrap="square"/>
                    <a:lstStyle/>
                    <a:p>
                      <a:r>
                        <a:rPr sz="1000"/>
                        <a:t>50</a:t>
                      </a:r>
                    </a:p>
                  </a:txBody>
                  <a:tcPr marL="45720" marR="45720" marT="18288" marB="18288" anchor="ctr">
                    <a:solidFill>
                      <a:srgbClr val="FFFFFF"/>
                    </a:solidFill>
                  </a:tcPr>
                </a:tc>
                <a:tc>
                  <a:txBody>
                    <a:bodyPr wrap="square"/>
                    <a:lstStyle/>
                    <a:p>
                      <a:r>
                        <a:rPr sz="1000"/>
                        <a:t>33,5h</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Baseline</a:t>
                      </a:r>
                    </a:p>
                  </a:txBody>
                  <a:tcPr marL="45720" marR="45720" marT="18288" marB="18288" anchor="ctr">
                    <a:solidFill>
                      <a:srgbClr val="FFFFFF"/>
                    </a:solidFill>
                  </a:tcPr>
                </a:tc>
              </a:tr>
              <a:tr h="310896">
                <a:tc>
                  <a:txBody>
                    <a:bodyPr wrap="square"/>
                    <a:lstStyle/>
                    <a:p>
                      <a:r>
                        <a:rPr sz="1000"/>
                        <a:t>MAGICDATA</a:t>
                      </a:r>
                    </a:p>
                  </a:txBody>
                  <a:tcPr marL="45720" marR="45720" marT="18288" marB="18288" anchor="ctr">
                    <a:solidFill>
                      <a:srgbClr val="E8EEF4"/>
                    </a:solidFill>
                  </a:tcPr>
                </a:tc>
                <a:tc>
                  <a:txBody>
                    <a:bodyPr wrap="square"/>
                    <a:lstStyle/>
                    <a:p>
                      <a:r>
                        <a:rPr sz="1000"/>
                        <a:t>Sätze, Native</a:t>
                      </a:r>
                    </a:p>
                  </a:txBody>
                  <a:tcPr marL="45720" marR="45720" marT="18288" marB="18288" anchor="ctr">
                    <a:solidFill>
                      <a:srgbClr val="E8EEF4"/>
                    </a:solidFill>
                  </a:tcPr>
                </a:tc>
                <a:tc>
                  <a:txBody>
                    <a:bodyPr wrap="square"/>
                    <a:lstStyle/>
                    <a:p>
                      <a:r>
                        <a:rPr sz="1000"/>
                        <a:t>1.080</a:t>
                      </a:r>
                    </a:p>
                  </a:txBody>
                  <a:tcPr marL="45720" marR="45720" marT="18288" marB="18288" anchor="ctr">
                    <a:solidFill>
                      <a:srgbClr val="E8EEF4"/>
                    </a:solidFill>
                  </a:tcPr>
                </a:tc>
                <a:tc>
                  <a:txBody>
                    <a:bodyPr wrap="square"/>
                    <a:lstStyle/>
                    <a:p>
                      <a:r>
                        <a:rPr sz="1000"/>
                        <a:t>755h</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r>
              <a:tr h="310896">
                <a:tc>
                  <a:txBody>
                    <a:bodyPr wrap="square"/>
                    <a:lstStyle/>
                    <a:p>
                      <a:r>
                        <a:rPr sz="1000"/>
                        <a:t>iCALL</a:t>
                      </a:r>
                    </a:p>
                  </a:txBody>
                  <a:tcPr marL="45720" marR="45720" marT="18288" marB="18288" anchor="ctr">
                    <a:solidFill>
                      <a:srgbClr val="FFFFFF"/>
                    </a:solidFill>
                  </a:tcPr>
                </a:tc>
                <a:tc>
                  <a:txBody>
                    <a:bodyPr wrap="square"/>
                    <a:lstStyle/>
                    <a:p>
                      <a:r>
                        <a:rPr sz="1000"/>
                        <a:t>Sätze, L2</a:t>
                      </a:r>
                    </a:p>
                  </a:txBody>
                  <a:tcPr marL="45720" marR="45720" marT="18288" marB="18288" anchor="ctr">
                    <a:solidFill>
                      <a:srgbClr val="FFFFFF"/>
                    </a:solidFill>
                  </a:tcPr>
                </a:tc>
                <a:tc>
                  <a:txBody>
                    <a:bodyPr wrap="square"/>
                    <a:lstStyle/>
                    <a:p>
                      <a:r>
                        <a:rPr sz="1000"/>
                        <a:t>305 (24 L1s)</a:t>
                      </a:r>
                    </a:p>
                  </a:txBody>
                  <a:tcPr marL="45720" marR="45720" marT="18288" marB="18288" anchor="ctr">
                    <a:solidFill>
                      <a:srgbClr val="FFFFFF"/>
                    </a:solidFill>
                  </a:tcPr>
                </a:tc>
                <a:tc>
                  <a:txBody>
                    <a:bodyPr wrap="square"/>
                    <a:lstStyle/>
                    <a:p>
                      <a:r>
                        <a:rPr sz="1000"/>
                        <a:t>142h</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Bonus</a:t>
                      </a:r>
                    </a:p>
                  </a:txBody>
                  <a:tcPr marL="45720" marR="45720" marT="18288" marB="18288" anchor="ctr">
                    <a:solidFill>
                      <a:srgbClr val="FFFFFF"/>
                    </a:solidFill>
                  </a:tcPr>
                </a:tc>
              </a:tr>
              <a:tr h="310896">
                <a:tc>
                  <a:txBody>
                    <a:bodyPr wrap="square"/>
                    <a:lstStyle/>
                    <a:p>
                      <a:r>
                        <a:rPr sz="1000"/>
                        <a:t>SingaKids</a:t>
                      </a:r>
                    </a:p>
                  </a:txBody>
                  <a:tcPr marL="45720" marR="45720" marT="18288" marB="18288" anchor="ctr">
                    <a:solidFill>
                      <a:srgbClr val="E8EEF4"/>
                    </a:solidFill>
                  </a:tcPr>
                </a:tc>
                <a:tc>
                  <a:txBody>
                    <a:bodyPr wrap="square"/>
                    <a:lstStyle/>
                    <a:p>
                      <a:r>
                        <a:rPr sz="1000"/>
                        <a:t>Sätze, L2-Kinder</a:t>
                      </a:r>
                    </a:p>
                  </a:txBody>
                  <a:tcPr marL="45720" marR="45720" marT="18288" marB="18288" anchor="ctr">
                    <a:solidFill>
                      <a:srgbClr val="E8EEF4"/>
                    </a:solidFill>
                  </a:tcPr>
                </a:tc>
                <a:tc>
                  <a:txBody>
                    <a:bodyPr wrap="square"/>
                    <a:lstStyle/>
                    <a:p>
                      <a:r>
                        <a:rPr sz="1000"/>
                        <a:t>255 (SG)</a:t>
                      </a:r>
                    </a:p>
                  </a:txBody>
                  <a:tcPr marL="45720" marR="45720" marT="18288" marB="18288" anchor="ctr">
                    <a:solidFill>
                      <a:srgbClr val="E8EEF4"/>
                    </a:solidFill>
                  </a:tcPr>
                </a:tc>
                <a:tc>
                  <a:txBody>
                    <a:bodyPr wrap="square"/>
                    <a:lstStyle/>
                    <a:p>
                      <a:r>
                        <a:rPr sz="1000"/>
                        <a:t>125h</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Bonus</a:t>
                      </a:r>
                    </a:p>
                  </a:txBody>
                  <a:tcPr marL="45720" marR="45720" marT="18288" marB="18288" anchor="ctr">
                    <a:solidFill>
                      <a:srgbClr val="E8EEF4"/>
                    </a:solidFill>
                  </a:tcPr>
                </a:tc>
              </a:tr>
              <a:tr h="310896">
                <a:tc>
                  <a:txBody>
                    <a:bodyPr wrap="square"/>
                    <a:lstStyle/>
                    <a:p>
                      <a:r>
                        <a:rPr sz="1000"/>
                        <a:t>KeSpeech</a:t>
                      </a:r>
                    </a:p>
                  </a:txBody>
                  <a:tcPr marL="45720" marR="45720" marT="18288" marB="18288" anchor="ctr">
                    <a:solidFill>
                      <a:srgbClr val="FFFFFF"/>
                    </a:solidFill>
                  </a:tcPr>
                </a:tc>
                <a:tc>
                  <a:txBody>
                    <a:bodyPr wrap="square"/>
                    <a:lstStyle/>
                    <a:p>
                      <a:r>
                        <a:rPr sz="1000"/>
                        <a:t>Sätze+Dialekte</a:t>
                      </a:r>
                    </a:p>
                  </a:txBody>
                  <a:tcPr marL="45720" marR="45720" marT="18288" marB="18288" anchor="ctr">
                    <a:solidFill>
                      <a:srgbClr val="FFFFFF"/>
                    </a:solidFill>
                  </a:tcPr>
                </a:tc>
                <a:tc>
                  <a:txBody>
                    <a:bodyPr wrap="square"/>
                    <a:lstStyle/>
                    <a:p>
                      <a:r>
                        <a:rPr sz="1000"/>
                        <a:t>27.237</a:t>
                      </a:r>
                    </a:p>
                  </a:txBody>
                  <a:tcPr marL="45720" marR="45720" marT="18288" marB="18288" anchor="ctr">
                    <a:solidFill>
                      <a:srgbClr val="FFFFFF"/>
                    </a:solidFill>
                  </a:tcPr>
                </a:tc>
                <a:tc>
                  <a:txBody>
                    <a:bodyPr wrap="square"/>
                    <a:lstStyle/>
                    <a:p>
                      <a:r>
                        <a:rPr sz="1000"/>
                        <a:t>1.542h</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Dialekte</a:t>
                      </a:r>
                    </a:p>
                  </a:txBody>
                  <a:tcPr marL="45720" marR="45720" marT="18288" marB="18288" anchor="ctr">
                    <a:solidFill>
                      <a:srgbClr val="FFFFFF"/>
                    </a:solidFill>
                  </a:tcPr>
                </a:tc>
              </a:tr>
              <a:tr h="310896">
                <a:tc>
                  <a:txBody>
                    <a:bodyPr wrap="square"/>
                    <a:lstStyle/>
                    <a:p>
                      <a:r>
                        <a:rPr sz="1000"/>
                        <a:t>*8 weitere*</a:t>
                      </a:r>
                    </a:p>
                  </a:txBody>
                  <a:tcPr marL="45720" marR="45720" marT="18288" marB="18288" anchor="ctr">
                    <a:solidFill>
                      <a:srgbClr val="E8EEF4"/>
                    </a:solidFill>
                  </a:tcPr>
                </a:tc>
                <a:tc>
                  <a:txBody>
                    <a:bodyPr wrap="square"/>
                    <a:lstStyle/>
                    <a:p>
                      <a:r>
                        <a:rPr sz="1000"/>
                        <a:t>*diverse*</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r>
            </a:tbl>
          </a:graphicData>
        </a:graphic>
      </p:graphicFrame>
      <p:sp>
        <p:nvSpPr>
          <p:cNvPr id="5" name="TextBox 4"/>
          <p:cNvSpPr txBox="1"/>
          <p:nvPr/>
        </p:nvSpPr>
        <p:spPr>
          <a:xfrm>
            <a:off x="411480" y="4636008"/>
            <a:ext cx="11368735" cy="676656"/>
          </a:xfrm>
          <a:prstGeom prst="rect">
            <a:avLst/>
          </a:prstGeom>
          <a:noFill/>
        </p:spPr>
        <p:txBody>
          <a:bodyPr wrap="square">
            <a:spAutoFit/>
          </a:bodyPr>
          <a:lstStyle/>
          <a:p>
            <a:pPr>
              <a:spcAft>
                <a:spcPts val="300"/>
              </a:spcAft>
            </a:pPr>
            <a:r>
              <a:rPr i="1" sz="1200">
                <a:solidFill>
                  <a:srgbClr val="444444"/>
                </a:solidFill>
              </a:rPr>
              <a:t>„Ausgeschlossen: Sinica (Textkorpus), Biaobei (TTS), CS-Dialogue (Code-Switch), EdUHK (Kantonesisch), Spoken Chinese L2 (nur Transkripte)"</a:t>
            </a:r>
          </a:p>
          <a:p>
            <a:pPr>
              <a:spcAft>
                <a:spcPts val="300"/>
              </a:spcAft>
            </a:pPr>
            <a:r>
              <a:rPr sz="1300"/>
              <a:t>•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Tone Perfect — Perfekt für isolierte Tonevaluation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495044"/>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Tone Perfect (Ryu et al. 2021, Michigan State University)</a:t>
            </a:r>
          </a:p>
          <a:p>
            <a:pPr>
              <a:lnSpc>
                <a:spcPct val="100000"/>
              </a:lnSpc>
              <a:spcAft>
                <a:spcPts val="0"/>
              </a:spcAft>
            </a:pPr>
            <a:r>
              <a:rPr sz="900">
                <a:solidFill>
                  <a:srgbClr val="223344"/>
                </a:solidFill>
                <a:latin typeface="Consolas"/>
              </a:rPr>
              <a:t>├── 410 einzigartige Silben (alle Standard-Mandarin-Silben)</a:t>
            </a:r>
          </a:p>
          <a:p>
            <a:pPr>
              <a:lnSpc>
                <a:spcPct val="100000"/>
              </a:lnSpc>
              <a:spcAft>
                <a:spcPts val="0"/>
              </a:spcAft>
            </a:pPr>
            <a:r>
              <a:rPr sz="900">
                <a:solidFill>
                  <a:srgbClr val="223344"/>
                </a:solidFill>
                <a:latin typeface="Consolas"/>
              </a:rPr>
              <a:t>├── × 4 Töne (T1 ˉ, T2 ˊ, T3 ˇ, T4 ˋ)</a:t>
            </a:r>
          </a:p>
          <a:p>
            <a:pPr>
              <a:lnSpc>
                <a:spcPct val="100000"/>
              </a:lnSpc>
              <a:spcAft>
                <a:spcPts val="0"/>
              </a:spcAft>
            </a:pPr>
            <a:r>
              <a:rPr sz="900">
                <a:solidFill>
                  <a:srgbClr val="223344"/>
                </a:solidFill>
                <a:latin typeface="Consolas"/>
              </a:rPr>
              <a:t>├── × 6 Sprecher (3M, 3F, alle Beijing-Muttersprachler)</a:t>
            </a:r>
          </a:p>
          <a:p>
            <a:pPr>
              <a:lnSpc>
                <a:spcPct val="100000"/>
              </a:lnSpc>
              <a:spcAft>
                <a:spcPts val="0"/>
              </a:spcAft>
            </a:pPr>
            <a:r>
              <a:rPr sz="900">
                <a:solidFill>
                  <a:srgbClr val="223344"/>
                </a:solidFill>
                <a:latin typeface="Consolas"/>
              </a:rPr>
              <a:t>├── = 9.840 Aufnahmen</a:t>
            </a:r>
          </a:p>
          <a:p>
            <a:pPr>
              <a:lnSpc>
                <a:spcPct val="100000"/>
              </a:lnSpc>
              <a:spcAft>
                <a:spcPts val="0"/>
              </a:spcAft>
            </a:pPr>
            <a:r>
              <a:rPr sz="900">
                <a:solidFill>
                  <a:srgbClr val="223344"/>
                </a:solidFill>
                <a:latin typeface="Consolas"/>
              </a:rPr>
              <a:t>├── Format: WAV, 44.1kHz/16-bit Stereo</a:t>
            </a:r>
          </a:p>
          <a:p>
            <a:pPr>
              <a:lnSpc>
                <a:spcPct val="100000"/>
              </a:lnSpc>
              <a:spcAft>
                <a:spcPts val="0"/>
              </a:spcAft>
            </a:pPr>
            <a:r>
              <a:rPr sz="900">
                <a:solidFill>
                  <a:srgbClr val="223344"/>
                </a:solidFill>
                <a:latin typeface="Consolas"/>
              </a:rPr>
              <a:t>├── Lizenz: CC-BY 4.0 (Open Access)</a:t>
            </a:r>
          </a:p>
          <a:p>
            <a:pPr>
              <a:lnSpc>
                <a:spcPct val="100000"/>
              </a:lnSpc>
              <a:spcAft>
                <a:spcPts val="0"/>
              </a:spcAft>
            </a:pPr>
            <a:r>
              <a:rPr sz="900">
                <a:solidFill>
                  <a:srgbClr val="223344"/>
                </a:solidFill>
                <a:latin typeface="Consolas"/>
              </a:rPr>
              <a:t>├── Labels: Pinyin + Tonnummer (z.B. ma1_FV1.wav)</a:t>
            </a:r>
          </a:p>
          <a:p>
            <a:pPr>
              <a:lnSpc>
                <a:spcPct val="100000"/>
              </a:lnSpc>
              <a:spcAft>
                <a:spcPts val="0"/>
              </a:spcAft>
            </a:pPr>
            <a:r>
              <a:rPr sz="900">
                <a:solidFill>
                  <a:srgbClr val="223344"/>
                </a:solidFill>
                <a:latin typeface="Consolas"/>
              </a:rPr>
              <a:t>└── URL: tone.lib.msu.edu ← VERIFIZIERT ✅</a:t>
            </a:r>
          </a:p>
        </p:txBody>
      </p:sp>
      <p:sp>
        <p:nvSpPr>
          <p:cNvPr id="5" name="TextBox 4"/>
          <p:cNvSpPr txBox="1"/>
          <p:nvPr/>
        </p:nvSpPr>
        <p:spPr>
          <a:xfrm>
            <a:off x="411480" y="2665476"/>
            <a:ext cx="11368735" cy="1261872"/>
          </a:xfrm>
          <a:prstGeom prst="rect">
            <a:avLst/>
          </a:prstGeom>
          <a:noFill/>
        </p:spPr>
        <p:txBody>
          <a:bodyPr wrap="square">
            <a:spAutoFit/>
          </a:bodyPr>
          <a:lstStyle/>
          <a:p>
            <a:pPr>
              <a:spcAft>
                <a:spcPts val="300"/>
              </a:spcAft>
            </a:pPr>
            <a:r>
              <a:rPr sz="1300"/>
              <a:t>•  Kontrolliert: Isolierte Silben → Ton-Evaluation ohne Kontexteffekte (kein Tone Sandhi)</a:t>
            </a:r>
          </a:p>
          <a:p>
            <a:pPr>
              <a:spcAft>
                <a:spcPts val="300"/>
              </a:spcAft>
            </a:pPr>
            <a:r>
              <a:rPr sz="1300"/>
              <a:t>•  Vollständig: Alle 410 Mandarin-Silben × 4 Töne — inklusive lexikalische Lücken</a:t>
            </a:r>
          </a:p>
          <a:p>
            <a:pPr>
              <a:spcAft>
                <a:spcPts val="300"/>
              </a:spcAft>
            </a:pPr>
            <a:r>
              <a:rPr sz="1300"/>
              <a:t>•  Ground Truth: Professionelle Aufnahme, Pinyin+Tonnummer als Dateiname</a:t>
            </a:r>
          </a:p>
          <a:p>
            <a:pPr>
              <a:spcAft>
                <a:spcPts val="300"/>
              </a:spcAft>
            </a:pPr>
            <a:r>
              <a:rPr sz="1300"/>
              <a:t>•  Wenig genutzt: Nur 2 Papers (Ryu 2021, Xu SITA 2026) — Potenzial für neue Ergebnisse</a:t>
            </a:r>
          </a:p>
        </p:txBody>
      </p:sp>
      <p:sp>
        <p:nvSpPr>
          <p:cNvPr id="6" name="TextBox 5"/>
          <p:cNvSpPr txBox="1"/>
          <p:nvPr/>
        </p:nvSpPr>
        <p:spPr>
          <a:xfrm>
            <a:off x="411480" y="4018788"/>
            <a:ext cx="11368735" cy="676656"/>
          </a:xfrm>
          <a:prstGeom prst="rect">
            <a:avLst/>
          </a:prstGeom>
          <a:noFill/>
        </p:spPr>
        <p:txBody>
          <a:bodyPr wrap="square">
            <a:spAutoFit/>
          </a:bodyPr>
          <a:lstStyle/>
          <a:p>
            <a:pPr>
              <a:spcAft>
                <a:spcPts val="300"/>
              </a:spcAft>
            </a:pPr>
            <a:r>
              <a:rPr i="1" sz="1200">
                <a:solidFill>
                  <a:srgbClr val="444444"/>
                </a:solidFill>
              </a:rPr>
              <a:t>„Korrektur zur Excel: Tone Perfect ist Open Access (tone.lib.msu.edu), nicht „von Autoren bekommen". CC-BY 4.0."</a:t>
            </a:r>
          </a:p>
          <a:p>
            <a:pPr>
              <a:spcAft>
                <a:spcPts val="300"/>
              </a:spcAft>
            </a:pPr>
            <a:r>
              <a:rPr sz="1300"/>
              <a:t>•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L2-Datensätze — klein, aber die einzigen öffentlichen mit Tönen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2798064"/>
        </p:xfrm>
        <a:graphic>
          <a:graphicData uri="http://schemas.openxmlformats.org/drawingml/2006/table">
            <a:tbl>
              <a:tblPr firstRow="1" bandRow="1">
                <a:tableStyleId>{5C22544A-7EE6-4342-B048-85BDC9FD1C3A}</a:tableStyleId>
              </a:tblPr>
              <a:tblGrid>
                <a:gridCol w="3820058"/>
                <a:gridCol w="3820058"/>
                <a:gridCol w="3820058"/>
              </a:tblGrid>
              <a:tr h="310896">
                <a:tc>
                  <a:txBody>
                    <a:bodyPr wrap="square"/>
                    <a:lstStyle/>
                    <a:p>
                      <a:r>
                        <a:rPr sz="1000" b="1">
                          <a:solidFill>
                            <a:srgbClr val="FFFFFF"/>
                          </a:solidFill>
                        </a:rPr>
                        <a:t/>
                      </a:r>
                    </a:p>
                  </a:txBody>
                  <a:tcPr marL="45720" marR="45720" marT="18288" marB="18288" anchor="ctr">
                    <a:solidFill>
                      <a:srgbClr val="1F3A5F"/>
                    </a:solidFill>
                  </a:tcPr>
                </a:tc>
                <a:tc>
                  <a:txBody>
                    <a:bodyPr wrap="square"/>
                    <a:lstStyle/>
                    <a:p>
                      <a:r>
                        <a:rPr sz="1000" b="1">
                          <a:solidFill>
                            <a:srgbClr val="FFFFFF"/>
                          </a:solidFill>
                        </a:rPr>
                        <a:t>LATIC</a:t>
                      </a:r>
                    </a:p>
                  </a:txBody>
                  <a:tcPr marL="45720" marR="45720" marT="18288" marB="18288" anchor="ctr">
                    <a:solidFill>
                      <a:srgbClr val="1F3A5F"/>
                    </a:solidFill>
                  </a:tcPr>
                </a:tc>
                <a:tc>
                  <a:txBody>
                    <a:bodyPr wrap="square"/>
                    <a:lstStyle/>
                    <a:p>
                      <a:r>
                        <a:rPr sz="1000" b="1">
                          <a:solidFill>
                            <a:srgbClr val="FFFFFF"/>
                          </a:solidFill>
                        </a:rPr>
                        <a:t>OMPAL</a:t>
                      </a:r>
                    </a:p>
                  </a:txBody>
                  <a:tcPr marL="45720" marR="45720" marT="18288" marB="18288" anchor="ctr">
                    <a:solidFill>
                      <a:srgbClr val="1F3A5F"/>
                    </a:solidFill>
                  </a:tcPr>
                </a:tc>
              </a:tr>
              <a:tr h="310896">
                <a:tc>
                  <a:txBody>
                    <a:bodyPr wrap="square"/>
                    <a:lstStyle/>
                    <a:p>
                      <a:r>
                        <a:rPr sz="1000"/>
                        <a:t>Sprecher</a:t>
                      </a:r>
                    </a:p>
                  </a:txBody>
                  <a:tcPr marL="45720" marR="45720" marT="18288" marB="18288" anchor="ctr">
                    <a:solidFill>
                      <a:srgbClr val="FFFFFF"/>
                    </a:solidFill>
                  </a:tcPr>
                </a:tc>
                <a:tc>
                  <a:txBody>
                    <a:bodyPr wrap="square"/>
                    <a:lstStyle/>
                    <a:p>
                      <a:r>
                        <a:rPr sz="1000"/>
                        <a:t>4 L2 (Russisch, Koreanisch, Frz., Arabisch)</a:t>
                      </a:r>
                    </a:p>
                  </a:txBody>
                  <a:tcPr marL="45720" marR="45720" marT="18288" marB="18288" anchor="ctr">
                    <a:solidFill>
                      <a:srgbClr val="FFFFFF"/>
                    </a:solidFill>
                  </a:tcPr>
                </a:tc>
                <a:tc>
                  <a:txBody>
                    <a:bodyPr wrap="square"/>
                    <a:lstStyle/>
                    <a:p>
                      <a:r>
                        <a:rPr sz="1000"/>
                        <a:t>46 L2 (alle Französisch L1)</a:t>
                      </a:r>
                    </a:p>
                  </a:txBody>
                  <a:tcPr marL="45720" marR="45720" marT="18288" marB="18288" anchor="ctr">
                    <a:solidFill>
                      <a:srgbClr val="FFFFFF"/>
                    </a:solidFill>
                  </a:tcPr>
                </a:tc>
              </a:tr>
              <a:tr h="310896">
                <a:tc>
                  <a:txBody>
                    <a:bodyPr wrap="square"/>
                    <a:lstStyle/>
                    <a:p>
                      <a:r>
                        <a:rPr sz="1000"/>
                        <a:t>Stunden</a:t>
                      </a:r>
                    </a:p>
                  </a:txBody>
                  <a:tcPr marL="45720" marR="45720" marT="18288" marB="18288" anchor="ctr">
                    <a:solidFill>
                      <a:srgbClr val="E8EEF4"/>
                    </a:solidFill>
                  </a:tcPr>
                </a:tc>
                <a:tc>
                  <a:txBody>
                    <a:bodyPr wrap="square"/>
                    <a:lstStyle/>
                    <a:p>
                      <a:r>
                        <a:rPr sz="1000"/>
                        <a:t>4h</a:t>
                      </a:r>
                    </a:p>
                  </a:txBody>
                  <a:tcPr marL="45720" marR="45720" marT="18288" marB="18288" anchor="ctr">
                    <a:solidFill>
                      <a:srgbClr val="E8EEF4"/>
                    </a:solidFill>
                  </a:tcPr>
                </a:tc>
                <a:tc>
                  <a:txBody>
                    <a:bodyPr wrap="square"/>
                    <a:lstStyle/>
                    <a:p>
                      <a:r>
                        <a:rPr sz="1000"/>
                        <a:t>2,9h</a:t>
                      </a:r>
                    </a:p>
                  </a:txBody>
                  <a:tcPr marL="45720" marR="45720" marT="18288" marB="18288" anchor="ctr">
                    <a:solidFill>
                      <a:srgbClr val="E8EEF4"/>
                    </a:solidFill>
                  </a:tcPr>
                </a:tc>
              </a:tr>
              <a:tr h="310896">
                <a:tc>
                  <a:txBody>
                    <a:bodyPr wrap="square"/>
                    <a:lstStyle/>
                    <a:p>
                      <a:r>
                        <a:rPr sz="1000"/>
                        <a:t>Sätze</a:t>
                      </a:r>
                    </a:p>
                  </a:txBody>
                  <a:tcPr marL="45720" marR="45720" marT="18288" marB="18288" anchor="ctr">
                    <a:solidFill>
                      <a:srgbClr val="FFFFFF"/>
                    </a:solidFill>
                  </a:tcPr>
                </a:tc>
                <a:tc>
                  <a:txBody>
                    <a:bodyPr wrap="square"/>
                    <a:lstStyle/>
                    <a:p>
                      <a:r>
                        <a:rPr sz="1000"/>
                        <a:t>2.579</a:t>
                      </a:r>
                    </a:p>
                  </a:txBody>
                  <a:tcPr marL="45720" marR="45720" marT="18288" marB="18288" anchor="ctr">
                    <a:solidFill>
                      <a:srgbClr val="FFFFFF"/>
                    </a:solidFill>
                  </a:tcPr>
                </a:tc>
                <a:tc>
                  <a:txBody>
                    <a:bodyPr wrap="square"/>
                    <a:lstStyle/>
                    <a:p>
                      <a:r>
                        <a:rPr sz="1000"/>
                        <a:t>1.768</a:t>
                      </a:r>
                    </a:p>
                  </a:txBody>
                  <a:tcPr marL="45720" marR="45720" marT="18288" marB="18288" anchor="ctr">
                    <a:solidFill>
                      <a:srgbClr val="FFFFFF"/>
                    </a:solidFill>
                  </a:tcPr>
                </a:tc>
              </a:tr>
              <a:tr h="310896">
                <a:tc>
                  <a:txBody>
                    <a:bodyPr wrap="square"/>
                    <a:lstStyle/>
                    <a:p>
                      <a:r>
                        <a:rPr sz="1000"/>
                        <a:t>Annotation</a:t>
                      </a:r>
                    </a:p>
                  </a:txBody>
                  <a:tcPr marL="45720" marR="45720" marT="18288" marB="18288" anchor="ctr">
                    <a:solidFill>
                      <a:srgbClr val="E8EEF4"/>
                    </a:solidFill>
                  </a:tcPr>
                </a:tc>
                <a:tc>
                  <a:txBody>
                    <a:bodyPr wrap="square"/>
                    <a:lstStyle/>
                    <a:p>
                      <a:r>
                        <a:rPr sz="1000"/>
                        <a:t>Pinyin + Tonnummern</a:t>
                      </a:r>
                    </a:p>
                  </a:txBody>
                  <a:tcPr marL="45720" marR="45720" marT="18288" marB="18288" anchor="ctr">
                    <a:solidFill>
                      <a:srgbClr val="E8EEF4"/>
                    </a:solidFill>
                  </a:tcPr>
                </a:tc>
                <a:tc>
                  <a:txBody>
                    <a:bodyPr wrap="square"/>
                    <a:lstStyle/>
                    <a:p>
                      <a:r>
                        <a:rPr sz="1000"/>
                        <a:t>4 Experten-Bewerter (Wort + Satz)</a:t>
                      </a:r>
                    </a:p>
                  </a:txBody>
                  <a:tcPr marL="45720" marR="45720" marT="18288" marB="18288" anchor="ctr">
                    <a:solidFill>
                      <a:srgbClr val="E8EEF4"/>
                    </a:solidFill>
                  </a:tcPr>
                </a:tc>
              </a:tr>
              <a:tr h="310896">
                <a:tc>
                  <a:txBody>
                    <a:bodyPr wrap="square"/>
                    <a:lstStyle/>
                    <a:p>
                      <a:r>
                        <a:rPr sz="1000"/>
                        <a:t>Töne</a:t>
                      </a:r>
                    </a:p>
                  </a:txBody>
                  <a:tcPr marL="45720" marR="45720" marT="18288" marB="18288" anchor="ctr">
                    <a:solidFill>
                      <a:srgbClr val="FFFFFF"/>
                    </a:solidFill>
                  </a:tcPr>
                </a:tc>
                <a:tc>
                  <a:txBody>
                    <a:bodyPr wrap="square"/>
                    <a:lstStyle/>
                    <a:p>
                      <a:r>
                        <a:rPr sz="1000"/>
                        <a:t>✅ Explizit annotiert</a:t>
                      </a:r>
                    </a:p>
                  </a:txBody>
                  <a:tcPr marL="45720" marR="45720" marT="18288" marB="18288" anchor="ctr">
                    <a:solidFill>
                      <a:srgbClr val="FFFFFF"/>
                    </a:solidFill>
                  </a:tcPr>
                </a:tc>
                <a:tc>
                  <a:txBody>
                    <a:bodyPr wrap="square"/>
                    <a:lstStyle/>
                    <a:p>
                      <a:r>
                        <a:rPr sz="1000"/>
                        <a:t>✅ Auf Wortebene bewertet</a:t>
                      </a:r>
                    </a:p>
                  </a:txBody>
                  <a:tcPr marL="45720" marR="45720" marT="18288" marB="18288" anchor="ctr">
                    <a:solidFill>
                      <a:srgbClr val="FFFFFF"/>
                    </a:solidFill>
                  </a:tcPr>
                </a:tc>
              </a:tr>
              <a:tr h="310896">
                <a:tc>
                  <a:txBody>
                    <a:bodyPr wrap="square"/>
                    <a:lstStyle/>
                    <a:p>
                      <a:r>
                        <a:rPr sz="1000"/>
                        <a:t>Zugang</a:t>
                      </a:r>
                    </a:p>
                  </a:txBody>
                  <a:tcPr marL="45720" marR="45720" marT="18288" marB="18288" anchor="ctr">
                    <a:solidFill>
                      <a:srgbClr val="E8EEF4"/>
                    </a:solidFill>
                  </a:tcPr>
                </a:tc>
                <a:tc>
                  <a:txBody>
                    <a:bodyPr wrap="square"/>
                    <a:lstStyle/>
                    <a:p>
                      <a:r>
                        <a:rPr sz="1000"/>
                        <a:t>✅ IEEE DataPort</a:t>
                      </a:r>
                    </a:p>
                  </a:txBody>
                  <a:tcPr marL="45720" marR="45720" marT="18288" marB="18288" anchor="ctr">
                    <a:solidFill>
                      <a:srgbClr val="E8EEF4"/>
                    </a:solidFill>
                  </a:tcPr>
                </a:tc>
                <a:tc>
                  <a:txBody>
                    <a:bodyPr wrap="square"/>
                    <a:lstStyle/>
                    <a:p>
                      <a:r>
                        <a:rPr sz="1000"/>
                        <a:t>✅ Open-Source</a:t>
                      </a:r>
                    </a:p>
                  </a:txBody>
                  <a:tcPr marL="45720" marR="45720" marT="18288" marB="18288" anchor="ctr">
                    <a:solidFill>
                      <a:srgbClr val="E8EEF4"/>
                    </a:solidFill>
                  </a:tcPr>
                </a:tc>
              </a:tr>
              <a:tr h="310896">
                <a:tc>
                  <a:txBody>
                    <a:bodyPr wrap="square"/>
                    <a:lstStyle/>
                    <a:p>
                      <a:r>
                        <a:rPr sz="1000"/>
                        <a:t>Limitation</a:t>
                      </a:r>
                    </a:p>
                  </a:txBody>
                  <a:tcPr marL="45720" marR="45720" marT="18288" marB="18288" anchor="ctr">
                    <a:solidFill>
                      <a:srgbClr val="FFFFFF"/>
                    </a:solidFill>
                  </a:tcPr>
                </a:tc>
                <a:tc>
                  <a:txBody>
                    <a:bodyPr wrap="square"/>
                    <a:lstStyle/>
                    <a:p>
                      <a:r>
                        <a:rPr sz="1000"/>
                        <a:t>Nur 4 Sprecher</a:t>
                      </a:r>
                    </a:p>
                  </a:txBody>
                  <a:tcPr marL="45720" marR="45720" marT="18288" marB="18288" anchor="ctr">
                    <a:solidFill>
                      <a:srgbClr val="FFFFFF"/>
                    </a:solidFill>
                  </a:tcPr>
                </a:tc>
                <a:tc>
                  <a:txBody>
                    <a:bodyPr wrap="square"/>
                    <a:lstStyle/>
                    <a:p>
                      <a:r>
                        <a:rPr sz="1000"/>
                        <a:t>Nur Franz. L1, Streamlit-Probleme</a:t>
                      </a:r>
                    </a:p>
                  </a:txBody>
                  <a:tcPr marL="45720" marR="45720" marT="18288" marB="18288" anchor="ctr">
                    <a:solidFill>
                      <a:srgbClr val="FFFFFF"/>
                    </a:solidFill>
                  </a:tcPr>
                </a:tc>
              </a:tr>
              <a:tr h="310896">
                <a:tc>
                  <a:txBody>
                    <a:bodyPr wrap="square"/>
                    <a:lstStyle/>
                    <a:p>
                      <a:r>
                        <a:rPr sz="1000"/>
                        <a:t>Jahr</a:t>
                      </a:r>
                    </a:p>
                  </a:txBody>
                  <a:tcPr marL="45720" marR="45720" marT="18288" marB="18288" anchor="ctr">
                    <a:solidFill>
                      <a:srgbClr val="E8EEF4"/>
                    </a:solidFill>
                  </a:tcPr>
                </a:tc>
                <a:tc>
                  <a:txBody>
                    <a:bodyPr wrap="square"/>
                    <a:lstStyle/>
                    <a:p>
                      <a:r>
                        <a:rPr sz="1000"/>
                        <a:t>2021</a:t>
                      </a:r>
                    </a:p>
                  </a:txBody>
                  <a:tcPr marL="45720" marR="45720" marT="18288" marB="18288" anchor="ctr">
                    <a:solidFill>
                      <a:srgbClr val="E8EEF4"/>
                    </a:solidFill>
                  </a:tcPr>
                </a:tc>
                <a:tc>
                  <a:txBody>
                    <a:bodyPr wrap="square"/>
                    <a:lstStyle/>
                    <a:p>
                      <a:r>
                        <a:rPr sz="1000"/>
                        <a:t>2025</a:t>
                      </a:r>
                    </a:p>
                  </a:txBody>
                  <a:tcPr marL="45720" marR="45720" marT="18288" marB="18288" anchor="ctr">
                    <a:solidFill>
                      <a:srgbClr val="E8EEF4"/>
                    </a:solidFill>
                  </a:tcPr>
                </a:tc>
              </a:tr>
            </a:tbl>
          </a:graphicData>
        </a:graphic>
      </p:graphicFrame>
      <p:sp>
        <p:nvSpPr>
          <p:cNvPr id="5" name="TextBox 4"/>
          <p:cNvSpPr txBox="1"/>
          <p:nvPr/>
        </p:nvSpPr>
        <p:spPr>
          <a:xfrm>
            <a:off x="411480" y="4014216"/>
            <a:ext cx="11368735" cy="1261872"/>
          </a:xfrm>
          <a:prstGeom prst="rect">
            <a:avLst/>
          </a:prstGeom>
          <a:noFill/>
        </p:spPr>
        <p:txBody>
          <a:bodyPr wrap="square">
            <a:spAutoFit/>
          </a:bodyPr>
          <a:lstStyle/>
          <a:p>
            <a:pPr>
              <a:spcAft>
                <a:spcPts val="300"/>
              </a:spcAft>
            </a:pPr>
            <a:r>
              <a:rPr sz="1300"/>
              <a:t>•  LATIC: Einziger öffentlicher L2-Mandarin-Datensatz mit expliziten Tonnummern (yi1-Format)</a:t>
            </a:r>
          </a:p>
          <a:p>
            <a:pPr>
              <a:spcAft>
                <a:spcPts val="300"/>
              </a:spcAft>
            </a:pPr>
            <a:r>
              <a:rPr sz="1300"/>
              <a:t>•  OMPAL: Größerer L2-Datensatz (46 Sprecher), mit Expertenrating — aber nur Franz. L1</a:t>
            </a:r>
          </a:p>
          <a:p>
            <a:pPr>
              <a:spcAft>
                <a:spcPts val="300"/>
              </a:spcAft>
            </a:pPr>
            <a:r>
              <a:rPr sz="1300"/>
              <a:t>•  Zusammen: 50 L2-Sprecher, 4.347 Äußerungen — klein, aber ausreichend für erste RQ3-Ergebnisse</a:t>
            </a:r>
          </a:p>
          <a:p>
            <a:pPr>
              <a:spcAft>
                <a:spcPts val="300"/>
              </a:spcAft>
            </a:pPr>
            <a:r>
              <a:rPr sz="1300"/>
              <a:t>•  Bonus-Option: iCALL (305 Sprecher, 142h) + SingaKids (255 Kinder, 125h) bei Kontaktaufnahme</a:t>
            </a:r>
          </a:p>
        </p:txBody>
      </p:sp>
      <p:sp>
        <p:nvSpPr>
          <p:cNvPr id="6" name="TextBox 5"/>
          <p:cNvSpPr txBox="1"/>
          <p:nvPr/>
        </p:nvSpPr>
        <p:spPr>
          <a:xfrm>
            <a:off x="411480" y="5367528"/>
            <a:ext cx="11368735" cy="676656"/>
          </a:xfrm>
          <a:prstGeom prst="rect">
            <a:avLst/>
          </a:prstGeom>
          <a:noFill/>
        </p:spPr>
        <p:txBody>
          <a:bodyPr wrap="square">
            <a:spAutoFit/>
          </a:bodyPr>
          <a:lstStyle/>
          <a:p>
            <a:pPr>
              <a:spcAft>
                <a:spcPts val="300"/>
              </a:spcAft>
            </a:pPr>
            <a:r>
              <a:rPr i="1" sz="1200">
                <a:solidFill>
                  <a:srgbClr val="444444"/>
                </a:solidFill>
              </a:rPr>
              <a:t>„Lücke in der Forschung: Kein L2-Mandarin-Datensatz wurde je mit multimodalen LLMs getestet."</a:t>
            </a:r>
          </a:p>
          <a:p>
            <a:pPr>
              <a:spcAft>
                <a:spcPts val="300"/>
              </a:spcAft>
            </a:pPr>
            <a:r>
              <a:rPr sz="1300"/>
              <a:t>•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170h AISHELL, 755h MAGICDATA — aber kein Ton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5" cy="1865376"/>
        </p:xfrm>
        <a:graphic>
          <a:graphicData uri="http://schemas.openxmlformats.org/drawingml/2006/table">
            <a:tbl>
              <a:tblPr firstRow="1" bandRow="1">
                <a:tableStyleId>{5C22544A-7EE6-4342-B048-85BDC9FD1C3A}</a:tableStyleId>
              </a:tblPr>
              <a:tblGrid>
                <a:gridCol w="2292035"/>
                <a:gridCol w="2292035"/>
                <a:gridCol w="2292035"/>
                <a:gridCol w="2292035"/>
                <a:gridCol w="2292035"/>
              </a:tblGrid>
              <a:tr h="310896">
                <a:tc>
                  <a:txBody>
                    <a:bodyPr wrap="square"/>
                    <a:lstStyle/>
                    <a:p>
                      <a:r>
                        <a:rPr sz="1000" b="1">
                          <a:solidFill>
                            <a:srgbClr val="FFFFFF"/>
                          </a:solidFill>
                        </a:rPr>
                        <a:t>Korpus</a:t>
                      </a:r>
                    </a:p>
                  </a:txBody>
                  <a:tcPr marL="45720" marR="45720" marT="18288" marB="18288" anchor="ctr">
                    <a:solidFill>
                      <a:srgbClr val="1F3A5F"/>
                    </a:solidFill>
                  </a:tcPr>
                </a:tc>
                <a:tc>
                  <a:txBody>
                    <a:bodyPr wrap="square"/>
                    <a:lstStyle/>
                    <a:p>
                      <a:r>
                        <a:rPr sz="1000" b="1">
                          <a:solidFill>
                            <a:srgbClr val="FFFFFF"/>
                          </a:solidFill>
                        </a:rPr>
                        <a:t>Stunden</a:t>
                      </a:r>
                    </a:p>
                  </a:txBody>
                  <a:tcPr marL="45720" marR="45720" marT="18288" marB="18288" anchor="ctr">
                    <a:solidFill>
                      <a:srgbClr val="1F3A5F"/>
                    </a:solidFill>
                  </a:tcPr>
                </a:tc>
                <a:tc>
                  <a:txBody>
                    <a:bodyPr wrap="square"/>
                    <a:lstStyle/>
                    <a:p>
                      <a:r>
                        <a:rPr sz="1000" b="1">
                          <a:solidFill>
                            <a:srgbClr val="FFFFFF"/>
                          </a:solidFill>
                        </a:rPr>
                        <a:t>Sprecher</a:t>
                      </a:r>
                    </a:p>
                  </a:txBody>
                  <a:tcPr marL="45720" marR="45720" marT="18288" marB="18288" anchor="ctr">
                    <a:solidFill>
                      <a:srgbClr val="1F3A5F"/>
                    </a:solidFill>
                  </a:tcPr>
                </a:tc>
                <a:tc>
                  <a:txBody>
                    <a:bodyPr wrap="square"/>
                    <a:lstStyle/>
                    <a:p>
                      <a:r>
                        <a:rPr sz="1000" b="1">
                          <a:solidFill>
                            <a:srgbClr val="FFFFFF"/>
                          </a:solidFill>
                        </a:rPr>
                        <a:t>Töne?</a:t>
                      </a:r>
                    </a:p>
                  </a:txBody>
                  <a:tcPr marL="45720" marR="45720" marT="18288" marB="18288" anchor="ctr">
                    <a:solidFill>
                      <a:srgbClr val="1F3A5F"/>
                    </a:solidFill>
                  </a:tcPr>
                </a:tc>
                <a:tc>
                  <a:txBody>
                    <a:bodyPr wrap="square"/>
                    <a:lstStyle/>
                    <a:p>
                      <a:r>
                        <a:rPr sz="1000" b="1">
                          <a:solidFill>
                            <a:srgbClr val="FFFFFF"/>
                          </a:solidFill>
                        </a:rPr>
                        <a:t>Problem für uns</a:t>
                      </a:r>
                    </a:p>
                  </a:txBody>
                  <a:tcPr marL="45720" marR="45720" marT="18288" marB="18288" anchor="ctr">
                    <a:solidFill>
                      <a:srgbClr val="1F3A5F"/>
                    </a:solidFill>
                  </a:tcPr>
                </a:tc>
              </a:tr>
              <a:tr h="310896">
                <a:tc>
                  <a:txBody>
                    <a:bodyPr wrap="square"/>
                    <a:lstStyle/>
                    <a:p>
                      <a:r>
                        <a:rPr sz="1000"/>
                        <a:t>AISHELL-1</a:t>
                      </a:r>
                    </a:p>
                  </a:txBody>
                  <a:tcPr marL="45720" marR="45720" marT="18288" marB="18288" anchor="ctr">
                    <a:solidFill>
                      <a:srgbClr val="FFFFFF"/>
                    </a:solidFill>
                  </a:tcPr>
                </a:tc>
                <a:tc>
                  <a:txBody>
                    <a:bodyPr wrap="square"/>
                    <a:lstStyle/>
                    <a:p>
                      <a:r>
                        <a:rPr sz="1000"/>
                        <a:t>170h</a:t>
                      </a:r>
                    </a:p>
                  </a:txBody>
                  <a:tcPr marL="45720" marR="45720" marT="18288" marB="18288" anchor="ctr">
                    <a:solidFill>
                      <a:srgbClr val="FFFFFF"/>
                    </a:solidFill>
                  </a:tcPr>
                </a:tc>
                <a:tc>
                  <a:txBody>
                    <a:bodyPr wrap="square"/>
                    <a:lstStyle/>
                    <a:p>
                      <a:r>
                        <a:rPr sz="1000"/>
                        <a:t>400</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Nur CER auf Zeichenebene, kein Ton-Ground-Truth</a:t>
                      </a:r>
                    </a:p>
                  </a:txBody>
                  <a:tcPr marL="45720" marR="45720" marT="18288" marB="18288" anchor="ctr">
                    <a:solidFill>
                      <a:srgbClr val="FFFFFF"/>
                    </a:solidFill>
                  </a:tcPr>
                </a:tc>
              </a:tr>
              <a:tr h="310896">
                <a:tc>
                  <a:txBody>
                    <a:bodyPr wrap="square"/>
                    <a:lstStyle/>
                    <a:p>
                      <a:r>
                        <a:rPr sz="1000"/>
                        <a:t>MAGICDATA</a:t>
                      </a:r>
                    </a:p>
                  </a:txBody>
                  <a:tcPr marL="45720" marR="45720" marT="18288" marB="18288" anchor="ctr">
                    <a:solidFill>
                      <a:srgbClr val="E8EEF4"/>
                    </a:solidFill>
                  </a:tcPr>
                </a:tc>
                <a:tc>
                  <a:txBody>
                    <a:bodyPr wrap="square"/>
                    <a:lstStyle/>
                    <a:p>
                      <a:r>
                        <a:rPr sz="1000"/>
                        <a:t>755h</a:t>
                      </a:r>
                    </a:p>
                  </a:txBody>
                  <a:tcPr marL="45720" marR="45720" marT="18288" marB="18288" anchor="ctr">
                    <a:solidFill>
                      <a:srgbClr val="E8EEF4"/>
                    </a:solidFill>
                  </a:tcPr>
                </a:tc>
                <a:tc>
                  <a:txBody>
                    <a:bodyPr wrap="square"/>
                    <a:lstStyle/>
                    <a:p>
                      <a:r>
                        <a:rPr sz="1000"/>
                        <a:t>1.080</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Kein Pinyin, kein Ton</a:t>
                      </a:r>
                    </a:p>
                  </a:txBody>
                  <a:tcPr marL="45720" marR="45720" marT="18288" marB="18288" anchor="ctr">
                    <a:solidFill>
                      <a:srgbClr val="E8EEF4"/>
                    </a:solidFill>
                  </a:tcPr>
                </a:tc>
              </a:tr>
              <a:tr h="310896">
                <a:tc>
                  <a:txBody>
                    <a:bodyPr wrap="square"/>
                    <a:lstStyle/>
                    <a:p>
                      <a:r>
                        <a:rPr sz="1000"/>
                        <a:t>KeSpeech</a:t>
                      </a:r>
                    </a:p>
                  </a:txBody>
                  <a:tcPr marL="45720" marR="45720" marT="18288" marB="18288" anchor="ctr">
                    <a:solidFill>
                      <a:srgbClr val="FFFFFF"/>
                    </a:solidFill>
                  </a:tcPr>
                </a:tc>
                <a:tc>
                  <a:txBody>
                    <a:bodyPr wrap="square"/>
                    <a:lstStyle/>
                    <a:p>
                      <a:r>
                        <a:rPr sz="1000"/>
                        <a:t>1.542h</a:t>
                      </a:r>
                    </a:p>
                  </a:txBody>
                  <a:tcPr marL="45720" marR="45720" marT="18288" marB="18288" anchor="ctr">
                    <a:solidFill>
                      <a:srgbClr val="FFFFFF"/>
                    </a:solidFill>
                  </a:tcPr>
                </a:tc>
                <a:tc>
                  <a:txBody>
                    <a:bodyPr wrap="square"/>
                    <a:lstStyle/>
                    <a:p>
                      <a:r>
                        <a:rPr sz="1000"/>
                        <a:t>27.237</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Dialekte, kein Ton-Label</a:t>
                      </a:r>
                    </a:p>
                  </a:txBody>
                  <a:tcPr marL="45720" marR="45720" marT="18288" marB="18288" anchor="ctr">
                    <a:solidFill>
                      <a:srgbClr val="FFFFFF"/>
                    </a:solidFill>
                  </a:tcPr>
                </a:tc>
              </a:tr>
              <a:tr h="310896">
                <a:tc>
                  <a:txBody>
                    <a:bodyPr wrap="square"/>
                    <a:lstStyle/>
                    <a:p>
                      <a:r>
                        <a:rPr sz="1000"/>
                        <a:t>WenetSpeech4TTS</a:t>
                      </a:r>
                    </a:p>
                  </a:txBody>
                  <a:tcPr marL="45720" marR="45720" marT="18288" marB="18288" anchor="ctr">
                    <a:solidFill>
                      <a:srgbClr val="E8EEF4"/>
                    </a:solidFill>
                  </a:tcPr>
                </a:tc>
                <a:tc>
                  <a:txBody>
                    <a:bodyPr wrap="square"/>
                    <a:lstStyle/>
                    <a:p>
                      <a:r>
                        <a:rPr sz="1000"/>
                        <a:t>12.800h</a:t>
                      </a:r>
                    </a:p>
                  </a:txBody>
                  <a:tcPr marL="45720" marR="45720" marT="18288" marB="18288" anchor="ctr">
                    <a:solidFill>
                      <a:srgbClr val="E8EEF4"/>
                    </a:solidFill>
                  </a:tcPr>
                </a:tc>
                <a:tc>
                  <a:txBody>
                    <a:bodyPr wrap="square"/>
                    <a:lstStyle/>
                    <a:p>
                      <a:r>
                        <a:rPr sz="1000"/>
                        <a:t>viele</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TTS-Korpus (Text→Speech, nicht Speech→Text)</a:t>
                      </a:r>
                    </a:p>
                  </a:txBody>
                  <a:tcPr marL="45720" marR="45720" marT="18288" marB="18288" anchor="ctr">
                    <a:solidFill>
                      <a:srgbClr val="E8EEF4"/>
                    </a:solidFill>
                  </a:tcPr>
                </a:tc>
              </a:tr>
              <a:tr h="310896">
                <a:tc>
                  <a:txBody>
                    <a:bodyPr wrap="square"/>
                    <a:lstStyle/>
                    <a:p>
                      <a:r>
                        <a:rPr sz="1000"/>
                        <a:t>Tone Perfect</a:t>
                      </a:r>
                    </a:p>
                  </a:txBody>
                  <a:tcPr marL="45720" marR="45720" marT="18288" marB="18288" anchor="ctr">
                    <a:solidFill>
                      <a:srgbClr val="FFFFFF"/>
                    </a:solidFill>
                  </a:tcPr>
                </a:tc>
                <a:tc>
                  <a:txBody>
                    <a:bodyPr wrap="square"/>
                    <a:lstStyle/>
                    <a:p>
                      <a:r>
                        <a:rPr sz="1000"/>
                        <a:t>~2h</a:t>
                      </a:r>
                    </a:p>
                  </a:txBody>
                  <a:tcPr marL="45720" marR="45720" marT="18288" marB="18288" anchor="ctr">
                    <a:solidFill>
                      <a:srgbClr val="FFFFFF"/>
                    </a:solidFill>
                  </a:tcPr>
                </a:tc>
                <a:tc>
                  <a:txBody>
                    <a:bodyPr wrap="square"/>
                    <a:lstStyle/>
                    <a:p>
                      <a:r>
                        <a:rPr sz="1000"/>
                        <a:t>6</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Perfekt: Alle Silben × alle Töne × Ground Truth</a:t>
                      </a:r>
                    </a:p>
                  </a:txBody>
                  <a:tcPr marL="45720" marR="45720" marT="18288" marB="18288" anchor="ctr">
                    <a:solidFill>
                      <a:srgbClr val="FFFFFF"/>
                    </a:solidFill>
                  </a:tcPr>
                </a:tc>
              </a:tr>
            </a:tbl>
          </a:graphicData>
        </a:graphic>
      </p:graphicFrame>
      <p:sp>
        <p:nvSpPr>
          <p:cNvPr id="5" name="TextBox 4"/>
          <p:cNvSpPr txBox="1"/>
          <p:nvPr/>
        </p:nvSpPr>
        <p:spPr>
          <a:xfrm>
            <a:off x="411480" y="3081528"/>
            <a:ext cx="11368735" cy="676656"/>
          </a:xfrm>
          <a:prstGeom prst="rect">
            <a:avLst/>
          </a:prstGeom>
          <a:noFill/>
        </p:spPr>
        <p:txBody>
          <a:bodyPr wrap="square">
            <a:spAutoFit/>
          </a:bodyPr>
          <a:lstStyle/>
          <a:p>
            <a:pPr>
              <a:spcAft>
                <a:spcPts val="300"/>
              </a:spcAft>
            </a:pPr>
            <a:r>
              <a:rPr i="1" sz="1200">
                <a:solidFill>
                  <a:srgbClr val="444444"/>
                </a:solidFill>
              </a:rPr>
              <a:t>„Mehr Stunden ≠ besserer Datensatz. Für Tonevaluation braucht man nicht 12.800 Stunden, sondern kontrollierten Ground Truth mit expliziten Tonlabels."</a:t>
            </a:r>
          </a:p>
          <a:p>
            <a:pPr>
              <a:spcAft>
                <a:spcPts val="300"/>
              </a:spcAft>
            </a:pPr>
            <a:r>
              <a:rPr sz="1300"/>
              <a:t>•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Datensatz-Zuordnung: 3 Korpora für 5 Forschungsfragen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1865376"/>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Forschungsfrage</a:t>
                      </a:r>
                    </a:p>
                  </a:txBody>
                  <a:tcPr marL="45720" marR="45720" marT="18288" marB="18288" anchor="ctr">
                    <a:solidFill>
                      <a:srgbClr val="1F3A5F"/>
                    </a:solidFill>
                  </a:tcPr>
                </a:tc>
                <a:tc>
                  <a:txBody>
                    <a:bodyPr wrap="square"/>
                    <a:lstStyle/>
                    <a:p>
                      <a:r>
                        <a:rPr sz="1000" b="1">
                          <a:solidFill>
                            <a:srgbClr val="FFFFFF"/>
                          </a:solidFill>
                        </a:rPr>
                        <a:t>Datensatz</a:t>
                      </a:r>
                    </a:p>
                  </a:txBody>
                  <a:tcPr marL="45720" marR="45720" marT="18288" marB="18288" anchor="ctr">
                    <a:solidFill>
                      <a:srgbClr val="1F3A5F"/>
                    </a:solidFill>
                  </a:tcPr>
                </a:tc>
                <a:tc>
                  <a:txBody>
                    <a:bodyPr wrap="square"/>
                    <a:lstStyle/>
                    <a:p>
                      <a:r>
                        <a:rPr sz="1000" b="1">
                          <a:solidFill>
                            <a:srgbClr val="FFFFFF"/>
                          </a:solidFill>
                        </a:rPr>
                        <a:t>Samples</a:t>
                      </a:r>
                    </a:p>
                  </a:txBody>
                  <a:tcPr marL="45720" marR="45720" marT="18288" marB="18288" anchor="ctr">
                    <a:solidFill>
                      <a:srgbClr val="1F3A5F"/>
                    </a:solidFill>
                  </a:tcPr>
                </a:tc>
                <a:tc>
                  <a:txBody>
                    <a:bodyPr wrap="square"/>
                    <a:lstStyle/>
                    <a:p>
                      <a:r>
                        <a:rPr sz="1000" b="1">
                          <a:solidFill>
                            <a:srgbClr val="FFFFFF"/>
                          </a:solidFill>
                        </a:rPr>
                        <a:t>Begründung</a:t>
                      </a:r>
                    </a:p>
                  </a:txBody>
                  <a:tcPr marL="45720" marR="45720" marT="18288" marB="18288" anchor="ctr">
                    <a:solidFill>
                      <a:srgbClr val="1F3A5F"/>
                    </a:solidFill>
                  </a:tcPr>
                </a:tc>
              </a:tr>
              <a:tr h="310896">
                <a:tc>
                  <a:txBody>
                    <a:bodyPr wrap="square"/>
                    <a:lstStyle/>
                    <a:p>
                      <a:r>
                        <a:rPr sz="1000"/>
                        <a:t>RQ1 (Text→Pinyin)</a:t>
                      </a:r>
                    </a:p>
                  </a:txBody>
                  <a:tcPr marL="45720" marR="45720" marT="18288" marB="18288" anchor="ctr">
                    <a:solidFill>
                      <a:srgbClr val="FFFFFF"/>
                    </a:solidFill>
                  </a:tcPr>
                </a:tc>
                <a:tc>
                  <a:txBody>
                    <a:bodyPr wrap="square"/>
                    <a:lstStyle/>
                    <a:p>
                      <a:r>
                        <a:rPr sz="1000"/>
                        <a:t>Kein Audio nötig</a:t>
                      </a:r>
                    </a:p>
                  </a:txBody>
                  <a:tcPr marL="45720" marR="45720" marT="18288" marB="18288" anchor="ctr">
                    <a:solidFill>
                      <a:srgbClr val="FFFFFF"/>
                    </a:solidFill>
                  </a:tcPr>
                </a:tc>
                <a:tc>
                  <a:txBody>
                    <a:bodyPr wrap="square"/>
                    <a:lstStyle/>
                    <a:p>
                      <a:r>
                        <a:rPr sz="1000"/>
                        <a:t>Textproben aus Tone-Perfect-Silben</a:t>
                      </a:r>
                    </a:p>
                  </a:txBody>
                  <a:tcPr marL="45720" marR="45720" marT="18288" marB="18288" anchor="ctr">
                    <a:solidFill>
                      <a:srgbClr val="FFFFFF"/>
                    </a:solidFill>
                  </a:tcPr>
                </a:tc>
                <a:tc>
                  <a:txBody>
                    <a:bodyPr wrap="square"/>
                    <a:lstStyle/>
                    <a:p>
                      <a:r>
                        <a:rPr sz="1000"/>
                        <a:t>Claude, DeepSeek: Text-only</a:t>
                      </a:r>
                    </a:p>
                  </a:txBody>
                  <a:tcPr marL="45720" marR="45720" marT="18288" marB="18288" anchor="ctr">
                    <a:solidFill>
                      <a:srgbClr val="FFFFFF"/>
                    </a:solidFill>
                  </a:tcPr>
                </a:tc>
              </a:tr>
              <a:tr h="310896">
                <a:tc>
                  <a:txBody>
                    <a:bodyPr wrap="square"/>
                    <a:lstStyle/>
                    <a:p>
                      <a:r>
                        <a:rPr sz="1000"/>
                        <a:t>RQ2 (Native Speech)</a:t>
                      </a:r>
                    </a:p>
                  </a:txBody>
                  <a:tcPr marL="45720" marR="45720" marT="18288" marB="18288" anchor="ctr">
                    <a:solidFill>
                      <a:srgbClr val="E8EEF4"/>
                    </a:solidFill>
                  </a:tcPr>
                </a:tc>
                <a:tc>
                  <a:txBody>
                    <a:bodyPr wrap="square"/>
                    <a:lstStyle/>
                    <a:p>
                      <a:r>
                        <a:rPr sz="1000"/>
                        <a:t>Tone Perfect</a:t>
                      </a:r>
                    </a:p>
                  </a:txBody>
                  <a:tcPr marL="45720" marR="45720" marT="18288" marB="18288" anchor="ctr">
                    <a:solidFill>
                      <a:srgbClr val="E8EEF4"/>
                    </a:solidFill>
                  </a:tcPr>
                </a:tc>
                <a:tc>
                  <a:txBody>
                    <a:bodyPr wrap="square"/>
                    <a:lstStyle/>
                    <a:p>
                      <a:r>
                        <a:rPr sz="1000"/>
                        <a:t>9.840 Silben (alle) / 700 (Sub-Sample)</a:t>
                      </a:r>
                    </a:p>
                  </a:txBody>
                  <a:tcPr marL="45720" marR="45720" marT="18288" marB="18288" anchor="ctr">
                    <a:solidFill>
                      <a:srgbClr val="E8EEF4"/>
                    </a:solidFill>
                  </a:tcPr>
                </a:tc>
                <a:tc>
                  <a:txBody>
                    <a:bodyPr wrap="square"/>
                    <a:lstStyle/>
                    <a:p>
                      <a:r>
                        <a:rPr sz="1000"/>
                        <a:t>Isolierte Töne, perfekter Ground Truth</a:t>
                      </a:r>
                    </a:p>
                  </a:txBody>
                  <a:tcPr marL="45720" marR="45720" marT="18288" marB="18288" anchor="ctr">
                    <a:solidFill>
                      <a:srgbClr val="E8EEF4"/>
                    </a:solidFill>
                  </a:tcPr>
                </a:tc>
              </a:tr>
              <a:tr h="310896">
                <a:tc>
                  <a:txBody>
                    <a:bodyPr wrap="square"/>
                    <a:lstStyle/>
                    <a:p>
                      <a:r>
                        <a:rPr sz="1000"/>
                        <a:t>RQ3 (L2 Speech)</a:t>
                      </a:r>
                    </a:p>
                  </a:txBody>
                  <a:tcPr marL="45720" marR="45720" marT="18288" marB="18288" anchor="ctr">
                    <a:solidFill>
                      <a:srgbClr val="FFFFFF"/>
                    </a:solidFill>
                  </a:tcPr>
                </a:tc>
                <a:tc>
                  <a:txBody>
                    <a:bodyPr wrap="square"/>
                    <a:lstStyle/>
                    <a:p>
                      <a:r>
                        <a:rPr sz="1000"/>
                        <a:t>LATIC + OMPAL</a:t>
                      </a:r>
                    </a:p>
                  </a:txBody>
                  <a:tcPr marL="45720" marR="45720" marT="18288" marB="18288" anchor="ctr">
                    <a:solidFill>
                      <a:srgbClr val="FFFFFF"/>
                    </a:solidFill>
                  </a:tcPr>
                </a:tc>
                <a:tc>
                  <a:txBody>
                    <a:bodyPr wrap="square"/>
                    <a:lstStyle/>
                    <a:p>
                      <a:r>
                        <a:rPr sz="1000"/>
                        <a:t>~4.350 Äußerungen</a:t>
                      </a:r>
                    </a:p>
                  </a:txBody>
                  <a:tcPr marL="45720" marR="45720" marT="18288" marB="18288" anchor="ctr">
                    <a:solidFill>
                      <a:srgbClr val="FFFFFF"/>
                    </a:solidFill>
                  </a:tcPr>
                </a:tc>
                <a:tc>
                  <a:txBody>
                    <a:bodyPr wrap="square"/>
                    <a:lstStyle/>
                    <a:p>
                      <a:r>
                        <a:rPr sz="1000"/>
                        <a:t>Einzige öffentliche L2 mit Tonlabels</a:t>
                      </a:r>
                    </a:p>
                  </a:txBody>
                  <a:tcPr marL="45720" marR="45720" marT="18288" marB="18288" anchor="ctr">
                    <a:solidFill>
                      <a:srgbClr val="FFFFFF"/>
                    </a:solidFill>
                  </a:tcPr>
                </a:tc>
              </a:tr>
              <a:tr h="310896">
                <a:tc>
                  <a:txBody>
                    <a:bodyPr wrap="square"/>
                    <a:lstStyle/>
                    <a:p>
                      <a:r>
                        <a:rPr sz="1000"/>
                        <a:t>RQ4 (Vergleich)</a:t>
                      </a:r>
                    </a:p>
                  </a:txBody>
                  <a:tcPr marL="45720" marR="45720" marT="18288" marB="18288" anchor="ctr">
                    <a:solidFill>
                      <a:srgbClr val="E8EEF4"/>
                    </a:solidFill>
                  </a:tcPr>
                </a:tc>
                <a:tc>
                  <a:txBody>
                    <a:bodyPr wrap="square"/>
                    <a:lstStyle/>
                    <a:p>
                      <a:r>
                        <a:rPr sz="1000"/>
                        <a:t>Tone Perfect + AISHELL-1</a:t>
                      </a:r>
                    </a:p>
                  </a:txBody>
                  <a:tcPr marL="45720" marR="45720" marT="18288" marB="18288" anchor="ctr">
                    <a:solidFill>
                      <a:srgbClr val="E8EEF4"/>
                    </a:solidFill>
                  </a:tcPr>
                </a:tc>
                <a:tc>
                  <a:txBody>
                    <a:bodyPr wrap="square"/>
                    <a:lstStyle/>
                    <a:p>
                      <a:r>
                        <a:rPr sz="1000"/>
                        <a:t>CER auf AISHELL für Lit.-Vergleich</a:t>
                      </a:r>
                    </a:p>
                  </a:txBody>
                  <a:tcPr marL="45720" marR="45720" marT="18288" marB="18288" anchor="ctr">
                    <a:solidFill>
                      <a:srgbClr val="E8EEF4"/>
                    </a:solidFill>
                  </a:tcPr>
                </a:tc>
                <a:tc>
                  <a:txBody>
                    <a:bodyPr wrap="square"/>
                    <a:lstStyle/>
                    <a:p>
                      <a:r>
                        <a:rPr sz="1000"/>
                        <a:t>Standard-Benchmark der ASR-Literatur</a:t>
                      </a:r>
                    </a:p>
                  </a:txBody>
                  <a:tcPr marL="45720" marR="45720" marT="18288" marB="18288" anchor="ctr">
                    <a:solidFill>
                      <a:srgbClr val="E8EEF4"/>
                    </a:solidFill>
                  </a:tcPr>
                </a:tc>
              </a:tr>
              <a:tr h="310896">
                <a:tc>
                  <a:txBody>
                    <a:bodyPr wrap="square"/>
                    <a:lstStyle/>
                    <a:p>
                      <a:r>
                        <a:rPr sz="1000"/>
                        <a:t>RQ5 (Fehlerstruktur)</a:t>
                      </a:r>
                    </a:p>
                  </a:txBody>
                  <a:tcPr marL="45720" marR="45720" marT="18288" marB="18288" anchor="ctr">
                    <a:solidFill>
                      <a:srgbClr val="FFFFFF"/>
                    </a:solidFill>
                  </a:tcPr>
                </a:tc>
                <a:tc>
                  <a:txBody>
                    <a:bodyPr wrap="square"/>
                    <a:lstStyle/>
                    <a:p>
                      <a:r>
                        <a:rPr sz="1000"/>
                        <a:t>Tone Perfect + LATIC</a:t>
                      </a:r>
                    </a:p>
                  </a:txBody>
                  <a:tcPr marL="45720" marR="45720" marT="18288" marB="18288" anchor="ctr">
                    <a:solidFill>
                      <a:srgbClr val="FFFFFF"/>
                    </a:solidFill>
                  </a:tcPr>
                </a:tc>
                <a:tc>
                  <a:txBody>
                    <a:bodyPr wrap="square"/>
                    <a:lstStyle/>
                    <a:p>
                      <a:r>
                        <a:rPr sz="1000"/>
                        <a:t>Konfusionsmatrizen aus RQ2/RQ3</a:t>
                      </a:r>
                    </a:p>
                  </a:txBody>
                  <a:tcPr marL="45720" marR="45720" marT="18288" marB="18288" anchor="ctr">
                    <a:solidFill>
                      <a:srgbClr val="FFFFFF"/>
                    </a:solidFill>
                  </a:tcPr>
                </a:tc>
                <a:tc>
                  <a:txBody>
                    <a:bodyPr wrap="square"/>
                    <a:lstStyle/>
                    <a:p>
                      <a:r>
                        <a:rPr sz="1000"/>
                        <a:t>Ton-Verwechslungsmuster analysieren</a:t>
                      </a:r>
                    </a:p>
                  </a:txBody>
                  <a:tcPr marL="45720" marR="45720" marT="18288" marB="18288" anchor="ctr">
                    <a:solidFill>
                      <a:srgbClr val="FFFFFF"/>
                    </a:solidFill>
                  </a:tcPr>
                </a:tc>
              </a:tr>
            </a:tbl>
          </a:graphicData>
        </a:graphic>
      </p:graphicFrame>
      <p:sp>
        <p:nvSpPr>
          <p:cNvPr id="5" name="TextBox 4"/>
          <p:cNvSpPr txBox="1"/>
          <p:nvPr/>
        </p:nvSpPr>
        <p:spPr>
          <a:xfrm>
            <a:off x="411480" y="3081528"/>
            <a:ext cx="11368735" cy="676656"/>
          </a:xfrm>
          <a:prstGeom prst="rect">
            <a:avLst/>
          </a:prstGeom>
          <a:noFill/>
        </p:spPr>
        <p:txBody>
          <a:bodyPr wrap="square">
            <a:spAutoFit/>
          </a:bodyPr>
          <a:lstStyle/>
          <a:p>
            <a:pPr>
              <a:spcAft>
                <a:spcPts val="300"/>
              </a:spcAft>
            </a:pPr>
            <a:r>
              <a:rPr i="1" sz="1200">
                <a:solidFill>
                  <a:srgbClr val="444444"/>
                </a:solidFill>
              </a:rPr>
              <a:t>„Pilot: 400 Tone-Perfect-Samples (100 pro Ton) + 200 LATIC-Samples → Pipeline-Test vor dem vollen Lauf."</a:t>
            </a:r>
          </a:p>
          <a:p>
            <a:pPr>
              <a:spcAft>
                <a:spcPts val="300"/>
              </a:spcAft>
            </a:pPr>
            <a:r>
              <a:rPr sz="1300"/>
              <a:t>•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Ausgeschlossen — und warum (Backup-Folie)</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3108960"/>
        </p:xfrm>
        <a:graphic>
          <a:graphicData uri="http://schemas.openxmlformats.org/drawingml/2006/table">
            <a:tbl>
              <a:tblPr firstRow="1" bandRow="1">
                <a:tableStyleId>{5C22544A-7EE6-4342-B048-85BDC9FD1C3A}</a:tableStyleId>
              </a:tblPr>
              <a:tblGrid>
                <a:gridCol w="5730087"/>
                <a:gridCol w="5730087"/>
              </a:tblGrid>
              <a:tr h="310896">
                <a:tc>
                  <a:txBody>
                    <a:bodyPr wrap="square"/>
                    <a:lstStyle/>
                    <a:p>
                      <a:r>
                        <a:rPr sz="1000" b="1">
                          <a:solidFill>
                            <a:srgbClr val="FFFFFF"/>
                          </a:solidFill>
                        </a:rPr>
                        <a:t>Korpus</a:t>
                      </a:r>
                    </a:p>
                  </a:txBody>
                  <a:tcPr marL="45720" marR="45720" marT="18288" marB="18288" anchor="ctr">
                    <a:solidFill>
                      <a:srgbClr val="1F3A5F"/>
                    </a:solidFill>
                  </a:tcPr>
                </a:tc>
                <a:tc>
                  <a:txBody>
                    <a:bodyPr wrap="square"/>
                    <a:lstStyle/>
                    <a:p>
                      <a:r>
                        <a:rPr sz="1000" b="1">
                          <a:solidFill>
                            <a:srgbClr val="FFFFFF"/>
                          </a:solidFill>
                        </a:rPr>
                        <a:t>Grund für Ausschluss</a:t>
                      </a:r>
                    </a:p>
                  </a:txBody>
                  <a:tcPr marL="45720" marR="45720" marT="18288" marB="18288" anchor="ctr">
                    <a:solidFill>
                      <a:srgbClr val="1F3A5F"/>
                    </a:solidFill>
                  </a:tcPr>
                </a:tc>
              </a:tr>
              <a:tr h="310896">
                <a:tc>
                  <a:txBody>
                    <a:bodyPr wrap="square"/>
                    <a:lstStyle/>
                    <a:p>
                      <a:r>
                        <a:rPr sz="1000"/>
                        <a:t>Sinica Corpus</a:t>
                      </a:r>
                    </a:p>
                  </a:txBody>
                  <a:tcPr marL="45720" marR="45720" marT="18288" marB="18288" anchor="ctr">
                    <a:solidFill>
                      <a:srgbClr val="FFFFFF"/>
                    </a:solidFill>
                  </a:tcPr>
                </a:tc>
                <a:tc>
                  <a:txBody>
                    <a:bodyPr wrap="square"/>
                    <a:lstStyle/>
                    <a:p>
                      <a:r>
                        <a:rPr sz="1000"/>
                        <a:t>❌ Textkorpus — kein Audio, nur POS-getaggte Zeichen</a:t>
                      </a:r>
                    </a:p>
                  </a:txBody>
                  <a:tcPr marL="45720" marR="45720" marT="18288" marB="18288" anchor="ctr">
                    <a:solidFill>
                      <a:srgbClr val="FFFFFF"/>
                    </a:solidFill>
                  </a:tcPr>
                </a:tc>
              </a:tr>
              <a:tr h="310896">
                <a:tc>
                  <a:txBody>
                    <a:bodyPr wrap="square"/>
                    <a:lstStyle/>
                    <a:p>
                      <a:r>
                        <a:rPr sz="1000"/>
                        <a:t>Biaobei (CSMSC)</a:t>
                      </a:r>
                    </a:p>
                  </a:txBody>
                  <a:tcPr marL="45720" marR="45720" marT="18288" marB="18288" anchor="ctr">
                    <a:solidFill>
                      <a:srgbClr val="E8EEF4"/>
                    </a:solidFill>
                  </a:tcPr>
                </a:tc>
                <a:tc>
                  <a:txBody>
                    <a:bodyPr wrap="square"/>
                    <a:lstStyle/>
                    <a:p>
                      <a:r>
                        <a:rPr sz="1000"/>
                        <a:t>❌ TTS-Korpus — 1 Sprecherin, für Text→Speech, nicht Speech→Text</a:t>
                      </a:r>
                    </a:p>
                  </a:txBody>
                  <a:tcPr marL="45720" marR="45720" marT="18288" marB="18288" anchor="ctr">
                    <a:solidFill>
                      <a:srgbClr val="E8EEF4"/>
                    </a:solidFill>
                  </a:tcPr>
                </a:tc>
              </a:tr>
              <a:tr h="310896">
                <a:tc>
                  <a:txBody>
                    <a:bodyPr wrap="square"/>
                    <a:lstStyle/>
                    <a:p>
                      <a:r>
                        <a:rPr sz="1000"/>
                        <a:t>CS-Dialogue</a:t>
                      </a:r>
                    </a:p>
                  </a:txBody>
                  <a:tcPr marL="45720" marR="45720" marT="18288" marB="18288" anchor="ctr">
                    <a:solidFill>
                      <a:srgbClr val="FFFFFF"/>
                    </a:solidFill>
                  </a:tcPr>
                </a:tc>
                <a:tc>
                  <a:txBody>
                    <a:bodyPr wrap="square"/>
                    <a:lstStyle/>
                    <a:p>
                      <a:r>
                        <a:rPr sz="1000"/>
                        <a:t>❌ Code-Switching (Mandarin+Englisch) — kein reines Mandarin</a:t>
                      </a:r>
                    </a:p>
                  </a:txBody>
                  <a:tcPr marL="45720" marR="45720" marT="18288" marB="18288" anchor="ctr">
                    <a:solidFill>
                      <a:srgbClr val="FFFFFF"/>
                    </a:solidFill>
                  </a:tcPr>
                </a:tc>
              </a:tr>
              <a:tr h="310896">
                <a:tc>
                  <a:txBody>
                    <a:bodyPr wrap="square"/>
                    <a:lstStyle/>
                    <a:p>
                      <a:r>
                        <a:rPr sz="1000"/>
                        <a:t>EdUHK HongKong</a:t>
                      </a:r>
                    </a:p>
                  </a:txBody>
                  <a:tcPr marL="45720" marR="45720" marT="18288" marB="18288" anchor="ctr">
                    <a:solidFill>
                      <a:srgbClr val="E8EEF4"/>
                    </a:solidFill>
                  </a:tcPr>
                </a:tc>
                <a:tc>
                  <a:txBody>
                    <a:bodyPr wrap="square"/>
                    <a:lstStyle/>
                    <a:p>
                      <a:r>
                        <a:rPr sz="1000"/>
                        <a:t>❌ Kantonesisch, nicht Mandarin</a:t>
                      </a:r>
                    </a:p>
                  </a:txBody>
                  <a:tcPr marL="45720" marR="45720" marT="18288" marB="18288" anchor="ctr">
                    <a:solidFill>
                      <a:srgbClr val="E8EEF4"/>
                    </a:solidFill>
                  </a:tcPr>
                </a:tc>
              </a:tr>
              <a:tr h="310896">
                <a:tc>
                  <a:txBody>
                    <a:bodyPr wrap="square"/>
                    <a:lstStyle/>
                    <a:p>
                      <a:r>
                        <a:rPr sz="1000"/>
                        <a:t>Spoken Chinese L2</a:t>
                      </a:r>
                    </a:p>
                  </a:txBody>
                  <a:tcPr marL="45720" marR="45720" marT="18288" marB="18288" anchor="ctr">
                    <a:solidFill>
                      <a:srgbClr val="FFFFFF"/>
                    </a:solidFill>
                  </a:tcPr>
                </a:tc>
                <a:tc>
                  <a:txBody>
                    <a:bodyPr wrap="square"/>
                    <a:lstStyle/>
                    <a:p>
                      <a:r>
                        <a:rPr sz="1000"/>
                        <a:t>❌ Nur Transkripte (kein Audio öffentlich)</a:t>
                      </a:r>
                    </a:p>
                  </a:txBody>
                  <a:tcPr marL="45720" marR="45720" marT="18288" marB="18288" anchor="ctr">
                    <a:solidFill>
                      <a:srgbClr val="FFFFFF"/>
                    </a:solidFill>
                  </a:tcPr>
                </a:tc>
              </a:tr>
              <a:tr h="310896">
                <a:tc>
                  <a:txBody>
                    <a:bodyPr wrap="square"/>
                    <a:lstStyle/>
                    <a:p>
                      <a:r>
                        <a:rPr sz="1000"/>
                        <a:t>WenetSpeech4TTS</a:t>
                      </a:r>
                    </a:p>
                  </a:txBody>
                  <a:tcPr marL="45720" marR="45720" marT="18288" marB="18288" anchor="ctr">
                    <a:solidFill>
                      <a:srgbClr val="E8EEF4"/>
                    </a:solidFill>
                  </a:tcPr>
                </a:tc>
                <a:tc>
                  <a:txBody>
                    <a:bodyPr wrap="square"/>
                    <a:lstStyle/>
                    <a:p>
                      <a:r>
                        <a:rPr sz="1000"/>
                        <a:t>❌ TTS-Korpus (12.800h, aber falsche Richtung)</a:t>
                      </a:r>
                    </a:p>
                  </a:txBody>
                  <a:tcPr marL="45720" marR="45720" marT="18288" marB="18288" anchor="ctr">
                    <a:solidFill>
                      <a:srgbClr val="E8EEF4"/>
                    </a:solidFill>
                  </a:tcPr>
                </a:tc>
              </a:tr>
              <a:tr h="310896">
                <a:tc>
                  <a:txBody>
                    <a:bodyPr wrap="square"/>
                    <a:lstStyle/>
                    <a:p>
                      <a:r>
                        <a:rPr sz="1000"/>
                        <a:t>ChildMandarin</a:t>
                      </a:r>
                    </a:p>
                  </a:txBody>
                  <a:tcPr marL="45720" marR="45720" marT="18288" marB="18288" anchor="ctr">
                    <a:solidFill>
                      <a:srgbClr val="FFFFFF"/>
                    </a:solidFill>
                  </a:tcPr>
                </a:tc>
                <a:tc>
                  <a:txBody>
                    <a:bodyPr wrap="square"/>
                    <a:lstStyle/>
                    <a:p>
                      <a:r>
                        <a:rPr sz="1000"/>
                        <a:t>⚠️ Kinder 3–5 Jahre — nicht L2, nicht RQ-relevant</a:t>
                      </a:r>
                    </a:p>
                  </a:txBody>
                  <a:tcPr marL="45720" marR="45720" marT="18288" marB="18288" anchor="ctr">
                    <a:solidFill>
                      <a:srgbClr val="FFFFFF"/>
                    </a:solidFill>
                  </a:tcPr>
                </a:tc>
              </a:tr>
              <a:tr h="310896">
                <a:tc>
                  <a:txBody>
                    <a:bodyPr wrap="square"/>
                    <a:lstStyle/>
                    <a:p>
                      <a:r>
                        <a:rPr sz="1000"/>
                        <a:t>Free ST</a:t>
                      </a:r>
                    </a:p>
                  </a:txBody>
                  <a:tcPr marL="45720" marR="45720" marT="18288" marB="18288" anchor="ctr">
                    <a:solidFill>
                      <a:srgbClr val="E8EEF4"/>
                    </a:solidFill>
                  </a:tcPr>
                </a:tc>
                <a:tc>
                  <a:txBody>
                    <a:bodyPr wrap="square"/>
                    <a:lstStyle/>
                    <a:p>
                      <a:r>
                        <a:rPr sz="1000"/>
                        <a:t>⚠️ Kein Ton-Ground-Truth, keine Lautschrift</a:t>
                      </a:r>
                    </a:p>
                  </a:txBody>
                  <a:tcPr marL="45720" marR="45720" marT="18288" marB="18288" anchor="ctr">
                    <a:solidFill>
                      <a:srgbClr val="E8EEF4"/>
                    </a:solidFill>
                  </a:tcPr>
                </a:tc>
              </a:tr>
              <a:tr h="310896">
                <a:tc>
                  <a:txBody>
                    <a:bodyPr wrap="square"/>
                    <a:lstStyle/>
                    <a:p>
                      <a:r>
                        <a:rPr sz="1000"/>
                        <a:t>BLCU-SA</a:t>
                      </a:r>
                    </a:p>
                  </a:txBody>
                  <a:tcPr marL="45720" marR="45720" marT="18288" marB="18288" anchor="ctr">
                    <a:solidFill>
                      <a:srgbClr val="FFFFFF"/>
                    </a:solidFill>
                  </a:tcPr>
                </a:tc>
                <a:tc>
                  <a:txBody>
                    <a:bodyPr wrap="square"/>
                    <a:lstStyle/>
                    <a:p>
                      <a:r>
                        <a:rPr sz="1000"/>
                        <a:t>⚠️ Im Design-Stadium (2016), Status unklar</a:t>
                      </a:r>
                    </a:p>
                  </a:txBody>
                  <a:tcPr marL="45720" marR="45720" marT="18288" marB="18288" anchor="ctr">
                    <a:solidFill>
                      <a:srgbClr val="FFFFFF"/>
                    </a:solidFill>
                  </a:tcPr>
                </a:tc>
              </a:tr>
            </a:tbl>
          </a:graphicData>
        </a:graphic>
      </p:graphicFrame>
      <p:sp>
        <p:nvSpPr>
          <p:cNvPr id="5" name="TextBox 4"/>
          <p:cNvSpPr txBox="1"/>
          <p:nvPr/>
        </p:nvSpPr>
        <p:spPr>
          <a:xfrm>
            <a:off x="411480" y="4325112"/>
            <a:ext cx="11368735" cy="4773168"/>
          </a:xfrm>
          <a:prstGeom prst="rect">
            <a:avLst/>
          </a:prstGeom>
          <a:noFill/>
        </p:spPr>
        <p:txBody>
          <a:bodyPr wrap="square">
            <a:spAutoFit/>
          </a:bodyPr>
          <a:lstStyle/>
          <a:p>
            <a:pPr>
              <a:spcAft>
                <a:spcPts val="300"/>
              </a:spcAft>
            </a:pPr>
            <a:r>
              <a:rPr sz="1300"/>
              <a:t>•  ---</a:t>
            </a:r>
          </a:p>
          <a:p>
            <a:pPr>
              <a:spcAft>
                <a:spcPts val="300"/>
              </a:spcAft>
            </a:pPr>
            <a:r>
              <a:rPr sz="1300"/>
              <a:t>•  Folien K1–K6 sind die vortragbaren Folien; K7 ist Backup für Q&amp;A.</a:t>
            </a:r>
          </a:p>
          <a:p>
            <a:pPr>
              <a:spcAft>
                <a:spcPts val="300"/>
              </a:spcAft>
            </a:pPr>
            <a:r>
              <a:rPr sz="1300"/>
              <a:t>•  Wichtigste Botschaft an Tim: Du hast 20 Korpora systematisch recherchiert und geprüft. Die Auswahl (Tone Perfect + LATIC + OMPAL) ist nicht willkürlich, sondern ergibt sich zwingend aus dem Trichter: Von 20 recherchierten Korpora haben nur 3 die nötige Kombination aus Audio + Tonlabels + öffentlichem Zugang.</a:t>
            </a:r>
          </a:p>
          <a:p>
            <a:pPr>
              <a:spcAft>
                <a:spcPts val="300"/>
              </a:spcAft>
            </a:pPr>
            <a:r>
              <a:rPr sz="1300"/>
              <a:t>•  Verifizierte Fakten (Q&amp;A-fest):</a:t>
            </a:r>
          </a:p>
          <a:p>
            <a:pPr lvl="1">
              <a:spcAft>
                <a:spcPts val="300"/>
              </a:spcAft>
            </a:pPr>
            <a:r>
              <a:rPr sz="1300"/>
              <a:t>–  Tone Perfect = Open Access (tone.lib.msu.edu), CC-BY 4.0 — online verifiziert</a:t>
            </a:r>
          </a:p>
          <a:p>
            <a:pPr lvl="1">
              <a:spcAft>
                <a:spcPts val="300"/>
              </a:spcAft>
            </a:pPr>
            <a:r>
              <a:rPr sz="1300"/>
              <a:t>–  LATIC = IEEE DataPort, öffentlich — online verifiziert</a:t>
            </a:r>
          </a:p>
          <a:p>
            <a:pPr lvl="1">
              <a:spcAft>
                <a:spcPts val="300"/>
              </a:spcAft>
            </a:pPr>
            <a:r>
              <a:rPr sz="1300"/>
              <a:t>–  OMPAL = Open-Source (Interspeech 2025) — im Paper bestätigt</a:t>
            </a:r>
          </a:p>
          <a:p>
            <a:pPr lvl="1">
              <a:spcAft>
                <a:spcPts val="300"/>
              </a:spcAft>
            </a:pPr>
            <a:r>
              <a:rPr sz="1300"/>
              <a:t>–  AISHELL-1 = OpenSLR/33, 170h, 400 Sprecher — online verifiziert</a:t>
            </a:r>
          </a:p>
          <a:p>
            <a:pPr lvl="1">
              <a:spcAft>
                <a:spcPts val="300"/>
              </a:spcAft>
            </a:pPr>
            <a:r>
              <a:rPr sz="1300"/>
              <a:t>–  iCALL = nicht öffentlich — bestätigt durch OMPAL-Vergleichstabelle und ResearchGate</a:t>
            </a:r>
          </a:p>
          <a:p>
            <a:pPr lvl="1">
              <a:spcAft>
                <a:spcPts val="300"/>
              </a:spcAft>
            </a:pPr>
            <a:r>
              <a:rPr sz="1300"/>
              <a:t>–  Sinica = Textkorpus, nicht Sprachkorpus — Paper 1996 bestätigt</a:t>
            </a:r>
          </a:p>
          <a:p>
            <a:pPr>
              <a:spcAft>
                <a:spcPts val="300"/>
              </a:spcAft>
            </a:pPr>
            <a:r>
              <a:rPr sz="1300"/>
              <a:t>•  Excel-Korrekturen: 7 Werte korrigiert (siehe Teil 0). Wichtigste: Tone Perfect ist frei, Tsurutani ist nicht frei, THCHS-30 hat 33,5h (nicht 35).</a:t>
            </a:r>
          </a:p>
          <a:p>
            <a:pPr>
              <a:spcAft>
                <a:spcPts val="300"/>
              </a:spcAft>
            </a:pPr>
            <a:r>
              <a:rPr sz="1300"/>
              <a:t>•  Kürzungsoption: K2 + K5 zu einer „Übersicht + Warum nicht die Großen"-Folie zusammenziehen → 5 statt 7 Folien. K7 ist ohnehin nur Backup.</a:t>
            </a:r>
          </a:p>
          <a:p>
            <a:pPr>
              <a:spcAft>
                <a:spcPts val="300"/>
              </a:spcAft>
            </a:pPr>
            <a:r>
              <a:rPr sz="1300"/>
              <a:t>•  Bonus-Kontakte (wenn Tim fragt):</a:t>
            </a:r>
          </a:p>
          <a:p>
            <a:pPr lvl="1">
              <a:spcAft>
                <a:spcPts val="300"/>
              </a:spcAft>
            </a:pPr>
            <a:r>
              <a:rPr sz="1300"/>
              <a:t>–  Nancy Chen (I2R Singapore): iCALL (305 Sprecher) + SingaKids (255 Kinder) — LinkedIn/E-Mail</a:t>
            </a:r>
          </a:p>
          <a:p>
            <a:pPr lvl="1">
              <a:spcAft>
                <a:spcPts val="300"/>
              </a:spcAft>
            </a:pPr>
            <a:r>
              <a:rPr sz="1300"/>
              <a:t>–  BLCU (Peking): yuyanziyuan@blcu.edu.cn — Chinese Interlanguage Corpus</a:t>
            </a:r>
          </a:p>
          <a:p>
            <a:pPr lvl="1">
              <a:spcAft>
                <a:spcPts val="300"/>
              </a:spcAft>
            </a:pPr>
            <a:r>
              <a:rPr sz="1300"/>
              <a:t>–  Te-Hsin Liu (NTU): NTU Speech Bank — Google Sites / E-Mail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728655" cy="1371600"/>
          </a:xfrm>
          <a:prstGeom prst="rect">
            <a:avLst/>
          </a:prstGeom>
          <a:noFill/>
        </p:spPr>
        <p:txBody>
          <a:bodyPr wrap="square">
            <a:spAutoFit/>
          </a:bodyPr>
          <a:lstStyle/>
          <a:p>
            <a:r>
              <a:rPr sz="3400" b="1">
                <a:solidFill>
                  <a:srgbClr val="FFFFFF"/>
                </a:solidFill>
              </a:rPr>
              <a:t>Transkriptionssysteme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Phonetic Transcription in 42 Papers: A Rare Choice</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456432"/>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42 Papers</a:t>
            </a:r>
          </a:p>
          <a:p>
            <a:pPr>
              <a:lnSpc>
                <a:spcPct val="100000"/>
              </a:lnSpc>
              <a:spcAft>
                <a:spcPts val="0"/>
              </a:spcAft>
            </a:pPr>
            <a:r>
              <a:rPr sz="900">
                <a:solidFill>
                  <a:srgbClr val="223344"/>
                </a:solidFill>
                <a:latin typeface="Consolas"/>
              </a:rPr>
              <a:t>├── 31 Papers (74%): KEINE Lautschrift</a:t>
            </a:r>
          </a:p>
          <a:p>
            <a:pPr>
              <a:lnSpc>
                <a:spcPct val="100000"/>
              </a:lnSpc>
              <a:spcAft>
                <a:spcPts val="0"/>
              </a:spcAft>
            </a:pPr>
            <a:r>
              <a:rPr sz="900">
                <a:solidFill>
                  <a:srgbClr val="223344"/>
                </a:solidFill>
                <a:latin typeface="Consolas"/>
              </a:rPr>
              <a:t>│   └── Output: chinesische Schriftzeichen (Hanzi) → CER</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7 Papers (17%): Pinyin</a:t>
            </a:r>
          </a:p>
          <a:p>
            <a:pPr>
              <a:lnSpc>
                <a:spcPct val="100000"/>
              </a:lnSpc>
              <a:spcAft>
                <a:spcPts val="0"/>
              </a:spcAft>
            </a:pPr>
            <a:r>
              <a:rPr sz="900">
                <a:solidFill>
                  <a:srgbClr val="223344"/>
                </a:solidFill>
                <a:latin typeface="Consolas"/>
              </a:rPr>
              <a:t>│   ├── Zhengjie PYG-ASR — Pinyin (initials/finals), Qwen2-7B [LLM!]</a:t>
            </a:r>
          </a:p>
          <a:p>
            <a:pPr>
              <a:lnSpc>
                <a:spcPct val="100000"/>
              </a:lnSpc>
              <a:spcAft>
                <a:spcPts val="0"/>
              </a:spcAft>
            </a:pPr>
            <a:r>
              <a:rPr sz="900">
                <a:solidFill>
                  <a:srgbClr val="223344"/>
                </a:solidFill>
                <a:latin typeface="Consolas"/>
              </a:rPr>
              <a:t>│   ├── Chen SCCM — Pinyin (initials/finals), Conformer</a:t>
            </a:r>
          </a:p>
          <a:p>
            <a:pPr>
              <a:lnSpc>
                <a:spcPct val="100000"/>
              </a:lnSpc>
              <a:spcAft>
                <a:spcPts val="0"/>
              </a:spcAft>
            </a:pPr>
            <a:r>
              <a:rPr sz="900">
                <a:solidFill>
                  <a:srgbClr val="223344"/>
                </a:solidFill>
                <a:latin typeface="Consolas"/>
              </a:rPr>
              <a:t>│   ├── Li PY-GEC — Pinyin (mit Tonmarkern), LLaMA-3-8B [LLM!]</a:t>
            </a:r>
          </a:p>
          <a:p>
            <a:pPr>
              <a:lnSpc>
                <a:spcPct val="100000"/>
              </a:lnSpc>
              <a:spcAft>
                <a:spcPts val="0"/>
              </a:spcAft>
            </a:pPr>
            <a:r>
              <a:rPr sz="900">
                <a:solidFill>
                  <a:srgbClr val="223344"/>
                </a:solidFill>
                <a:latin typeface="Consolas"/>
              </a:rPr>
              <a:t>│   ├── Liang PERL — Pinyin Embeddings, BERT</a:t>
            </a:r>
          </a:p>
          <a:p>
            <a:pPr>
              <a:lnSpc>
                <a:spcPct val="100000"/>
              </a:lnSpc>
              <a:spcAft>
                <a:spcPts val="0"/>
              </a:spcAft>
            </a:pPr>
            <a:r>
              <a:rPr sz="900">
                <a:solidFill>
                  <a:srgbClr val="223344"/>
                </a:solidFill>
                <a:latin typeface="Consolas"/>
              </a:rPr>
              <a:t>│   ├── Wu L2 Prosody — Pinyin (Annotation)</a:t>
            </a:r>
          </a:p>
          <a:p>
            <a:pPr>
              <a:lnSpc>
                <a:spcPct val="100000"/>
              </a:lnSpc>
              <a:spcAft>
                <a:spcPts val="0"/>
              </a:spcAft>
            </a:pPr>
            <a:r>
              <a:rPr sz="900">
                <a:solidFill>
                  <a:srgbClr val="223344"/>
                </a:solidFill>
                <a:latin typeface="Consolas"/>
              </a:rPr>
              <a:t>│   ├── Wang MSPB — Pinyin+Ton# (Stimulus-Labels)</a:t>
            </a:r>
          </a:p>
          <a:p>
            <a:pPr>
              <a:lnSpc>
                <a:spcPct val="100000"/>
              </a:lnSpc>
              <a:spcAft>
                <a:spcPts val="0"/>
              </a:spcAft>
            </a:pPr>
            <a:r>
              <a:rPr sz="900">
                <a:solidFill>
                  <a:srgbClr val="223344"/>
                </a:solidFill>
                <a:latin typeface="Consolas"/>
              </a:rPr>
              <a:t>│   └── Tone Perfect — Pinyin+Ton# (Datensatz-Labels)</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2 Papers (5%): IPA</a:t>
            </a:r>
          </a:p>
          <a:p>
            <a:pPr>
              <a:lnSpc>
                <a:spcPct val="100000"/>
              </a:lnSpc>
              <a:spcAft>
                <a:spcPts val="0"/>
              </a:spcAft>
            </a:pPr>
            <a:r>
              <a:rPr sz="900">
                <a:solidFill>
                  <a:srgbClr val="223344"/>
                </a:solidFill>
                <a:latin typeface="Consolas"/>
              </a:rPr>
              <a:t>│   ├── Zhu ZIPA — IPA (broad, 88 Sprachen)</a:t>
            </a:r>
          </a:p>
          <a:p>
            <a:pPr>
              <a:lnSpc>
                <a:spcPct val="100000"/>
              </a:lnSpc>
              <a:spcAft>
                <a:spcPts val="0"/>
              </a:spcAft>
            </a:pPr>
            <a:r>
              <a:rPr sz="900">
                <a:solidFill>
                  <a:srgbClr val="223344"/>
                </a:solidFill>
                <a:latin typeface="Consolas"/>
              </a:rPr>
              <a:t>│   └── Chirkova — IPA + Chao + Pinyin + Simple (Vergleich!)</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1 Paper (2%): Phonem-Set</a:t>
            </a:r>
          </a:p>
          <a:p>
            <a:pPr>
              <a:lnSpc>
                <a:spcPct val="100000"/>
              </a:lnSpc>
              <a:spcAft>
                <a:spcPts val="0"/>
              </a:spcAft>
            </a:pPr>
            <a:r>
              <a:rPr sz="900">
                <a:solidFill>
                  <a:srgbClr val="223344"/>
                </a:solidFill>
                <a:latin typeface="Consolas"/>
              </a:rPr>
              <a:t>│   └── Du Zipformer — 66 Phonemkategorien (Mandarin)</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1 Paper (2%): G2P/PER (nur intern)</a:t>
            </a:r>
          </a:p>
          <a:p>
            <a:pPr>
              <a:lnSpc>
                <a:spcPct val="100000"/>
              </a:lnSpc>
              <a:spcAft>
                <a:spcPts val="0"/>
              </a:spcAft>
            </a:pPr>
            <a:r>
              <a:rPr sz="900">
                <a:solidFill>
                  <a:srgbClr val="223344"/>
                </a:solidFill>
                <a:latin typeface="Consolas"/>
              </a:rPr>
              <a:t>    └── Wang ContextASR — PER für TTS-Qualitätssicherung</a:t>
            </a:r>
          </a:p>
        </p:txBody>
      </p:sp>
      <p:sp>
        <p:nvSpPr>
          <p:cNvPr id="5" name="TextBox 4"/>
          <p:cNvSpPr txBox="1"/>
          <p:nvPr/>
        </p:nvSpPr>
        <p:spPr>
          <a:xfrm>
            <a:off x="411480" y="4626864"/>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Tone Markers: The Missing Dimension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3419856"/>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Paper</a:t>
                      </a:r>
                    </a:p>
                  </a:txBody>
                  <a:tcPr marL="45720" marR="45720" marT="18288" marB="18288" anchor="ctr">
                    <a:solidFill>
                      <a:srgbClr val="1F3A5F"/>
                    </a:solidFill>
                  </a:tcPr>
                </a:tc>
                <a:tc>
                  <a:txBody>
                    <a:bodyPr wrap="square"/>
                    <a:lstStyle/>
                    <a:p>
                      <a:r>
                        <a:rPr sz="1000" b="1">
                          <a:solidFill>
                            <a:srgbClr val="FFFFFF"/>
                          </a:solidFill>
                        </a:rPr>
                        <a:t>Lautschrift</a:t>
                      </a:r>
                    </a:p>
                  </a:txBody>
                  <a:tcPr marL="45720" marR="45720" marT="18288" marB="18288" anchor="ctr">
                    <a:solidFill>
                      <a:srgbClr val="1F3A5F"/>
                    </a:solidFill>
                  </a:tcPr>
                </a:tc>
                <a:tc>
                  <a:txBody>
                    <a:bodyPr wrap="square"/>
                    <a:lstStyle/>
                    <a:p>
                      <a:r>
                        <a:rPr sz="1000" b="1">
                          <a:solidFill>
                            <a:srgbClr val="FFFFFF"/>
                          </a:solidFill>
                        </a:rPr>
                        <a:t>Tonmarker?</a:t>
                      </a:r>
                    </a:p>
                  </a:txBody>
                  <a:tcPr marL="45720" marR="45720" marT="18288" marB="18288" anchor="ctr">
                    <a:solidFill>
                      <a:srgbClr val="1F3A5F"/>
                    </a:solidFill>
                  </a:tcPr>
                </a:tc>
                <a:tc>
                  <a:txBody>
                    <a:bodyPr wrap="square"/>
                    <a:lstStyle/>
                    <a:p>
                      <a:r>
                        <a:rPr sz="1000" b="1">
                          <a:solidFill>
                            <a:srgbClr val="FFFFFF"/>
                          </a:solidFill>
                        </a:rPr>
                        <a:t>Begründung</a:t>
                      </a:r>
                    </a:p>
                  </a:txBody>
                  <a:tcPr marL="45720" marR="45720" marT="18288" marB="18288" anchor="ctr">
                    <a:solidFill>
                      <a:srgbClr val="1F3A5F"/>
                    </a:solidFill>
                  </a:tcPr>
                </a:tc>
              </a:tr>
              <a:tr h="310896">
                <a:tc>
                  <a:txBody>
                    <a:bodyPr wrap="square"/>
                    <a:lstStyle/>
                    <a:p>
                      <a:r>
                        <a:rPr sz="1000"/>
                        <a:t>Tone Perfect (Ryu 2021)</a:t>
                      </a:r>
                    </a:p>
                  </a:txBody>
                  <a:tcPr marL="45720" marR="45720" marT="18288" marB="18288" anchor="ctr">
                    <a:solidFill>
                      <a:srgbClr val="FFFFFF"/>
                    </a:solidFill>
                  </a:tcPr>
                </a:tc>
                <a:tc>
                  <a:txBody>
                    <a:bodyPr wrap="square"/>
                    <a:lstStyle/>
                    <a:p>
                      <a:r>
                        <a:rPr sz="1000"/>
                        <a:t>Pinyin+Ton#</a:t>
                      </a:r>
                    </a:p>
                  </a:txBody>
                  <a:tcPr marL="45720" marR="45720" marT="18288" marB="18288" anchor="ctr">
                    <a:solidFill>
                      <a:srgbClr val="FFFFFF"/>
                    </a:solidFill>
                  </a:tcPr>
                </a:tc>
                <a:tc>
                  <a:txBody>
                    <a:bodyPr wrap="square"/>
                    <a:lstStyle/>
                    <a:p>
                      <a:r>
                        <a:rPr sz="1000"/>
                        <a:t>✅ T1-T4</a:t>
                      </a:r>
                    </a:p>
                  </a:txBody>
                  <a:tcPr marL="45720" marR="45720" marT="18288" marB="18288" anchor="ctr">
                    <a:solidFill>
                      <a:srgbClr val="FFFFFF"/>
                    </a:solidFill>
                  </a:tcPr>
                </a:tc>
                <a:tc>
                  <a:txBody>
                    <a:bodyPr wrap="square"/>
                    <a:lstStyle/>
                    <a:p>
                      <a:r>
                        <a:rPr sz="1000"/>
                        <a:t>Datensatz-Labels</a:t>
                      </a:r>
                    </a:p>
                  </a:txBody>
                  <a:tcPr marL="45720" marR="45720" marT="18288" marB="18288" anchor="ctr">
                    <a:solidFill>
                      <a:srgbClr val="FFFFFF"/>
                    </a:solidFill>
                  </a:tcPr>
                </a:tc>
              </a:tr>
              <a:tr h="310896">
                <a:tc>
                  <a:txBody>
                    <a:bodyPr wrap="square"/>
                    <a:lstStyle/>
                    <a:p>
                      <a:r>
                        <a:rPr sz="1000"/>
                        <a:t>Wu L2 Prosody (2024)</a:t>
                      </a:r>
                    </a:p>
                  </a:txBody>
                  <a:tcPr marL="45720" marR="45720" marT="18288" marB="18288" anchor="ctr">
                    <a:solidFill>
                      <a:srgbClr val="E8EEF4"/>
                    </a:solidFill>
                  </a:tcPr>
                </a:tc>
                <a:tc>
                  <a:txBody>
                    <a:bodyPr wrap="square"/>
                    <a:lstStyle/>
                    <a:p>
                      <a:r>
                        <a:rPr sz="1000"/>
                        <a:t>Pinyin</a:t>
                      </a:r>
                    </a:p>
                  </a:txBody>
                  <a:tcPr marL="45720" marR="45720" marT="18288" marB="18288" anchor="ctr">
                    <a:solidFill>
                      <a:srgbClr val="E8EEF4"/>
                    </a:solidFill>
                  </a:tcPr>
                </a:tc>
                <a:tc>
                  <a:txBody>
                    <a:bodyPr wrap="square"/>
                    <a:lstStyle/>
                    <a:p>
                      <a:r>
                        <a:rPr sz="1000"/>
                        <a:t>✅ T1-T4 + Sandhi</a:t>
                      </a:r>
                    </a:p>
                  </a:txBody>
                  <a:tcPr marL="45720" marR="45720" marT="18288" marB="18288" anchor="ctr">
                    <a:solidFill>
                      <a:srgbClr val="E8EEF4"/>
                    </a:solidFill>
                  </a:tcPr>
                </a:tc>
                <a:tc>
                  <a:txBody>
                    <a:bodyPr wrap="square"/>
                    <a:lstStyle/>
                    <a:p>
                      <a:r>
                        <a:rPr sz="1000"/>
                        <a:t>Aufnahmeprotokoll</a:t>
                      </a:r>
                    </a:p>
                  </a:txBody>
                  <a:tcPr marL="45720" marR="45720" marT="18288" marB="18288" anchor="ctr">
                    <a:solidFill>
                      <a:srgbClr val="E8EEF4"/>
                    </a:solidFill>
                  </a:tcPr>
                </a:tc>
              </a:tr>
              <a:tr h="310896">
                <a:tc>
                  <a:txBody>
                    <a:bodyPr wrap="square"/>
                    <a:lstStyle/>
                    <a:p>
                      <a:r>
                        <a:rPr sz="1000"/>
                        <a:t>Wang MSPB (2025)</a:t>
                      </a:r>
                    </a:p>
                  </a:txBody>
                  <a:tcPr marL="45720" marR="45720" marT="18288" marB="18288" anchor="ctr">
                    <a:solidFill>
                      <a:srgbClr val="FFFFFF"/>
                    </a:solidFill>
                  </a:tcPr>
                </a:tc>
                <a:tc>
                  <a:txBody>
                    <a:bodyPr wrap="square"/>
                    <a:lstStyle/>
                    <a:p>
                      <a:r>
                        <a:rPr sz="1000"/>
                        <a:t>Pinyin+Ton#</a:t>
                      </a:r>
                    </a:p>
                  </a:txBody>
                  <a:tcPr marL="45720" marR="45720" marT="18288" marB="18288" anchor="ctr">
                    <a:solidFill>
                      <a:srgbClr val="FFFFFF"/>
                    </a:solidFill>
                  </a:tcPr>
                </a:tc>
                <a:tc>
                  <a:txBody>
                    <a:bodyPr wrap="square"/>
                    <a:lstStyle/>
                    <a:p>
                      <a:r>
                        <a:rPr sz="1000"/>
                        <a:t>✅ Tonnummern</a:t>
                      </a:r>
                    </a:p>
                  </a:txBody>
                  <a:tcPr marL="45720" marR="45720" marT="18288" marB="18288" anchor="ctr">
                    <a:solidFill>
                      <a:srgbClr val="FFFFFF"/>
                    </a:solidFill>
                  </a:tcPr>
                </a:tc>
                <a:tc>
                  <a:txBody>
                    <a:bodyPr wrap="square"/>
                    <a:lstStyle/>
                    <a:p>
                      <a:r>
                        <a:rPr sz="1000"/>
                        <a:t>Stimulus-Labels</a:t>
                      </a:r>
                    </a:p>
                  </a:txBody>
                  <a:tcPr marL="45720" marR="45720" marT="18288" marB="18288" anchor="ctr">
                    <a:solidFill>
                      <a:srgbClr val="FFFFFF"/>
                    </a:solidFill>
                  </a:tcPr>
                </a:tc>
              </a:tr>
              <a:tr h="310896">
                <a:tc>
                  <a:txBody>
                    <a:bodyPr wrap="square"/>
                    <a:lstStyle/>
                    <a:p>
                      <a:r>
                        <a:rPr sz="1000"/>
                        <a:t>Li PY-GEC (2024)</a:t>
                      </a:r>
                    </a:p>
                  </a:txBody>
                  <a:tcPr marL="45720" marR="45720" marT="18288" marB="18288" anchor="ctr">
                    <a:solidFill>
                      <a:srgbClr val="E8EEF4"/>
                    </a:solidFill>
                  </a:tcPr>
                </a:tc>
                <a:tc>
                  <a:txBody>
                    <a:bodyPr wrap="square"/>
                    <a:lstStyle/>
                    <a:p>
                      <a:r>
                        <a:rPr sz="1000"/>
                        <a:t>Pinyin</a:t>
                      </a:r>
                    </a:p>
                  </a:txBody>
                  <a:tcPr marL="45720" marR="45720" marT="18288" marB="18288" anchor="ctr">
                    <a:solidFill>
                      <a:srgbClr val="E8EEF4"/>
                    </a:solidFill>
                  </a:tcPr>
                </a:tc>
                <a:tc>
                  <a:txBody>
                    <a:bodyPr wrap="square"/>
                    <a:lstStyle/>
                    <a:p>
                      <a:r>
                        <a:rPr sz="1000"/>
                        <a:t>✅ Diakritika</a:t>
                      </a:r>
                    </a:p>
                  </a:txBody>
                  <a:tcPr marL="45720" marR="45720" marT="18288" marB="18288" anchor="ctr">
                    <a:solidFill>
                      <a:srgbClr val="E8EEF4"/>
                    </a:solidFill>
                  </a:tcPr>
                </a:tc>
                <a:tc>
                  <a:txBody>
                    <a:bodyPr wrap="square"/>
                    <a:lstStyle/>
                    <a:p>
                      <a:r>
                        <a:rPr sz="1000"/>
                        <a:t>Phonetische Brücke</a:t>
                      </a:r>
                    </a:p>
                  </a:txBody>
                  <a:tcPr marL="45720" marR="45720" marT="18288" marB="18288" anchor="ctr">
                    <a:solidFill>
                      <a:srgbClr val="E8EEF4"/>
                    </a:solidFill>
                  </a:tcPr>
                </a:tc>
              </a:tr>
              <a:tr h="310896">
                <a:tc>
                  <a:txBody>
                    <a:bodyPr wrap="square"/>
                    <a:lstStyle/>
                    <a:p>
                      <a:r>
                        <a:rPr sz="1000"/>
                        <a:t>Liang PERL (2025)</a:t>
                      </a:r>
                    </a:p>
                  </a:txBody>
                  <a:tcPr marL="45720" marR="45720" marT="18288" marB="18288" anchor="ctr">
                    <a:solidFill>
                      <a:srgbClr val="FFFFFF"/>
                    </a:solidFill>
                  </a:tcPr>
                </a:tc>
                <a:tc>
                  <a:txBody>
                    <a:bodyPr wrap="square"/>
                    <a:lstStyle/>
                    <a:p>
                      <a:r>
                        <a:rPr sz="1000"/>
                        <a:t>Pinyin</a:t>
                      </a:r>
                    </a:p>
                  </a:txBody>
                  <a:tcPr marL="45720" marR="45720" marT="18288" marB="18288" anchor="ctr">
                    <a:solidFill>
                      <a:srgbClr val="FFFFFF"/>
                    </a:solidFill>
                  </a:tcPr>
                </a:tc>
                <a:tc>
                  <a:txBody>
                    <a:bodyPr wrap="square"/>
                    <a:lstStyle/>
                    <a:p>
                      <a:r>
                        <a:rPr sz="1000"/>
                        <a:t>✅ Diakritika</a:t>
                      </a:r>
                    </a:p>
                  </a:txBody>
                  <a:tcPr marL="45720" marR="45720" marT="18288" marB="18288" anchor="ctr">
                    <a:solidFill>
                      <a:srgbClr val="FFFFFF"/>
                    </a:solidFill>
                  </a:tcPr>
                </a:tc>
                <a:tc>
                  <a:txBody>
                    <a:bodyPr wrap="square"/>
                    <a:lstStyle/>
                    <a:p>
                      <a:r>
                        <a:rPr sz="1000"/>
                        <a:t>Phonologische Info</a:t>
                      </a:r>
                    </a:p>
                  </a:txBody>
                  <a:tcPr marL="45720" marR="45720" marT="18288" marB="18288" anchor="ctr">
                    <a:solidFill>
                      <a:srgbClr val="FFFFFF"/>
                    </a:solidFill>
                  </a:tcPr>
                </a:tc>
              </a:tr>
              <a:tr h="310896">
                <a:tc>
                  <a:txBody>
                    <a:bodyPr wrap="square"/>
                    <a:lstStyle/>
                    <a:p>
                      <a:r>
                        <a:rPr sz="1000"/>
                        <a:t>Chirkova (2025)</a:t>
                      </a:r>
                    </a:p>
                  </a:txBody>
                  <a:tcPr marL="45720" marR="45720" marT="18288" marB="18288" anchor="ctr">
                    <a:solidFill>
                      <a:srgbClr val="E8EEF4"/>
                    </a:solidFill>
                  </a:tcPr>
                </a:tc>
                <a:tc>
                  <a:txBody>
                    <a:bodyPr wrap="square"/>
                    <a:lstStyle/>
                    <a:p>
                      <a:r>
                        <a:rPr sz="1000"/>
                        <a:t>IPA+Chao</a:t>
                      </a:r>
                    </a:p>
                  </a:txBody>
                  <a:tcPr marL="45720" marR="45720" marT="18288" marB="18288" anchor="ctr">
                    <a:solidFill>
                      <a:srgbClr val="E8EEF4"/>
                    </a:solidFill>
                  </a:tcPr>
                </a:tc>
                <a:tc>
                  <a:txBody>
                    <a:bodyPr wrap="square"/>
                    <a:lstStyle/>
                    <a:p>
                      <a:r>
                        <a:rPr sz="1000"/>
                        <a:t>✅ Chao-Tonnummern</a:t>
                      </a:r>
                    </a:p>
                  </a:txBody>
                  <a:tcPr marL="45720" marR="45720" marT="18288" marB="18288" anchor="ctr">
                    <a:solidFill>
                      <a:srgbClr val="E8EEF4"/>
                    </a:solidFill>
                  </a:tcPr>
                </a:tc>
                <a:tc>
                  <a:txBody>
                    <a:bodyPr wrap="square"/>
                    <a:lstStyle/>
                    <a:p>
                      <a:r>
                        <a:rPr sz="1000"/>
                        <a:t>Systematischer Vergleich</a:t>
                      </a:r>
                    </a:p>
                  </a:txBody>
                  <a:tcPr marL="45720" marR="45720" marT="18288" marB="18288" anchor="ctr">
                    <a:solidFill>
                      <a:srgbClr val="E8EEF4"/>
                    </a:solidFill>
                  </a:tcPr>
                </a:tc>
              </a:tr>
              <a:tr h="310896">
                <a:tc>
                  <a:txBody>
                    <a:bodyPr wrap="square"/>
                    <a:lstStyle/>
                    <a:p>
                      <a:r>
                        <a:rPr sz="1000"/>
                        <a:t>Zhu ZIPA (2025)</a:t>
                      </a:r>
                    </a:p>
                  </a:txBody>
                  <a:tcPr marL="45720" marR="45720" marT="18288" marB="18288" anchor="ctr">
                    <a:solidFill>
                      <a:srgbClr val="FFFFFF"/>
                    </a:solidFill>
                  </a:tcPr>
                </a:tc>
                <a:tc>
                  <a:txBody>
                    <a:bodyPr wrap="square"/>
                    <a:lstStyle/>
                    <a:p>
                      <a:r>
                        <a:rPr sz="1000"/>
                        <a:t>IPA</a:t>
                      </a:r>
                    </a:p>
                  </a:txBody>
                  <a:tcPr marL="45720" marR="45720" marT="18288" marB="18288" anchor="ctr">
                    <a:solidFill>
                      <a:srgbClr val="FFFFFF"/>
                    </a:solidFill>
                  </a:tcPr>
                </a:tc>
                <a:tc>
                  <a:txBody>
                    <a:bodyPr wrap="square"/>
                    <a:lstStyle/>
                    <a:p>
                      <a:r>
                        <a:rPr sz="1000"/>
                        <a:t>⚠️ Numerisch/Chao</a:t>
                      </a:r>
                    </a:p>
                  </a:txBody>
                  <a:tcPr marL="45720" marR="45720" marT="18288" marB="18288" anchor="ctr">
                    <a:solidFill>
                      <a:srgbClr val="FFFFFF"/>
                    </a:solidFill>
                  </a:tcPr>
                </a:tc>
                <a:tc>
                  <a:txBody>
                    <a:bodyPr wrap="square"/>
                    <a:lstStyle/>
                    <a:p>
                      <a:r>
                        <a:rPr sz="1000"/>
                        <a:t>Multilingual</a:t>
                      </a:r>
                    </a:p>
                  </a:txBody>
                  <a:tcPr marL="45720" marR="45720" marT="18288" marB="18288" anchor="ctr">
                    <a:solidFill>
                      <a:srgbClr val="FFFFFF"/>
                    </a:solidFill>
                  </a:tcPr>
                </a:tc>
              </a:tr>
              <a:tr h="310896">
                <a:tc>
                  <a:txBody>
                    <a:bodyPr wrap="square"/>
                    <a:lstStyle/>
                    <a:p>
                      <a:r>
                        <a:rPr sz="1000"/>
                        <a:t>Zhengjie PYG (2025)</a:t>
                      </a:r>
                    </a:p>
                  </a:txBody>
                  <a:tcPr marL="45720" marR="45720" marT="18288" marB="18288" anchor="ctr">
                    <a:solidFill>
                      <a:srgbClr val="E8EEF4"/>
                    </a:solidFill>
                  </a:tcPr>
                </a:tc>
                <a:tc>
                  <a:txBody>
                    <a:bodyPr wrap="square"/>
                    <a:lstStyle/>
                    <a:p>
                      <a:r>
                        <a:rPr sz="1000"/>
                        <a:t>Pinyin (Pypinyin)</a:t>
                      </a:r>
                    </a:p>
                  </a:txBody>
                  <a:tcPr marL="45720" marR="45720" marT="18288" marB="18288" anchor="ctr">
                    <a:solidFill>
                      <a:srgbClr val="E8EEF4"/>
                    </a:solidFill>
                  </a:tcPr>
                </a:tc>
                <a:tc>
                  <a:txBody>
                    <a:bodyPr wrap="square"/>
                    <a:lstStyle/>
                    <a:p>
                      <a:r>
                        <a:rPr sz="1000"/>
                        <a:t>⚠️ Standard tone style</a:t>
                      </a:r>
                    </a:p>
                  </a:txBody>
                  <a:tcPr marL="45720" marR="45720" marT="18288" marB="18288" anchor="ctr">
                    <a:solidFill>
                      <a:srgbClr val="E8EEF4"/>
                    </a:solidFill>
                  </a:tcPr>
                </a:tc>
                <a:tc>
                  <a:txBody>
                    <a:bodyPr wrap="square"/>
                    <a:lstStyle/>
                    <a:p>
                      <a:r>
                        <a:rPr sz="1000"/>
                        <a:t>Implementierung</a:t>
                      </a:r>
                    </a:p>
                  </a:txBody>
                  <a:tcPr marL="45720" marR="45720" marT="18288" marB="18288" anchor="ctr">
                    <a:solidFill>
                      <a:srgbClr val="E8EEF4"/>
                    </a:solidFill>
                  </a:tcPr>
                </a:tc>
              </a:tr>
              <a:tr h="310896">
                <a:tc>
                  <a:txBody>
                    <a:bodyPr wrap="square"/>
                    <a:lstStyle/>
                    <a:p>
                      <a:r>
                        <a:rPr sz="1000"/>
                        <a:t>Chen SCCM (2025)</a:t>
                      </a:r>
                    </a:p>
                  </a:txBody>
                  <a:tcPr marL="45720" marR="45720" marT="18288" marB="18288" anchor="ctr">
                    <a:solidFill>
                      <a:srgbClr val="FFFFFF"/>
                    </a:solidFill>
                  </a:tcPr>
                </a:tc>
                <a:tc>
                  <a:txBody>
                    <a:bodyPr wrap="square"/>
                    <a:lstStyle/>
                    <a:p>
                      <a:r>
                        <a:rPr sz="1000"/>
                        <a:t>Pinyin (I/F)</a:t>
                      </a:r>
                    </a:p>
                  </a:txBody>
                  <a:tcPr marL="45720" marR="45720" marT="18288" marB="18288" anchor="ctr">
                    <a:solidFill>
                      <a:srgbClr val="FFFFFF"/>
                    </a:solidFill>
                  </a:tcPr>
                </a:tc>
                <a:tc>
                  <a:txBody>
                    <a:bodyPr wrap="square"/>
                    <a:lstStyle/>
                    <a:p>
                      <a:r>
                        <a:rPr sz="1000"/>
                        <a:t>⚠️ Implizit</a:t>
                      </a:r>
                    </a:p>
                  </a:txBody>
                  <a:tcPr marL="45720" marR="45720" marT="18288" marB="18288" anchor="ctr">
                    <a:solidFill>
                      <a:srgbClr val="FFFFFF"/>
                    </a:solidFill>
                  </a:tcPr>
                </a:tc>
                <a:tc>
                  <a:txBody>
                    <a:bodyPr wrap="square"/>
                    <a:lstStyle/>
                    <a:p>
                      <a:r>
                        <a:rPr sz="1000"/>
                        <a:t>Pädagogisch</a:t>
                      </a:r>
                    </a:p>
                  </a:txBody>
                  <a:tcPr marL="45720" marR="45720" marT="18288" marB="18288" anchor="ctr">
                    <a:solidFill>
                      <a:srgbClr val="FFFFFF"/>
                    </a:solidFill>
                  </a:tcPr>
                </a:tc>
              </a:tr>
              <a:tr h="310896">
                <a:tc>
                  <a:txBody>
                    <a:bodyPr wrap="square"/>
                    <a:lstStyle/>
                    <a:p>
                      <a:r>
                        <a:rPr sz="1000"/>
                        <a:t>Du Zipformer (2025)</a:t>
                      </a:r>
                    </a:p>
                  </a:txBody>
                  <a:tcPr marL="45720" marR="45720" marT="18288" marB="18288" anchor="ctr">
                    <a:solidFill>
                      <a:srgbClr val="E8EEF4"/>
                    </a:solidFill>
                  </a:tcPr>
                </a:tc>
                <a:tc>
                  <a:txBody>
                    <a:bodyPr wrap="square"/>
                    <a:lstStyle/>
                    <a:p>
                      <a:r>
                        <a:rPr sz="1000"/>
                        <a:t>66 Phoneme</a:t>
                      </a:r>
                    </a:p>
                  </a:txBody>
                  <a:tcPr marL="45720" marR="45720" marT="18288" marB="18288" anchor="ctr">
                    <a:solidFill>
                      <a:srgbClr val="E8EEF4"/>
                    </a:solidFill>
                  </a:tcPr>
                </a:tc>
                <a:tc>
                  <a:txBody>
                    <a:bodyPr wrap="square"/>
                    <a:lstStyle/>
                    <a:p>
                      <a:r>
                        <a:rPr sz="1000"/>
                        <a:t>⚠️ In Phonemen kodiert</a:t>
                      </a:r>
                    </a:p>
                  </a:txBody>
                  <a:tcPr marL="45720" marR="45720" marT="18288" marB="18288" anchor="ctr">
                    <a:solidFill>
                      <a:srgbClr val="E8EEF4"/>
                    </a:solidFill>
                  </a:tcPr>
                </a:tc>
                <a:tc>
                  <a:txBody>
                    <a:bodyPr wrap="square"/>
                    <a:lstStyle/>
                    <a:p>
                      <a:r>
                        <a:rPr sz="1000"/>
                        <a:t>Phonemerkennung</a:t>
                      </a:r>
                    </a:p>
                  </a:txBody>
                  <a:tcPr marL="45720" marR="45720" marT="18288" marB="18288" anchor="ctr">
                    <a:solidFill>
                      <a:srgbClr val="E8EEF4"/>
                    </a:solidFill>
                  </a:tcPr>
                </a:tc>
              </a:tr>
            </a:tbl>
          </a:graphicData>
        </a:graphic>
      </p:graphicFrame>
      <p:sp>
        <p:nvSpPr>
          <p:cNvPr id="5" name="TextBox 4"/>
          <p:cNvSpPr txBox="1"/>
          <p:nvPr/>
        </p:nvSpPr>
        <p:spPr>
          <a:xfrm>
            <a:off x="411480" y="4636008"/>
            <a:ext cx="11368735" cy="676656"/>
          </a:xfrm>
          <a:prstGeom prst="rect">
            <a:avLst/>
          </a:prstGeom>
          <a:noFill/>
        </p:spPr>
        <p:txBody>
          <a:bodyPr wrap="square">
            <a:spAutoFit/>
          </a:bodyPr>
          <a:lstStyle/>
          <a:p>
            <a:pPr>
              <a:spcAft>
                <a:spcPts val="300"/>
              </a:spcAft>
            </a:pPr>
            <a:r>
              <a:rPr sz="1200" b="1">
                <a:solidFill>
                  <a:srgbClr val="1F3A5F"/>
                </a:solidFill>
              </a:rPr>
              <a:t>*Selbst Papers die Pinyin nutzen, evaluieren Töne selten SEPARAT.*</a:t>
            </a:r>
          </a:p>
          <a:p>
            <a:pPr>
              <a:spcAft>
                <a:spcPts val="300"/>
              </a:spcAft>
            </a:pPr>
            <a:r>
              <a:rPr sz="1300"/>
              <a:t>•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The Gap: No LLM + Phonetic Transcription + Tones</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5" cy="2176272"/>
        </p:xfrm>
        <a:graphic>
          <a:graphicData uri="http://schemas.openxmlformats.org/drawingml/2006/table">
            <a:tbl>
              <a:tblPr firstRow="1" bandRow="1">
                <a:tableStyleId>{5C22544A-7EE6-4342-B048-85BDC9FD1C3A}</a:tableStyleId>
              </a:tblPr>
              <a:tblGrid>
                <a:gridCol w="2292035"/>
                <a:gridCol w="2292035"/>
                <a:gridCol w="2292035"/>
                <a:gridCol w="2292035"/>
                <a:gridCol w="2292035"/>
              </a:tblGrid>
              <a:tr h="310896">
                <a:tc>
                  <a:txBody>
                    <a:bodyPr wrap="square"/>
                    <a:lstStyle/>
                    <a:p>
                      <a:r>
                        <a:rPr sz="1000" b="1">
                          <a:solidFill>
                            <a:srgbClr val="FFFFFF"/>
                          </a:solidFill>
                        </a:rPr>
                        <a:t>Paper</a:t>
                      </a:r>
                    </a:p>
                  </a:txBody>
                  <a:tcPr marL="45720" marR="45720" marT="18288" marB="18288" anchor="ctr">
                    <a:solidFill>
                      <a:srgbClr val="1F3A5F"/>
                    </a:solidFill>
                  </a:tcPr>
                </a:tc>
                <a:tc>
                  <a:txBody>
                    <a:bodyPr wrap="square"/>
                    <a:lstStyle/>
                    <a:p>
                      <a:r>
                        <a:rPr sz="1000" b="1">
                          <a:solidFill>
                            <a:srgbClr val="FFFFFF"/>
                          </a:solidFill>
                        </a:rPr>
                        <a:t>LLM?</a:t>
                      </a:r>
                    </a:p>
                  </a:txBody>
                  <a:tcPr marL="45720" marR="45720" marT="18288" marB="18288" anchor="ctr">
                    <a:solidFill>
                      <a:srgbClr val="1F3A5F"/>
                    </a:solidFill>
                  </a:tcPr>
                </a:tc>
                <a:tc>
                  <a:txBody>
                    <a:bodyPr wrap="square"/>
                    <a:lstStyle/>
                    <a:p>
                      <a:r>
                        <a:rPr sz="1000" b="1">
                          <a:solidFill>
                            <a:srgbClr val="FFFFFF"/>
                          </a:solidFill>
                        </a:rPr>
                        <a:t>Audio→LLM?</a:t>
                      </a:r>
                    </a:p>
                  </a:txBody>
                  <a:tcPr marL="45720" marR="45720" marT="18288" marB="18288" anchor="ctr">
                    <a:solidFill>
                      <a:srgbClr val="1F3A5F"/>
                    </a:solidFill>
                  </a:tcPr>
                </a:tc>
                <a:tc>
                  <a:txBody>
                    <a:bodyPr wrap="square"/>
                    <a:lstStyle/>
                    <a:p>
                      <a:r>
                        <a:rPr sz="1000" b="1">
                          <a:solidFill>
                            <a:srgbClr val="FFFFFF"/>
                          </a:solidFill>
                        </a:rPr>
                        <a:t>Lautschrift?</a:t>
                      </a:r>
                    </a:p>
                  </a:txBody>
                  <a:tcPr marL="45720" marR="45720" marT="18288" marB="18288" anchor="ctr">
                    <a:solidFill>
                      <a:srgbClr val="1F3A5F"/>
                    </a:solidFill>
                  </a:tcPr>
                </a:tc>
                <a:tc>
                  <a:txBody>
                    <a:bodyPr wrap="square"/>
                    <a:lstStyle/>
                    <a:p>
                      <a:r>
                        <a:rPr sz="1000" b="1">
                          <a:solidFill>
                            <a:srgbClr val="FFFFFF"/>
                          </a:solidFill>
                        </a:rPr>
                        <a:t>Töne separat?</a:t>
                      </a:r>
                    </a:p>
                  </a:txBody>
                  <a:tcPr marL="45720" marR="45720" marT="18288" marB="18288" anchor="ctr">
                    <a:solidFill>
                      <a:srgbClr val="1F3A5F"/>
                    </a:solidFill>
                  </a:tcPr>
                </a:tc>
              </a:tr>
              <a:tr h="310896">
                <a:tc>
                  <a:txBody>
                    <a:bodyPr wrap="square"/>
                    <a:lstStyle/>
                    <a:p>
                      <a:r>
                        <a:rPr sz="1000"/>
                        <a:t>Zhengjie PYG-ASR</a:t>
                      </a:r>
                    </a:p>
                  </a:txBody>
                  <a:tcPr marL="45720" marR="45720" marT="18288" marB="18288" anchor="ctr">
                    <a:solidFill>
                      <a:srgbClr val="FFFFFF"/>
                    </a:solidFill>
                  </a:tcPr>
                </a:tc>
                <a:tc>
                  <a:txBody>
                    <a:bodyPr wrap="square"/>
                    <a:lstStyle/>
                    <a:p>
                      <a:r>
                        <a:rPr sz="1000"/>
                        <a:t>✅ Qwen2-7B</a:t>
                      </a:r>
                    </a:p>
                  </a:txBody>
                  <a:tcPr marL="45720" marR="45720" marT="18288" marB="18288" anchor="ctr">
                    <a:solidFill>
                      <a:srgbClr val="FFFFFF"/>
                    </a:solidFill>
                  </a:tcPr>
                </a:tc>
                <a:tc>
                  <a:txBody>
                    <a:bodyPr wrap="square"/>
                    <a:lstStyle/>
                    <a:p>
                      <a:r>
                        <a:rPr sz="1000"/>
                        <a:t>✅ HuBERT→LLM</a:t>
                      </a:r>
                    </a:p>
                  </a:txBody>
                  <a:tcPr marL="45720" marR="45720" marT="18288" marB="18288" anchor="ctr">
                    <a:solidFill>
                      <a:srgbClr val="FFFFFF"/>
                    </a:solidFill>
                  </a:tcPr>
                </a:tc>
                <a:tc>
                  <a:txBody>
                    <a:bodyPr wrap="square"/>
                    <a:lstStyle/>
                    <a:p>
                      <a:r>
                        <a:rPr sz="1000"/>
                        <a:t>✅ Pinyin</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r>
              <a:tr h="310896">
                <a:tc>
                  <a:txBody>
                    <a:bodyPr wrap="square"/>
                    <a:lstStyle/>
                    <a:p>
                      <a:r>
                        <a:rPr sz="1000"/>
                        <a:t>Li PY-GEC</a:t>
                      </a:r>
                    </a:p>
                  </a:txBody>
                  <a:tcPr marL="45720" marR="45720" marT="18288" marB="18288" anchor="ctr">
                    <a:solidFill>
                      <a:srgbClr val="E8EEF4"/>
                    </a:solidFill>
                  </a:tcPr>
                </a:tc>
                <a:tc>
                  <a:txBody>
                    <a:bodyPr wrap="square"/>
                    <a:lstStyle/>
                    <a:p>
                      <a:r>
                        <a:rPr sz="1000"/>
                        <a:t>✅ LLaMA-3-8B</a:t>
                      </a:r>
                    </a:p>
                  </a:txBody>
                  <a:tcPr marL="45720" marR="45720" marT="18288" marB="18288" anchor="ctr">
                    <a:solidFill>
                      <a:srgbClr val="E8EEF4"/>
                    </a:solidFill>
                  </a:tcPr>
                </a:tc>
                <a:tc>
                  <a:txBody>
                    <a:bodyPr wrap="square"/>
                    <a:lstStyle/>
                    <a:p>
                      <a:r>
                        <a:rPr sz="1000"/>
                        <a:t>❌ Text-only</a:t>
                      </a:r>
                    </a:p>
                  </a:txBody>
                  <a:tcPr marL="45720" marR="45720" marT="18288" marB="18288" anchor="ctr">
                    <a:solidFill>
                      <a:srgbClr val="E8EEF4"/>
                    </a:solidFill>
                  </a:tcPr>
                </a:tc>
                <a:tc>
                  <a:txBody>
                    <a:bodyPr wrap="square"/>
                    <a:lstStyle/>
                    <a:p>
                      <a:r>
                        <a:rPr sz="1000"/>
                        <a:t>✅ Pinyin+Ton</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r>
              <a:tr h="310896">
                <a:tc>
                  <a:txBody>
                    <a:bodyPr wrap="square"/>
                    <a:lstStyle/>
                    <a:p>
                      <a:r>
                        <a:rPr sz="1000"/>
                        <a:t>Chirkova</a:t>
                      </a:r>
                    </a:p>
                  </a:txBody>
                  <a:tcPr marL="45720" marR="45720" marT="18288" marB="18288" anchor="ctr">
                    <a:solidFill>
                      <a:srgbClr val="FFFFFF"/>
                    </a:solidFill>
                  </a:tcPr>
                </a:tc>
                <a:tc>
                  <a:txBody>
                    <a:bodyPr wrap="square"/>
                    <a:lstStyle/>
                    <a:p>
                      <a:r>
                        <a:rPr sz="1000"/>
                        <a:t>❌ Wav2Vec2</a:t>
                      </a:r>
                    </a:p>
                  </a:txBody>
                  <a:tcPr marL="45720" marR="45720" marT="18288" marB="18288" anchor="ctr">
                    <a:solidFill>
                      <a:srgbClr val="FFFFFF"/>
                    </a:solidFill>
                  </a:tcPr>
                </a:tc>
                <a:tc>
                  <a:txBody>
                    <a:bodyPr wrap="square"/>
                    <a:lstStyle/>
                    <a:p>
                      <a:r>
                        <a:rPr sz="1000"/>
                        <a:t>✅ Direkt</a:t>
                      </a:r>
                    </a:p>
                  </a:txBody>
                  <a:tcPr marL="45720" marR="45720" marT="18288" marB="18288" anchor="ctr">
                    <a:solidFill>
                      <a:srgbClr val="FFFFFF"/>
                    </a:solidFill>
                  </a:tcPr>
                </a:tc>
                <a:tc>
                  <a:txBody>
                    <a:bodyPr wrap="square"/>
                    <a:lstStyle/>
                    <a:p>
                      <a:r>
                        <a:rPr sz="1000"/>
                        <a:t>✅ IPA+Ton</a:t>
                      </a:r>
                    </a:p>
                  </a:txBody>
                  <a:tcPr marL="45720" marR="45720" marT="18288" marB="18288" anchor="ctr">
                    <a:solidFill>
                      <a:srgbClr val="FFFFFF"/>
                    </a:solidFill>
                  </a:tcPr>
                </a:tc>
                <a:tc>
                  <a:txBody>
                    <a:bodyPr wrap="square"/>
                    <a:lstStyle/>
                    <a:p>
                      <a:r>
                        <a:rPr sz="1000"/>
                        <a:t>✅ (Baima)</a:t>
                      </a:r>
                    </a:p>
                  </a:txBody>
                  <a:tcPr marL="45720" marR="45720" marT="18288" marB="18288" anchor="ctr">
                    <a:solidFill>
                      <a:srgbClr val="FFFFFF"/>
                    </a:solidFill>
                  </a:tcPr>
                </a:tc>
              </a:tr>
              <a:tr h="310896">
                <a:tc>
                  <a:txBody>
                    <a:bodyPr wrap="square"/>
                    <a:lstStyle/>
                    <a:p>
                      <a:r>
                        <a:rPr sz="1000"/>
                        <a:t>Wang MSPB</a:t>
                      </a:r>
                    </a:p>
                  </a:txBody>
                  <a:tcPr marL="45720" marR="45720" marT="18288" marB="18288" anchor="ctr">
                    <a:solidFill>
                      <a:srgbClr val="E8EEF4"/>
                    </a:solidFill>
                  </a:tcPr>
                </a:tc>
                <a:tc>
                  <a:txBody>
                    <a:bodyPr wrap="square"/>
                    <a:lstStyle/>
                    <a:p>
                      <a:r>
                        <a:rPr sz="1000"/>
                        <a:t>✅ GPT-4o etc.</a:t>
                      </a:r>
                    </a:p>
                  </a:txBody>
                  <a:tcPr marL="45720" marR="45720" marT="18288" marB="18288" anchor="ctr">
                    <a:solidFill>
                      <a:srgbClr val="E8EEF4"/>
                    </a:solidFill>
                  </a:tcPr>
                </a:tc>
                <a:tc>
                  <a:txBody>
                    <a:bodyPr wrap="square"/>
                    <a:lstStyle/>
                    <a:p>
                      <a:r>
                        <a:rPr sz="1000"/>
                        <a:t>✅ Direkt</a:t>
                      </a:r>
                    </a:p>
                  </a:txBody>
                  <a:tcPr marL="45720" marR="45720" marT="18288" marB="18288" anchor="ctr">
                    <a:solidFill>
                      <a:srgbClr val="E8EEF4"/>
                    </a:solidFill>
                  </a:tcPr>
                </a:tc>
                <a:tc>
                  <a:txBody>
                    <a:bodyPr wrap="square"/>
                    <a:lstStyle/>
                    <a:p>
                      <a:r>
                        <a:rPr sz="1000"/>
                        <a:t>✅ Pinyin+Ton</a:t>
                      </a:r>
                    </a:p>
                  </a:txBody>
                  <a:tcPr marL="45720" marR="45720" marT="18288" marB="18288" anchor="ctr">
                    <a:solidFill>
                      <a:srgbClr val="E8EEF4"/>
                    </a:solidFill>
                  </a:tcPr>
                </a:tc>
                <a:tc>
                  <a:txBody>
                    <a:bodyPr wrap="square"/>
                    <a:lstStyle/>
                    <a:p>
                      <a:r>
                        <a:rPr sz="1000"/>
                        <a:t>❌ (Prosodie)</a:t>
                      </a:r>
                    </a:p>
                  </a:txBody>
                  <a:tcPr marL="45720" marR="45720" marT="18288" marB="18288" anchor="ctr">
                    <a:solidFill>
                      <a:srgbClr val="E8EEF4"/>
                    </a:solidFill>
                  </a:tcPr>
                </a:tc>
              </a:tr>
              <a:tr h="310896">
                <a:tc>
                  <a:txBody>
                    <a:bodyPr wrap="square"/>
                    <a:lstStyle/>
                    <a:p>
                      <a:r>
                        <a:rPr sz="1000"/>
                        <a:t>Du Zipformer</a:t>
                      </a:r>
                    </a:p>
                  </a:txBody>
                  <a:tcPr marL="45720" marR="45720" marT="18288" marB="18288" anchor="ctr">
                    <a:solidFill>
                      <a:srgbClr val="FFFFFF"/>
                    </a:solidFill>
                  </a:tcPr>
                </a:tc>
                <a:tc>
                  <a:txBody>
                    <a:bodyPr wrap="square"/>
                    <a:lstStyle/>
                    <a:p>
                      <a:r>
                        <a:rPr sz="1000"/>
                        <a:t>❌ Zipformer</a:t>
                      </a:r>
                    </a:p>
                  </a:txBody>
                  <a:tcPr marL="45720" marR="45720" marT="18288" marB="18288" anchor="ctr">
                    <a:solidFill>
                      <a:srgbClr val="FFFFFF"/>
                    </a:solidFill>
                  </a:tcPr>
                </a:tc>
                <a:tc>
                  <a:txBody>
                    <a:bodyPr wrap="square"/>
                    <a:lstStyle/>
                    <a:p>
                      <a:r>
                        <a:rPr sz="1000"/>
                        <a:t>✅ Direkt</a:t>
                      </a:r>
                    </a:p>
                  </a:txBody>
                  <a:tcPr marL="45720" marR="45720" marT="18288" marB="18288" anchor="ctr">
                    <a:solidFill>
                      <a:srgbClr val="FFFFFF"/>
                    </a:solidFill>
                  </a:tcPr>
                </a:tc>
                <a:tc>
                  <a:txBody>
                    <a:bodyPr wrap="square"/>
                    <a:lstStyle/>
                    <a:p>
                      <a:r>
                        <a:rPr sz="1000"/>
                        <a:t>✅ Phoneme</a:t>
                      </a:r>
                    </a:p>
                  </a:txBody>
                  <a:tcPr marL="45720" marR="45720" marT="18288" marB="18288" anchor="ctr">
                    <a:solidFill>
                      <a:srgbClr val="FFFFFF"/>
                    </a:solidFill>
                  </a:tcPr>
                </a:tc>
                <a:tc>
                  <a:txBody>
                    <a:bodyPr wrap="square"/>
                    <a:lstStyle/>
                    <a:p>
                      <a:r>
                        <a:rPr sz="1000"/>
                        <a:t>⚠️ Implizit</a:t>
                      </a:r>
                    </a:p>
                  </a:txBody>
                  <a:tcPr marL="45720" marR="45720" marT="18288" marB="18288" anchor="ctr">
                    <a:solidFill>
                      <a:srgbClr val="FFFFFF"/>
                    </a:solidFill>
                  </a:tcPr>
                </a:tc>
              </a:tr>
              <a:tr h="310896">
                <a:tc>
                  <a:txBody>
                    <a:bodyPr wrap="square"/>
                    <a:lstStyle/>
                    <a:p>
                      <a:r>
                        <a:rPr sz="1000"/>
                        <a:t>Unsere Arbeit</a:t>
                      </a:r>
                    </a:p>
                  </a:txBody>
                  <a:tcPr marL="45720" marR="45720" marT="18288" marB="18288" anchor="ctr">
                    <a:solidFill>
                      <a:srgbClr val="E8EEF4"/>
                    </a:solidFill>
                  </a:tcPr>
                </a:tc>
                <a:tc>
                  <a:txBody>
                    <a:bodyPr wrap="square"/>
                    <a:lstStyle/>
                    <a:p>
                      <a:r>
                        <a:rPr sz="1000"/>
                        <a:t>✅ Multimodal</a:t>
                      </a:r>
                    </a:p>
                  </a:txBody>
                  <a:tcPr marL="45720" marR="45720" marT="18288" marB="18288" anchor="ctr">
                    <a:solidFill>
                      <a:srgbClr val="E8EEF4"/>
                    </a:solidFill>
                  </a:tcPr>
                </a:tc>
                <a:tc>
                  <a:txBody>
                    <a:bodyPr wrap="square"/>
                    <a:lstStyle/>
                    <a:p>
                      <a:r>
                        <a:rPr sz="1000"/>
                        <a:t>✅ Direkt</a:t>
                      </a:r>
                    </a:p>
                  </a:txBody>
                  <a:tcPr marL="45720" marR="45720" marT="18288" marB="18288" anchor="ctr">
                    <a:solidFill>
                      <a:srgbClr val="E8EEF4"/>
                    </a:solidFill>
                  </a:tcPr>
                </a:tc>
                <a:tc>
                  <a:txBody>
                    <a:bodyPr wrap="square"/>
                    <a:lstStyle/>
                    <a:p>
                      <a:r>
                        <a:rPr sz="1000"/>
                        <a:t>✅ Pinyin+Ton#</a:t>
                      </a:r>
                    </a:p>
                  </a:txBody>
                  <a:tcPr marL="45720" marR="45720" marT="18288" marB="18288" anchor="ctr">
                    <a:solidFill>
                      <a:srgbClr val="E8EEF4"/>
                    </a:solidFill>
                  </a:tcPr>
                </a:tc>
                <a:tc>
                  <a:txBody>
                    <a:bodyPr wrap="square"/>
                    <a:lstStyle/>
                    <a:p>
                      <a:r>
                        <a:rPr sz="1000"/>
                        <a:t>✅ TER + PER</a:t>
                      </a:r>
                    </a:p>
                  </a:txBody>
                  <a:tcPr marL="45720" marR="45720" marT="18288" marB="18288" anchor="ctr">
                    <a:solidFill>
                      <a:srgbClr val="E8EEF4"/>
                    </a:solidFill>
                  </a:tcPr>
                </a:tc>
              </a:tr>
            </a:tbl>
          </a:graphicData>
        </a:graphic>
      </p:graphicFrame>
      <p:sp>
        <p:nvSpPr>
          <p:cNvPr id="5" name="TextBox 4"/>
          <p:cNvSpPr txBox="1"/>
          <p:nvPr/>
        </p:nvSpPr>
        <p:spPr>
          <a:xfrm>
            <a:off x="411480" y="3392424"/>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Why Pinyin? Nobody Asks.</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2487168"/>
        </p:xfrm>
        <a:graphic>
          <a:graphicData uri="http://schemas.openxmlformats.org/drawingml/2006/table">
            <a:tbl>
              <a:tblPr firstRow="1" bandRow="1">
                <a:tableStyleId>{5C22544A-7EE6-4342-B048-85BDC9FD1C3A}</a:tableStyleId>
              </a:tblPr>
              <a:tblGrid>
                <a:gridCol w="5730087"/>
                <a:gridCol w="5730087"/>
              </a:tblGrid>
              <a:tr h="310896">
                <a:tc>
                  <a:txBody>
                    <a:bodyPr wrap="square"/>
                    <a:lstStyle/>
                    <a:p>
                      <a:r>
                        <a:rPr sz="1000" b="1">
                          <a:solidFill>
                            <a:srgbClr val="FFFFFF"/>
                          </a:solidFill>
                        </a:rPr>
                        <a:t>Paper</a:t>
                      </a:r>
                    </a:p>
                  </a:txBody>
                  <a:tcPr marL="45720" marR="45720" marT="18288" marB="18288" anchor="ctr">
                    <a:solidFill>
                      <a:srgbClr val="1F3A5F"/>
                    </a:solidFill>
                  </a:tcPr>
                </a:tc>
                <a:tc>
                  <a:txBody>
                    <a:bodyPr wrap="square"/>
                    <a:lstStyle/>
                    <a:p>
                      <a:r>
                        <a:rPr sz="1000" b="1">
                          <a:solidFill>
                            <a:srgbClr val="FFFFFF"/>
                          </a:solidFill>
                        </a:rPr>
                        <a:t>Begründung für Pinyin?</a:t>
                      </a:r>
                    </a:p>
                  </a:txBody>
                  <a:tcPr marL="45720" marR="45720" marT="18288" marB="18288" anchor="ctr">
                    <a:solidFill>
                      <a:srgbClr val="1F3A5F"/>
                    </a:solidFill>
                  </a:tcPr>
                </a:tc>
              </a:tr>
              <a:tr h="310896">
                <a:tc>
                  <a:txBody>
                    <a:bodyPr wrap="square"/>
                    <a:lstStyle/>
                    <a:p>
                      <a:r>
                        <a:rPr sz="1000"/>
                        <a:t>Li PY-GEC</a:t>
                      </a:r>
                    </a:p>
                  </a:txBody>
                  <a:tcPr marL="45720" marR="45720" marT="18288" marB="18288" anchor="ctr">
                    <a:solidFill>
                      <a:srgbClr val="FFFFFF"/>
                    </a:solidFill>
                  </a:tcPr>
                </a:tc>
                <a:tc>
                  <a:txBody>
                    <a:bodyPr wrap="square"/>
                    <a:lstStyle/>
                    <a:p>
                      <a:r>
                        <a:rPr sz="1000"/>
                        <a:t>❌ "Pinyin—the phonetic representation of Chinese characters" (als gegeben)</a:t>
                      </a:r>
                    </a:p>
                  </a:txBody>
                  <a:tcPr marL="45720" marR="45720" marT="18288" marB="18288" anchor="ctr">
                    <a:solidFill>
                      <a:srgbClr val="FFFFFF"/>
                    </a:solidFill>
                  </a:tcPr>
                </a:tc>
              </a:tr>
              <a:tr h="310896">
                <a:tc>
                  <a:txBody>
                    <a:bodyPr wrap="square"/>
                    <a:lstStyle/>
                    <a:p>
                      <a:r>
                        <a:rPr sz="1000"/>
                        <a:t>Liang PERL</a:t>
                      </a:r>
                    </a:p>
                  </a:txBody>
                  <a:tcPr marL="45720" marR="45720" marT="18288" marB="18288" anchor="ctr">
                    <a:solidFill>
                      <a:srgbClr val="E8EEF4"/>
                    </a:solidFill>
                  </a:tcPr>
                </a:tc>
                <a:tc>
                  <a:txBody>
                    <a:bodyPr wrap="square"/>
                    <a:lstStyle/>
                    <a:p>
                      <a:r>
                        <a:rPr sz="1000"/>
                        <a:t>❌ "The Chinese Pinyin system provides a Latin-based transcription... that carries rich phonological information" (beschreibend)</a:t>
                      </a:r>
                    </a:p>
                  </a:txBody>
                  <a:tcPr marL="45720" marR="45720" marT="18288" marB="18288" anchor="ctr">
                    <a:solidFill>
                      <a:srgbClr val="E8EEF4"/>
                    </a:solidFill>
                  </a:tcPr>
                </a:tc>
              </a:tr>
              <a:tr h="310896">
                <a:tc>
                  <a:txBody>
                    <a:bodyPr wrap="square"/>
                    <a:lstStyle/>
                    <a:p>
                      <a:r>
                        <a:rPr sz="1000"/>
                        <a:t>Zhengjie PYG-ASR</a:t>
                      </a:r>
                    </a:p>
                  </a:txBody>
                  <a:tcPr marL="45720" marR="45720" marT="18288" marB="18288" anchor="ctr">
                    <a:solidFill>
                      <a:srgbClr val="FFFFFF"/>
                    </a:solidFill>
                  </a:tcPr>
                </a:tc>
                <a:tc>
                  <a:txBody>
                    <a:bodyPr wrap="square"/>
                    <a:lstStyle/>
                    <a:p>
                      <a:r>
                        <a:rPr sz="1000"/>
                        <a:t>❌ "we utilize the Pinyin system as presented in Pypinyin" (Implementierungsentscheidung)</a:t>
                      </a:r>
                    </a:p>
                  </a:txBody>
                  <a:tcPr marL="45720" marR="45720" marT="18288" marB="18288" anchor="ctr">
                    <a:solidFill>
                      <a:srgbClr val="FFFFFF"/>
                    </a:solidFill>
                  </a:tcPr>
                </a:tc>
              </a:tr>
              <a:tr h="310896">
                <a:tc>
                  <a:txBody>
                    <a:bodyPr wrap="square"/>
                    <a:lstStyle/>
                    <a:p>
                      <a:r>
                        <a:rPr sz="1000"/>
                        <a:t>Chen SCCM</a:t>
                      </a:r>
                    </a:p>
                  </a:txBody>
                  <a:tcPr marL="45720" marR="45720" marT="18288" marB="18288" anchor="ctr">
                    <a:solidFill>
                      <a:srgbClr val="E8EEF4"/>
                    </a:solidFill>
                  </a:tcPr>
                </a:tc>
                <a:tc>
                  <a:txBody>
                    <a:bodyPr wrap="square"/>
                    <a:lstStyle/>
                    <a:p>
                      <a:r>
                        <a:rPr sz="1000"/>
                        <a:t>✅ "Chinese language learners typically begin by mastering initials and finals" (pädagogisch)</a:t>
                      </a:r>
                    </a:p>
                  </a:txBody>
                  <a:tcPr marL="45720" marR="45720" marT="18288" marB="18288" anchor="ctr">
                    <a:solidFill>
                      <a:srgbClr val="E8EEF4"/>
                    </a:solidFill>
                  </a:tcPr>
                </a:tc>
              </a:tr>
              <a:tr h="310896">
                <a:tc>
                  <a:txBody>
                    <a:bodyPr wrap="square"/>
                    <a:lstStyle/>
                    <a:p>
                      <a:r>
                        <a:rPr sz="1000"/>
                        <a:t>Wu L2 Prosody</a:t>
                      </a:r>
                    </a:p>
                  </a:txBody>
                  <a:tcPr marL="45720" marR="45720" marT="18288" marB="18288" anchor="ctr">
                    <a:solidFill>
                      <a:srgbClr val="FFFFFF"/>
                    </a:solidFill>
                  </a:tcPr>
                </a:tc>
                <a:tc>
                  <a:txBody>
                    <a:bodyPr wrap="square"/>
                    <a:lstStyle/>
                    <a:p>
                      <a:r>
                        <a:rPr sz="1000"/>
                        <a:t>❌ "the pronunciation transcription, also called Pinyin is provided" (Konvention)</a:t>
                      </a:r>
                    </a:p>
                  </a:txBody>
                  <a:tcPr marL="45720" marR="45720" marT="18288" marB="18288" anchor="ctr">
                    <a:solidFill>
                      <a:srgbClr val="FFFFFF"/>
                    </a:solidFill>
                  </a:tcPr>
                </a:tc>
              </a:tr>
              <a:tr h="310896">
                <a:tc>
                  <a:txBody>
                    <a:bodyPr wrap="square"/>
                    <a:lstStyle/>
                    <a:p>
                      <a:r>
                        <a:rPr sz="1000"/>
                        <a:t>Wang MSPB</a:t>
                      </a:r>
                    </a:p>
                  </a:txBody>
                  <a:tcPr marL="45720" marR="45720" marT="18288" marB="18288" anchor="ctr">
                    <a:solidFill>
                      <a:srgbClr val="E8EEF4"/>
                    </a:solidFill>
                  </a:tcPr>
                </a:tc>
                <a:tc>
                  <a:txBody>
                    <a:bodyPr wrap="square"/>
                    <a:lstStyle/>
                    <a:p>
                      <a:r>
                        <a:rPr sz="1000"/>
                        <a:t>❌ (Konvention)</a:t>
                      </a:r>
                    </a:p>
                  </a:txBody>
                  <a:tcPr marL="45720" marR="45720" marT="18288" marB="18288" anchor="ctr">
                    <a:solidFill>
                      <a:srgbClr val="E8EEF4"/>
                    </a:solidFill>
                  </a:tcPr>
                </a:tc>
              </a:tr>
              <a:tr h="310896">
                <a:tc>
                  <a:txBody>
                    <a:bodyPr wrap="square"/>
                    <a:lstStyle/>
                    <a:p>
                      <a:r>
                        <a:rPr sz="1000"/>
                        <a:t>Chirkova</a:t>
                      </a:r>
                    </a:p>
                  </a:txBody>
                  <a:tcPr marL="45720" marR="45720" marT="18288" marB="18288" anchor="ctr">
                    <a:solidFill>
                      <a:srgbClr val="FFFFFF"/>
                    </a:solidFill>
                  </a:tcPr>
                </a:tc>
                <a:tc>
                  <a:txBody>
                    <a:bodyPr wrap="square"/>
                    <a:lstStyle/>
                    <a:p>
                      <a:r>
                        <a:rPr sz="1000"/>
                        <a:t>✅✅ Ausführliche Begründung IPA vs. Pinyin vs. Simple</a:t>
                      </a:r>
                    </a:p>
                  </a:txBody>
                  <a:tcPr marL="45720" marR="45720" marT="18288" marB="18288" anchor="ctr">
                    <a:solidFill>
                      <a:srgbClr val="FFFFFF"/>
                    </a:solidFill>
                  </a:tcPr>
                </a:tc>
              </a:tr>
            </a:tbl>
          </a:graphicData>
        </a:graphic>
      </p:graphicFrame>
      <p:sp>
        <p:nvSpPr>
          <p:cNvPr id="5" name="TextBox 4"/>
          <p:cNvSpPr txBox="1"/>
          <p:nvPr/>
        </p:nvSpPr>
        <p:spPr>
          <a:xfrm>
            <a:off x="411480" y="3703320"/>
            <a:ext cx="11368735" cy="969264"/>
          </a:xfrm>
          <a:prstGeom prst="rect">
            <a:avLst/>
          </a:prstGeom>
          <a:noFill/>
        </p:spPr>
        <p:txBody>
          <a:bodyPr wrap="square">
            <a:spAutoFit/>
          </a:bodyPr>
          <a:lstStyle/>
          <a:p>
            <a:pPr>
              <a:spcAft>
                <a:spcPts val="300"/>
              </a:spcAft>
            </a:pPr>
            <a:r>
              <a:rPr sz="1200" b="1">
                <a:solidFill>
                  <a:srgbClr val="1F3A5F"/>
                </a:solidFill>
              </a:rPr>
              <a:t>*Nur Chirkova (2025) begründet ihre Systemwahl. Alle anderen behandeln Pinyin als selbstverständlich.*</a:t>
            </a:r>
          </a:p>
          <a:p>
            <a:pPr>
              <a:spcAft>
                <a:spcPts val="300"/>
              </a:spcAft>
            </a:pPr>
            <a:r>
              <a:rPr sz="1300"/>
              <a:t>•  ---</a:t>
            </a:r>
          </a:p>
          <a:p>
            <a:pPr>
              <a:spcAft>
                <a:spcPts val="300"/>
              </a:spcAft>
            </a:pPr>
            <a:r>
              <a:rPr sz="1300"/>
              <a:t>•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All Phonetic Transcription Systems for Mandarin Chinese</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5" cy="2487168"/>
        </p:xfrm>
        <a:graphic>
          <a:graphicData uri="http://schemas.openxmlformats.org/drawingml/2006/table">
            <a:tbl>
              <a:tblPr firstRow="1" bandRow="1">
                <a:tableStyleId>{5C22544A-7EE6-4342-B048-85BDC9FD1C3A}</a:tableStyleId>
              </a:tblPr>
              <a:tblGrid>
                <a:gridCol w="2292035"/>
                <a:gridCol w="2292035"/>
                <a:gridCol w="2292035"/>
                <a:gridCol w="2292035"/>
                <a:gridCol w="2292035"/>
              </a:tblGrid>
              <a:tr h="310896">
                <a:tc>
                  <a:txBody>
                    <a:bodyPr wrap="square"/>
                    <a:lstStyle/>
                    <a:p>
                      <a:r>
                        <a:rPr sz="1000" b="1">
                          <a:solidFill>
                            <a:srgbClr val="FFFFFF"/>
                          </a:solidFill>
                        </a:rPr>
                        <a:t>System</a:t>
                      </a:r>
                    </a:p>
                  </a:txBody>
                  <a:tcPr marL="45720" marR="45720" marT="18288" marB="18288" anchor="ctr">
                    <a:solidFill>
                      <a:srgbClr val="1F3A5F"/>
                    </a:solidFill>
                  </a:tcPr>
                </a:tc>
                <a:tc>
                  <a:txBody>
                    <a:bodyPr wrap="square"/>
                    <a:lstStyle/>
                    <a:p>
                      <a:r>
                        <a:rPr sz="1000" b="1">
                          <a:solidFill>
                            <a:srgbClr val="FFFFFF"/>
                          </a:solidFill>
                        </a:rPr>
                        <a:t>Beispiel: 妈/麻/马/骂</a:t>
                      </a:r>
                    </a:p>
                  </a:txBody>
                  <a:tcPr marL="45720" marR="45720" marT="18288" marB="18288" anchor="ctr">
                    <a:solidFill>
                      <a:srgbClr val="1F3A5F"/>
                    </a:solidFill>
                  </a:tcPr>
                </a:tc>
                <a:tc>
                  <a:txBody>
                    <a:bodyPr wrap="square"/>
                    <a:lstStyle/>
                    <a:p>
                      <a:r>
                        <a:rPr sz="1000" b="1">
                          <a:solidFill>
                            <a:srgbClr val="FFFFFF"/>
                          </a:solidFill>
                        </a:rPr>
                        <a:t>Zeichen</a:t>
                      </a:r>
                    </a:p>
                  </a:txBody>
                  <a:tcPr marL="45720" marR="45720" marT="18288" marB="18288" anchor="ctr">
                    <a:solidFill>
                      <a:srgbClr val="1F3A5F"/>
                    </a:solidFill>
                  </a:tcPr>
                </a:tc>
                <a:tc>
                  <a:txBody>
                    <a:bodyPr wrap="square"/>
                    <a:lstStyle/>
                    <a:p>
                      <a:r>
                        <a:rPr sz="1000" b="1">
                          <a:solidFill>
                            <a:srgbClr val="FFFFFF"/>
                          </a:solidFill>
                        </a:rPr>
                        <a:t>Verbreitung</a:t>
                      </a:r>
                    </a:p>
                  </a:txBody>
                  <a:tcPr marL="45720" marR="45720" marT="18288" marB="18288" anchor="ctr">
                    <a:solidFill>
                      <a:srgbClr val="1F3A5F"/>
                    </a:solidFill>
                  </a:tcPr>
                </a:tc>
                <a:tc>
                  <a:txBody>
                    <a:bodyPr wrap="square"/>
                    <a:lstStyle/>
                    <a:p>
                      <a:r>
                        <a:rPr sz="1000" b="1">
                          <a:solidFill>
                            <a:srgbClr val="FFFFFF"/>
                          </a:solidFill>
                        </a:rPr>
                        <a:t>LLM-Trainingsdaten</a:t>
                      </a:r>
                    </a:p>
                  </a:txBody>
                  <a:tcPr marL="45720" marR="45720" marT="18288" marB="18288" anchor="ctr">
                    <a:solidFill>
                      <a:srgbClr val="1F3A5F"/>
                    </a:solidFill>
                  </a:tcPr>
                </a:tc>
              </a:tr>
              <a:tr h="310896">
                <a:tc>
                  <a:txBody>
                    <a:bodyPr wrap="square"/>
                    <a:lstStyle/>
                    <a:p>
                      <a:r>
                        <a:rPr sz="1000"/>
                        <a:t>Hanyu Pinyin</a:t>
                      </a:r>
                    </a:p>
                  </a:txBody>
                  <a:tcPr marL="45720" marR="45720" marT="18288" marB="18288" anchor="ctr">
                    <a:solidFill>
                      <a:srgbClr val="FFFFFF"/>
                    </a:solidFill>
                  </a:tcPr>
                </a:tc>
                <a:tc>
                  <a:txBody>
                    <a:bodyPr wrap="square"/>
                    <a:lstStyle/>
                    <a:p>
                      <a:r>
                        <a:rPr sz="1000"/>
                        <a:t>mā, má, mǎ, mà</a:t>
                      </a:r>
                    </a:p>
                  </a:txBody>
                  <a:tcPr marL="45720" marR="45720" marT="18288" marB="18288" anchor="ctr">
                    <a:solidFill>
                      <a:srgbClr val="FFFFFF"/>
                    </a:solidFill>
                  </a:tcPr>
                </a:tc>
                <a:tc>
                  <a:txBody>
                    <a:bodyPr wrap="square"/>
                    <a:lstStyle/>
                    <a:p>
                      <a:r>
                        <a:rPr sz="1000"/>
                        <a:t>26 lat. Buchstaben + Diakritika</a:t>
                      </a:r>
                    </a:p>
                  </a:txBody>
                  <a:tcPr marL="45720" marR="45720" marT="18288" marB="18288" anchor="ctr">
                    <a:solidFill>
                      <a:srgbClr val="FFFFFF"/>
                    </a:solidFill>
                  </a:tcPr>
                </a:tc>
                <a:tc>
                  <a:txBody>
                    <a:bodyPr wrap="square"/>
                    <a:lstStyle/>
                    <a:p>
                      <a:r>
                        <a:rPr sz="1000"/>
                        <a:t>🌍 Internationaler Standard (UN, ISO 7098, seit 1958)</a:t>
                      </a:r>
                    </a:p>
                  </a:txBody>
                  <a:tcPr marL="45720" marR="45720" marT="18288" marB="18288" anchor="ctr">
                    <a:solidFill>
                      <a:srgbClr val="FFFFFF"/>
                    </a:solidFill>
                  </a:tcPr>
                </a:tc>
                <a:tc>
                  <a:txBody>
                    <a:bodyPr wrap="square"/>
                    <a:lstStyle/>
                    <a:p>
                      <a:r>
                        <a:rPr sz="1000"/>
                        <a:t>✅ Massiv</a:t>
                      </a:r>
                    </a:p>
                  </a:txBody>
                  <a:tcPr marL="45720" marR="45720" marT="18288" marB="18288" anchor="ctr">
                    <a:solidFill>
                      <a:srgbClr val="FFFFFF"/>
                    </a:solidFill>
                  </a:tcPr>
                </a:tc>
              </a:tr>
              <a:tr h="310896">
                <a:tc>
                  <a:txBody>
                    <a:bodyPr wrap="square"/>
                    <a:lstStyle/>
                    <a:p>
                      <a:r>
                        <a:rPr sz="1000"/>
                        <a:t>Pinyin + Tonnummer</a:t>
                      </a:r>
                    </a:p>
                  </a:txBody>
                  <a:tcPr marL="45720" marR="45720" marT="18288" marB="18288" anchor="ctr">
                    <a:solidFill>
                      <a:srgbClr val="E8EEF4"/>
                    </a:solidFill>
                  </a:tcPr>
                </a:tc>
                <a:tc>
                  <a:txBody>
                    <a:bodyPr wrap="square"/>
                    <a:lstStyle/>
                    <a:p>
                      <a:r>
                        <a:rPr sz="1000"/>
                        <a:t>ma1, ma2, ma3, ma4</a:t>
                      </a:r>
                    </a:p>
                  </a:txBody>
                  <a:tcPr marL="45720" marR="45720" marT="18288" marB="18288" anchor="ctr">
                    <a:solidFill>
                      <a:srgbClr val="E8EEF4"/>
                    </a:solidFill>
                  </a:tcPr>
                </a:tc>
                <a:tc>
                  <a:txBody>
                    <a:bodyPr wrap="square"/>
                    <a:lstStyle/>
                    <a:p>
                      <a:r>
                        <a:rPr sz="1000"/>
                        <a:t>26 lat. Buchstaben + Ziffern</a:t>
                      </a:r>
                    </a:p>
                  </a:txBody>
                  <a:tcPr marL="45720" marR="45720" marT="18288" marB="18288" anchor="ctr">
                    <a:solidFill>
                      <a:srgbClr val="E8EEF4"/>
                    </a:solidFill>
                  </a:tcPr>
                </a:tc>
                <a:tc>
                  <a:txBody>
                    <a:bodyPr wrap="square"/>
                    <a:lstStyle/>
                    <a:p>
                      <a:r>
                        <a:rPr sz="1000"/>
                        <a:t>🌍 Standard (digital/didaktisch)</a:t>
                      </a:r>
                    </a:p>
                  </a:txBody>
                  <a:tcPr marL="45720" marR="45720" marT="18288" marB="18288" anchor="ctr">
                    <a:solidFill>
                      <a:srgbClr val="E8EEF4"/>
                    </a:solidFill>
                  </a:tcPr>
                </a:tc>
                <a:tc>
                  <a:txBody>
                    <a:bodyPr wrap="square"/>
                    <a:lstStyle/>
                    <a:p>
                      <a:r>
                        <a:rPr sz="1000"/>
                        <a:t>✅ Massiv</a:t>
                      </a:r>
                    </a:p>
                  </a:txBody>
                  <a:tcPr marL="45720" marR="45720" marT="18288" marB="18288" anchor="ctr">
                    <a:solidFill>
                      <a:srgbClr val="E8EEF4"/>
                    </a:solidFill>
                  </a:tcPr>
                </a:tc>
              </a:tr>
              <a:tr h="310896">
                <a:tc>
                  <a:txBody>
                    <a:bodyPr wrap="square"/>
                    <a:lstStyle/>
                    <a:p>
                      <a:r>
                        <a:rPr sz="1000"/>
                        <a:t>IPA + Tone Letters</a:t>
                      </a:r>
                    </a:p>
                  </a:txBody>
                  <a:tcPr marL="45720" marR="45720" marT="18288" marB="18288" anchor="ctr">
                    <a:solidFill>
                      <a:srgbClr val="FFFFFF"/>
                    </a:solidFill>
                  </a:tcPr>
                </a:tc>
                <a:tc>
                  <a:txBody>
                    <a:bodyPr wrap="square"/>
                    <a:lstStyle/>
                    <a:p>
                      <a:r>
                        <a:rPr sz="1000"/>
                        <a:t>[ma˥], [ma˧˥], [ma˨˩˦], [ma˥˩]</a:t>
                      </a:r>
                    </a:p>
                  </a:txBody>
                  <a:tcPr marL="45720" marR="45720" marT="18288" marB="18288" anchor="ctr">
                    <a:solidFill>
                      <a:srgbClr val="FFFFFF"/>
                    </a:solidFill>
                  </a:tcPr>
                </a:tc>
                <a:tc>
                  <a:txBody>
                    <a:bodyPr wrap="square"/>
                    <a:lstStyle/>
                    <a:p>
                      <a:r>
                        <a:rPr sz="1000"/>
                        <a:t>~100+ IPA-Symbole + Unicode</a:t>
                      </a:r>
                    </a:p>
                  </a:txBody>
                  <a:tcPr marL="45720" marR="45720" marT="18288" marB="18288" anchor="ctr">
                    <a:solidFill>
                      <a:srgbClr val="FFFFFF"/>
                    </a:solidFill>
                  </a:tcPr>
                </a:tc>
                <a:tc>
                  <a:txBody>
                    <a:bodyPr wrap="square"/>
                    <a:lstStyle/>
                    <a:p>
                      <a:r>
                        <a:rPr sz="1000"/>
                        <a:t>🎓 Linguistik-Fachtexte</a:t>
                      </a:r>
                    </a:p>
                  </a:txBody>
                  <a:tcPr marL="45720" marR="45720" marT="18288" marB="18288" anchor="ctr">
                    <a:solidFill>
                      <a:srgbClr val="FFFFFF"/>
                    </a:solidFill>
                  </a:tcPr>
                </a:tc>
                <a:tc>
                  <a:txBody>
                    <a:bodyPr wrap="square"/>
                    <a:lstStyle/>
                    <a:p>
                      <a:r>
                        <a:rPr sz="1000"/>
                        <a:t>⚠️ Wenig</a:t>
                      </a:r>
                    </a:p>
                  </a:txBody>
                  <a:tcPr marL="45720" marR="45720" marT="18288" marB="18288" anchor="ctr">
                    <a:solidFill>
                      <a:srgbClr val="FFFFFF"/>
                    </a:solidFill>
                  </a:tcPr>
                </a:tc>
              </a:tr>
              <a:tr h="310896">
                <a:tc>
                  <a:txBody>
                    <a:bodyPr wrap="square"/>
                    <a:lstStyle/>
                    <a:p>
                      <a:r>
                        <a:rPr sz="1000"/>
                        <a:t>IPA + Chao-Nummern</a:t>
                      </a:r>
                    </a:p>
                  </a:txBody>
                  <a:tcPr marL="45720" marR="45720" marT="18288" marB="18288" anchor="ctr">
                    <a:solidFill>
                      <a:srgbClr val="E8EEF4"/>
                    </a:solidFill>
                  </a:tcPr>
                </a:tc>
                <a:tc>
                  <a:txBody>
                    <a:bodyPr wrap="square"/>
                    <a:lstStyle/>
                    <a:p>
                      <a:r>
                        <a:rPr sz="1000"/>
                        <a:t>[ma55], [ma35], [ma214], [ma51]</a:t>
                      </a:r>
                    </a:p>
                  </a:txBody>
                  <a:tcPr marL="45720" marR="45720" marT="18288" marB="18288" anchor="ctr">
                    <a:solidFill>
                      <a:srgbClr val="E8EEF4"/>
                    </a:solidFill>
                  </a:tcPr>
                </a:tc>
                <a:tc>
                  <a:txBody>
                    <a:bodyPr wrap="square"/>
                    <a:lstStyle/>
                    <a:p>
                      <a:r>
                        <a:rPr sz="1000"/>
                        <a:t>~100+ Symbole + Ziffern</a:t>
                      </a:r>
                    </a:p>
                  </a:txBody>
                  <a:tcPr marL="45720" marR="45720" marT="18288" marB="18288" anchor="ctr">
                    <a:solidFill>
                      <a:srgbClr val="E8EEF4"/>
                    </a:solidFill>
                  </a:tcPr>
                </a:tc>
                <a:tc>
                  <a:txBody>
                    <a:bodyPr wrap="square"/>
                    <a:lstStyle/>
                    <a:p>
                      <a:r>
                        <a:rPr sz="1000"/>
                        <a:t>🎓 Sinologie/Tonforschung</a:t>
                      </a:r>
                    </a:p>
                  </a:txBody>
                  <a:tcPr marL="45720" marR="45720" marT="18288" marB="18288" anchor="ctr">
                    <a:solidFill>
                      <a:srgbClr val="E8EEF4"/>
                    </a:solidFill>
                  </a:tcPr>
                </a:tc>
                <a:tc>
                  <a:txBody>
                    <a:bodyPr wrap="square"/>
                    <a:lstStyle/>
                    <a:p>
                      <a:r>
                        <a:rPr sz="1000"/>
                        <a:t>⚠️ Wenig</a:t>
                      </a:r>
                    </a:p>
                  </a:txBody>
                  <a:tcPr marL="45720" marR="45720" marT="18288" marB="18288" anchor="ctr">
                    <a:solidFill>
                      <a:srgbClr val="E8EEF4"/>
                    </a:solidFill>
                  </a:tcPr>
                </a:tc>
              </a:tr>
              <a:tr h="310896">
                <a:tc>
                  <a:txBody>
                    <a:bodyPr wrap="square"/>
                    <a:lstStyle/>
                    <a:p>
                      <a:r>
                        <a:rPr sz="1000"/>
                        <a:t>Zhuyin (Bopomofo)</a:t>
                      </a:r>
                    </a:p>
                  </a:txBody>
                  <a:tcPr marL="45720" marR="45720" marT="18288" marB="18288" anchor="ctr">
                    <a:solidFill>
                      <a:srgbClr val="FFFFFF"/>
                    </a:solidFill>
                  </a:tcPr>
                </a:tc>
                <a:tc>
                  <a:txBody>
                    <a:bodyPr wrap="square"/>
                    <a:lstStyle/>
                    <a:p>
                      <a:r>
                        <a:rPr sz="1000"/>
                        <a:t>ㄇㄚ, ㄇㄚˊ, ㄇㄚˇ, ㄇㄚˋ</a:t>
                      </a:r>
                    </a:p>
                  </a:txBody>
                  <a:tcPr marL="45720" marR="45720" marT="18288" marB="18288" anchor="ctr">
                    <a:solidFill>
                      <a:srgbClr val="FFFFFF"/>
                    </a:solidFill>
                  </a:tcPr>
                </a:tc>
                <a:tc>
                  <a:txBody>
                    <a:bodyPr wrap="square"/>
                    <a:lstStyle/>
                    <a:p>
                      <a:r>
                        <a:rPr sz="1000"/>
                        <a:t>37 Symbole + Tonmarken</a:t>
                      </a:r>
                    </a:p>
                  </a:txBody>
                  <a:tcPr marL="45720" marR="45720" marT="18288" marB="18288" anchor="ctr">
                    <a:solidFill>
                      <a:srgbClr val="FFFFFF"/>
                    </a:solidFill>
                  </a:tcPr>
                </a:tc>
                <a:tc>
                  <a:txBody>
                    <a:bodyPr wrap="square"/>
                    <a:lstStyle/>
                    <a:p>
                      <a:r>
                        <a:rPr sz="1000"/>
                        <a:t>🇹🇼 Taiwan (Schulunterricht)</a:t>
                      </a:r>
                    </a:p>
                  </a:txBody>
                  <a:tcPr marL="45720" marR="45720" marT="18288" marB="18288" anchor="ctr">
                    <a:solidFill>
                      <a:srgbClr val="FFFFFF"/>
                    </a:solidFill>
                  </a:tcPr>
                </a:tc>
                <a:tc>
                  <a:txBody>
                    <a:bodyPr wrap="square"/>
                    <a:lstStyle/>
                    <a:p>
                      <a:r>
                        <a:rPr sz="1000"/>
                        <a:t>⚠️ Taiwan-only</a:t>
                      </a:r>
                    </a:p>
                  </a:txBody>
                  <a:tcPr marL="45720" marR="45720" marT="18288" marB="18288" anchor="ctr">
                    <a:solidFill>
                      <a:srgbClr val="FFFFFF"/>
                    </a:solidFill>
                  </a:tcPr>
                </a:tc>
              </a:tr>
              <a:tr h="310896">
                <a:tc>
                  <a:txBody>
                    <a:bodyPr wrap="square"/>
                    <a:lstStyle/>
                    <a:p>
                      <a:r>
                        <a:rPr sz="1000"/>
                        <a:t>Wade-Giles</a:t>
                      </a:r>
                    </a:p>
                  </a:txBody>
                  <a:tcPr marL="45720" marR="45720" marT="18288" marB="18288" anchor="ctr">
                    <a:solidFill>
                      <a:srgbClr val="E8EEF4"/>
                    </a:solidFill>
                  </a:tcPr>
                </a:tc>
                <a:tc>
                  <a:txBody>
                    <a:bodyPr wrap="square"/>
                    <a:lstStyle/>
                    <a:p>
                      <a:r>
                        <a:rPr sz="1000"/>
                        <a:t>ma¹, ma², ma³, ma⁴</a:t>
                      </a:r>
                    </a:p>
                  </a:txBody>
                  <a:tcPr marL="45720" marR="45720" marT="18288" marB="18288" anchor="ctr">
                    <a:solidFill>
                      <a:srgbClr val="E8EEF4"/>
                    </a:solidFill>
                  </a:tcPr>
                </a:tc>
                <a:tc>
                  <a:txBody>
                    <a:bodyPr wrap="square"/>
                    <a:lstStyle/>
                    <a:p>
                      <a:r>
                        <a:rPr sz="1000"/>
                        <a:t>26 lat. Buchstaben + Hochzahlen</a:t>
                      </a:r>
                    </a:p>
                  </a:txBody>
                  <a:tcPr marL="45720" marR="45720" marT="18288" marB="18288" anchor="ctr">
                    <a:solidFill>
                      <a:srgbClr val="E8EEF4"/>
                    </a:solidFill>
                  </a:tcPr>
                </a:tc>
                <a:tc>
                  <a:txBody>
                    <a:bodyPr wrap="square"/>
                    <a:lstStyle/>
                    <a:p>
                      <a:r>
                        <a:rPr sz="1000"/>
                        <a:t>📚 Historisch (vor 1979)</a:t>
                      </a:r>
                    </a:p>
                  </a:txBody>
                  <a:tcPr marL="45720" marR="45720" marT="18288" marB="18288" anchor="ctr">
                    <a:solidFill>
                      <a:srgbClr val="E8EEF4"/>
                    </a:solidFill>
                  </a:tcPr>
                </a:tc>
                <a:tc>
                  <a:txBody>
                    <a:bodyPr wrap="square"/>
                    <a:lstStyle/>
                    <a:p>
                      <a:r>
                        <a:rPr sz="1000"/>
                        <a:t>⚠️ Ältere Texte</a:t>
                      </a:r>
                    </a:p>
                  </a:txBody>
                  <a:tcPr marL="45720" marR="45720" marT="18288" marB="18288" anchor="ctr">
                    <a:solidFill>
                      <a:srgbClr val="E8EEF4"/>
                    </a:solidFill>
                  </a:tcPr>
                </a:tc>
              </a:tr>
              <a:tr h="310896">
                <a:tc>
                  <a:txBody>
                    <a:bodyPr wrap="square"/>
                    <a:lstStyle/>
                    <a:p>
                      <a:r>
                        <a:rPr sz="1000"/>
                        <a:t>Gwoyeu Romatzyh (GR)</a:t>
                      </a:r>
                    </a:p>
                  </a:txBody>
                  <a:tcPr marL="45720" marR="45720" marT="18288" marB="18288" anchor="ctr">
                    <a:solidFill>
                      <a:srgbClr val="FFFFFF"/>
                    </a:solidFill>
                  </a:tcPr>
                </a:tc>
                <a:tc>
                  <a:txBody>
                    <a:bodyPr wrap="square"/>
                    <a:lstStyle/>
                    <a:p>
                      <a:r>
                        <a:rPr sz="1000"/>
                        <a:t>ma, mar, maa, mah</a:t>
                      </a:r>
                    </a:p>
                  </a:txBody>
                  <a:tcPr marL="45720" marR="45720" marT="18288" marB="18288" anchor="ctr">
                    <a:solidFill>
                      <a:srgbClr val="FFFFFF"/>
                    </a:solidFill>
                  </a:tcPr>
                </a:tc>
                <a:tc>
                  <a:txBody>
                    <a:bodyPr wrap="square"/>
                    <a:lstStyle/>
                    <a:p>
                      <a:r>
                        <a:rPr sz="1000"/>
                        <a:t>26 lat. Buchstaben (Ton im Buchstaben)</a:t>
                      </a:r>
                    </a:p>
                  </a:txBody>
                  <a:tcPr marL="45720" marR="45720" marT="18288" marB="18288" anchor="ctr">
                    <a:solidFill>
                      <a:srgbClr val="FFFFFF"/>
                    </a:solidFill>
                  </a:tcPr>
                </a:tc>
                <a:tc>
                  <a:txBody>
                    <a:bodyPr wrap="square"/>
                    <a:lstStyle/>
                    <a:p>
                      <a:r>
                        <a:rPr sz="1000"/>
                        <a:t>📚 Veraltet (Y.R. Chao, 1928)</a:t>
                      </a:r>
                    </a:p>
                  </a:txBody>
                  <a:tcPr marL="45720" marR="45720" marT="18288" marB="18288" anchor="ctr">
                    <a:solidFill>
                      <a:srgbClr val="FFFFFF"/>
                    </a:solidFill>
                  </a:tcPr>
                </a:tc>
                <a:tc>
                  <a:txBody>
                    <a:bodyPr wrap="square"/>
                    <a:lstStyle/>
                    <a:p>
                      <a:r>
                        <a:rPr sz="1000"/>
                        <a:t>❌ Sehr selten</a:t>
                      </a:r>
                    </a:p>
                  </a:txBody>
                  <a:tcPr marL="45720" marR="45720" marT="18288" marB="18288" anchor="ctr">
                    <a:solidFill>
                      <a:srgbClr val="FFFFFF"/>
                    </a:solidFill>
                  </a:tcPr>
                </a:tc>
              </a:tr>
            </a:tbl>
          </a:graphicData>
        </a:graphic>
      </p:graphicFrame>
      <p:graphicFrame>
        <p:nvGraphicFramePr>
          <p:cNvPr id="5" name="Table 4"/>
          <p:cNvGraphicFramePr>
            <a:graphicFrameLocks noGrp="1"/>
          </p:cNvGraphicFramePr>
          <p:nvPr/>
        </p:nvGraphicFramePr>
        <p:xfrm>
          <a:off x="365760" y="3703320"/>
          <a:ext cx="11460172" cy="1554480"/>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System</a:t>
                      </a:r>
                    </a:p>
                  </a:txBody>
                  <a:tcPr marL="45720" marR="45720" marT="18288" marB="18288" anchor="ctr">
                    <a:solidFill>
                      <a:srgbClr val="1F3A5F"/>
                    </a:solidFill>
                  </a:tcPr>
                </a:tc>
                <a:tc>
                  <a:txBody>
                    <a:bodyPr wrap="square"/>
                    <a:lstStyle/>
                    <a:p>
                      <a:r>
                        <a:rPr sz="1000" b="1">
                          <a:solidFill>
                            <a:srgbClr val="FFFFFF"/>
                          </a:solidFill>
                        </a:rPr>
                        <a:t>Beispiel</a:t>
                      </a:r>
                    </a:p>
                  </a:txBody>
                  <a:tcPr marL="45720" marR="45720" marT="18288" marB="18288" anchor="ctr">
                    <a:solidFill>
                      <a:srgbClr val="1F3A5F"/>
                    </a:solidFill>
                  </a:tcPr>
                </a:tc>
                <a:tc>
                  <a:txBody>
                    <a:bodyPr wrap="square"/>
                    <a:lstStyle/>
                    <a:p>
                      <a:r>
                        <a:rPr sz="1000" b="1">
                          <a:solidFill>
                            <a:srgbClr val="FFFFFF"/>
                          </a:solidFill>
                        </a:rPr>
                        <a:t>Zeitraum</a:t>
                      </a:r>
                    </a:p>
                  </a:txBody>
                  <a:tcPr marL="45720" marR="45720" marT="18288" marB="18288" anchor="ctr">
                    <a:solidFill>
                      <a:srgbClr val="1F3A5F"/>
                    </a:solidFill>
                  </a:tcPr>
                </a:tc>
                <a:tc>
                  <a:txBody>
                    <a:bodyPr wrap="square"/>
                    <a:lstStyle/>
                    <a:p>
                      <a:r>
                        <a:rPr sz="1000" b="1">
                          <a:solidFill>
                            <a:srgbClr val="FFFFFF"/>
                          </a:solidFill>
                        </a:rPr>
                        <a:t>LLM-Daten</a:t>
                      </a:r>
                    </a:p>
                  </a:txBody>
                  <a:tcPr marL="45720" marR="45720" marT="18288" marB="18288" anchor="ctr">
                    <a:solidFill>
                      <a:srgbClr val="1F3A5F"/>
                    </a:solidFill>
                  </a:tcPr>
                </a:tc>
              </a:tr>
              <a:tr h="310896">
                <a:tc>
                  <a:txBody>
                    <a:bodyPr wrap="square"/>
                    <a:lstStyle/>
                    <a:p>
                      <a:r>
                        <a:rPr sz="1000"/>
                        <a:t>Yale Romanization</a:t>
                      </a:r>
                    </a:p>
                  </a:txBody>
                  <a:tcPr marL="45720" marR="45720" marT="18288" marB="18288" anchor="ctr">
                    <a:solidFill>
                      <a:srgbClr val="FFFFFF"/>
                    </a:solidFill>
                  </a:tcPr>
                </a:tc>
                <a:tc>
                  <a:txBody>
                    <a:bodyPr wrap="square"/>
                    <a:lstStyle/>
                    <a:p>
                      <a:r>
                        <a:rPr sz="1000"/>
                        <a:t>mā, má, mǎ, mà (eigene Konventionen)</a:t>
                      </a:r>
                    </a:p>
                  </a:txBody>
                  <a:tcPr marL="45720" marR="45720" marT="18288" marB="18288" anchor="ctr">
                    <a:solidFill>
                      <a:srgbClr val="FFFFFF"/>
                    </a:solidFill>
                  </a:tcPr>
                </a:tc>
                <a:tc>
                  <a:txBody>
                    <a:bodyPr wrap="square"/>
                    <a:lstStyle/>
                    <a:p>
                      <a:r>
                        <a:rPr sz="1000"/>
                        <a:t>1960er–1980er, Yale-Kurse</a:t>
                      </a:r>
                    </a:p>
                  </a:txBody>
                  <a:tcPr marL="45720" marR="45720" marT="18288" marB="18288" anchor="ctr">
                    <a:solidFill>
                      <a:srgbClr val="FFFFFF"/>
                    </a:solidFill>
                  </a:tcPr>
                </a:tc>
                <a:tc>
                  <a:txBody>
                    <a:bodyPr wrap="square"/>
                    <a:lstStyle/>
                    <a:p>
                      <a:r>
                        <a:rPr sz="1000"/>
                        <a:t>❌ Minimal</a:t>
                      </a:r>
                    </a:p>
                  </a:txBody>
                  <a:tcPr marL="45720" marR="45720" marT="18288" marB="18288" anchor="ctr">
                    <a:solidFill>
                      <a:srgbClr val="FFFFFF"/>
                    </a:solidFill>
                  </a:tcPr>
                </a:tc>
              </a:tr>
              <a:tr h="310896">
                <a:tc>
                  <a:txBody>
                    <a:bodyPr wrap="square"/>
                    <a:lstStyle/>
                    <a:p>
                      <a:r>
                        <a:rPr sz="1000"/>
                        <a:t>Tongyong Pinyin</a:t>
                      </a:r>
                    </a:p>
                  </a:txBody>
                  <a:tcPr marL="45720" marR="45720" marT="18288" marB="18288" anchor="ctr">
                    <a:solidFill>
                      <a:srgbClr val="E8EEF4"/>
                    </a:solidFill>
                  </a:tcPr>
                </a:tc>
                <a:tc>
                  <a:txBody>
                    <a:bodyPr wrap="square"/>
                    <a:lstStyle/>
                    <a:p>
                      <a:r>
                        <a:rPr sz="1000"/>
                        <a:t>ma, má, mǎ, mà (ähnlich Hanyu, 22 Abweichungen)</a:t>
                      </a:r>
                    </a:p>
                  </a:txBody>
                  <a:tcPr marL="45720" marR="45720" marT="18288" marB="18288" anchor="ctr">
                    <a:solidFill>
                      <a:srgbClr val="E8EEF4"/>
                    </a:solidFill>
                  </a:tcPr>
                </a:tc>
                <a:tc>
                  <a:txBody>
                    <a:bodyPr wrap="square"/>
                    <a:lstStyle/>
                    <a:p>
                      <a:r>
                        <a:rPr sz="1000"/>
                        <a:t>1998–2008, Taiwan (offiziell 2002–2008)</a:t>
                      </a:r>
                    </a:p>
                  </a:txBody>
                  <a:tcPr marL="45720" marR="45720" marT="18288" marB="18288" anchor="ctr">
                    <a:solidFill>
                      <a:srgbClr val="E8EEF4"/>
                    </a:solidFill>
                  </a:tcPr>
                </a:tc>
                <a:tc>
                  <a:txBody>
                    <a:bodyPr wrap="square"/>
                    <a:lstStyle/>
                    <a:p>
                      <a:r>
                        <a:rPr sz="1000"/>
                        <a:t>❌ Gering</a:t>
                      </a:r>
                    </a:p>
                  </a:txBody>
                  <a:tcPr marL="45720" marR="45720" marT="18288" marB="18288" anchor="ctr">
                    <a:solidFill>
                      <a:srgbClr val="E8EEF4"/>
                    </a:solidFill>
                  </a:tcPr>
                </a:tc>
              </a:tr>
              <a:tr h="310896">
                <a:tc>
                  <a:txBody>
                    <a:bodyPr wrap="square"/>
                    <a:lstStyle/>
                    <a:p>
                      <a:r>
                        <a:rPr sz="1000"/>
                        <a:t>Postal Romanization</a:t>
                      </a:r>
                    </a:p>
                  </a:txBody>
                  <a:tcPr marL="45720" marR="45720" marT="18288" marB="18288" anchor="ctr">
                    <a:solidFill>
                      <a:srgbClr val="FFFFFF"/>
                    </a:solidFill>
                  </a:tcPr>
                </a:tc>
                <a:tc>
                  <a:txBody>
                    <a:bodyPr wrap="square"/>
                    <a:lstStyle/>
                    <a:p>
                      <a:r>
                        <a:rPr sz="1000"/>
                        <a:t>Ma (ohne Ton)</a:t>
                      </a:r>
                    </a:p>
                  </a:txBody>
                  <a:tcPr marL="45720" marR="45720" marT="18288" marB="18288" anchor="ctr">
                    <a:solidFill>
                      <a:srgbClr val="FFFFFF"/>
                    </a:solidFill>
                  </a:tcPr>
                </a:tc>
                <a:tc>
                  <a:txBody>
                    <a:bodyPr wrap="square"/>
                    <a:lstStyle/>
                    <a:p>
                      <a:r>
                        <a:rPr sz="1000"/>
                        <a:t>~1906–1960er, Postamt</a:t>
                      </a:r>
                    </a:p>
                  </a:txBody>
                  <a:tcPr marL="45720" marR="45720" marT="18288" marB="18288" anchor="ctr">
                    <a:solidFill>
                      <a:srgbClr val="FFFFFF"/>
                    </a:solidFill>
                  </a:tcPr>
                </a:tc>
                <a:tc>
                  <a:txBody>
                    <a:bodyPr wrap="square"/>
                    <a:lstStyle/>
                    <a:p>
                      <a:r>
                        <a:rPr sz="1000"/>
                        <a:t>❌ Nur historische Karten</a:t>
                      </a:r>
                    </a:p>
                  </a:txBody>
                  <a:tcPr marL="45720" marR="45720" marT="18288" marB="18288" anchor="ctr">
                    <a:solidFill>
                      <a:srgbClr val="FFFFFF"/>
                    </a:solidFill>
                  </a:tcPr>
                </a:tc>
              </a:tr>
              <a:tr h="310896">
                <a:tc>
                  <a:txBody>
                    <a:bodyPr wrap="square"/>
                    <a:lstStyle/>
                    <a:p>
                      <a:r>
                        <a:rPr sz="1000"/>
                        <a:t>Latinxua Sin Wenz</a:t>
                      </a:r>
                    </a:p>
                  </a:txBody>
                  <a:tcPr marL="45720" marR="45720" marT="18288" marB="18288" anchor="ctr">
                    <a:solidFill>
                      <a:srgbClr val="E8EEF4"/>
                    </a:solidFill>
                  </a:tcPr>
                </a:tc>
                <a:tc>
                  <a:txBody>
                    <a:bodyPr wrap="square"/>
                    <a:lstStyle/>
                    <a:p>
                      <a:r>
                        <a:rPr sz="1000"/>
                        <a:t>ma, mar, maa, mah (ähnlich GR)</a:t>
                      </a:r>
                    </a:p>
                  </a:txBody>
                  <a:tcPr marL="45720" marR="45720" marT="18288" marB="18288" anchor="ctr">
                    <a:solidFill>
                      <a:srgbClr val="E8EEF4"/>
                    </a:solidFill>
                  </a:tcPr>
                </a:tc>
                <a:tc>
                  <a:txBody>
                    <a:bodyPr wrap="square"/>
                    <a:lstStyle/>
                    <a:p>
                      <a:r>
                        <a:rPr sz="1000"/>
                        <a:t>1931–1950er, sowjetischer Einfluss</a:t>
                      </a:r>
                    </a:p>
                  </a:txBody>
                  <a:tcPr marL="45720" marR="45720" marT="18288" marB="18288" anchor="ctr">
                    <a:solidFill>
                      <a:srgbClr val="E8EEF4"/>
                    </a:solidFill>
                  </a:tcPr>
                </a:tc>
                <a:tc>
                  <a:txBody>
                    <a:bodyPr wrap="square"/>
                    <a:lstStyle/>
                    <a:p>
                      <a:r>
                        <a:rPr sz="1000"/>
                        <a:t>❌ Nahezu null</a:t>
                      </a:r>
                    </a:p>
                  </a:txBody>
                  <a:tcPr marL="45720" marR="45720" marT="18288" marB="18288" anchor="ctr">
                    <a:solidFill>
                      <a:srgbClr val="E8EEF4"/>
                    </a:solidFill>
                  </a:tcPr>
                </a:tc>
              </a:tr>
            </a:tbl>
          </a:graphicData>
        </a:graphic>
      </p:graphicFrame>
      <p:sp>
        <p:nvSpPr>
          <p:cNvPr id="6" name="TextBox 5"/>
          <p:cNvSpPr txBox="1"/>
          <p:nvPr/>
        </p:nvSpPr>
        <p:spPr>
          <a:xfrm>
            <a:off x="411480" y="5394960"/>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7 Ways to Represent Mandarin Tones (nach Hacking Chinese + Literatur)</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5" cy="2487168"/>
        </p:xfrm>
        <a:graphic>
          <a:graphicData uri="http://schemas.openxmlformats.org/drawingml/2006/table">
            <a:tbl>
              <a:tblPr firstRow="1" bandRow="1">
                <a:tableStyleId>{5C22544A-7EE6-4342-B048-85BDC9FD1C3A}</a:tableStyleId>
              </a:tblPr>
              <a:tblGrid>
                <a:gridCol w="2292035"/>
                <a:gridCol w="2292035"/>
                <a:gridCol w="2292035"/>
                <a:gridCol w="2292035"/>
                <a:gridCol w="2292035"/>
              </a:tblGrid>
              <a:tr h="310896">
                <a:tc>
                  <a:txBody>
                    <a:bodyPr wrap="square"/>
                    <a:lstStyle/>
                    <a:p>
                      <a:r>
                        <a:rPr sz="1000" b="1">
                          <a:solidFill>
                            <a:srgbClr val="FFFFFF"/>
                          </a:solidFill>
                        </a:rPr>
                        <a:t>#</a:t>
                      </a:r>
                    </a:p>
                  </a:txBody>
                  <a:tcPr marL="45720" marR="45720" marT="18288" marB="18288" anchor="ctr">
                    <a:solidFill>
                      <a:srgbClr val="1F3A5F"/>
                    </a:solidFill>
                  </a:tcPr>
                </a:tc>
                <a:tc>
                  <a:txBody>
                    <a:bodyPr wrap="square"/>
                    <a:lstStyle/>
                    <a:p>
                      <a:r>
                        <a:rPr sz="1000" b="1">
                          <a:solidFill>
                            <a:srgbClr val="FFFFFF"/>
                          </a:solidFill>
                        </a:rPr>
                        <a:t>Methode</a:t>
                      </a:r>
                    </a:p>
                  </a:txBody>
                  <a:tcPr marL="45720" marR="45720" marT="18288" marB="18288" anchor="ctr">
                    <a:solidFill>
                      <a:srgbClr val="1F3A5F"/>
                    </a:solidFill>
                  </a:tcPr>
                </a:tc>
                <a:tc>
                  <a:txBody>
                    <a:bodyPr wrap="square"/>
                    <a:lstStyle/>
                    <a:p>
                      <a:r>
                        <a:rPr sz="1000" b="1">
                          <a:solidFill>
                            <a:srgbClr val="FFFFFF"/>
                          </a:solidFill>
                        </a:rPr>
                        <a:t>Beispiel (T1/T2/T3/T4)</a:t>
                      </a:r>
                    </a:p>
                  </a:txBody>
                  <a:tcPr marL="45720" marR="45720" marT="18288" marB="18288" anchor="ctr">
                    <a:solidFill>
                      <a:srgbClr val="1F3A5F"/>
                    </a:solidFill>
                  </a:tcPr>
                </a:tc>
                <a:tc>
                  <a:txBody>
                    <a:bodyPr wrap="square"/>
                    <a:lstStyle/>
                    <a:p>
                      <a:r>
                        <a:rPr sz="1000" b="1">
                          <a:solidFill>
                            <a:srgbClr val="FFFFFF"/>
                          </a:solidFill>
                        </a:rPr>
                        <a:t>Maschinenlesbar?</a:t>
                      </a:r>
                    </a:p>
                  </a:txBody>
                  <a:tcPr marL="45720" marR="45720" marT="18288" marB="18288" anchor="ctr">
                    <a:solidFill>
                      <a:srgbClr val="1F3A5F"/>
                    </a:solidFill>
                  </a:tcPr>
                </a:tc>
                <a:tc>
                  <a:txBody>
                    <a:bodyPr wrap="square"/>
                    <a:lstStyle/>
                    <a:p>
                      <a:r>
                        <a:rPr sz="1000" b="1">
                          <a:solidFill>
                            <a:srgbClr val="FFFFFF"/>
                          </a:solidFill>
                        </a:rPr>
                        <a:t>LLM-geeignet?</a:t>
                      </a:r>
                    </a:p>
                  </a:txBody>
                  <a:tcPr marL="45720" marR="45720" marT="18288" marB="18288" anchor="ctr">
                    <a:solidFill>
                      <a:srgbClr val="1F3A5F"/>
                    </a:solidFill>
                  </a:tcPr>
                </a:tc>
              </a:tr>
              <a:tr h="310896">
                <a:tc>
                  <a:txBody>
                    <a:bodyPr wrap="square"/>
                    <a:lstStyle/>
                    <a:p>
                      <a:r>
                        <a:rPr sz="1000"/>
                        <a:t>1</a:t>
                      </a:r>
                    </a:p>
                  </a:txBody>
                  <a:tcPr marL="45720" marR="45720" marT="18288" marB="18288" anchor="ctr">
                    <a:solidFill>
                      <a:srgbClr val="FFFFFF"/>
                    </a:solidFill>
                  </a:tcPr>
                </a:tc>
                <a:tc>
                  <a:txBody>
                    <a:bodyPr wrap="square"/>
                    <a:lstStyle/>
                    <a:p>
                      <a:r>
                        <a:rPr sz="1000"/>
                        <a:t>Pinyin-Diakritika</a:t>
                      </a:r>
                    </a:p>
                  </a:txBody>
                  <a:tcPr marL="45720" marR="45720" marT="18288" marB="18288" anchor="ctr">
                    <a:solidFill>
                      <a:srgbClr val="FFFFFF"/>
                    </a:solidFill>
                  </a:tcPr>
                </a:tc>
                <a:tc>
                  <a:txBody>
                    <a:bodyPr wrap="square"/>
                    <a:lstStyle/>
                    <a:p>
                      <a:r>
                        <a:rPr sz="1000"/>
                        <a:t>mā, má, mǎ, mà</a:t>
                      </a:r>
                    </a:p>
                  </a:txBody>
                  <a:tcPr marL="45720" marR="45720" marT="18288" marB="18288" anchor="ctr">
                    <a:solidFill>
                      <a:srgbClr val="FFFFFF"/>
                    </a:solidFill>
                  </a:tcPr>
                </a:tc>
                <a:tc>
                  <a:txBody>
                    <a:bodyPr wrap="square"/>
                    <a:lstStyle/>
                    <a:p>
                      <a:r>
                        <a:rPr sz="1000"/>
                        <a:t>⚠️ Unicode nötig</a:t>
                      </a:r>
                    </a:p>
                  </a:txBody>
                  <a:tcPr marL="45720" marR="45720" marT="18288" marB="18288" anchor="ctr">
                    <a:solidFill>
                      <a:srgbClr val="FFFFFF"/>
                    </a:solidFill>
                  </a:tcPr>
                </a:tc>
                <a:tc>
                  <a:txBody>
                    <a:bodyPr wrap="square"/>
                    <a:lstStyle/>
                    <a:p>
                      <a:r>
                        <a:rPr sz="1000"/>
                        <a:t>⚠️ Token-Fragmentierung</a:t>
                      </a:r>
                    </a:p>
                  </a:txBody>
                  <a:tcPr marL="45720" marR="45720" marT="18288" marB="18288" anchor="ctr">
                    <a:solidFill>
                      <a:srgbClr val="FFFFFF"/>
                    </a:solidFill>
                  </a:tcPr>
                </a:tc>
              </a:tr>
              <a:tr h="310896">
                <a:tc>
                  <a:txBody>
                    <a:bodyPr wrap="square"/>
                    <a:lstStyle/>
                    <a:p>
                      <a:r>
                        <a:rPr sz="1000"/>
                        <a:t>2</a:t>
                      </a:r>
                    </a:p>
                  </a:txBody>
                  <a:tcPr marL="45720" marR="45720" marT="18288" marB="18288" anchor="ctr">
                    <a:solidFill>
                      <a:srgbClr val="E8EEF4"/>
                    </a:solidFill>
                  </a:tcPr>
                </a:tc>
                <a:tc>
                  <a:txBody>
                    <a:bodyPr wrap="square"/>
                    <a:lstStyle/>
                    <a:p>
                      <a:r>
                        <a:rPr sz="1000"/>
                        <a:t>Tonnummern (1-4)</a:t>
                      </a:r>
                    </a:p>
                  </a:txBody>
                  <a:tcPr marL="45720" marR="45720" marT="18288" marB="18288" anchor="ctr">
                    <a:solidFill>
                      <a:srgbClr val="E8EEF4"/>
                    </a:solidFill>
                  </a:tcPr>
                </a:tc>
                <a:tc>
                  <a:txBody>
                    <a:bodyPr wrap="square"/>
                    <a:lstStyle/>
                    <a:p>
                      <a:r>
                        <a:rPr sz="1000"/>
                        <a:t>ma1, ma2, ma3, ma4</a:t>
                      </a:r>
                    </a:p>
                  </a:txBody>
                  <a:tcPr marL="45720" marR="45720" marT="18288" marB="18288" anchor="ctr">
                    <a:solidFill>
                      <a:srgbClr val="E8EEF4"/>
                    </a:solidFill>
                  </a:tcPr>
                </a:tc>
                <a:tc>
                  <a:txBody>
                    <a:bodyPr wrap="square"/>
                    <a:lstStyle/>
                    <a:p>
                      <a:r>
                        <a:rPr sz="1000"/>
                        <a:t>✅ Klar</a:t>
                      </a:r>
                    </a:p>
                  </a:txBody>
                  <a:tcPr marL="45720" marR="45720" marT="18288" marB="18288" anchor="ctr">
                    <a:solidFill>
                      <a:srgbClr val="E8EEF4"/>
                    </a:solidFill>
                  </a:tcPr>
                </a:tc>
                <a:tc>
                  <a:txBody>
                    <a:bodyPr wrap="square"/>
                    <a:lstStyle/>
                    <a:p>
                      <a:r>
                        <a:rPr sz="1000"/>
                        <a:t>✅ Optimal</a:t>
                      </a:r>
                    </a:p>
                  </a:txBody>
                  <a:tcPr marL="45720" marR="45720" marT="18288" marB="18288" anchor="ctr">
                    <a:solidFill>
                      <a:srgbClr val="E8EEF4"/>
                    </a:solidFill>
                  </a:tcPr>
                </a:tc>
              </a:tr>
              <a:tr h="310896">
                <a:tc>
                  <a:txBody>
                    <a:bodyPr wrap="square"/>
                    <a:lstStyle/>
                    <a:p>
                      <a:r>
                        <a:rPr sz="1000"/>
                        <a:t>3</a:t>
                      </a:r>
                    </a:p>
                  </a:txBody>
                  <a:tcPr marL="45720" marR="45720" marT="18288" marB="18288" anchor="ctr">
                    <a:solidFill>
                      <a:srgbClr val="FFFFFF"/>
                    </a:solidFill>
                  </a:tcPr>
                </a:tc>
                <a:tc>
                  <a:txBody>
                    <a:bodyPr wrap="square"/>
                    <a:lstStyle/>
                    <a:p>
                      <a:r>
                        <a:rPr sz="1000"/>
                        <a:t>Chao-Tonnummern</a:t>
                      </a:r>
                    </a:p>
                  </a:txBody>
                  <a:tcPr marL="45720" marR="45720" marT="18288" marB="18288" anchor="ctr">
                    <a:solidFill>
                      <a:srgbClr val="FFFFFF"/>
                    </a:solidFill>
                  </a:tcPr>
                </a:tc>
                <a:tc>
                  <a:txBody>
                    <a:bodyPr wrap="square"/>
                    <a:lstStyle/>
                    <a:p>
                      <a:r>
                        <a:rPr sz="1000"/>
                        <a:t>ma55, ma35, ma214, ma51</a:t>
                      </a:r>
                    </a:p>
                  </a:txBody>
                  <a:tcPr marL="45720" marR="45720" marT="18288" marB="18288" anchor="ctr">
                    <a:solidFill>
                      <a:srgbClr val="FFFFFF"/>
                    </a:solidFill>
                  </a:tcPr>
                </a:tc>
                <a:tc>
                  <a:txBody>
                    <a:bodyPr wrap="square"/>
                    <a:lstStyle/>
                    <a:p>
                      <a:r>
                        <a:rPr sz="1000"/>
                        <a:t>✅ Präzise</a:t>
                      </a:r>
                    </a:p>
                  </a:txBody>
                  <a:tcPr marL="45720" marR="45720" marT="18288" marB="18288" anchor="ctr">
                    <a:solidFill>
                      <a:srgbClr val="FFFFFF"/>
                    </a:solidFill>
                  </a:tcPr>
                </a:tc>
                <a:tc>
                  <a:txBody>
                    <a:bodyPr wrap="square"/>
                    <a:lstStyle/>
                    <a:p>
                      <a:r>
                        <a:rPr sz="1000"/>
                        <a:t>⚠️ Ungewöhnlich</a:t>
                      </a:r>
                    </a:p>
                  </a:txBody>
                  <a:tcPr marL="45720" marR="45720" marT="18288" marB="18288" anchor="ctr">
                    <a:solidFill>
                      <a:srgbClr val="FFFFFF"/>
                    </a:solidFill>
                  </a:tcPr>
                </a:tc>
              </a:tr>
              <a:tr h="310896">
                <a:tc>
                  <a:txBody>
                    <a:bodyPr wrap="square"/>
                    <a:lstStyle/>
                    <a:p>
                      <a:r>
                        <a:rPr sz="1000"/>
                        <a:t>4</a:t>
                      </a:r>
                    </a:p>
                  </a:txBody>
                  <a:tcPr marL="45720" marR="45720" marT="18288" marB="18288" anchor="ctr">
                    <a:solidFill>
                      <a:srgbClr val="E8EEF4"/>
                    </a:solidFill>
                  </a:tcPr>
                </a:tc>
                <a:tc>
                  <a:txBody>
                    <a:bodyPr wrap="square"/>
                    <a:lstStyle/>
                    <a:p>
                      <a:r>
                        <a:rPr sz="1000"/>
                        <a:t>IPA Tone Letters</a:t>
                      </a:r>
                    </a:p>
                  </a:txBody>
                  <a:tcPr marL="45720" marR="45720" marT="18288" marB="18288" anchor="ctr">
                    <a:solidFill>
                      <a:srgbClr val="E8EEF4"/>
                    </a:solidFill>
                  </a:tcPr>
                </a:tc>
                <a:tc>
                  <a:txBody>
                    <a:bodyPr wrap="square"/>
                    <a:lstStyle/>
                    <a:p>
                      <a:r>
                        <a:rPr sz="1000"/>
                        <a:t>ma˥, ma˧˥, ma˨˩˦, ma˥˩</a:t>
                      </a:r>
                    </a:p>
                  </a:txBody>
                  <a:tcPr marL="45720" marR="45720" marT="18288" marB="18288" anchor="ctr">
                    <a:solidFill>
                      <a:srgbClr val="E8EEF4"/>
                    </a:solidFill>
                  </a:tcPr>
                </a:tc>
                <a:tc>
                  <a:txBody>
                    <a:bodyPr wrap="square"/>
                    <a:lstStyle/>
                    <a:p>
                      <a:r>
                        <a:rPr sz="1000"/>
                        <a:t>⚠️ Exotisch</a:t>
                      </a:r>
                    </a:p>
                  </a:txBody>
                  <a:tcPr marL="45720" marR="45720" marT="18288" marB="18288" anchor="ctr">
                    <a:solidFill>
                      <a:srgbClr val="E8EEF4"/>
                    </a:solidFill>
                  </a:tcPr>
                </a:tc>
                <a:tc>
                  <a:txBody>
                    <a:bodyPr wrap="square"/>
                    <a:lstStyle/>
                    <a:p>
                      <a:r>
                        <a:rPr sz="1000"/>
                        <a:t>❌ Seltene Unicode-Zeichen</a:t>
                      </a:r>
                    </a:p>
                  </a:txBody>
                  <a:tcPr marL="45720" marR="45720" marT="18288" marB="18288" anchor="ctr">
                    <a:solidFill>
                      <a:srgbClr val="E8EEF4"/>
                    </a:solidFill>
                  </a:tcPr>
                </a:tc>
              </a:tr>
              <a:tr h="310896">
                <a:tc>
                  <a:txBody>
                    <a:bodyPr wrap="square"/>
                    <a:lstStyle/>
                    <a:p>
                      <a:r>
                        <a:rPr sz="1000"/>
                        <a:t>5</a:t>
                      </a:r>
                    </a:p>
                  </a:txBody>
                  <a:tcPr marL="45720" marR="45720" marT="18288" marB="18288" anchor="ctr">
                    <a:solidFill>
                      <a:srgbClr val="FFFFFF"/>
                    </a:solidFill>
                  </a:tcPr>
                </a:tc>
                <a:tc>
                  <a:txBody>
                    <a:bodyPr wrap="square"/>
                    <a:lstStyle/>
                    <a:p>
                      <a:r>
                        <a:rPr sz="1000"/>
                        <a:t>IPA-Diakritika</a:t>
                      </a:r>
                    </a:p>
                  </a:txBody>
                  <a:tcPr marL="45720" marR="45720" marT="18288" marB="18288" anchor="ctr">
                    <a:solidFill>
                      <a:srgbClr val="FFFFFF"/>
                    </a:solidFill>
                  </a:tcPr>
                </a:tc>
                <a:tc>
                  <a:txBody>
                    <a:bodyPr wrap="square"/>
                    <a:lstStyle/>
                    <a:p>
                      <a:r>
                        <a:rPr sz="1000"/>
                        <a:t>[mā], [mǎ] etc.</a:t>
                      </a:r>
                    </a:p>
                  </a:txBody>
                  <a:tcPr marL="45720" marR="45720" marT="18288" marB="18288" anchor="ctr">
                    <a:solidFill>
                      <a:srgbClr val="FFFFFF"/>
                    </a:solidFill>
                  </a:tcPr>
                </a:tc>
                <a:tc>
                  <a:txBody>
                    <a:bodyPr wrap="square"/>
                    <a:lstStyle/>
                    <a:p>
                      <a:r>
                        <a:rPr sz="1000"/>
                        <a:t>⚠️ IPA-Standard</a:t>
                      </a:r>
                    </a:p>
                  </a:txBody>
                  <a:tcPr marL="45720" marR="45720" marT="18288" marB="18288" anchor="ctr">
                    <a:solidFill>
                      <a:srgbClr val="FFFFFF"/>
                    </a:solidFill>
                  </a:tcPr>
                </a:tc>
                <a:tc>
                  <a:txBody>
                    <a:bodyPr wrap="square"/>
                    <a:lstStyle/>
                    <a:p>
                      <a:r>
                        <a:rPr sz="1000"/>
                        <a:t>❌ Selten in Trainingsdaten</a:t>
                      </a:r>
                    </a:p>
                  </a:txBody>
                  <a:tcPr marL="45720" marR="45720" marT="18288" marB="18288" anchor="ctr">
                    <a:solidFill>
                      <a:srgbClr val="FFFFFF"/>
                    </a:solidFill>
                  </a:tcPr>
                </a:tc>
              </a:tr>
              <a:tr h="310896">
                <a:tc>
                  <a:txBody>
                    <a:bodyPr wrap="square"/>
                    <a:lstStyle/>
                    <a:p>
                      <a:r>
                        <a:rPr sz="1000"/>
                        <a:t>6</a:t>
                      </a:r>
                    </a:p>
                  </a:txBody>
                  <a:tcPr marL="45720" marR="45720" marT="18288" marB="18288" anchor="ctr">
                    <a:solidFill>
                      <a:srgbClr val="E8EEF4"/>
                    </a:solidFill>
                  </a:tcPr>
                </a:tc>
                <a:tc>
                  <a:txBody>
                    <a:bodyPr wrap="square"/>
                    <a:lstStyle/>
                    <a:p>
                      <a:r>
                        <a:rPr sz="1000"/>
                        <a:t>Bopomofo-Tonmarken</a:t>
                      </a:r>
                    </a:p>
                  </a:txBody>
                  <a:tcPr marL="45720" marR="45720" marT="18288" marB="18288" anchor="ctr">
                    <a:solidFill>
                      <a:srgbClr val="E8EEF4"/>
                    </a:solidFill>
                  </a:tcPr>
                </a:tc>
                <a:tc>
                  <a:txBody>
                    <a:bodyPr wrap="square"/>
                    <a:lstStyle/>
                    <a:p>
                      <a:r>
                        <a:rPr sz="1000"/>
                        <a:t>ㄇㄚ (T1=keine), ㄇㄚˊ, ㄇㄚˇ, ㄇㄚˋ</a:t>
                      </a:r>
                    </a:p>
                  </a:txBody>
                  <a:tcPr marL="45720" marR="45720" marT="18288" marB="18288" anchor="ctr">
                    <a:solidFill>
                      <a:srgbClr val="E8EEF4"/>
                    </a:solidFill>
                  </a:tcPr>
                </a:tc>
                <a:tc>
                  <a:txBody>
                    <a:bodyPr wrap="square"/>
                    <a:lstStyle/>
                    <a:p>
                      <a:r>
                        <a:rPr sz="1000"/>
                        <a:t>⚠️ Nur Zhuyin</a:t>
                      </a:r>
                    </a:p>
                  </a:txBody>
                  <a:tcPr marL="45720" marR="45720" marT="18288" marB="18288" anchor="ctr">
                    <a:solidFill>
                      <a:srgbClr val="E8EEF4"/>
                    </a:solidFill>
                  </a:tcPr>
                </a:tc>
                <a:tc>
                  <a:txBody>
                    <a:bodyPr wrap="square"/>
                    <a:lstStyle/>
                    <a:p>
                      <a:r>
                        <a:rPr sz="1000"/>
                        <a:t>❌ Nur Taiwan-Texte</a:t>
                      </a:r>
                    </a:p>
                  </a:txBody>
                  <a:tcPr marL="45720" marR="45720" marT="18288" marB="18288" anchor="ctr">
                    <a:solidFill>
                      <a:srgbClr val="E8EEF4"/>
                    </a:solidFill>
                  </a:tcPr>
                </a:tc>
              </a:tr>
              <a:tr h="310896">
                <a:tc>
                  <a:txBody>
                    <a:bodyPr wrap="square"/>
                    <a:lstStyle/>
                    <a:p>
                      <a:r>
                        <a:rPr sz="1000"/>
                        <a:t>7</a:t>
                      </a:r>
                    </a:p>
                  </a:txBody>
                  <a:tcPr marL="45720" marR="45720" marT="18288" marB="18288" anchor="ctr">
                    <a:solidFill>
                      <a:srgbClr val="FFFFFF"/>
                    </a:solidFill>
                  </a:tcPr>
                </a:tc>
                <a:tc>
                  <a:txBody>
                    <a:bodyPr wrap="square"/>
                    <a:lstStyle/>
                    <a:p>
                      <a:r>
                        <a:rPr sz="1000"/>
                        <a:t>GR-Tonspelling</a:t>
                      </a:r>
                    </a:p>
                  </a:txBody>
                  <a:tcPr marL="45720" marR="45720" marT="18288" marB="18288" anchor="ctr">
                    <a:solidFill>
                      <a:srgbClr val="FFFFFF"/>
                    </a:solidFill>
                  </a:tcPr>
                </a:tc>
                <a:tc>
                  <a:txBody>
                    <a:bodyPr wrap="square"/>
                    <a:lstStyle/>
                    <a:p>
                      <a:r>
                        <a:rPr sz="1000"/>
                        <a:t>ma, mar, maa, mah</a:t>
                      </a:r>
                    </a:p>
                  </a:txBody>
                  <a:tcPr marL="45720" marR="45720" marT="18288" marB="18288" anchor="ctr">
                    <a:solidFill>
                      <a:srgbClr val="FFFFFF"/>
                    </a:solidFill>
                  </a:tcPr>
                </a:tc>
                <a:tc>
                  <a:txBody>
                    <a:bodyPr wrap="square"/>
                    <a:lstStyle/>
                    <a:p>
                      <a:r>
                        <a:rPr sz="1000"/>
                        <a:t>✅ ASCII-only</a:t>
                      </a:r>
                    </a:p>
                  </a:txBody>
                  <a:tcPr marL="45720" marR="45720" marT="18288" marB="18288" anchor="ctr">
                    <a:solidFill>
                      <a:srgbClr val="FFFFFF"/>
                    </a:solidFill>
                  </a:tcPr>
                </a:tc>
                <a:tc>
                  <a:txBody>
                    <a:bodyPr wrap="square"/>
                    <a:lstStyle/>
                    <a:p>
                      <a:r>
                        <a:rPr sz="1000"/>
                        <a:t>❌ Veraltet, mehrdeutig</a:t>
                      </a:r>
                    </a:p>
                  </a:txBody>
                  <a:tcPr marL="45720" marR="45720" marT="18288" marB="18288" anchor="ctr">
                    <a:solidFill>
                      <a:srgbClr val="FFFFFF"/>
                    </a:solidFill>
                  </a:tcPr>
                </a:tc>
              </a:tr>
            </a:tbl>
          </a:graphicData>
        </a:graphic>
      </p:graphicFrame>
      <p:sp>
        <p:nvSpPr>
          <p:cNvPr id="5" name="TextBox 4"/>
          <p:cNvSpPr txBox="1"/>
          <p:nvPr/>
        </p:nvSpPr>
        <p:spPr>
          <a:xfrm>
            <a:off x="411480" y="3703320"/>
            <a:ext cx="11368735" cy="891540"/>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5 ─ ˥  hoch         T1 (high level):   55  ──────</a:t>
            </a:r>
          </a:p>
          <a:p>
            <a:pPr>
              <a:lnSpc>
                <a:spcPct val="100000"/>
              </a:lnSpc>
              <a:spcAft>
                <a:spcPts val="0"/>
              </a:spcAft>
            </a:pPr>
            <a:r>
              <a:rPr sz="900">
                <a:solidFill>
                  <a:srgbClr val="223344"/>
                </a:solidFill>
                <a:latin typeface="Consolas"/>
              </a:rPr>
              <a:t>4 ─ ˦  halbhoch     T2 (rising):       35    ╱</a:t>
            </a:r>
          </a:p>
          <a:p>
            <a:pPr>
              <a:lnSpc>
                <a:spcPct val="100000"/>
              </a:lnSpc>
              <a:spcAft>
                <a:spcPts val="0"/>
              </a:spcAft>
            </a:pPr>
            <a:r>
              <a:rPr sz="900">
                <a:solidFill>
                  <a:srgbClr val="223344"/>
                </a:solidFill>
                <a:latin typeface="Consolas"/>
              </a:rPr>
              <a:t>3 ─ ˧  mittel       T3 (dipping):     214  ╲╱</a:t>
            </a:r>
          </a:p>
          <a:p>
            <a:pPr>
              <a:lnSpc>
                <a:spcPct val="100000"/>
              </a:lnSpc>
              <a:spcAft>
                <a:spcPts val="0"/>
              </a:spcAft>
            </a:pPr>
            <a:r>
              <a:rPr sz="900">
                <a:solidFill>
                  <a:srgbClr val="223344"/>
                </a:solidFill>
                <a:latin typeface="Consolas"/>
              </a:rPr>
              <a:t>2 ─ ˨  halbtief     T4 (falling):      51  ╲</a:t>
            </a:r>
          </a:p>
          <a:p>
            <a:pPr>
              <a:lnSpc>
                <a:spcPct val="100000"/>
              </a:lnSpc>
              <a:spcAft>
                <a:spcPts val="0"/>
              </a:spcAft>
            </a:pPr>
            <a:r>
              <a:rPr sz="900">
                <a:solidFill>
                  <a:srgbClr val="223344"/>
                </a:solidFill>
                <a:latin typeface="Consolas"/>
              </a:rPr>
              <a:t>1 ─ ˩  tief                                  ╲</a:t>
            </a:r>
          </a:p>
        </p:txBody>
      </p:sp>
      <p:sp>
        <p:nvSpPr>
          <p:cNvPr id="6" name="TextBox 5"/>
          <p:cNvSpPr txBox="1"/>
          <p:nvPr/>
        </p:nvSpPr>
        <p:spPr>
          <a:xfrm>
            <a:off x="411480" y="4686300"/>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Mandarin Syllable Structure: What We Evaluate</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758184"/>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Beispiel: 电 (diàn, Tone 4) = "Elektrizität/Strom"</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Silbe: dian4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   ┌──────────┐   ┌───┐  │</a:t>
            </a:r>
          </a:p>
          <a:p>
            <a:pPr>
              <a:lnSpc>
                <a:spcPct val="100000"/>
              </a:lnSpc>
              <a:spcAft>
                <a:spcPts val="0"/>
              </a:spcAft>
            </a:pPr>
            <a:r>
              <a:rPr sz="900">
                <a:solidFill>
                  <a:srgbClr val="223344"/>
                </a:solidFill>
                <a:latin typeface="Consolas"/>
              </a:rPr>
              <a:t>│   │ Initial  │ + │  Final   │ + │Ton│  │</a:t>
            </a:r>
          </a:p>
          <a:p>
            <a:pPr>
              <a:lnSpc>
                <a:spcPct val="100000"/>
              </a:lnSpc>
              <a:spcAft>
                <a:spcPts val="0"/>
              </a:spcAft>
            </a:pPr>
            <a:r>
              <a:rPr sz="900">
                <a:solidFill>
                  <a:srgbClr val="223344"/>
                </a:solidFill>
                <a:latin typeface="Consolas"/>
              </a:rPr>
              <a:t>│   │ (声母)   │   │ (韵母)   │   │   │  │</a:t>
            </a:r>
          </a:p>
          <a:p>
            <a:pPr>
              <a:lnSpc>
                <a:spcPct val="100000"/>
              </a:lnSpc>
              <a:spcAft>
                <a:spcPts val="0"/>
              </a:spcAft>
            </a:pPr>
            <a:r>
              <a:rPr sz="900">
                <a:solidFill>
                  <a:srgbClr val="223344"/>
                </a:solidFill>
                <a:latin typeface="Consolas"/>
              </a:rPr>
              <a:t>│   │   "d"    │   │  "ian"   │   │ 4 │  │</a:t>
            </a:r>
          </a:p>
          <a:p>
            <a:pPr>
              <a:lnSpc>
                <a:spcPct val="100000"/>
              </a:lnSpc>
              <a:spcAft>
                <a:spcPts val="0"/>
              </a:spcAft>
            </a:pPr>
            <a:r>
              <a:rPr sz="900">
                <a:solidFill>
                  <a:srgbClr val="223344"/>
                </a:solidFill>
                <a:latin typeface="Consolas"/>
              </a:rPr>
              <a:t>│   └──────────┘   └──────────┘   └───┘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23 Initiale     35 Finale    4 Töne   │</a:t>
            </a:r>
          </a:p>
          <a:p>
            <a:pPr>
              <a:lnSpc>
                <a:spcPct val="100000"/>
              </a:lnSpc>
              <a:spcAft>
                <a:spcPts val="0"/>
              </a:spcAft>
            </a:pPr>
            <a:r>
              <a:rPr sz="900">
                <a:solidFill>
                  <a:srgbClr val="223344"/>
                </a:solidFill>
                <a:latin typeface="Consolas"/>
              </a:rPr>
              <a:t>│   (b,p,m,f,       (a,o,e,     (+ Ton 5 │</a:t>
            </a:r>
          </a:p>
          <a:p>
            <a:pPr>
              <a:lnSpc>
                <a:spcPct val="100000"/>
              </a:lnSpc>
              <a:spcAft>
                <a:spcPts val="0"/>
              </a:spcAft>
            </a:pPr>
            <a:r>
              <a:rPr sz="900">
                <a:solidFill>
                  <a:srgbClr val="223344"/>
                </a:solidFill>
                <a:latin typeface="Consolas"/>
              </a:rPr>
              <a:t>│    d,t,n,l,        ai,ei,      neutral) │</a:t>
            </a:r>
          </a:p>
          <a:p>
            <a:pPr>
              <a:lnSpc>
                <a:spcPct val="100000"/>
              </a:lnSpc>
              <a:spcAft>
                <a:spcPts val="0"/>
              </a:spcAft>
            </a:pPr>
            <a:r>
              <a:rPr sz="900">
                <a:solidFill>
                  <a:srgbClr val="223344"/>
                </a:solidFill>
                <a:latin typeface="Consolas"/>
              </a:rPr>
              <a:t>│    g,k,h,          an,en,               │</a:t>
            </a:r>
          </a:p>
          <a:p>
            <a:pPr>
              <a:lnSpc>
                <a:spcPct val="100000"/>
              </a:lnSpc>
              <a:spcAft>
                <a:spcPts val="0"/>
              </a:spcAft>
            </a:pPr>
            <a:r>
              <a:rPr sz="900">
                <a:solidFill>
                  <a:srgbClr val="223344"/>
                </a:solidFill>
                <a:latin typeface="Consolas"/>
              </a:rPr>
              <a:t>│    j,q,x,          ang,eng,             │</a:t>
            </a:r>
          </a:p>
          <a:p>
            <a:pPr>
              <a:lnSpc>
                <a:spcPct val="100000"/>
              </a:lnSpc>
              <a:spcAft>
                <a:spcPts val="0"/>
              </a:spcAft>
            </a:pPr>
            <a:r>
              <a:rPr sz="900">
                <a:solidFill>
                  <a:srgbClr val="223344"/>
                </a:solidFill>
                <a:latin typeface="Consolas"/>
              </a:rPr>
              <a:t>│    zh,ch,sh,r,     ia,ie,               │</a:t>
            </a:r>
          </a:p>
          <a:p>
            <a:pPr>
              <a:lnSpc>
                <a:spcPct val="100000"/>
              </a:lnSpc>
              <a:spcAft>
                <a:spcPts val="0"/>
              </a:spcAft>
            </a:pPr>
            <a:r>
              <a:rPr sz="900">
                <a:solidFill>
                  <a:srgbClr val="223344"/>
                </a:solidFill>
                <a:latin typeface="Consolas"/>
              </a:rPr>
              <a:t>│    z,c,s)          iao,ian...)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Unsere 3 Evaluationsebenen:</a:t>
            </a:r>
          </a:p>
          <a:p>
            <a:pPr>
              <a:lnSpc>
                <a:spcPct val="100000"/>
              </a:lnSpc>
              <a:spcAft>
                <a:spcPts val="0"/>
              </a:spcAft>
            </a:pPr>
            <a:r>
              <a:rPr sz="900">
                <a:solidFill>
                  <a:srgbClr val="223344"/>
                </a:solidFill>
                <a:latin typeface="Consolas"/>
              </a:rPr>
              <a:t>1. SEGMENT:  d + ian → PER (Phone Error Rate)</a:t>
            </a:r>
          </a:p>
          <a:p>
            <a:pPr>
              <a:lnSpc>
                <a:spcPct val="100000"/>
              </a:lnSpc>
              <a:spcAft>
                <a:spcPts val="0"/>
              </a:spcAft>
            </a:pPr>
            <a:r>
              <a:rPr sz="900">
                <a:solidFill>
                  <a:srgbClr val="223344"/>
                </a:solidFill>
                <a:latin typeface="Consolas"/>
              </a:rPr>
              <a:t>2. TON:      4 → TER (Tone Error Rate) ← NEU!</a:t>
            </a:r>
          </a:p>
          <a:p>
            <a:pPr>
              <a:lnSpc>
                <a:spcPct val="100000"/>
              </a:lnSpc>
              <a:spcAft>
                <a:spcPts val="0"/>
              </a:spcAft>
            </a:pPr>
            <a:r>
              <a:rPr sz="900">
                <a:solidFill>
                  <a:srgbClr val="223344"/>
                </a:solidFill>
                <a:latin typeface="Consolas"/>
              </a:rPr>
              <a:t>3. KOMBINIERT: dian4 → Combined Accuracy</a:t>
            </a:r>
          </a:p>
        </p:txBody>
      </p:sp>
      <p:sp>
        <p:nvSpPr>
          <p:cNvPr id="5" name="TextBox 4"/>
          <p:cNvSpPr txBox="1"/>
          <p:nvPr/>
        </p:nvSpPr>
        <p:spPr>
          <a:xfrm>
            <a:off x="411480" y="4928616"/>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Our Choice: Pinyin + Tone Numbers — Why?</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2176272"/>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Kriterium</a:t>
                      </a:r>
                    </a:p>
                  </a:txBody>
                  <a:tcPr marL="45720" marR="45720" marT="18288" marB="18288" anchor="ctr">
                    <a:solidFill>
                      <a:srgbClr val="1F3A5F"/>
                    </a:solidFill>
                  </a:tcPr>
                </a:tc>
                <a:tc>
                  <a:txBody>
                    <a:bodyPr wrap="square"/>
                    <a:lstStyle/>
                    <a:p>
                      <a:r>
                        <a:rPr sz="1000" b="1">
                          <a:solidFill>
                            <a:srgbClr val="FFFFFF"/>
                          </a:solidFill>
                        </a:rPr>
                        <a:t>Pinyin+Ton#</a:t>
                      </a:r>
                    </a:p>
                  </a:txBody>
                  <a:tcPr marL="45720" marR="45720" marT="18288" marB="18288" anchor="ctr">
                    <a:solidFill>
                      <a:srgbClr val="1F3A5F"/>
                    </a:solidFill>
                  </a:tcPr>
                </a:tc>
                <a:tc>
                  <a:txBody>
                    <a:bodyPr wrap="square"/>
                    <a:lstStyle/>
                    <a:p>
                      <a:r>
                        <a:rPr sz="1000" b="1">
                          <a:solidFill>
                            <a:srgbClr val="FFFFFF"/>
                          </a:solidFill>
                        </a:rPr>
                        <a:t>IPA+Chao</a:t>
                      </a:r>
                    </a:p>
                  </a:txBody>
                  <a:tcPr marL="45720" marR="45720" marT="18288" marB="18288" anchor="ctr">
                    <a:solidFill>
                      <a:srgbClr val="1F3A5F"/>
                    </a:solidFill>
                  </a:tcPr>
                </a:tc>
                <a:tc>
                  <a:txBody>
                    <a:bodyPr wrap="square"/>
                    <a:lstStyle/>
                    <a:p>
                      <a:r>
                        <a:rPr sz="1000" b="1">
                          <a:solidFill>
                            <a:srgbClr val="FFFFFF"/>
                          </a:solidFill>
                        </a:rPr>
                        <a:t>Pinyin+Diakritika</a:t>
                      </a:r>
                    </a:p>
                  </a:txBody>
                  <a:tcPr marL="45720" marR="45720" marT="18288" marB="18288" anchor="ctr">
                    <a:solidFill>
                      <a:srgbClr val="1F3A5F"/>
                    </a:solidFill>
                  </a:tcPr>
                </a:tc>
              </a:tr>
              <a:tr h="310896">
                <a:tc>
                  <a:txBody>
                    <a:bodyPr wrap="square"/>
                    <a:lstStyle/>
                    <a:p>
                      <a:r>
                        <a:rPr sz="1000"/>
                        <a:t>LLM-Training</a:t>
                      </a:r>
                    </a:p>
                  </a:txBody>
                  <a:tcPr marL="45720" marR="45720" marT="18288" marB="18288" anchor="ctr">
                    <a:solidFill>
                      <a:srgbClr val="FFFFFF"/>
                    </a:solidFill>
                  </a:tcPr>
                </a:tc>
                <a:tc>
                  <a:txBody>
                    <a:bodyPr wrap="square"/>
                    <a:lstStyle/>
                    <a:p>
                      <a:r>
                        <a:rPr sz="1000"/>
                        <a:t>✅ Massiv (Wikipedia, Lehrbücher, Online-Kurse)</a:t>
                      </a:r>
                    </a:p>
                  </a:txBody>
                  <a:tcPr marL="45720" marR="45720" marT="18288" marB="18288" anchor="ctr">
                    <a:solidFill>
                      <a:srgbClr val="FFFFFF"/>
                    </a:solidFill>
                  </a:tcPr>
                </a:tc>
                <a:tc>
                  <a:txBody>
                    <a:bodyPr wrap="square"/>
                    <a:lstStyle/>
                    <a:p>
                      <a:r>
                        <a:rPr sz="1000"/>
                        <a:t>⚠️ Selten (Linguistik-Fachtexte)</a:t>
                      </a:r>
                    </a:p>
                  </a:txBody>
                  <a:tcPr marL="45720" marR="45720" marT="18288" marB="18288" anchor="ctr">
                    <a:solidFill>
                      <a:srgbClr val="FFFFFF"/>
                    </a:solidFill>
                  </a:tcPr>
                </a:tc>
                <a:tc>
                  <a:txBody>
                    <a:bodyPr wrap="square"/>
                    <a:lstStyle/>
                    <a:p>
                      <a:r>
                        <a:rPr sz="1000"/>
                        <a:t>✅ Häufig</a:t>
                      </a:r>
                    </a:p>
                  </a:txBody>
                  <a:tcPr marL="45720" marR="45720" marT="18288" marB="18288" anchor="ctr">
                    <a:solidFill>
                      <a:srgbClr val="FFFFFF"/>
                    </a:solidFill>
                  </a:tcPr>
                </a:tc>
              </a:tr>
              <a:tr h="310896">
                <a:tc>
                  <a:txBody>
                    <a:bodyPr wrap="square"/>
                    <a:lstStyle/>
                    <a:p>
                      <a:r>
                        <a:rPr sz="1000"/>
                        <a:t>Tokenisierung</a:t>
                      </a:r>
                    </a:p>
                  </a:txBody>
                  <a:tcPr marL="45720" marR="45720" marT="18288" marB="18288" anchor="ctr">
                    <a:solidFill>
                      <a:srgbClr val="E8EEF4"/>
                    </a:solidFill>
                  </a:tcPr>
                </a:tc>
                <a:tc>
                  <a:txBody>
                    <a:bodyPr wrap="square"/>
                    <a:lstStyle/>
                    <a:p>
                      <a:r>
                        <a:rPr sz="1000"/>
                        <a:t>✅ "ma1" = klares Token</a:t>
                      </a:r>
                    </a:p>
                  </a:txBody>
                  <a:tcPr marL="45720" marR="45720" marT="18288" marB="18288" anchor="ctr">
                    <a:solidFill>
                      <a:srgbClr val="E8EEF4"/>
                    </a:solidFill>
                  </a:tcPr>
                </a:tc>
                <a:tc>
                  <a:txBody>
                    <a:bodyPr wrap="square"/>
                    <a:lstStyle/>
                    <a:p>
                      <a:r>
                        <a:rPr sz="1000"/>
                        <a:t>❌ "[ma˥]" = Subword-Fragmentierung</a:t>
                      </a:r>
                    </a:p>
                  </a:txBody>
                  <a:tcPr marL="45720" marR="45720" marT="18288" marB="18288" anchor="ctr">
                    <a:solidFill>
                      <a:srgbClr val="E8EEF4"/>
                    </a:solidFill>
                  </a:tcPr>
                </a:tc>
                <a:tc>
                  <a:txBody>
                    <a:bodyPr wrap="square"/>
                    <a:lstStyle/>
                    <a:p>
                      <a:r>
                        <a:rPr sz="1000"/>
                        <a:t>⚠️ "mā" = Unicode-abhängig</a:t>
                      </a:r>
                    </a:p>
                  </a:txBody>
                  <a:tcPr marL="45720" marR="45720" marT="18288" marB="18288" anchor="ctr">
                    <a:solidFill>
                      <a:srgbClr val="E8EEF4"/>
                    </a:solidFill>
                  </a:tcPr>
                </a:tc>
              </a:tr>
              <a:tr h="310896">
                <a:tc>
                  <a:txBody>
                    <a:bodyPr wrap="square"/>
                    <a:lstStyle/>
                    <a:p>
                      <a:r>
                        <a:rPr sz="1000"/>
                        <a:t>Maschinen-Parsing</a:t>
                      </a:r>
                    </a:p>
                  </a:txBody>
                  <a:tcPr marL="45720" marR="45720" marT="18288" marB="18288" anchor="ctr">
                    <a:solidFill>
                      <a:srgbClr val="FFFFFF"/>
                    </a:solidFill>
                  </a:tcPr>
                </a:tc>
                <a:tc>
                  <a:txBody>
                    <a:bodyPr wrap="square"/>
                    <a:lstStyle/>
                    <a:p>
                      <a:r>
                        <a:rPr sz="1000"/>
                        <a:t>✅ Regex: ([a-z]+)(\d)</a:t>
                      </a:r>
                    </a:p>
                  </a:txBody>
                  <a:tcPr marL="45720" marR="45720" marT="18288" marB="18288" anchor="ctr">
                    <a:solidFill>
                      <a:srgbClr val="FFFFFF"/>
                    </a:solidFill>
                  </a:tcPr>
                </a:tc>
                <a:tc>
                  <a:txBody>
                    <a:bodyPr wrap="square"/>
                    <a:lstStyle/>
                    <a:p>
                      <a:r>
                        <a:rPr sz="1000"/>
                        <a:t>⚠️ IPA-Parser nötig</a:t>
                      </a:r>
                    </a:p>
                  </a:txBody>
                  <a:tcPr marL="45720" marR="45720" marT="18288" marB="18288" anchor="ctr">
                    <a:solidFill>
                      <a:srgbClr val="FFFFFF"/>
                    </a:solidFill>
                  </a:tcPr>
                </a:tc>
                <a:tc>
                  <a:txBody>
                    <a:bodyPr wrap="square"/>
                    <a:lstStyle/>
                    <a:p>
                      <a:r>
                        <a:rPr sz="1000"/>
                        <a:t>⚠️ Unicode-Normalisierung nötig</a:t>
                      </a:r>
                    </a:p>
                  </a:txBody>
                  <a:tcPr marL="45720" marR="45720" marT="18288" marB="18288" anchor="ctr">
                    <a:solidFill>
                      <a:srgbClr val="FFFFFF"/>
                    </a:solidFill>
                  </a:tcPr>
                </a:tc>
              </a:tr>
              <a:tr h="310896">
                <a:tc>
                  <a:txBody>
                    <a:bodyPr wrap="square"/>
                    <a:lstStyle/>
                    <a:p>
                      <a:r>
                        <a:rPr sz="1000"/>
                        <a:t>Ton-Evaluation</a:t>
                      </a:r>
                    </a:p>
                  </a:txBody>
                  <a:tcPr marL="45720" marR="45720" marT="18288" marB="18288" anchor="ctr">
                    <a:solidFill>
                      <a:srgbClr val="E8EEF4"/>
                    </a:solidFill>
                  </a:tcPr>
                </a:tc>
                <a:tc>
                  <a:txBody>
                    <a:bodyPr wrap="square"/>
                    <a:lstStyle/>
                    <a:p>
                      <a:r>
                        <a:rPr sz="1000"/>
                        <a:t>✅ Ton als eigene Ziffer → TER trivial</a:t>
                      </a:r>
                    </a:p>
                  </a:txBody>
                  <a:tcPr marL="45720" marR="45720" marT="18288" marB="18288" anchor="ctr">
                    <a:solidFill>
                      <a:srgbClr val="E8EEF4"/>
                    </a:solidFill>
                  </a:tcPr>
                </a:tc>
                <a:tc>
                  <a:txBody>
                    <a:bodyPr wrap="square"/>
                    <a:lstStyle/>
                    <a:p>
                      <a:r>
                        <a:rPr sz="1000"/>
                        <a:t>✅ Chao-Nummern → aber LLM-Output unzuverlässig</a:t>
                      </a:r>
                    </a:p>
                  </a:txBody>
                  <a:tcPr marL="45720" marR="45720" marT="18288" marB="18288" anchor="ctr">
                    <a:solidFill>
                      <a:srgbClr val="E8EEF4"/>
                    </a:solidFill>
                  </a:tcPr>
                </a:tc>
                <a:tc>
                  <a:txBody>
                    <a:bodyPr wrap="square"/>
                    <a:lstStyle/>
                    <a:p>
                      <a:r>
                        <a:rPr sz="1000"/>
                        <a:t>⚠️ Diakritika-Extraktion nötig</a:t>
                      </a:r>
                    </a:p>
                  </a:txBody>
                  <a:tcPr marL="45720" marR="45720" marT="18288" marB="18288" anchor="ctr">
                    <a:solidFill>
                      <a:srgbClr val="E8EEF4"/>
                    </a:solidFill>
                  </a:tcPr>
                </a:tc>
              </a:tr>
              <a:tr h="310896">
                <a:tc>
                  <a:txBody>
                    <a:bodyPr wrap="square"/>
                    <a:lstStyle/>
                    <a:p>
                      <a:r>
                        <a:rPr sz="1000"/>
                        <a:t>Literatur-Standard</a:t>
                      </a:r>
                    </a:p>
                  </a:txBody>
                  <a:tcPr marL="45720" marR="45720" marT="18288" marB="18288" anchor="ctr">
                    <a:solidFill>
                      <a:srgbClr val="FFFFFF"/>
                    </a:solidFill>
                  </a:tcPr>
                </a:tc>
                <a:tc>
                  <a:txBody>
                    <a:bodyPr wrap="square"/>
                    <a:lstStyle/>
                    <a:p>
                      <a:r>
                        <a:rPr sz="1000"/>
                        <a:t>✅ 5 von 7 Pinyin-Papers</a:t>
                      </a:r>
                    </a:p>
                  </a:txBody>
                  <a:tcPr marL="45720" marR="45720" marT="18288" marB="18288" anchor="ctr">
                    <a:solidFill>
                      <a:srgbClr val="FFFFFF"/>
                    </a:solidFill>
                  </a:tcPr>
                </a:tc>
                <a:tc>
                  <a:txBody>
                    <a:bodyPr wrap="square"/>
                    <a:lstStyle/>
                    <a:p>
                      <a:r>
                        <a:rPr sz="1000"/>
                        <a:t>⚠️ 2 Papers (ZIPA, Chirkova)</a:t>
                      </a:r>
                    </a:p>
                  </a:txBody>
                  <a:tcPr marL="45720" marR="45720" marT="18288" marB="18288" anchor="ctr">
                    <a:solidFill>
                      <a:srgbClr val="FFFFFF"/>
                    </a:solidFill>
                  </a:tcPr>
                </a:tc>
                <a:tc>
                  <a:txBody>
                    <a:bodyPr wrap="square"/>
                    <a:lstStyle/>
                    <a:p>
                      <a:r>
                        <a:rPr sz="1000"/>
                        <a:t>✅ 2 Papers (PY-GEC, PERL)</a:t>
                      </a:r>
                    </a:p>
                  </a:txBody>
                  <a:tcPr marL="45720" marR="45720" marT="18288" marB="18288" anchor="ctr">
                    <a:solidFill>
                      <a:srgbClr val="FFFFFF"/>
                    </a:solidFill>
                  </a:tcPr>
                </a:tc>
              </a:tr>
              <a:tr h="310896">
                <a:tc>
                  <a:txBody>
                    <a:bodyPr wrap="square"/>
                    <a:lstStyle/>
                    <a:p>
                      <a:r>
                        <a:rPr sz="1000"/>
                        <a:t>Nutzer-Verständlichkeit</a:t>
                      </a:r>
                    </a:p>
                  </a:txBody>
                  <a:tcPr marL="45720" marR="45720" marT="18288" marB="18288" anchor="ctr">
                    <a:solidFill>
                      <a:srgbClr val="E8EEF4"/>
                    </a:solidFill>
                  </a:tcPr>
                </a:tc>
                <a:tc>
                  <a:txBody>
                    <a:bodyPr wrap="square"/>
                    <a:lstStyle/>
                    <a:p>
                      <a:r>
                        <a:rPr sz="1000"/>
                        <a:t>✅ Jeder Mandarin-Lernende kennt es</a:t>
                      </a:r>
                    </a:p>
                  </a:txBody>
                  <a:tcPr marL="45720" marR="45720" marT="18288" marB="18288" anchor="ctr">
                    <a:solidFill>
                      <a:srgbClr val="E8EEF4"/>
                    </a:solidFill>
                  </a:tcPr>
                </a:tc>
                <a:tc>
                  <a:txBody>
                    <a:bodyPr wrap="square"/>
                    <a:lstStyle/>
                    <a:p>
                      <a:r>
                        <a:rPr sz="1000"/>
                        <a:t>❌ Nur Linguisten</a:t>
                      </a:r>
                    </a:p>
                  </a:txBody>
                  <a:tcPr marL="45720" marR="45720" marT="18288" marB="18288" anchor="ctr">
                    <a:solidFill>
                      <a:srgbClr val="E8EEF4"/>
                    </a:solidFill>
                  </a:tcPr>
                </a:tc>
                <a:tc>
                  <a:txBody>
                    <a:bodyPr wrap="square"/>
                    <a:lstStyle/>
                    <a:p>
                      <a:r>
                        <a:rPr sz="1000"/>
                        <a:t>✅ Standard</a:t>
                      </a:r>
                    </a:p>
                  </a:txBody>
                  <a:tcPr marL="45720" marR="45720" marT="18288" marB="18288" anchor="ctr">
                    <a:solidFill>
                      <a:srgbClr val="E8EEF4"/>
                    </a:solidFill>
                  </a:tcPr>
                </a:tc>
              </a:tr>
            </a:tbl>
          </a:graphicData>
        </a:graphic>
      </p:graphicFrame>
      <p:sp>
        <p:nvSpPr>
          <p:cNvPr id="5" name="TextBox 4"/>
          <p:cNvSpPr txBox="1"/>
          <p:nvPr/>
        </p:nvSpPr>
        <p:spPr>
          <a:xfrm>
            <a:off x="411480" y="3392424"/>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Chirkova (2025): The Only Systematic Comparison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1243584"/>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System</a:t>
                      </a:r>
                    </a:p>
                  </a:txBody>
                  <a:tcPr marL="45720" marR="45720" marT="18288" marB="18288" anchor="ctr">
                    <a:solidFill>
                      <a:srgbClr val="1F3A5F"/>
                    </a:solidFill>
                  </a:tcPr>
                </a:tc>
                <a:tc>
                  <a:txBody>
                    <a:bodyPr wrap="square"/>
                    <a:lstStyle/>
                    <a:p>
                      <a:r>
                        <a:rPr sz="1000" b="1">
                          <a:solidFill>
                            <a:srgbClr val="FFFFFF"/>
                          </a:solidFill>
                        </a:rPr>
                        <a:t>Char CER</a:t>
                      </a:r>
                    </a:p>
                  </a:txBody>
                  <a:tcPr marL="45720" marR="45720" marT="18288" marB="18288" anchor="ctr">
                    <a:solidFill>
                      <a:srgbClr val="1F3A5F"/>
                    </a:solidFill>
                  </a:tcPr>
                </a:tc>
                <a:tc>
                  <a:txBody>
                    <a:bodyPr wrap="square"/>
                    <a:lstStyle/>
                    <a:p>
                      <a:r>
                        <a:rPr sz="1000" b="1">
                          <a:solidFill>
                            <a:srgbClr val="FFFFFF"/>
                          </a:solidFill>
                        </a:rPr>
                        <a:t>Tonal CER</a:t>
                      </a:r>
                    </a:p>
                  </a:txBody>
                  <a:tcPr marL="45720" marR="45720" marT="18288" marB="18288" anchor="ctr">
                    <a:solidFill>
                      <a:srgbClr val="1F3A5F"/>
                    </a:solidFill>
                  </a:tcPr>
                </a:tc>
                <a:tc>
                  <a:txBody>
                    <a:bodyPr wrap="square"/>
                    <a:lstStyle/>
                    <a:p>
                      <a:r>
                        <a:rPr sz="1000" b="1">
                          <a:solidFill>
                            <a:srgbClr val="FFFFFF"/>
                          </a:solidFill>
                        </a:rPr>
                        <a:t>Tonal WER</a:t>
                      </a:r>
                    </a:p>
                  </a:txBody>
                  <a:tcPr marL="45720" marR="45720" marT="18288" marB="18288" anchor="ctr">
                    <a:solidFill>
                      <a:srgbClr val="1F3A5F"/>
                    </a:solidFill>
                  </a:tcPr>
                </a:tc>
              </a:tr>
              <a:tr h="310896">
                <a:tc>
                  <a:txBody>
                    <a:bodyPr wrap="square"/>
                    <a:lstStyle/>
                    <a:p>
                      <a:r>
                        <a:rPr sz="1000"/>
                        <a:t>IPA + Chao</a:t>
                      </a:r>
                    </a:p>
                  </a:txBody>
                  <a:tcPr marL="45720" marR="45720" marT="18288" marB="18288" anchor="ctr">
                    <a:solidFill>
                      <a:srgbClr val="FFFFFF"/>
                    </a:solidFill>
                  </a:tcPr>
                </a:tc>
                <a:tc>
                  <a:txBody>
                    <a:bodyPr wrap="square"/>
                    <a:lstStyle/>
                    <a:p>
                      <a:r>
                        <a:rPr sz="1000"/>
                        <a:t>Niedrigste</a:t>
                      </a:r>
                    </a:p>
                  </a:txBody>
                  <a:tcPr marL="45720" marR="45720" marT="18288" marB="18288" anchor="ctr">
                    <a:solidFill>
                      <a:srgbClr val="FFFFFF"/>
                    </a:solidFill>
                  </a:tcPr>
                </a:tc>
                <a:tc>
                  <a:txBody>
                    <a:bodyPr wrap="square"/>
                    <a:lstStyle/>
                    <a:p>
                      <a:r>
                        <a:rPr sz="1000"/>
                        <a:t>20</a:t>
                      </a:r>
                    </a:p>
                  </a:txBody>
                  <a:tcPr marL="45720" marR="45720" marT="18288" marB="18288" anchor="ctr">
                    <a:solidFill>
                      <a:srgbClr val="FFFFFF"/>
                    </a:solidFill>
                  </a:tcPr>
                </a:tc>
                <a:tc>
                  <a:txBody>
                    <a:bodyPr wrap="square"/>
                    <a:lstStyle/>
                    <a:p>
                      <a:r>
                        <a:rPr sz="1000"/>
                        <a:t>Niedrigste</a:t>
                      </a:r>
                    </a:p>
                  </a:txBody>
                  <a:tcPr marL="45720" marR="45720" marT="18288" marB="18288" anchor="ctr">
                    <a:solidFill>
                      <a:srgbClr val="FFFFFF"/>
                    </a:solidFill>
                  </a:tcPr>
                </a:tc>
              </a:tr>
              <a:tr h="310896">
                <a:tc>
                  <a:txBody>
                    <a:bodyPr wrap="square"/>
                    <a:lstStyle/>
                    <a:p>
                      <a:r>
                        <a:rPr sz="1000"/>
                        <a:t>Pinyin-style</a:t>
                      </a:r>
                    </a:p>
                  </a:txBody>
                  <a:tcPr marL="45720" marR="45720" marT="18288" marB="18288" anchor="ctr">
                    <a:solidFill>
                      <a:srgbClr val="E8EEF4"/>
                    </a:solidFill>
                  </a:tcPr>
                </a:tc>
                <a:tc>
                  <a:txBody>
                    <a:bodyPr wrap="square"/>
                    <a:lstStyle/>
                    <a:p>
                      <a:r>
                        <a:rPr sz="1000"/>
                        <a:t>+2,7%</a:t>
                      </a:r>
                    </a:p>
                  </a:txBody>
                  <a:tcPr marL="45720" marR="45720" marT="18288" marB="18288" anchor="ctr">
                    <a:solidFill>
                      <a:srgbClr val="E8EEF4"/>
                    </a:solidFill>
                  </a:tcPr>
                </a:tc>
                <a:tc>
                  <a:txBody>
                    <a:bodyPr wrap="square"/>
                    <a:lstStyle/>
                    <a:p>
                      <a:r>
                        <a:rPr sz="1000"/>
                        <a:t>28</a:t>
                      </a:r>
                    </a:p>
                  </a:txBody>
                  <a:tcPr marL="45720" marR="45720" marT="18288" marB="18288" anchor="ctr">
                    <a:solidFill>
                      <a:srgbClr val="E8EEF4"/>
                    </a:solidFill>
                  </a:tcPr>
                </a:tc>
                <a:tc>
                  <a:txBody>
                    <a:bodyPr wrap="square"/>
                    <a:lstStyle/>
                    <a:p>
                      <a:r>
                        <a:rPr sz="1000"/>
                        <a:t>Höher</a:t>
                      </a:r>
                    </a:p>
                  </a:txBody>
                  <a:tcPr marL="45720" marR="45720" marT="18288" marB="18288" anchor="ctr">
                    <a:solidFill>
                      <a:srgbClr val="E8EEF4"/>
                    </a:solidFill>
                  </a:tcPr>
                </a:tc>
              </a:tr>
              <a:tr h="310896">
                <a:tc>
                  <a:txBody>
                    <a:bodyPr wrap="square"/>
                    <a:lstStyle/>
                    <a:p>
                      <a:r>
                        <a:rPr sz="1000"/>
                        <a:t>Simple (ohne Ton)</a:t>
                      </a:r>
                    </a:p>
                  </a:txBody>
                  <a:tcPr marL="45720" marR="45720" marT="18288" marB="18288" anchor="ctr">
                    <a:solidFill>
                      <a:srgbClr val="FFFFFF"/>
                    </a:solidFill>
                  </a:tcPr>
                </a:tc>
                <a:tc>
                  <a:txBody>
                    <a:bodyPr wrap="square"/>
                    <a:lstStyle/>
                    <a:p>
                      <a:r>
                        <a:rPr sz="1000"/>
                        <a:t>+5,0%</a:t>
                      </a:r>
                    </a:p>
                  </a:txBody>
                  <a:tcPr marL="45720" marR="45720" marT="18288" marB="18288" anchor="ctr">
                    <a:solidFill>
                      <a:srgbClr val="FFFFFF"/>
                    </a:solidFill>
                  </a:tcPr>
                </a:tc>
                <a:tc>
                  <a:txBody>
                    <a:bodyPr wrap="square"/>
                    <a:lstStyle/>
                    <a:p>
                      <a:r>
                        <a:rPr sz="1000"/>
                        <a:t>31</a:t>
                      </a:r>
                    </a:p>
                  </a:txBody>
                  <a:tcPr marL="45720" marR="45720" marT="18288" marB="18288" anchor="ctr">
                    <a:solidFill>
                      <a:srgbClr val="FFFFFF"/>
                    </a:solidFill>
                  </a:tcPr>
                </a:tc>
                <a:tc>
                  <a:txBody>
                    <a:bodyPr wrap="square"/>
                    <a:lstStyle/>
                    <a:p>
                      <a:r>
                        <a:rPr sz="1000"/>
                        <a:t>Höchste</a:t>
                      </a:r>
                    </a:p>
                  </a:txBody>
                  <a:tcPr marL="45720" marR="45720" marT="18288" marB="18288" anchor="ctr">
                    <a:solidFill>
                      <a:srgbClr val="FFFFFF"/>
                    </a:solidFill>
                  </a:tcPr>
                </a:tc>
              </a:tr>
            </a:tbl>
          </a:graphicData>
        </a:graphic>
      </p:graphicFrame>
      <p:sp>
        <p:nvSpPr>
          <p:cNvPr id="5" name="TextBox 4"/>
          <p:cNvSpPr txBox="1"/>
          <p:nvPr/>
        </p:nvSpPr>
        <p:spPr>
          <a:xfrm>
            <a:off x="411480" y="2459736"/>
            <a:ext cx="11368735" cy="1261872"/>
          </a:xfrm>
          <a:prstGeom prst="rect">
            <a:avLst/>
          </a:prstGeom>
          <a:noFill/>
        </p:spPr>
        <p:txBody>
          <a:bodyPr wrap="square">
            <a:spAutoFit/>
          </a:bodyPr>
          <a:lstStyle/>
          <a:p>
            <a:pPr>
              <a:spcAft>
                <a:spcPts val="300"/>
              </a:spcAft>
            </a:pPr>
            <a:r>
              <a:rPr i="1" sz="1200">
                <a:solidFill>
                  <a:srgbClr val="444444"/>
                </a:solidFill>
              </a:rPr>
              <a:t>„"IPA is again the transcription with the least error. For tonal CER, IPA has tonal CER=20, compared to Pinyin tonal CER=28 and Simple tonal CER=31 (χ²(2)=28, p&lt;0.0001)." (Section 3)"</a:t>
            </a:r>
          </a:p>
          <a:p>
            <a:pPr>
              <a:spcAft>
                <a:spcPts val="300"/>
              </a:spcAft>
            </a:pPr>
            <a:r>
              <a:rPr sz="1300"/>
              <a:t>•  *Gilt dieses Ergebnis auch bei multimodalen LLMs?*</a:t>
            </a:r>
          </a:p>
          <a:p>
            <a:pPr>
              <a:spcAft>
                <a:spcPts val="300"/>
              </a:spcAft>
            </a:pPr>
            <a:r>
              <a:rPr sz="1300"/>
              <a:t>•  *Oder kehrt sich das Ergebnis um, weil LLMs mehr Pinyin als IPA in den Trainingsdaten haben?*</a:t>
            </a:r>
          </a:p>
          <a:p>
            <a:pPr>
              <a:spcAft>
                <a:spcPts val="300"/>
              </a:spcAft>
            </a:pPr>
            <a:r>
              <a:rPr sz="1300"/>
              <a:t>•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Pilot Experiment: Which Transcription Format Works Best with LLMs?</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84048"/>
          </a:xfrm>
          <a:prstGeom prst="rect">
            <a:avLst/>
          </a:prstGeom>
          <a:noFill/>
        </p:spPr>
        <p:txBody>
          <a:bodyPr wrap="square">
            <a:spAutoFit/>
          </a:bodyPr>
          <a:lstStyle/>
          <a:p>
            <a:pPr>
              <a:spcAft>
                <a:spcPts val="300"/>
              </a:spcAft>
            </a:pPr>
            <a:r>
              <a:rPr sz="1200" b="1">
                <a:solidFill>
                  <a:srgbClr val="1F3A5F"/>
                </a:solidFill>
              </a:rPr>
              <a:t>*Bei LLMs könnte Pinyin+Tonnummern besser sein als IPA — gegenteilig zu Chirkovas Ergebnis (2025) — weil LLMs massiv mehr Pinyin im Training haben.*</a:t>
            </a:r>
          </a:p>
        </p:txBody>
      </p:sp>
      <p:graphicFrame>
        <p:nvGraphicFramePr>
          <p:cNvPr id="5" name="Table 4"/>
          <p:cNvGraphicFramePr>
            <a:graphicFrameLocks noGrp="1"/>
          </p:cNvGraphicFramePr>
          <p:nvPr/>
        </p:nvGraphicFramePr>
        <p:xfrm>
          <a:off x="365760" y="1554480"/>
          <a:ext cx="11460172" cy="2176272"/>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a:t>
                      </a:r>
                    </a:p>
                  </a:txBody>
                  <a:tcPr marL="45720" marR="45720" marT="18288" marB="18288" anchor="ctr">
                    <a:solidFill>
                      <a:srgbClr val="1F3A5F"/>
                    </a:solidFill>
                  </a:tcPr>
                </a:tc>
                <a:tc>
                  <a:txBody>
                    <a:bodyPr wrap="square"/>
                    <a:lstStyle/>
                    <a:p>
                      <a:r>
                        <a:rPr sz="1000" b="1">
                          <a:solidFill>
                            <a:srgbClr val="FFFFFF"/>
                          </a:solidFill>
                        </a:rPr>
                        <a:t>Format</a:t>
                      </a:r>
                    </a:p>
                  </a:txBody>
                  <a:tcPr marL="45720" marR="45720" marT="18288" marB="18288" anchor="ctr">
                    <a:solidFill>
                      <a:srgbClr val="1F3A5F"/>
                    </a:solidFill>
                  </a:tcPr>
                </a:tc>
                <a:tc>
                  <a:txBody>
                    <a:bodyPr wrap="square"/>
                    <a:lstStyle/>
                    <a:p>
                      <a:r>
                        <a:rPr sz="1000" b="1">
                          <a:solidFill>
                            <a:srgbClr val="FFFFFF"/>
                          </a:solidFill>
                        </a:rPr>
                        <a:t>Beispiel (mā, Ton 1)</a:t>
                      </a:r>
                    </a:p>
                  </a:txBody>
                  <a:tcPr marL="45720" marR="45720" marT="18288" marB="18288" anchor="ctr">
                    <a:solidFill>
                      <a:srgbClr val="1F3A5F"/>
                    </a:solidFill>
                  </a:tcPr>
                </a:tc>
                <a:tc>
                  <a:txBody>
                    <a:bodyPr wrap="square"/>
                    <a:lstStyle/>
                    <a:p>
                      <a:r>
                        <a:rPr sz="1000" b="1">
                          <a:solidFill>
                            <a:srgbClr val="FFFFFF"/>
                          </a:solidFill>
                        </a:rPr>
                        <a:t>Prompt-Anweisung</a:t>
                      </a:r>
                    </a:p>
                  </a:txBody>
                  <a:tcPr marL="45720" marR="45720" marT="18288" marB="18288" anchor="ctr">
                    <a:solidFill>
                      <a:srgbClr val="1F3A5F"/>
                    </a:solidFill>
                  </a:tcPr>
                </a:tc>
              </a:tr>
              <a:tr h="310896">
                <a:tc>
                  <a:txBody>
                    <a:bodyPr wrap="square"/>
                    <a:lstStyle/>
                    <a:p>
                      <a:r>
                        <a:rPr sz="1000"/>
                        <a:t>A</a:t>
                      </a:r>
                    </a:p>
                  </a:txBody>
                  <a:tcPr marL="45720" marR="45720" marT="18288" marB="18288" anchor="ctr">
                    <a:solidFill>
                      <a:srgbClr val="FFFFFF"/>
                    </a:solidFill>
                  </a:tcPr>
                </a:tc>
                <a:tc>
                  <a:txBody>
                    <a:bodyPr wrap="square"/>
                    <a:lstStyle/>
                    <a:p>
                      <a:r>
                        <a:rPr sz="1000"/>
                        <a:t>Pinyin + Tonnummer</a:t>
                      </a:r>
                    </a:p>
                  </a:txBody>
                  <a:tcPr marL="45720" marR="45720" marT="18288" marB="18288" anchor="ctr">
                    <a:solidFill>
                      <a:srgbClr val="FFFFFF"/>
                    </a:solidFill>
                  </a:tcPr>
                </a:tc>
                <a:tc>
                  <a:txBody>
                    <a:bodyPr wrap="square"/>
                    <a:lstStyle/>
                    <a:p>
                      <a:r>
                        <a:rPr sz="1000"/>
                        <a:t>ma1</a:t>
                      </a:r>
                    </a:p>
                  </a:txBody>
                  <a:tcPr marL="45720" marR="45720" marT="18288" marB="18288" anchor="ctr">
                    <a:solidFill>
                      <a:srgbClr val="FFFFFF"/>
                    </a:solidFill>
                  </a:tcPr>
                </a:tc>
                <a:tc>
                  <a:txBody>
                    <a:bodyPr wrap="square"/>
                    <a:lstStyle/>
                    <a:p>
                      <a:r>
                        <a:rPr sz="1000"/>
                        <a:t>"Transcribe as Pinyin with tone numbers (1-4)"</a:t>
                      </a:r>
                    </a:p>
                  </a:txBody>
                  <a:tcPr marL="45720" marR="45720" marT="18288" marB="18288" anchor="ctr">
                    <a:solidFill>
                      <a:srgbClr val="FFFFFF"/>
                    </a:solidFill>
                  </a:tcPr>
                </a:tc>
              </a:tr>
              <a:tr h="310896">
                <a:tc>
                  <a:txBody>
                    <a:bodyPr wrap="square"/>
                    <a:lstStyle/>
                    <a:p>
                      <a:r>
                        <a:rPr sz="1000"/>
                        <a:t>B</a:t>
                      </a:r>
                    </a:p>
                  </a:txBody>
                  <a:tcPr marL="45720" marR="45720" marT="18288" marB="18288" anchor="ctr">
                    <a:solidFill>
                      <a:srgbClr val="E8EEF4"/>
                    </a:solidFill>
                  </a:tcPr>
                </a:tc>
                <a:tc>
                  <a:txBody>
                    <a:bodyPr wrap="square"/>
                    <a:lstStyle/>
                    <a:p>
                      <a:r>
                        <a:rPr sz="1000"/>
                        <a:t>Pinyin + Diakritika</a:t>
                      </a:r>
                    </a:p>
                  </a:txBody>
                  <a:tcPr marL="45720" marR="45720" marT="18288" marB="18288" anchor="ctr">
                    <a:solidFill>
                      <a:srgbClr val="E8EEF4"/>
                    </a:solidFill>
                  </a:tcPr>
                </a:tc>
                <a:tc>
                  <a:txBody>
                    <a:bodyPr wrap="square"/>
                    <a:lstStyle/>
                    <a:p>
                      <a:r>
                        <a:rPr sz="1000"/>
                        <a:t>mā</a:t>
                      </a:r>
                    </a:p>
                  </a:txBody>
                  <a:tcPr marL="45720" marR="45720" marT="18288" marB="18288" anchor="ctr">
                    <a:solidFill>
                      <a:srgbClr val="E8EEF4"/>
                    </a:solidFill>
                  </a:tcPr>
                </a:tc>
                <a:tc>
                  <a:txBody>
                    <a:bodyPr wrap="square"/>
                    <a:lstStyle/>
                    <a:p>
                      <a:r>
                        <a:rPr sz="1000"/>
                        <a:t>"Transcribe as Pinyin with tone marks (ā á ǎ à)"</a:t>
                      </a:r>
                    </a:p>
                  </a:txBody>
                  <a:tcPr marL="45720" marR="45720" marT="18288" marB="18288" anchor="ctr">
                    <a:solidFill>
                      <a:srgbClr val="E8EEF4"/>
                    </a:solidFill>
                  </a:tcPr>
                </a:tc>
              </a:tr>
              <a:tr h="310896">
                <a:tc>
                  <a:txBody>
                    <a:bodyPr wrap="square"/>
                    <a:lstStyle/>
                    <a:p>
                      <a:r>
                        <a:rPr sz="1000"/>
                        <a:t>C</a:t>
                      </a:r>
                    </a:p>
                  </a:txBody>
                  <a:tcPr marL="45720" marR="45720" marT="18288" marB="18288" anchor="ctr">
                    <a:solidFill>
                      <a:srgbClr val="FFFFFF"/>
                    </a:solidFill>
                  </a:tcPr>
                </a:tc>
                <a:tc>
                  <a:txBody>
                    <a:bodyPr wrap="square"/>
                    <a:lstStyle/>
                    <a:p>
                      <a:r>
                        <a:rPr sz="1000"/>
                        <a:t>Pinyin ohne Töne</a:t>
                      </a:r>
                    </a:p>
                  </a:txBody>
                  <a:tcPr marL="45720" marR="45720" marT="18288" marB="18288" anchor="ctr">
                    <a:solidFill>
                      <a:srgbClr val="FFFFFF"/>
                    </a:solidFill>
                  </a:tcPr>
                </a:tc>
                <a:tc>
                  <a:txBody>
                    <a:bodyPr wrap="square"/>
                    <a:lstStyle/>
                    <a:p>
                      <a:r>
                        <a:rPr sz="1000"/>
                        <a:t>ma</a:t>
                      </a:r>
                    </a:p>
                  </a:txBody>
                  <a:tcPr marL="45720" marR="45720" marT="18288" marB="18288" anchor="ctr">
                    <a:solidFill>
                      <a:srgbClr val="FFFFFF"/>
                    </a:solidFill>
                  </a:tcPr>
                </a:tc>
                <a:tc>
                  <a:txBody>
                    <a:bodyPr wrap="square"/>
                    <a:lstStyle/>
                    <a:p>
                      <a:r>
                        <a:rPr sz="1000"/>
                        <a:t>"Transcribe as Pinyin without tones" (Baseline)</a:t>
                      </a:r>
                    </a:p>
                  </a:txBody>
                  <a:tcPr marL="45720" marR="45720" marT="18288" marB="18288" anchor="ctr">
                    <a:solidFill>
                      <a:srgbClr val="FFFFFF"/>
                    </a:solidFill>
                  </a:tcPr>
                </a:tc>
              </a:tr>
              <a:tr h="310896">
                <a:tc>
                  <a:txBody>
                    <a:bodyPr wrap="square"/>
                    <a:lstStyle/>
                    <a:p>
                      <a:r>
                        <a:rPr sz="1000"/>
                        <a:t>D</a:t>
                      </a:r>
                    </a:p>
                  </a:txBody>
                  <a:tcPr marL="45720" marR="45720" marT="18288" marB="18288" anchor="ctr">
                    <a:solidFill>
                      <a:srgbClr val="E8EEF4"/>
                    </a:solidFill>
                  </a:tcPr>
                </a:tc>
                <a:tc>
                  <a:txBody>
                    <a:bodyPr wrap="square"/>
                    <a:lstStyle/>
                    <a:p>
                      <a:r>
                        <a:rPr sz="1000"/>
                        <a:t>IPA + Chao-Nummern</a:t>
                      </a:r>
                    </a:p>
                  </a:txBody>
                  <a:tcPr marL="45720" marR="45720" marT="18288" marB="18288" anchor="ctr">
                    <a:solidFill>
                      <a:srgbClr val="E8EEF4"/>
                    </a:solidFill>
                  </a:tcPr>
                </a:tc>
                <a:tc>
                  <a:txBody>
                    <a:bodyPr wrap="square"/>
                    <a:lstStyle/>
                    <a:p>
                      <a:r>
                        <a:rPr sz="1000"/>
                        <a:t>[ma55]</a:t>
                      </a:r>
                    </a:p>
                  </a:txBody>
                  <a:tcPr marL="45720" marR="45720" marT="18288" marB="18288" anchor="ctr">
                    <a:solidFill>
                      <a:srgbClr val="E8EEF4"/>
                    </a:solidFill>
                  </a:tcPr>
                </a:tc>
                <a:tc>
                  <a:txBody>
                    <a:bodyPr wrap="square"/>
                    <a:lstStyle/>
                    <a:p>
                      <a:r>
                        <a:rPr sz="1000"/>
                        <a:t>"Transcribe in IPA with Chao tone numbers (55, 35, 214, 51)"</a:t>
                      </a:r>
                    </a:p>
                  </a:txBody>
                  <a:tcPr marL="45720" marR="45720" marT="18288" marB="18288" anchor="ctr">
                    <a:solidFill>
                      <a:srgbClr val="E8EEF4"/>
                    </a:solidFill>
                  </a:tcPr>
                </a:tc>
              </a:tr>
              <a:tr h="310896">
                <a:tc>
                  <a:txBody>
                    <a:bodyPr wrap="square"/>
                    <a:lstStyle/>
                    <a:p>
                      <a:r>
                        <a:rPr sz="1000"/>
                        <a:t>E</a:t>
                      </a:r>
                    </a:p>
                  </a:txBody>
                  <a:tcPr marL="45720" marR="45720" marT="18288" marB="18288" anchor="ctr">
                    <a:solidFill>
                      <a:srgbClr val="FFFFFF"/>
                    </a:solidFill>
                  </a:tcPr>
                </a:tc>
                <a:tc>
                  <a:txBody>
                    <a:bodyPr wrap="square"/>
                    <a:lstStyle/>
                    <a:p>
                      <a:r>
                        <a:rPr sz="1000"/>
                        <a:t>IPA + Tone Letters</a:t>
                      </a:r>
                    </a:p>
                  </a:txBody>
                  <a:tcPr marL="45720" marR="45720" marT="18288" marB="18288" anchor="ctr">
                    <a:solidFill>
                      <a:srgbClr val="FFFFFF"/>
                    </a:solidFill>
                  </a:tcPr>
                </a:tc>
                <a:tc>
                  <a:txBody>
                    <a:bodyPr wrap="square"/>
                    <a:lstStyle/>
                    <a:p>
                      <a:r>
                        <a:rPr sz="1000"/>
                        <a:t>[ma˥]</a:t>
                      </a:r>
                    </a:p>
                  </a:txBody>
                  <a:tcPr marL="45720" marR="45720" marT="18288" marB="18288" anchor="ctr">
                    <a:solidFill>
                      <a:srgbClr val="FFFFFF"/>
                    </a:solidFill>
                  </a:tcPr>
                </a:tc>
                <a:tc>
                  <a:txBody>
                    <a:bodyPr wrap="square"/>
                    <a:lstStyle/>
                    <a:p>
                      <a:r>
                        <a:rPr sz="1000"/>
                        <a:t>"Transcribe in IPA with tone letters (˥ ˧˥ ˨˩˦ ˥˩)"</a:t>
                      </a:r>
                    </a:p>
                  </a:txBody>
                  <a:tcPr marL="45720" marR="45720" marT="18288" marB="18288" anchor="ctr">
                    <a:solidFill>
                      <a:srgbClr val="FFFFFF"/>
                    </a:solidFill>
                  </a:tcPr>
                </a:tc>
              </a:tr>
              <a:tr h="310896">
                <a:tc>
                  <a:txBody>
                    <a:bodyPr wrap="square"/>
                    <a:lstStyle/>
                    <a:p>
                      <a:r>
                        <a:rPr sz="1000"/>
                        <a:t>F</a:t>
                      </a:r>
                    </a:p>
                  </a:txBody>
                  <a:tcPr marL="45720" marR="45720" marT="18288" marB="18288" anchor="ctr">
                    <a:solidFill>
                      <a:srgbClr val="E8EEF4"/>
                    </a:solidFill>
                  </a:tcPr>
                </a:tc>
                <a:tc>
                  <a:txBody>
                    <a:bodyPr wrap="square"/>
                    <a:lstStyle/>
                    <a:p>
                      <a:r>
                        <a:rPr sz="1000"/>
                        <a:t>Chao-Nummern separat</a:t>
                      </a:r>
                    </a:p>
                  </a:txBody>
                  <a:tcPr marL="45720" marR="45720" marT="18288" marB="18288" anchor="ctr">
                    <a:solidFill>
                      <a:srgbClr val="E8EEF4"/>
                    </a:solidFill>
                  </a:tcPr>
                </a:tc>
                <a:tc>
                  <a:txBody>
                    <a:bodyPr wrap="square"/>
                    <a:lstStyle/>
                    <a:p>
                      <a:r>
                        <a:rPr sz="1000"/>
                        <a:t>ma_55</a:t>
                      </a:r>
                    </a:p>
                  </a:txBody>
                  <a:tcPr marL="45720" marR="45720" marT="18288" marB="18288" anchor="ctr">
                    <a:solidFill>
                      <a:srgbClr val="E8EEF4"/>
                    </a:solidFill>
                  </a:tcPr>
                </a:tc>
                <a:tc>
                  <a:txBody>
                    <a:bodyPr wrap="square"/>
                    <a:lstStyle/>
                    <a:p>
                      <a:r>
                        <a:rPr sz="1000"/>
                        <a:t>"Transcribe syllable in Pinyin, tone as Chao numbers"</a:t>
                      </a:r>
                    </a:p>
                  </a:txBody>
                  <a:tcPr marL="45720" marR="45720" marT="18288" marB="18288" anchor="ctr">
                    <a:solidFill>
                      <a:srgbClr val="E8EEF4"/>
                    </a:solidFill>
                  </a:tcPr>
                </a:tc>
              </a:tr>
            </a:tbl>
          </a:graphicData>
        </a:graphic>
      </p:graphicFrame>
      <p:sp>
        <p:nvSpPr>
          <p:cNvPr id="6" name="TextBox 5"/>
          <p:cNvSpPr txBox="1"/>
          <p:nvPr/>
        </p:nvSpPr>
        <p:spPr>
          <a:xfrm>
            <a:off x="411480" y="3867912"/>
            <a:ext cx="11368735" cy="891540"/>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Warum gerade diese 6?</a:t>
            </a:r>
          </a:p>
          <a:p>
            <a:pPr>
              <a:lnSpc>
                <a:spcPct val="100000"/>
              </a:lnSpc>
              <a:spcAft>
                <a:spcPts val="0"/>
              </a:spcAft>
            </a:pPr>
            <a:r>
              <a:rPr sz="900">
                <a:solidFill>
                  <a:srgbClr val="223344"/>
                </a:solidFill>
                <a:latin typeface="Consolas"/>
              </a:rPr>
              <a:t>├── A+B: Pinyin-Varianten (LLM-Trainingsdaten massiv)</a:t>
            </a:r>
          </a:p>
          <a:p>
            <a:pPr>
              <a:lnSpc>
                <a:spcPct val="100000"/>
              </a:lnSpc>
              <a:spcAft>
                <a:spcPts val="0"/>
              </a:spcAft>
            </a:pPr>
            <a:r>
              <a:rPr sz="900">
                <a:solidFill>
                  <a:srgbClr val="223344"/>
                </a:solidFill>
                <a:latin typeface="Consolas"/>
              </a:rPr>
              <a:t>├── C:   Baseline ohne Ton → isoliert Tonerkennungs-Effekt</a:t>
            </a:r>
          </a:p>
          <a:p>
            <a:pPr>
              <a:lnSpc>
                <a:spcPct val="100000"/>
              </a:lnSpc>
              <a:spcAft>
                <a:spcPts val="0"/>
              </a:spcAft>
            </a:pPr>
            <a:r>
              <a:rPr sz="900">
                <a:solidFill>
                  <a:srgbClr val="223344"/>
                </a:solidFill>
                <a:latin typeface="Consolas"/>
              </a:rPr>
              <a:t>├── D+E: IPA-Varianten (Chirkovas System → Vergleich)</a:t>
            </a:r>
          </a:p>
          <a:p>
            <a:pPr>
              <a:lnSpc>
                <a:spcPct val="100000"/>
              </a:lnSpc>
              <a:spcAft>
                <a:spcPts val="0"/>
              </a:spcAft>
            </a:pPr>
            <a:r>
              <a:rPr sz="900">
                <a:solidFill>
                  <a:srgbClr val="223344"/>
                </a:solidFill>
                <a:latin typeface="Consolas"/>
              </a:rPr>
              <a:t>└── F:   Hybrid (Pinyin-Silbe + Chao-Ton → Best of Both?)</a:t>
            </a:r>
          </a:p>
        </p:txBody>
      </p:sp>
      <p:sp>
        <p:nvSpPr>
          <p:cNvPr id="7" name="TextBox 6"/>
          <p:cNvSpPr txBox="1"/>
          <p:nvPr/>
        </p:nvSpPr>
        <p:spPr>
          <a:xfrm>
            <a:off x="411480" y="4850892"/>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Pilot Design: 400 Samples × 3 Models × 6 Formats</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344168"/>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50 Silben × 4 Töne × 2 Sprecher (1m, 1f) = 400 Samples</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Stratifizierte Auswahl:</a:t>
            </a:r>
          </a:p>
          <a:p>
            <a:pPr>
              <a:lnSpc>
                <a:spcPct val="100000"/>
              </a:lnSpc>
              <a:spcAft>
                <a:spcPts val="0"/>
              </a:spcAft>
            </a:pPr>
            <a:r>
              <a:rPr sz="900">
                <a:solidFill>
                  <a:srgbClr val="223344"/>
                </a:solidFill>
                <a:latin typeface="Consolas"/>
              </a:rPr>
              <a:t>├── 10 "einfach"   (a, ma, ba, da, fa, la, na, pa, ta, ka)</a:t>
            </a:r>
          </a:p>
          <a:p>
            <a:pPr>
              <a:lnSpc>
                <a:spcPct val="100000"/>
              </a:lnSpc>
              <a:spcAft>
                <a:spcPts val="0"/>
              </a:spcAft>
            </a:pPr>
            <a:r>
              <a:rPr sz="900">
                <a:solidFill>
                  <a:srgbClr val="223344"/>
                </a:solidFill>
                <a:latin typeface="Consolas"/>
              </a:rPr>
              <a:t>├── 15 "mittel"    (zhuan, xiong, qie, lüe, niu, gui, dui, ...)</a:t>
            </a:r>
          </a:p>
          <a:p>
            <a:pPr>
              <a:lnSpc>
                <a:spcPct val="100000"/>
              </a:lnSpc>
              <a:spcAft>
                <a:spcPts val="0"/>
              </a:spcAft>
            </a:pPr>
            <a:r>
              <a:rPr sz="900">
                <a:solidFill>
                  <a:srgbClr val="223344"/>
                </a:solidFill>
                <a:latin typeface="Consolas"/>
              </a:rPr>
              <a:t>└── 25 "schwierig" (retroflexe: zhi, chi, shi, ri;</a:t>
            </a:r>
          </a:p>
          <a:p>
            <a:pPr>
              <a:lnSpc>
                <a:spcPct val="100000"/>
              </a:lnSpc>
              <a:spcAft>
                <a:spcPts val="0"/>
              </a:spcAft>
            </a:pPr>
            <a:r>
              <a:rPr sz="900">
                <a:solidFill>
                  <a:srgbClr val="223344"/>
                </a:solidFill>
                <a:latin typeface="Consolas"/>
              </a:rPr>
              <a:t>                     Diphthongs: guai, chuang;</a:t>
            </a:r>
          </a:p>
          <a:p>
            <a:pPr>
              <a:lnSpc>
                <a:spcPct val="100000"/>
              </a:lnSpc>
              <a:spcAft>
                <a:spcPts val="0"/>
              </a:spcAft>
            </a:pPr>
            <a:r>
              <a:rPr sz="900">
                <a:solidFill>
                  <a:srgbClr val="223344"/>
                </a:solidFill>
                <a:latin typeface="Consolas"/>
              </a:rPr>
              <a:t>                     Nasale: nüan, reng, zhuang)</a:t>
            </a:r>
          </a:p>
        </p:txBody>
      </p:sp>
      <p:graphicFrame>
        <p:nvGraphicFramePr>
          <p:cNvPr id="5" name="Table 4"/>
          <p:cNvGraphicFramePr>
            <a:graphicFrameLocks noGrp="1"/>
          </p:cNvGraphicFramePr>
          <p:nvPr/>
        </p:nvGraphicFramePr>
        <p:xfrm>
          <a:off x="365760" y="2514600"/>
          <a:ext cx="11460174" cy="1243584"/>
        </p:xfrm>
        <a:graphic>
          <a:graphicData uri="http://schemas.openxmlformats.org/drawingml/2006/table">
            <a:tbl>
              <a:tblPr firstRow="1" bandRow="1">
                <a:tableStyleId>{5C22544A-7EE6-4342-B048-85BDC9FD1C3A}</a:tableStyleId>
              </a:tblPr>
              <a:tblGrid>
                <a:gridCol w="3820058"/>
                <a:gridCol w="3820058"/>
                <a:gridCol w="3820058"/>
              </a:tblGrid>
              <a:tr h="310896">
                <a:tc>
                  <a:txBody>
                    <a:bodyPr wrap="square"/>
                    <a:lstStyle/>
                    <a:p>
                      <a:r>
                        <a:rPr sz="1000" b="1">
                          <a:solidFill>
                            <a:srgbClr val="FFFFFF"/>
                          </a:solidFill>
                        </a:rPr>
                        <a:t>Modell</a:t>
                      </a:r>
                    </a:p>
                  </a:txBody>
                  <a:tcPr marL="45720" marR="45720" marT="18288" marB="18288" anchor="ctr">
                    <a:solidFill>
                      <a:srgbClr val="1F3A5F"/>
                    </a:solidFill>
                  </a:tcPr>
                </a:tc>
                <a:tc>
                  <a:txBody>
                    <a:bodyPr wrap="square"/>
                    <a:lstStyle/>
                    <a:p>
                      <a:r>
                        <a:rPr sz="1000" b="1">
                          <a:solidFill>
                            <a:srgbClr val="FFFFFF"/>
                          </a:solidFill>
                        </a:rPr>
                        <a:t>Markt</a:t>
                      </a:r>
                    </a:p>
                  </a:txBody>
                  <a:tcPr marL="45720" marR="45720" marT="18288" marB="18288" anchor="ctr">
                    <a:solidFill>
                      <a:srgbClr val="1F3A5F"/>
                    </a:solidFill>
                  </a:tcPr>
                </a:tc>
                <a:tc>
                  <a:txBody>
                    <a:bodyPr wrap="square"/>
                    <a:lstStyle/>
                    <a:p>
                      <a:r>
                        <a:rPr sz="1000" b="1">
                          <a:solidFill>
                            <a:srgbClr val="FFFFFF"/>
                          </a:solidFill>
                        </a:rPr>
                        <a:t>Kosten/1k Calls</a:t>
                      </a:r>
                    </a:p>
                  </a:txBody>
                  <a:tcPr marL="45720" marR="45720" marT="18288" marB="18288" anchor="ctr">
                    <a:solidFill>
                      <a:srgbClr val="1F3A5F"/>
                    </a:solidFill>
                  </a:tcPr>
                </a:tc>
              </a:tr>
              <a:tr h="310896">
                <a:tc>
                  <a:txBody>
                    <a:bodyPr wrap="square"/>
                    <a:lstStyle/>
                    <a:p>
                      <a:r>
                        <a:rPr sz="1000"/>
                        <a:t>Gemini 2.5 Flash</a:t>
                      </a:r>
                    </a:p>
                  </a:txBody>
                  <a:tcPr marL="45720" marR="45720" marT="18288" marB="18288" anchor="ctr">
                    <a:solidFill>
                      <a:srgbClr val="FFFFFF"/>
                    </a:solidFill>
                  </a:tcPr>
                </a:tc>
                <a:tc>
                  <a:txBody>
                    <a:bodyPr wrap="square"/>
                    <a:lstStyle/>
                    <a:p>
                      <a:r>
                        <a:rPr sz="1000"/>
                        <a:t>USA</a:t>
                      </a:r>
                    </a:p>
                  </a:txBody>
                  <a:tcPr marL="45720" marR="45720" marT="18288" marB="18288" anchor="ctr">
                    <a:solidFill>
                      <a:srgbClr val="FFFFFF"/>
                    </a:solidFill>
                  </a:tcPr>
                </a:tc>
                <a:tc>
                  <a:txBody>
                    <a:bodyPr wrap="square"/>
                    <a:lstStyle/>
                    <a:p>
                      <a:r>
                        <a:rPr sz="1000"/>
                        <a:t>~$0.15</a:t>
                      </a:r>
                    </a:p>
                  </a:txBody>
                  <a:tcPr marL="45720" marR="45720" marT="18288" marB="18288" anchor="ctr">
                    <a:solidFill>
                      <a:srgbClr val="FFFFFF"/>
                    </a:solidFill>
                  </a:tcPr>
                </a:tc>
              </a:tr>
              <a:tr h="310896">
                <a:tc>
                  <a:txBody>
                    <a:bodyPr wrap="square"/>
                    <a:lstStyle/>
                    <a:p>
                      <a:r>
                        <a:rPr sz="1000"/>
                        <a:t>DeepSeek V3</a:t>
                      </a:r>
                    </a:p>
                  </a:txBody>
                  <a:tcPr marL="45720" marR="45720" marT="18288" marB="18288" anchor="ctr">
                    <a:solidFill>
                      <a:srgbClr val="E8EEF4"/>
                    </a:solidFill>
                  </a:tcPr>
                </a:tc>
                <a:tc>
                  <a:txBody>
                    <a:bodyPr wrap="square"/>
                    <a:lstStyle/>
                    <a:p>
                      <a:r>
                        <a:rPr sz="1000"/>
                        <a:t>China</a:t>
                      </a:r>
                    </a:p>
                  </a:txBody>
                  <a:tcPr marL="45720" marR="45720" marT="18288" marB="18288" anchor="ctr">
                    <a:solidFill>
                      <a:srgbClr val="E8EEF4"/>
                    </a:solidFill>
                  </a:tcPr>
                </a:tc>
                <a:tc>
                  <a:txBody>
                    <a:bodyPr wrap="square"/>
                    <a:lstStyle/>
                    <a:p>
                      <a:r>
                        <a:rPr sz="1000"/>
                        <a:t>~$0.05</a:t>
                      </a:r>
                    </a:p>
                  </a:txBody>
                  <a:tcPr marL="45720" marR="45720" marT="18288" marB="18288" anchor="ctr">
                    <a:solidFill>
                      <a:srgbClr val="E8EEF4"/>
                    </a:solidFill>
                  </a:tcPr>
                </a:tc>
              </a:tr>
              <a:tr h="310896">
                <a:tc>
                  <a:txBody>
                    <a:bodyPr wrap="square"/>
                    <a:lstStyle/>
                    <a:p>
                      <a:r>
                        <a:rPr sz="1000"/>
                        <a:t>Qwen2-Audio-7B</a:t>
                      </a:r>
                    </a:p>
                  </a:txBody>
                  <a:tcPr marL="45720" marR="45720" marT="18288" marB="18288" anchor="ctr">
                    <a:solidFill>
                      <a:srgbClr val="FFFFFF"/>
                    </a:solidFill>
                  </a:tcPr>
                </a:tc>
                <a:tc>
                  <a:txBody>
                    <a:bodyPr wrap="square"/>
                    <a:lstStyle/>
                    <a:p>
                      <a:r>
                        <a:rPr sz="1000"/>
                        <a:t>China</a:t>
                      </a:r>
                    </a:p>
                  </a:txBody>
                  <a:tcPr marL="45720" marR="45720" marT="18288" marB="18288" anchor="ctr">
                    <a:solidFill>
                      <a:srgbClr val="FFFFFF"/>
                    </a:solidFill>
                  </a:tcPr>
                </a:tc>
                <a:tc>
                  <a:txBody>
                    <a:bodyPr wrap="square"/>
                    <a:lstStyle/>
                    <a:p>
                      <a:r>
                        <a:rPr sz="1000"/>
                        <a:t>~$0.10</a:t>
                      </a:r>
                    </a:p>
                  </a:txBody>
                  <a:tcPr marL="45720" marR="45720" marT="18288" marB="18288" anchor="ctr">
                    <a:solidFill>
                      <a:srgbClr val="FFFFFF"/>
                    </a:solidFill>
                  </a:tcPr>
                </a:tc>
              </a:tr>
            </a:tbl>
          </a:graphicData>
        </a:graphic>
      </p:graphicFrame>
      <p:graphicFrame>
        <p:nvGraphicFramePr>
          <p:cNvPr id="6" name="Table 5"/>
          <p:cNvGraphicFramePr>
            <a:graphicFrameLocks noGrp="1"/>
          </p:cNvGraphicFramePr>
          <p:nvPr/>
        </p:nvGraphicFramePr>
        <p:xfrm>
          <a:off x="365760" y="3895344"/>
          <a:ext cx="11460174" cy="1865376"/>
        </p:xfrm>
        <a:graphic>
          <a:graphicData uri="http://schemas.openxmlformats.org/drawingml/2006/table">
            <a:tbl>
              <a:tblPr firstRow="1" bandRow="1">
                <a:tableStyleId>{5C22544A-7EE6-4342-B048-85BDC9FD1C3A}</a:tableStyleId>
              </a:tblPr>
              <a:tblGrid>
                <a:gridCol w="3820058"/>
                <a:gridCol w="3820058"/>
                <a:gridCol w="3820058"/>
              </a:tblGrid>
              <a:tr h="310896">
                <a:tc>
                  <a:txBody>
                    <a:bodyPr wrap="square"/>
                    <a:lstStyle/>
                    <a:p>
                      <a:r>
                        <a:rPr sz="1000" b="1">
                          <a:solidFill>
                            <a:srgbClr val="FFFFFF"/>
                          </a:solidFill>
                        </a:rPr>
                        <a:t>Metrik</a:t>
                      </a:r>
                    </a:p>
                  </a:txBody>
                  <a:tcPr marL="45720" marR="45720" marT="18288" marB="18288" anchor="ctr">
                    <a:solidFill>
                      <a:srgbClr val="1F3A5F"/>
                    </a:solidFill>
                  </a:tcPr>
                </a:tc>
                <a:tc>
                  <a:txBody>
                    <a:bodyPr wrap="square"/>
                    <a:lstStyle/>
                    <a:p>
                      <a:r>
                        <a:rPr sz="1000" b="1">
                          <a:solidFill>
                            <a:srgbClr val="FFFFFF"/>
                          </a:solidFill>
                        </a:rPr>
                        <a:t>Was sie misst</a:t>
                      </a:r>
                    </a:p>
                  </a:txBody>
                  <a:tcPr marL="45720" marR="45720" marT="18288" marB="18288" anchor="ctr">
                    <a:solidFill>
                      <a:srgbClr val="1F3A5F"/>
                    </a:solidFill>
                  </a:tcPr>
                </a:tc>
                <a:tc>
                  <a:txBody>
                    <a:bodyPr wrap="square"/>
                    <a:lstStyle/>
                    <a:p>
                      <a:r>
                        <a:rPr sz="1000" b="1">
                          <a:solidFill>
                            <a:srgbClr val="FFFFFF"/>
                          </a:solidFill>
                        </a:rPr>
                        <a:t>Berechnung</a:t>
                      </a:r>
                    </a:p>
                  </a:txBody>
                  <a:tcPr marL="45720" marR="45720" marT="18288" marB="18288" anchor="ctr">
                    <a:solidFill>
                      <a:srgbClr val="1F3A5F"/>
                    </a:solidFill>
                  </a:tcPr>
                </a:tc>
              </a:tr>
              <a:tr h="310896">
                <a:tc>
                  <a:txBody>
                    <a:bodyPr wrap="square"/>
                    <a:lstStyle/>
                    <a:p>
                      <a:r>
                        <a:rPr sz="1000"/>
                        <a:t>Syllable Accuracy</a:t>
                      </a:r>
                    </a:p>
                  </a:txBody>
                  <a:tcPr marL="45720" marR="45720" marT="18288" marB="18288" anchor="ctr">
                    <a:solidFill>
                      <a:srgbClr val="FFFFFF"/>
                    </a:solidFill>
                  </a:tcPr>
                </a:tc>
                <a:tc>
                  <a:txBody>
                    <a:bodyPr wrap="square"/>
                    <a:lstStyle/>
                    <a:p>
                      <a:r>
                        <a:rPr sz="1000"/>
                        <a:t>Silbe korrekt (Initial+Final)</a:t>
                      </a:r>
                    </a:p>
                  </a:txBody>
                  <a:tcPr marL="45720" marR="45720" marT="18288" marB="18288" anchor="ctr">
                    <a:solidFill>
                      <a:srgbClr val="FFFFFF"/>
                    </a:solidFill>
                  </a:tcPr>
                </a:tc>
                <a:tc>
                  <a:txBody>
                    <a:bodyPr wrap="square"/>
                    <a:lstStyle/>
                    <a:p>
                      <a:r>
                        <a:rPr sz="1000"/>
                        <a:t>Exact Match auf Pinyin-Silbe</a:t>
                      </a:r>
                    </a:p>
                  </a:txBody>
                  <a:tcPr marL="45720" marR="45720" marT="18288" marB="18288" anchor="ctr">
                    <a:solidFill>
                      <a:srgbClr val="FFFFFF"/>
                    </a:solidFill>
                  </a:tcPr>
                </a:tc>
              </a:tr>
              <a:tr h="310896">
                <a:tc>
                  <a:txBody>
                    <a:bodyPr wrap="square"/>
                    <a:lstStyle/>
                    <a:p>
                      <a:r>
                        <a:rPr sz="1000"/>
                        <a:t>Tone Accuracy</a:t>
                      </a:r>
                    </a:p>
                  </a:txBody>
                  <a:tcPr marL="45720" marR="45720" marT="18288" marB="18288" anchor="ctr">
                    <a:solidFill>
                      <a:srgbClr val="E8EEF4"/>
                    </a:solidFill>
                  </a:tcPr>
                </a:tc>
                <a:tc>
                  <a:txBody>
                    <a:bodyPr wrap="square"/>
                    <a:lstStyle/>
                    <a:p>
                      <a:r>
                        <a:rPr sz="1000"/>
                        <a:t>Ton korrekt (1-4)</a:t>
                      </a:r>
                    </a:p>
                  </a:txBody>
                  <a:tcPr marL="45720" marR="45720" marT="18288" marB="18288" anchor="ctr">
                    <a:solidFill>
                      <a:srgbClr val="E8EEF4"/>
                    </a:solidFill>
                  </a:tcPr>
                </a:tc>
                <a:tc>
                  <a:txBody>
                    <a:bodyPr wrap="square"/>
                    <a:lstStyle/>
                    <a:p>
                      <a:r>
                        <a:rPr sz="1000"/>
                        <a:t>Exact Match auf Tonnummer</a:t>
                      </a:r>
                    </a:p>
                  </a:txBody>
                  <a:tcPr marL="45720" marR="45720" marT="18288" marB="18288" anchor="ctr">
                    <a:solidFill>
                      <a:srgbClr val="E8EEF4"/>
                    </a:solidFill>
                  </a:tcPr>
                </a:tc>
              </a:tr>
              <a:tr h="310896">
                <a:tc>
                  <a:txBody>
                    <a:bodyPr wrap="square"/>
                    <a:lstStyle/>
                    <a:p>
                      <a:r>
                        <a:rPr sz="1000"/>
                        <a:t>Combined Accuracy</a:t>
                      </a:r>
                    </a:p>
                  </a:txBody>
                  <a:tcPr marL="45720" marR="45720" marT="18288" marB="18288" anchor="ctr">
                    <a:solidFill>
                      <a:srgbClr val="FFFFFF"/>
                    </a:solidFill>
                  </a:tcPr>
                </a:tc>
                <a:tc>
                  <a:txBody>
                    <a:bodyPr wrap="square"/>
                    <a:lstStyle/>
                    <a:p>
                      <a:r>
                        <a:rPr sz="1000"/>
                        <a:t>Silbe UND Ton korrekt</a:t>
                      </a:r>
                    </a:p>
                  </a:txBody>
                  <a:tcPr marL="45720" marR="45720" marT="18288" marB="18288" anchor="ctr">
                    <a:solidFill>
                      <a:srgbClr val="FFFFFF"/>
                    </a:solidFill>
                  </a:tcPr>
                </a:tc>
                <a:tc>
                  <a:txBody>
                    <a:bodyPr wrap="square"/>
                    <a:lstStyle/>
                    <a:p>
                      <a:r>
                        <a:rPr sz="1000"/>
                        <a:t>Beide korrekt</a:t>
                      </a:r>
                    </a:p>
                  </a:txBody>
                  <a:tcPr marL="45720" marR="45720" marT="18288" marB="18288" anchor="ctr">
                    <a:solidFill>
                      <a:srgbClr val="FFFFFF"/>
                    </a:solidFill>
                  </a:tcPr>
                </a:tc>
              </a:tr>
              <a:tr h="310896">
                <a:tc>
                  <a:txBody>
                    <a:bodyPr wrap="square"/>
                    <a:lstStyle/>
                    <a:p>
                      <a:r>
                        <a:rPr sz="1000"/>
                        <a:t>PER</a:t>
                      </a:r>
                    </a:p>
                  </a:txBody>
                  <a:tcPr marL="45720" marR="45720" marT="18288" marB="18288" anchor="ctr">
                    <a:solidFill>
                      <a:srgbClr val="E8EEF4"/>
                    </a:solidFill>
                  </a:tcPr>
                </a:tc>
                <a:tc>
                  <a:txBody>
                    <a:bodyPr wrap="square"/>
                    <a:lstStyle/>
                    <a:p>
                      <a:r>
                        <a:rPr sz="1000"/>
                        <a:t>Phone Error Rate</a:t>
                      </a:r>
                    </a:p>
                  </a:txBody>
                  <a:tcPr marL="45720" marR="45720" marT="18288" marB="18288" anchor="ctr">
                    <a:solidFill>
                      <a:srgbClr val="E8EEF4"/>
                    </a:solidFill>
                  </a:tcPr>
                </a:tc>
                <a:tc>
                  <a:txBody>
                    <a:bodyPr wrap="square"/>
                    <a:lstStyle/>
                    <a:p>
                      <a:r>
                        <a:rPr sz="1000"/>
                        <a:t>Levenshtein(Initial+Final)</a:t>
                      </a:r>
                    </a:p>
                  </a:txBody>
                  <a:tcPr marL="45720" marR="45720" marT="18288" marB="18288" anchor="ctr">
                    <a:solidFill>
                      <a:srgbClr val="E8EEF4"/>
                    </a:solidFill>
                  </a:tcPr>
                </a:tc>
              </a:tr>
              <a:tr h="310896">
                <a:tc>
                  <a:txBody>
                    <a:bodyPr wrap="square"/>
                    <a:lstStyle/>
                    <a:p>
                      <a:r>
                        <a:rPr sz="1000"/>
                        <a:t>Tone Confusion Matrix</a:t>
                      </a:r>
                    </a:p>
                  </a:txBody>
                  <a:tcPr marL="45720" marR="45720" marT="18288" marB="18288" anchor="ctr">
                    <a:solidFill>
                      <a:srgbClr val="FFFFFF"/>
                    </a:solidFill>
                  </a:tcPr>
                </a:tc>
                <a:tc>
                  <a:txBody>
                    <a:bodyPr wrap="square"/>
                    <a:lstStyle/>
                    <a:p>
                      <a:r>
                        <a:rPr sz="1000"/>
                        <a:t>Welche Töne verwechselt?</a:t>
                      </a:r>
                    </a:p>
                  </a:txBody>
                  <a:tcPr marL="45720" marR="45720" marT="18288" marB="18288" anchor="ctr">
                    <a:solidFill>
                      <a:srgbClr val="FFFFFF"/>
                    </a:solidFill>
                  </a:tcPr>
                </a:tc>
                <a:tc>
                  <a:txBody>
                    <a:bodyPr wrap="square"/>
                    <a:lstStyle/>
                    <a:p>
                      <a:r>
                        <a:rPr sz="1000"/>
                        <a:t>T2↔T3, T1↔T4, etc.</a:t>
                      </a:r>
                    </a:p>
                  </a:txBody>
                  <a:tcPr marL="45720" marR="45720" marT="18288" marB="18288" anchor="ctr">
                    <a:solidFill>
                      <a:srgbClr val="FFFFFF"/>
                    </a:solidFill>
                  </a:tcPr>
                </a:tc>
              </a:tr>
            </a:tbl>
          </a:graphicData>
        </a:graphic>
      </p:graphicFrame>
      <p:sp>
        <p:nvSpPr>
          <p:cNvPr id="7" name="TextBox 6"/>
          <p:cNvSpPr txBox="1"/>
          <p:nvPr/>
        </p:nvSpPr>
        <p:spPr>
          <a:xfrm>
            <a:off x="411480" y="5897880"/>
            <a:ext cx="11368735" cy="1261872"/>
          </a:xfrm>
          <a:prstGeom prst="rect">
            <a:avLst/>
          </a:prstGeom>
          <a:noFill/>
        </p:spPr>
        <p:txBody>
          <a:bodyPr wrap="square">
            <a:spAutoFit/>
          </a:bodyPr>
          <a:lstStyle/>
          <a:p>
            <a:pPr>
              <a:spcAft>
                <a:spcPts val="300"/>
              </a:spcAft>
            </a:pPr>
            <a:r>
              <a:rPr sz="1300"/>
              <a:t>•  3 Modelle × 6 Formate × 400 Samples = 7.200 API-Calls</a:t>
            </a:r>
          </a:p>
          <a:p>
            <a:pPr>
              <a:spcAft>
                <a:spcPts val="300"/>
              </a:spcAft>
            </a:pPr>
            <a:r>
              <a:rPr sz="1300"/>
              <a:t>•  Geschätzte Kosten: &lt;$10 (DeepSeek ~$1, Gemini ~$5, Qwen ~$3)</a:t>
            </a:r>
          </a:p>
          <a:p>
            <a:pPr>
              <a:spcAft>
                <a:spcPts val="300"/>
              </a:spcAft>
            </a:pPr>
            <a:r>
              <a:rPr sz="1300"/>
              <a:t>•  Geschätzte Zeit: 1-2 Tage (inkl. Programmierung + Rate-Limiting)</a:t>
            </a:r>
          </a:p>
          <a:p>
            <a:pPr>
              <a:spcAft>
                <a:spcPts val="300"/>
              </a:spcAft>
            </a:pPr>
            <a:r>
              <a:rPr sz="1300"/>
              <a:t>•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What the Pilot Could Tell Us</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2176272"/>
        </p:xfrm>
        <a:graphic>
          <a:graphicData uri="http://schemas.openxmlformats.org/drawingml/2006/table">
            <a:tbl>
              <a:tblPr firstRow="1" bandRow="1">
                <a:tableStyleId>{5C22544A-7EE6-4342-B048-85BDC9FD1C3A}</a:tableStyleId>
              </a:tblPr>
              <a:tblGrid>
                <a:gridCol w="5730087"/>
                <a:gridCol w="5730087"/>
              </a:tblGrid>
              <a:tr h="310896">
                <a:tc>
                  <a:txBody>
                    <a:bodyPr wrap="square"/>
                    <a:lstStyle/>
                    <a:p>
                      <a:r>
                        <a:rPr sz="1000" b="1">
                          <a:solidFill>
                            <a:srgbClr val="FFFFFF"/>
                          </a:solidFill>
                        </a:rPr>
                        <a:t>Ergebnis</a:t>
                      </a:r>
                    </a:p>
                  </a:txBody>
                  <a:tcPr marL="45720" marR="45720" marT="18288" marB="18288" anchor="ctr">
                    <a:solidFill>
                      <a:srgbClr val="1F3A5F"/>
                    </a:solidFill>
                  </a:tcPr>
                </a:tc>
                <a:tc>
                  <a:txBody>
                    <a:bodyPr wrap="square"/>
                    <a:lstStyle/>
                    <a:p>
                      <a:r>
                        <a:rPr sz="1000" b="1">
                          <a:solidFill>
                            <a:srgbClr val="FFFFFF"/>
                          </a:solidFill>
                        </a:rPr>
                        <a:t>Schlussfolgerung für Hauptexperiment</a:t>
                      </a:r>
                    </a:p>
                  </a:txBody>
                  <a:tcPr marL="45720" marR="45720" marT="18288" marB="18288" anchor="ctr">
                    <a:solidFill>
                      <a:srgbClr val="1F3A5F"/>
                    </a:solidFill>
                  </a:tcPr>
                </a:tc>
              </a:tr>
              <a:tr h="310896">
                <a:tc>
                  <a:txBody>
                    <a:bodyPr wrap="square"/>
                    <a:lstStyle/>
                    <a:p>
                      <a:r>
                        <a:rPr sz="1000"/>
                        <a:t>Pinyin+Ton# &gt; IPA</a:t>
                      </a:r>
                    </a:p>
                  </a:txBody>
                  <a:tcPr marL="45720" marR="45720" marT="18288" marB="18288" anchor="ctr">
                    <a:solidFill>
                      <a:srgbClr val="FFFFFF"/>
                    </a:solidFill>
                  </a:tcPr>
                </a:tc>
                <a:tc>
                  <a:txBody>
                    <a:bodyPr wrap="square"/>
                    <a:lstStyle/>
                    <a:p>
                      <a:r>
                        <a:rPr sz="1000"/>
                        <a:t>LLMs nutzen lateinische Vertrautheit → Pinyin als beste Wahl (Chirkova-Umkehr)</a:t>
                      </a:r>
                    </a:p>
                  </a:txBody>
                  <a:tcPr marL="45720" marR="45720" marT="18288" marB="18288" anchor="ctr">
                    <a:solidFill>
                      <a:srgbClr val="FFFFFF"/>
                    </a:solidFill>
                  </a:tcPr>
                </a:tc>
              </a:tr>
              <a:tr h="310896">
                <a:tc>
                  <a:txBody>
                    <a:bodyPr wrap="square"/>
                    <a:lstStyle/>
                    <a:p>
                      <a:r>
                        <a:rPr sz="1000"/>
                        <a:t>IPA &gt; Pinyin</a:t>
                      </a:r>
                    </a:p>
                  </a:txBody>
                  <a:tcPr marL="45720" marR="45720" marT="18288" marB="18288" anchor="ctr">
                    <a:solidFill>
                      <a:srgbClr val="E8EEF4"/>
                    </a:solidFill>
                  </a:tcPr>
                </a:tc>
                <a:tc>
                  <a:txBody>
                    <a:bodyPr wrap="square"/>
                    <a:lstStyle/>
                    <a:p>
                      <a:r>
                        <a:rPr sz="1000"/>
                        <a:t>Bestätigt Chirkova (2025) → IPA ist auch bei LLMs überlegen</a:t>
                      </a:r>
                    </a:p>
                  </a:txBody>
                  <a:tcPr marL="45720" marR="45720" marT="18288" marB="18288" anchor="ctr">
                    <a:solidFill>
                      <a:srgbClr val="E8EEF4"/>
                    </a:solidFill>
                  </a:tcPr>
                </a:tc>
              </a:tr>
              <a:tr h="310896">
                <a:tc>
                  <a:txBody>
                    <a:bodyPr wrap="square"/>
                    <a:lstStyle/>
                    <a:p>
                      <a:r>
                        <a:rPr sz="1000"/>
                        <a:t>Pinyin+Diakritika = Pinyin+Ton#</a:t>
                      </a:r>
                    </a:p>
                  </a:txBody>
                  <a:tcPr marL="45720" marR="45720" marT="18288" marB="18288" anchor="ctr">
                    <a:solidFill>
                      <a:srgbClr val="FFFFFF"/>
                    </a:solidFill>
                  </a:tcPr>
                </a:tc>
                <a:tc>
                  <a:txBody>
                    <a:bodyPr wrap="square"/>
                    <a:lstStyle/>
                    <a:p>
                      <a:r>
                        <a:rPr sz="1000"/>
                        <a:t>Töne werden trotz Diakritika korrekt erkannt → Format-Wahl flexibel</a:t>
                      </a:r>
                    </a:p>
                  </a:txBody>
                  <a:tcPr marL="45720" marR="45720" marT="18288" marB="18288" anchor="ctr">
                    <a:solidFill>
                      <a:srgbClr val="FFFFFF"/>
                    </a:solidFill>
                  </a:tcPr>
                </a:tc>
              </a:tr>
              <a:tr h="310896">
                <a:tc>
                  <a:txBody>
                    <a:bodyPr wrap="square"/>
                    <a:lstStyle/>
                    <a:p>
                      <a:r>
                        <a:rPr sz="1000"/>
                        <a:t>Chao-Nummern separat am besten</a:t>
                      </a:r>
                    </a:p>
                  </a:txBody>
                  <a:tcPr marL="45720" marR="45720" marT="18288" marB="18288" anchor="ctr">
                    <a:solidFill>
                      <a:srgbClr val="E8EEF4"/>
                    </a:solidFill>
                  </a:tcPr>
                </a:tc>
                <a:tc>
                  <a:txBody>
                    <a:bodyPr wrap="square"/>
                    <a:lstStyle/>
                    <a:p>
                      <a:r>
                        <a:rPr sz="1000"/>
                        <a:t>Trennung Silbe/Ton hilft dem Modell → Hybrid-Format für Hauptexperiment</a:t>
                      </a:r>
                    </a:p>
                  </a:txBody>
                  <a:tcPr marL="45720" marR="45720" marT="18288" marB="18288" anchor="ctr">
                    <a:solidFill>
                      <a:srgbClr val="E8EEF4"/>
                    </a:solidFill>
                  </a:tcPr>
                </a:tc>
              </a:tr>
              <a:tr h="310896">
                <a:tc>
                  <a:txBody>
                    <a:bodyPr wrap="square"/>
                    <a:lstStyle/>
                    <a:p>
                      <a:r>
                        <a:rPr sz="1000"/>
                        <a:t>Alle Formate gleich gut</a:t>
                      </a:r>
                    </a:p>
                  </a:txBody>
                  <a:tcPr marL="45720" marR="45720" marT="18288" marB="18288" anchor="ctr">
                    <a:solidFill>
                      <a:srgbClr val="FFFFFF"/>
                    </a:solidFill>
                  </a:tcPr>
                </a:tc>
                <a:tc>
                  <a:txBody>
                    <a:bodyPr wrap="square"/>
                    <a:lstStyle/>
                    <a:p>
                      <a:r>
                        <a:rPr sz="1000"/>
                        <a:t>Format spielt keine Rolle → einfachstes Format (Pinyin+Ton#) wählen</a:t>
                      </a:r>
                    </a:p>
                  </a:txBody>
                  <a:tcPr marL="45720" marR="45720" marT="18288" marB="18288" anchor="ctr">
                    <a:solidFill>
                      <a:srgbClr val="FFFFFF"/>
                    </a:solidFill>
                  </a:tcPr>
                </a:tc>
              </a:tr>
              <a:tr h="310896">
                <a:tc>
                  <a:txBody>
                    <a:bodyPr wrap="square"/>
                    <a:lstStyle/>
                    <a:p>
                      <a:r>
                        <a:rPr sz="1000"/>
                        <a:t>Alle Formate schlecht</a:t>
                      </a:r>
                    </a:p>
                  </a:txBody>
                  <a:tcPr marL="45720" marR="45720" marT="18288" marB="18288" anchor="ctr">
                    <a:solidFill>
                      <a:srgbClr val="E8EEF4"/>
                    </a:solidFill>
                  </a:tcPr>
                </a:tc>
                <a:tc>
                  <a:txBody>
                    <a:bodyPr wrap="square"/>
                    <a:lstStyle/>
                    <a:p>
                      <a:r>
                        <a:rPr sz="1000"/>
                        <a:t>LLMs können Töne generell nicht → fundamentales Ergebnis, negiert RQ-Prämisse</a:t>
                      </a:r>
                    </a:p>
                  </a:txBody>
                  <a:tcPr marL="45720" marR="45720" marT="18288" marB="18288" anchor="ctr">
                    <a:solidFill>
                      <a:srgbClr val="E8EEF4"/>
                    </a:solidFill>
                  </a:tcPr>
                </a:tc>
              </a:tr>
            </a:tbl>
          </a:graphicData>
        </a:graphic>
      </p:graphicFrame>
      <p:sp>
        <p:nvSpPr>
          <p:cNvPr id="5" name="TextBox 4"/>
          <p:cNvSpPr txBox="1"/>
          <p:nvPr/>
        </p:nvSpPr>
        <p:spPr>
          <a:xfrm>
            <a:off x="411480" y="3392424"/>
            <a:ext cx="11368735" cy="384048"/>
          </a:xfrm>
          <a:prstGeom prst="rect">
            <a:avLst/>
          </a:prstGeom>
          <a:noFill/>
        </p:spPr>
        <p:txBody>
          <a:bodyPr wrap="square">
            <a:spAutoFit/>
          </a:bodyPr>
          <a:lstStyle/>
          <a:p>
            <a:pPr>
              <a:spcAft>
                <a:spcPts val="300"/>
              </a:spcAft>
            </a:pPr>
            <a:r>
              <a:rPr i="1" sz="1200">
                <a:solidFill>
                  <a:srgbClr val="444444"/>
                </a:solidFill>
              </a:rPr>
              <a:t>„"To determine the optimal phonetic transcription format for evaluating multimodal LLMs on Mandarin tone transcription, we conducted a pilot experiment comparing 6 transcription formats across 3 models. Based on the results, we selected [FORMAT] for the main experiments (RQ1–RQ5).""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728655" cy="1371600"/>
          </a:xfrm>
          <a:prstGeom prst="rect">
            <a:avLst/>
          </a:prstGeom>
          <a:noFill/>
        </p:spPr>
        <p:txBody>
          <a:bodyPr wrap="square">
            <a:spAutoFit/>
          </a:bodyPr>
          <a:lstStyle/>
          <a:p>
            <a:r>
              <a:rPr sz="3400" b="1">
                <a:solidFill>
                  <a:srgbClr val="FFFFFF"/>
                </a:solidFill>
              </a:rPr>
              <a:t>Bestehende Tools (ohne LLM)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Mandarin-Transkription &amp; Tonerkennung ohne LLMs — die 3 Tiers</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2551176"/>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                    EINGABE        →   AUSGABE              STATUS</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TIER A   Text → Pinyin (+Ton)     g2pW, pypinyin,        ✅ gelöst (~99 %)</a:t>
            </a:r>
          </a:p>
          <a:p>
            <a:pPr>
              <a:lnSpc>
                <a:spcPct val="100000"/>
              </a:lnSpc>
              <a:spcAft>
                <a:spcPts val="0"/>
              </a:spcAft>
            </a:pPr>
            <a:r>
              <a:rPr sz="900">
                <a:solidFill>
                  <a:srgbClr val="223344"/>
                </a:solidFill>
                <a:latin typeface="Consolas"/>
              </a:rPr>
              <a:t>(G2P)    Pinyin ↔ IPA             cpp-pinyin, dragonmap.   = SOLL-Referenz</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TIER B   Audio → Ton-Klasse       CAPT-APIs (SpeechSuper, ⚠️ ZWEIGETEILT:</a:t>
            </a:r>
          </a:p>
          <a:p>
            <a:pPr>
              <a:lnSpc>
                <a:spcPct val="100000"/>
              </a:lnSpc>
              <a:spcAft>
                <a:spcPts val="0"/>
              </a:spcAft>
            </a:pPr>
            <a:r>
              <a:rPr sz="900">
                <a:solidFill>
                  <a:srgbClr val="223344"/>
                </a:solidFill>
                <a:latin typeface="Consolas"/>
              </a:rPr>
              <a:t>(Akustik)  / Ton-Score            iFlytek), CNN/HuBERT      native ✅ ~99 %</a:t>
            </a:r>
          </a:p>
          <a:p>
            <a:pPr>
              <a:lnSpc>
                <a:spcPct val="100000"/>
              </a:lnSpc>
              <a:spcAft>
                <a:spcPts val="0"/>
              </a:spcAft>
            </a:pPr>
            <a:r>
              <a:rPr sz="900">
                <a:solidFill>
                  <a:srgbClr val="223344"/>
                </a:solidFill>
                <a:latin typeface="Consolas"/>
              </a:rPr>
              <a:t>                                  /wav2vec2-Klassifikator   L2 ❌ DER 26–32 %</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TIER C   Audio → F0-Kontur        Praat, Parselmouth,     ✅ Messung gelöst</a:t>
            </a:r>
          </a:p>
          <a:p>
            <a:pPr>
              <a:lnSpc>
                <a:spcPct val="100000"/>
              </a:lnSpc>
              <a:spcAft>
                <a:spcPts val="0"/>
              </a:spcAft>
            </a:pPr>
            <a:r>
              <a:rPr sz="900">
                <a:solidFill>
                  <a:srgbClr val="223344"/>
                </a:solidFill>
                <a:latin typeface="Consolas"/>
              </a:rPr>
              <a:t>(Signal)   (Pitch)               ProsodyPro, MFA          ❌ Klassifik. selbst</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NICHT vorhanden:</a:t>
            </a:r>
          </a:p>
          <a:p>
            <a:pPr>
              <a:lnSpc>
                <a:spcPct val="100000"/>
              </a:lnSpc>
              <a:spcAft>
                <a:spcPts val="0"/>
              </a:spcAft>
            </a:pPr>
            <a:r>
              <a:rPr sz="900">
                <a:solidFill>
                  <a:srgbClr val="223344"/>
                </a:solidFill>
                <a:latin typeface="Consolas"/>
              </a:rPr>
              <a:t>  • Audio → vollständige Pinyin+Ton-TRANSKRIPTION (Silbe+Ton, robust für L2)</a:t>
            </a:r>
          </a:p>
          <a:p>
            <a:pPr>
              <a:lnSpc>
                <a:spcPct val="100000"/>
              </a:lnSpc>
              <a:spcAft>
                <a:spcPts val="0"/>
              </a:spcAft>
            </a:pPr>
            <a:r>
              <a:rPr sz="900">
                <a:solidFill>
                  <a:srgbClr val="223344"/>
                </a:solidFill>
                <a:latin typeface="Consolas"/>
              </a:rPr>
              <a:t>  • Frontier-Audio-LLM systematisch auf isolierter Silben-Tonebene gebenchmarkt</a:t>
            </a:r>
          </a:p>
          <a:p>
            <a:pPr>
              <a:lnSpc>
                <a:spcPct val="100000"/>
              </a:lnSpc>
              <a:spcAft>
                <a:spcPts val="0"/>
              </a:spcAft>
            </a:pPr>
            <a:r>
              <a:rPr sz="900">
                <a:solidFill>
                  <a:srgbClr val="223344"/>
                </a:solidFill>
                <a:latin typeface="Consolas"/>
              </a:rPr>
              <a:t>                                                          ← FORSCHUNGSLÜCKE</a:t>
            </a:r>
          </a:p>
        </p:txBody>
      </p:sp>
      <p:sp>
        <p:nvSpPr>
          <p:cNvPr id="5" name="TextBox 4"/>
          <p:cNvSpPr txBox="1"/>
          <p:nvPr/>
        </p:nvSpPr>
        <p:spPr>
          <a:xfrm>
            <a:off x="411480" y="3721608"/>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Tier A — Text→Pinyin: gelöst, aber nur die kanonische Referenz</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1865376"/>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Tool</a:t>
                      </a:r>
                    </a:p>
                  </a:txBody>
                  <a:tcPr marL="45720" marR="45720" marT="18288" marB="18288" anchor="ctr">
                    <a:solidFill>
                      <a:srgbClr val="1F3A5F"/>
                    </a:solidFill>
                  </a:tcPr>
                </a:tc>
                <a:tc>
                  <a:txBody>
                    <a:bodyPr wrap="square"/>
                    <a:lstStyle/>
                    <a:p>
                      <a:r>
                        <a:rPr sz="1000" b="1">
                          <a:solidFill>
                            <a:srgbClr val="FFFFFF"/>
                          </a:solidFill>
                        </a:rPr>
                        <a:t>Typ</a:t>
                      </a:r>
                    </a:p>
                  </a:txBody>
                  <a:tcPr marL="45720" marR="45720" marT="18288" marB="18288" anchor="ctr">
                    <a:solidFill>
                      <a:srgbClr val="1F3A5F"/>
                    </a:solidFill>
                  </a:tcPr>
                </a:tc>
                <a:tc>
                  <a:txBody>
                    <a:bodyPr wrap="square"/>
                    <a:lstStyle/>
                    <a:p>
                      <a:r>
                        <a:rPr sz="1000" b="1">
                          <a:solidFill>
                            <a:srgbClr val="FFFFFF"/>
                          </a:solidFill>
                        </a:rPr>
                        <a:t>Genauigkeit „mit Ton"</a:t>
                      </a:r>
                    </a:p>
                  </a:txBody>
                  <a:tcPr marL="45720" marR="45720" marT="18288" marB="18288" anchor="ctr">
                    <a:solidFill>
                      <a:srgbClr val="1F3A5F"/>
                    </a:solidFill>
                  </a:tcPr>
                </a:tc>
                <a:tc>
                  <a:txBody>
                    <a:bodyPr wrap="square"/>
                    <a:lstStyle/>
                    <a:p>
                      <a:r>
                        <a:rPr sz="1000" b="1">
                          <a:solidFill>
                            <a:srgbClr val="FFFFFF"/>
                          </a:solidFill>
                        </a:rPr>
                        <a:t>Polyphone (多音字)</a:t>
                      </a:r>
                    </a:p>
                  </a:txBody>
                  <a:tcPr marL="45720" marR="45720" marT="18288" marB="18288" anchor="ctr">
                    <a:solidFill>
                      <a:srgbClr val="1F3A5F"/>
                    </a:solidFill>
                  </a:tcPr>
                </a:tc>
              </a:tr>
              <a:tr h="310896">
                <a:tc>
                  <a:txBody>
                    <a:bodyPr wrap="square"/>
                    <a:lstStyle/>
                    <a:p>
                      <a:r>
                        <a:rPr sz="1000"/>
                        <a:t>g2pW (2022) ⭐</a:t>
                      </a:r>
                    </a:p>
                  </a:txBody>
                  <a:tcPr marL="45720" marR="45720" marT="18288" marB="18288" anchor="ctr">
                    <a:solidFill>
                      <a:srgbClr val="FFFFFF"/>
                    </a:solidFill>
                  </a:tcPr>
                </a:tc>
                <a:tc>
                  <a:txBody>
                    <a:bodyPr wrap="square"/>
                    <a:lstStyle/>
                    <a:p>
                      <a:r>
                        <a:rPr sz="1000"/>
                        <a:t>BERT</a:t>
                      </a:r>
                    </a:p>
                  </a:txBody>
                  <a:tcPr marL="45720" marR="45720" marT="18288" marB="18288" anchor="ctr">
                    <a:solidFill>
                      <a:srgbClr val="FFFFFF"/>
                    </a:solidFill>
                  </a:tcPr>
                </a:tc>
                <a:tc>
                  <a:txBody>
                    <a:bodyPr wrap="square"/>
                    <a:lstStyle/>
                    <a:p>
                      <a:r>
                        <a:rPr sz="1000"/>
                        <a:t>99,08 % (CPP-Benchmark)</a:t>
                      </a:r>
                    </a:p>
                  </a:txBody>
                  <a:tcPr marL="45720" marR="45720" marT="18288" marB="18288" anchor="ctr">
                    <a:solidFill>
                      <a:srgbClr val="FFFFFF"/>
                    </a:solidFill>
                  </a:tcPr>
                </a:tc>
                <a:tc>
                  <a:txBody>
                    <a:bodyPr wrap="square"/>
                    <a:lstStyle/>
                    <a:p>
                      <a:r>
                        <a:rPr sz="1000"/>
                        <a:t>✅ kontext-sensitiv</a:t>
                      </a:r>
                    </a:p>
                  </a:txBody>
                  <a:tcPr marL="45720" marR="45720" marT="18288" marB="18288" anchor="ctr">
                    <a:solidFill>
                      <a:srgbClr val="FFFFFF"/>
                    </a:solidFill>
                  </a:tcPr>
                </a:tc>
              </a:tr>
              <a:tr h="310896">
                <a:tc>
                  <a:txBody>
                    <a:bodyPr wrap="square"/>
                    <a:lstStyle/>
                    <a:p>
                      <a:r>
                        <a:rPr sz="1000"/>
                        <a:t>g2pM (2020)</a:t>
                      </a:r>
                    </a:p>
                  </a:txBody>
                  <a:tcPr marL="45720" marR="45720" marT="18288" marB="18288" anchor="ctr">
                    <a:solidFill>
                      <a:srgbClr val="E8EEF4"/>
                    </a:solidFill>
                  </a:tcPr>
                </a:tc>
                <a:tc>
                  <a:txBody>
                    <a:bodyPr wrap="square"/>
                    <a:lstStyle/>
                    <a:p>
                      <a:r>
                        <a:rPr sz="1000"/>
                        <a:t>Bi-LSTM</a:t>
                      </a:r>
                    </a:p>
                  </a:txBody>
                  <a:tcPr marL="45720" marR="45720" marT="18288" marB="18288" anchor="ctr">
                    <a:solidFill>
                      <a:srgbClr val="E8EEF4"/>
                    </a:solidFill>
                  </a:tcPr>
                </a:tc>
                <a:tc>
                  <a:txBody>
                    <a:bodyPr wrap="square"/>
                    <a:lstStyle/>
                    <a:p>
                      <a:r>
                        <a:rPr sz="1000"/>
                        <a:t>97,31 %</a:t>
                      </a:r>
                    </a:p>
                  </a:txBody>
                  <a:tcPr marL="45720" marR="45720" marT="18288" marB="18288" anchor="ctr">
                    <a:solidFill>
                      <a:srgbClr val="E8EEF4"/>
                    </a:solidFill>
                  </a:tcPr>
                </a:tc>
                <a:tc>
                  <a:txBody>
                    <a:bodyPr wrap="square"/>
                    <a:lstStyle/>
                    <a:p>
                      <a:r>
                        <a:rPr sz="1000"/>
                        <a:t>✅ kontext-sensitiv</a:t>
                      </a:r>
                    </a:p>
                  </a:txBody>
                  <a:tcPr marL="45720" marR="45720" marT="18288" marB="18288" anchor="ctr">
                    <a:solidFill>
                      <a:srgbClr val="E8EEF4"/>
                    </a:solidFill>
                  </a:tcPr>
                </a:tc>
              </a:tr>
              <a:tr h="310896">
                <a:tc>
                  <a:txBody>
                    <a:bodyPr wrap="square"/>
                    <a:lstStyle/>
                    <a:p>
                      <a:r>
                        <a:rPr sz="1000"/>
                        <a:t>cpp-pinyin</a:t>
                      </a:r>
                    </a:p>
                  </a:txBody>
                  <a:tcPr marL="45720" marR="45720" marT="18288" marB="18288" anchor="ctr">
                    <a:solidFill>
                      <a:srgbClr val="FFFFFF"/>
                    </a:solidFill>
                  </a:tcPr>
                </a:tc>
                <a:tc>
                  <a:txBody>
                    <a:bodyPr wrap="square"/>
                    <a:lstStyle/>
                    <a:p>
                      <a:r>
                        <a:rPr sz="1000"/>
                        <a:t>wörterbuchbasiert</a:t>
                      </a:r>
                    </a:p>
                  </a:txBody>
                  <a:tcPr marL="45720" marR="45720" marT="18288" marB="18288" anchor="ctr">
                    <a:solidFill>
                      <a:srgbClr val="FFFFFF"/>
                    </a:solidFill>
                  </a:tcPr>
                </a:tc>
                <a:tc>
                  <a:txBody>
                    <a:bodyPr wrap="square"/>
                    <a:lstStyle/>
                    <a:p>
                      <a:r>
                        <a:rPr sz="1000"/>
                        <a:t>90,3 % (ohne Ton 99,95 %)</a:t>
                      </a:r>
                    </a:p>
                  </a:txBody>
                  <a:tcPr marL="45720" marR="45720" marT="18288" marB="18288" anchor="ctr">
                    <a:solidFill>
                      <a:srgbClr val="FFFFFF"/>
                    </a:solidFill>
                  </a:tcPr>
                </a:tc>
                <a:tc>
                  <a:txBody>
                    <a:bodyPr wrap="square"/>
                    <a:lstStyle/>
                    <a:p>
                      <a:r>
                        <a:rPr sz="1000"/>
                        <a:t>⚠️ begrenzt</a:t>
                      </a:r>
                    </a:p>
                  </a:txBody>
                  <a:tcPr marL="45720" marR="45720" marT="18288" marB="18288" anchor="ctr">
                    <a:solidFill>
                      <a:srgbClr val="FFFFFF"/>
                    </a:solidFill>
                  </a:tcPr>
                </a:tc>
              </a:tr>
              <a:tr h="310896">
                <a:tc>
                  <a:txBody>
                    <a:bodyPr wrap="square"/>
                    <a:lstStyle/>
                    <a:p>
                      <a:r>
                        <a:rPr sz="1000"/>
                        <a:t>pypinyin</a:t>
                      </a:r>
                    </a:p>
                  </a:txBody>
                  <a:tcPr marL="45720" marR="45720" marT="18288" marB="18288" anchor="ctr">
                    <a:solidFill>
                      <a:srgbClr val="E8EEF4"/>
                    </a:solidFill>
                  </a:tcPr>
                </a:tc>
                <a:tc>
                  <a:txBody>
                    <a:bodyPr wrap="square"/>
                    <a:lstStyle/>
                    <a:p>
                      <a:r>
                        <a:rPr sz="1000"/>
                        <a:t>regelbasiert + Sandhi-Modul</a:t>
                      </a:r>
                    </a:p>
                  </a:txBody>
                  <a:tcPr marL="45720" marR="45720" marT="18288" marB="18288" anchor="ctr">
                    <a:solidFill>
                      <a:srgbClr val="E8EEF4"/>
                    </a:solidFill>
                  </a:tcPr>
                </a:tc>
                <a:tc>
                  <a:txBody>
                    <a:bodyPr wrap="square"/>
                    <a:lstStyle/>
                    <a:p>
                      <a:r>
                        <a:rPr sz="1000"/>
                        <a:t>~87 % (Satzkorpus)</a:t>
                      </a:r>
                    </a:p>
                  </a:txBody>
                  <a:tcPr marL="45720" marR="45720" marT="18288" marB="18288" anchor="ctr">
                    <a:solidFill>
                      <a:srgbClr val="E8EEF4"/>
                    </a:solidFill>
                  </a:tcPr>
                </a:tc>
                <a:tc>
                  <a:txBody>
                    <a:bodyPr wrap="square"/>
                    <a:lstStyle/>
                    <a:p>
                      <a:r>
                        <a:rPr sz="1000"/>
                        <a:t>⚠️ schwach</a:t>
                      </a:r>
                    </a:p>
                  </a:txBody>
                  <a:tcPr marL="45720" marR="45720" marT="18288" marB="18288" anchor="ctr">
                    <a:solidFill>
                      <a:srgbClr val="E8EEF4"/>
                    </a:solidFill>
                  </a:tcPr>
                </a:tc>
              </a:tr>
              <a:tr h="310896">
                <a:tc>
                  <a:txBody>
                    <a:bodyPr wrap="square"/>
                    <a:lstStyle/>
                    <a:p>
                      <a:r>
                        <a:rPr sz="1000"/>
                        <a:t>dragonmapper / pinyin-to-ipa</a:t>
                      </a:r>
                    </a:p>
                  </a:txBody>
                  <a:tcPr marL="45720" marR="45720" marT="18288" marB="18288" anchor="ctr">
                    <a:solidFill>
                      <a:srgbClr val="FFFFFF"/>
                    </a:solidFill>
                  </a:tcPr>
                </a:tc>
                <a:tc>
                  <a:txBody>
                    <a:bodyPr wrap="square"/>
                    <a:lstStyle/>
                    <a:p>
                      <a:r>
                        <a:rPr sz="1000"/>
                        <a:t>Pinyin→IPA</a:t>
                      </a:r>
                    </a:p>
                  </a:txBody>
                  <a:tcPr marL="45720" marR="45720" marT="18288" marB="18288" anchor="ctr">
                    <a:solidFill>
                      <a:srgbClr val="FFFFFF"/>
                    </a:solidFill>
                  </a:tcPr>
                </a:tc>
                <a:tc>
                  <a:txBody>
                    <a:bodyPr wrap="square"/>
                    <a:lstStyle/>
                    <a:p>
                      <a:r>
                        <a:rPr sz="1000"/>
                        <a:t>deterministisch</a:t>
                      </a:r>
                    </a:p>
                  </a:txBody>
                  <a:tcPr marL="45720" marR="45720" marT="18288" marB="18288" anchor="ctr">
                    <a:solidFill>
                      <a:srgbClr val="FFFFFF"/>
                    </a:solidFill>
                  </a:tcPr>
                </a:tc>
                <a:tc>
                  <a:txBody>
                    <a:bodyPr wrap="square"/>
                    <a:lstStyle/>
                    <a:p>
                      <a:r>
                        <a:rPr sz="1000"/>
                        <a:t>— (reine Abbildung)</a:t>
                      </a:r>
                    </a:p>
                  </a:txBody>
                  <a:tcPr marL="45720" marR="45720" marT="18288" marB="18288" anchor="ctr">
                    <a:solidFill>
                      <a:srgbClr val="FFFFFF"/>
                    </a:solidFill>
                  </a:tcPr>
                </a:tc>
              </a:tr>
            </a:tbl>
          </a:graphicData>
        </a:graphic>
      </p:graphicFrame>
      <p:sp>
        <p:nvSpPr>
          <p:cNvPr id="5" name="TextBox 4"/>
          <p:cNvSpPr txBox="1"/>
          <p:nvPr/>
        </p:nvSpPr>
        <p:spPr>
          <a:xfrm>
            <a:off x="411480" y="3081528"/>
            <a:ext cx="11368735" cy="438912"/>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Tier A liefert:  was gesagt werden SOLLTE  (kanonisch, aus dem Wörterbuch)</a:t>
            </a:r>
          </a:p>
          <a:p>
            <a:pPr>
              <a:lnSpc>
                <a:spcPct val="100000"/>
              </a:lnSpc>
              <a:spcAft>
                <a:spcPts val="0"/>
              </a:spcAft>
            </a:pPr>
            <a:r>
              <a:rPr sz="900">
                <a:solidFill>
                  <a:srgbClr val="223344"/>
                </a:solidFill>
                <a:latin typeface="Consolas"/>
              </a:rPr>
              <a:t>NICHT:           was tatsächlich GEHÖRT wurde (das macht Tier B)</a:t>
            </a:r>
          </a:p>
        </p:txBody>
      </p:sp>
      <p:sp>
        <p:nvSpPr>
          <p:cNvPr id="6" name="TextBox 5"/>
          <p:cNvSpPr txBox="1"/>
          <p:nvPr/>
        </p:nvSpPr>
        <p:spPr>
          <a:xfrm>
            <a:off x="411480" y="3611880"/>
            <a:ext cx="11368735" cy="1261872"/>
          </a:xfrm>
          <a:prstGeom prst="rect">
            <a:avLst/>
          </a:prstGeom>
          <a:noFill/>
        </p:spPr>
        <p:txBody>
          <a:bodyPr wrap="square">
            <a:spAutoFit/>
          </a:bodyPr>
          <a:lstStyle/>
          <a:p>
            <a:pPr>
              <a:spcAft>
                <a:spcPts val="300"/>
              </a:spcAft>
            </a:pPr>
            <a:r>
              <a:rPr sz="1300"/>
              <a:t>•  g2pW ist State-of-the-Art und meine Baseline für RQ1 (Text→Pinyin)</a:t>
            </a:r>
          </a:p>
          <a:p>
            <a:pPr>
              <a:spcAft>
                <a:spcPts val="300"/>
              </a:spcAft>
            </a:pPr>
            <a:r>
              <a:rPr sz="1300"/>
              <a:t>•  Bei isolierten Vokabeln ist die Soll-Referenz faktisch perfekt (Wort bekannt → Wörterbuch greift)</a:t>
            </a:r>
          </a:p>
          <a:p>
            <a:pPr>
              <a:spcAft>
                <a:spcPts val="300"/>
              </a:spcAft>
            </a:pPr>
            <a:r>
              <a:rPr sz="1300"/>
              <a:t>•  Wichtig: g2pW „rät" den Standardton des Zeichens — es hört nicht den gesprochenen Ton</a:t>
            </a:r>
          </a:p>
          <a:p>
            <a:pPr>
              <a:spcAft>
                <a:spcPts val="300"/>
              </a:spcAft>
            </a:pPr>
            <a:r>
              <a:rPr sz="1300"/>
              <a:t>•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Tier B (kommerziell) — APIs, die aus Audio den Ton bewerten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1554480"/>
        </p:xfrm>
        <a:graphic>
          <a:graphicData uri="http://schemas.openxmlformats.org/drawingml/2006/table">
            <a:tbl>
              <a:tblPr firstRow="1" bandRow="1">
                <a:tableStyleId>{5C22544A-7EE6-4342-B048-85BDC9FD1C3A}</a:tableStyleId>
              </a:tblPr>
              <a:tblGrid>
                <a:gridCol w="1910029"/>
                <a:gridCol w="1910029"/>
                <a:gridCol w="1910029"/>
                <a:gridCol w="1910029"/>
                <a:gridCol w="1910029"/>
                <a:gridCol w="1910029"/>
              </a:tblGrid>
              <a:tr h="310896">
                <a:tc>
                  <a:txBody>
                    <a:bodyPr wrap="square"/>
                    <a:lstStyle/>
                    <a:p>
                      <a:r>
                        <a:rPr sz="1000" b="1">
                          <a:solidFill>
                            <a:srgbClr val="FFFFFF"/>
                          </a:solidFill>
                        </a:rPr>
                        <a:t>API</a:t>
                      </a:r>
                    </a:p>
                  </a:txBody>
                  <a:tcPr marL="45720" marR="45720" marT="18288" marB="18288" anchor="ctr">
                    <a:solidFill>
                      <a:srgbClr val="1F3A5F"/>
                    </a:solidFill>
                  </a:tcPr>
                </a:tc>
                <a:tc>
                  <a:txBody>
                    <a:bodyPr wrap="square"/>
                    <a:lstStyle/>
                    <a:p>
                      <a:r>
                        <a:rPr sz="1000" b="1">
                          <a:solidFill>
                            <a:srgbClr val="FFFFFF"/>
                          </a:solidFill>
                        </a:rPr>
                        <a:t>Ton-Score?</a:t>
                      </a:r>
                    </a:p>
                  </a:txBody>
                  <a:tcPr marL="45720" marR="45720" marT="18288" marB="18288" anchor="ctr">
                    <a:solidFill>
                      <a:srgbClr val="1F3A5F"/>
                    </a:solidFill>
                  </a:tcPr>
                </a:tc>
                <a:tc>
                  <a:txBody>
                    <a:bodyPr wrap="square"/>
                    <a:lstStyle/>
                    <a:p>
                      <a:r>
                        <a:rPr sz="1000" b="1">
                          <a:solidFill>
                            <a:srgbClr val="FFFFFF"/>
                          </a:solidFill>
                        </a:rPr>
                        <a:t>Ton-Prädiktion?</a:t>
                      </a:r>
                    </a:p>
                  </a:txBody>
                  <a:tcPr marL="45720" marR="45720" marT="18288" marB="18288" anchor="ctr">
                    <a:solidFill>
                      <a:srgbClr val="1F3A5F"/>
                    </a:solidFill>
                  </a:tcPr>
                </a:tc>
                <a:tc>
                  <a:txBody>
                    <a:bodyPr wrap="square"/>
                    <a:lstStyle/>
                    <a:p>
                      <a:r>
                        <a:rPr sz="1000" b="1">
                          <a:solidFill>
                            <a:srgbClr val="FFFFFF"/>
                          </a:solidFill>
                        </a:rPr>
                        <a:t>Granularität</a:t>
                      </a:r>
                    </a:p>
                  </a:txBody>
                  <a:tcPr marL="45720" marR="45720" marT="18288" marB="18288" anchor="ctr">
                    <a:solidFill>
                      <a:srgbClr val="1F3A5F"/>
                    </a:solidFill>
                  </a:tcPr>
                </a:tc>
                <a:tc>
                  <a:txBody>
                    <a:bodyPr wrap="square"/>
                    <a:lstStyle/>
                    <a:p>
                      <a:r>
                        <a:rPr sz="1000" b="1">
                          <a:solidFill>
                            <a:srgbClr val="FFFFFF"/>
                          </a:solidFill>
                        </a:rPr>
                        <a:t>IPA-Ausgabe?</a:t>
                      </a:r>
                    </a:p>
                  </a:txBody>
                  <a:tcPr marL="45720" marR="45720" marT="18288" marB="18288" anchor="ctr">
                    <a:solidFill>
                      <a:srgbClr val="1F3A5F"/>
                    </a:solidFill>
                  </a:tcPr>
                </a:tc>
                <a:tc>
                  <a:txBody>
                    <a:bodyPr wrap="square"/>
                    <a:lstStyle/>
                    <a:p>
                      <a:r>
                        <a:rPr sz="1000" b="1">
                          <a:solidFill>
                            <a:srgbClr val="FFFFFF"/>
                          </a:solidFill>
                        </a:rPr>
                        <a:t>L2-Fehlerrate</a:t>
                      </a:r>
                    </a:p>
                  </a:txBody>
                  <a:tcPr marL="45720" marR="45720" marT="18288" marB="18288" anchor="ctr">
                    <a:solidFill>
                      <a:srgbClr val="1F3A5F"/>
                    </a:solidFill>
                  </a:tcPr>
                </a:tc>
              </a:tr>
              <a:tr h="310896">
                <a:tc>
                  <a:txBody>
                    <a:bodyPr wrap="square"/>
                    <a:lstStyle/>
                    <a:p>
                      <a:r>
                        <a:rPr sz="1000"/>
                        <a:t>SpeechSuper</a:t>
                      </a:r>
                    </a:p>
                  </a:txBody>
                  <a:tcPr marL="45720" marR="45720" marT="18288" marB="18288" anchor="ctr">
                    <a:solidFill>
                      <a:srgbClr val="FFFFFF"/>
                    </a:solidFill>
                  </a:tcPr>
                </a:tc>
                <a:tc>
                  <a:txBody>
                    <a:bodyPr wrap="square"/>
                    <a:lstStyle/>
                    <a:p>
                      <a:r>
                        <a:rPr sz="1000"/>
                        <a:t>✅ separat</a:t>
                      </a:r>
                    </a:p>
                  </a:txBody>
                  <a:tcPr marL="45720" marR="45720" marT="18288" marB="18288" anchor="ctr">
                    <a:solidFill>
                      <a:srgbClr val="FFFFFF"/>
                    </a:solidFill>
                  </a:tcPr>
                </a:tc>
                <a:tc>
                  <a:txBody>
                    <a:bodyPr wrap="square"/>
                    <a:lstStyle/>
                    <a:p>
                      <a:r>
                        <a:rPr sz="1000"/>
                        <a:t>✅ („du sagtest T2, soll T4")</a:t>
                      </a:r>
                    </a:p>
                  </a:txBody>
                  <a:tcPr marL="45720" marR="45720" marT="18288" marB="18288" anchor="ctr">
                    <a:solidFill>
                      <a:srgbClr val="FFFFFF"/>
                    </a:solidFill>
                  </a:tcPr>
                </a:tc>
                <a:tc>
                  <a:txBody>
                    <a:bodyPr wrap="square"/>
                    <a:lstStyle/>
                    <a:p>
                      <a:r>
                        <a:rPr sz="1000"/>
                        <a:t>Phonem/Silbe/Wort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 nicht publiziert</a:t>
                      </a:r>
                    </a:p>
                  </a:txBody>
                  <a:tcPr marL="45720" marR="45720" marT="18288" marB="18288" anchor="ctr">
                    <a:solidFill>
                      <a:srgbClr val="FFFFFF"/>
                    </a:solidFill>
                  </a:tcPr>
                </a:tc>
              </a:tr>
              <a:tr h="310896">
                <a:tc>
                  <a:txBody>
                    <a:bodyPr wrap="square"/>
                    <a:lstStyle/>
                    <a:p>
                      <a:r>
                        <a:rPr sz="1000"/>
                        <a:t>iFlytek ISE (讯飞)</a:t>
                      </a:r>
                    </a:p>
                  </a:txBody>
                  <a:tcPr marL="45720" marR="45720" marT="18288" marB="18288" anchor="ctr">
                    <a:solidFill>
                      <a:srgbClr val="E8EEF4"/>
                    </a:solidFill>
                  </a:tcPr>
                </a:tc>
                <a:tc>
                  <a:txBody>
                    <a:bodyPr wrap="square"/>
                    <a:lstStyle/>
                    <a:p>
                      <a:r>
                        <a:rPr sz="1000"/>
                        <a:t>✅ tone_score</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Frame (10 ms)</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 nicht publiziert</a:t>
                      </a:r>
                    </a:p>
                  </a:txBody>
                  <a:tcPr marL="45720" marR="45720" marT="18288" marB="18288" anchor="ctr">
                    <a:solidFill>
                      <a:srgbClr val="E8EEF4"/>
                    </a:solidFill>
                  </a:tcPr>
                </a:tc>
              </a:tr>
              <a:tr h="310896">
                <a:tc>
                  <a:txBody>
                    <a:bodyPr wrap="square"/>
                    <a:lstStyle/>
                    <a:p>
                      <a:r>
                        <a:rPr sz="1000"/>
                        <a:t>Microsoft Azure</a:t>
                      </a:r>
                    </a:p>
                  </a:txBody>
                  <a:tcPr marL="45720" marR="45720" marT="18288" marB="18288" anchor="ctr">
                    <a:solidFill>
                      <a:srgbClr val="FFFFFF"/>
                    </a:solidFill>
                  </a:tcPr>
                </a:tc>
                <a:tc>
                  <a:txBody>
                    <a:bodyPr wrap="square"/>
                    <a:lstStyle/>
                    <a:p>
                      <a:r>
                        <a:rPr sz="1000"/>
                        <a:t>❌ keiner (zh-CN)</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Phonem/Silbe/Wort</a:t>
                      </a:r>
                    </a:p>
                  </a:txBody>
                  <a:tcPr marL="45720" marR="45720" marT="18288" marB="18288" anchor="ctr">
                    <a:solidFill>
                      <a:srgbClr val="FFFFFF"/>
                    </a:solidFill>
                  </a:tcPr>
                </a:tc>
                <a:tc>
                  <a:txBody>
                    <a:bodyPr wrap="square"/>
                    <a:lstStyle/>
                    <a:p>
                      <a:r>
                        <a:rPr sz="1000"/>
                        <a:t>✅ NBestPhonemes</a:t>
                      </a:r>
                    </a:p>
                  </a:txBody>
                  <a:tcPr marL="45720" marR="45720" marT="18288" marB="18288" anchor="ctr">
                    <a:solidFill>
                      <a:srgbClr val="FFFFFF"/>
                    </a:solidFill>
                  </a:tcPr>
                </a:tc>
                <a:tc>
                  <a:txBody>
                    <a:bodyPr wrap="square"/>
                    <a:lstStyle/>
                    <a:p>
                      <a:r>
                        <a:rPr sz="1000"/>
                        <a:t>❌ nicht publiziert</a:t>
                      </a:r>
                    </a:p>
                  </a:txBody>
                  <a:tcPr marL="45720" marR="45720" marT="18288" marB="18288" anchor="ctr">
                    <a:solidFill>
                      <a:srgbClr val="FFFFFF"/>
                    </a:solidFill>
                  </a:tcPr>
                </a:tc>
              </a:tr>
              <a:tr h="310896">
                <a:tc>
                  <a:txBody>
                    <a:bodyPr wrap="square"/>
                    <a:lstStyle/>
                    <a:p>
                      <a:r>
                        <a:rPr sz="1000"/>
                        <a:t>SpeakGoodChinese</a:t>
                      </a:r>
                    </a:p>
                  </a:txBody>
                  <a:tcPr marL="45720" marR="45720" marT="18288" marB="18288" anchor="ctr">
                    <a:solidFill>
                      <a:srgbClr val="E8EEF4"/>
                    </a:solidFill>
                  </a:tcPr>
                </a:tc>
                <a:tc>
                  <a:txBody>
                    <a:bodyPr wrap="square"/>
                    <a:lstStyle/>
                    <a:p>
                      <a:r>
                        <a:rPr sz="1000"/>
                        <a:t>✅ (Praat-basiert)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Mono-/Bisilbe</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~85 % (Studie, native)</a:t>
                      </a:r>
                    </a:p>
                  </a:txBody>
                  <a:tcPr marL="45720" marR="45720" marT="18288" marB="18288" anchor="ctr">
                    <a:solidFill>
                      <a:srgbClr val="E8EEF4"/>
                    </a:solidFill>
                  </a:tcPr>
                </a:tc>
              </a:tr>
            </a:tbl>
          </a:graphicData>
        </a:graphic>
      </p:graphicFrame>
      <p:sp>
        <p:nvSpPr>
          <p:cNvPr id="5" name="TextBox 4"/>
          <p:cNvSpPr txBox="1"/>
          <p:nvPr/>
        </p:nvSpPr>
        <p:spPr>
          <a:xfrm>
            <a:off x="411480" y="2770632"/>
            <a:ext cx="11368735" cy="1261872"/>
          </a:xfrm>
          <a:prstGeom prst="rect">
            <a:avLst/>
          </a:prstGeom>
          <a:noFill/>
        </p:spPr>
        <p:txBody>
          <a:bodyPr wrap="square">
            <a:spAutoFit/>
          </a:bodyPr>
          <a:lstStyle/>
          <a:p>
            <a:pPr>
              <a:spcAft>
                <a:spcPts val="300"/>
              </a:spcAft>
            </a:pPr>
            <a:r>
              <a:rPr sz="1300"/>
              <a:t>•  SpeechSuper/iFlytek sind dem chinesischen EdTech-Markt entsprungen → echte, getrennte Ton-Bewertung (Initial / Final / Ton). iFlytek treibt das offizielle PSC-Staatsexamen.</a:t>
            </a:r>
          </a:p>
          <a:p>
            <a:pPr>
              <a:spcAft>
                <a:spcPts val="300"/>
              </a:spcAft>
            </a:pPr>
            <a:r>
              <a:rPr sz="1300"/>
              <a:t>•  Azure ist stark bei Segmenten (N-Best-Phoneme im IPA-Format), hat aber keinen separaten Ton-Score für Chinesisch → Tonfehler verstecken sich im Phonem-Score.</a:t>
            </a:r>
          </a:p>
          <a:p>
            <a:pPr>
              <a:spcAft>
                <a:spcPts val="300"/>
              </a:spcAft>
            </a:pPr>
            <a:r>
              <a:rPr sz="1300"/>
              <a:t>•  Black-Box-Problem: Keine dieser APIs publiziert unabhängig verifizierte Tonfehlerraten für L2 → vor Nutzung selbst auf Pilotstichprobe validieren.</a:t>
            </a:r>
          </a:p>
          <a:p>
            <a:pPr>
              <a:spcAft>
                <a:spcPts val="300"/>
              </a:spcAft>
            </a:pPr>
            <a:r>
              <a:rPr sz="1300"/>
              <a:t>•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Tier B (akademisch) — Native + isolierte Silben: praktisch gelöst</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5" cy="1865376"/>
        </p:xfrm>
        <a:graphic>
          <a:graphicData uri="http://schemas.openxmlformats.org/drawingml/2006/table">
            <a:tbl>
              <a:tblPr firstRow="1" bandRow="1">
                <a:tableStyleId>{5C22544A-7EE6-4342-B048-85BDC9FD1C3A}</a:tableStyleId>
              </a:tblPr>
              <a:tblGrid>
                <a:gridCol w="2292035"/>
                <a:gridCol w="2292035"/>
                <a:gridCol w="2292035"/>
                <a:gridCol w="2292035"/>
                <a:gridCol w="2292035"/>
              </a:tblGrid>
              <a:tr h="310896">
                <a:tc>
                  <a:txBody>
                    <a:bodyPr wrap="square"/>
                    <a:lstStyle/>
                    <a:p>
                      <a:r>
                        <a:rPr sz="1000" b="1">
                          <a:solidFill>
                            <a:srgbClr val="FFFFFF"/>
                          </a:solidFill>
                        </a:rPr>
                        <a:t>Modell</a:t>
                      </a:r>
                    </a:p>
                  </a:txBody>
                  <a:tcPr marL="45720" marR="45720" marT="18288" marB="18288" anchor="ctr">
                    <a:solidFill>
                      <a:srgbClr val="1F3A5F"/>
                    </a:solidFill>
                  </a:tcPr>
                </a:tc>
                <a:tc>
                  <a:txBody>
                    <a:bodyPr wrap="square"/>
                    <a:lstStyle/>
                    <a:p>
                      <a:r>
                        <a:rPr sz="1000" b="1">
                          <a:solidFill>
                            <a:srgbClr val="FFFFFF"/>
                          </a:solidFill>
                        </a:rPr>
                        <a:t>Architektur</a:t>
                      </a:r>
                    </a:p>
                  </a:txBody>
                  <a:tcPr marL="45720" marR="45720" marT="18288" marB="18288" anchor="ctr">
                    <a:solidFill>
                      <a:srgbClr val="1F3A5F"/>
                    </a:solidFill>
                  </a:tcPr>
                </a:tc>
                <a:tc>
                  <a:txBody>
                    <a:bodyPr wrap="square"/>
                    <a:lstStyle/>
                    <a:p>
                      <a:r>
                        <a:rPr sz="1000" b="1">
                          <a:solidFill>
                            <a:srgbClr val="FFFFFF"/>
                          </a:solidFill>
                        </a:rPr>
                        <a:t>Datensatz</a:t>
                      </a:r>
                    </a:p>
                  </a:txBody>
                  <a:tcPr marL="45720" marR="45720" marT="18288" marB="18288" anchor="ctr">
                    <a:solidFill>
                      <a:srgbClr val="1F3A5F"/>
                    </a:solidFill>
                  </a:tcPr>
                </a:tc>
                <a:tc>
                  <a:txBody>
                    <a:bodyPr wrap="square"/>
                    <a:lstStyle/>
                    <a:p>
                      <a:r>
                        <a:rPr sz="1000" b="1">
                          <a:solidFill>
                            <a:srgbClr val="FFFFFF"/>
                          </a:solidFill>
                        </a:rPr>
                        <a:t>Genauigkeit / TER</a:t>
                      </a:r>
                    </a:p>
                  </a:txBody>
                  <a:tcPr marL="45720" marR="45720" marT="18288" marB="18288" anchor="ctr">
                    <a:solidFill>
                      <a:srgbClr val="1F3A5F"/>
                    </a:solidFill>
                  </a:tcPr>
                </a:tc>
                <a:tc>
                  <a:txBody>
                    <a:bodyPr wrap="square"/>
                    <a:lstStyle/>
                    <a:p>
                      <a:r>
                        <a:rPr sz="1000" b="1">
                          <a:solidFill>
                            <a:srgbClr val="FFFFFF"/>
                          </a:solidFill>
                        </a:rPr>
                        <a:t>Sprecher</a:t>
                      </a:r>
                    </a:p>
                  </a:txBody>
                  <a:tcPr marL="45720" marR="45720" marT="18288" marB="18288" anchor="ctr">
                    <a:solidFill>
                      <a:srgbClr val="1F3A5F"/>
                    </a:solidFill>
                  </a:tcPr>
                </a:tc>
              </a:tr>
              <a:tr h="310896">
                <a:tc>
                  <a:txBody>
                    <a:bodyPr wrap="square"/>
                    <a:lstStyle/>
                    <a:p>
                      <a:r>
                        <a:rPr sz="1000"/>
                        <a:t>CNN (alicex2020)</a:t>
                      </a:r>
                    </a:p>
                  </a:txBody>
                  <a:tcPr marL="45720" marR="45720" marT="18288" marB="18288" anchor="ctr">
                    <a:solidFill>
                      <a:srgbClr val="FFFFFF"/>
                    </a:solidFill>
                  </a:tcPr>
                </a:tc>
                <a:tc>
                  <a:txBody>
                    <a:bodyPr wrap="square"/>
                    <a:lstStyle/>
                    <a:p>
                      <a:r>
                        <a:rPr sz="1000"/>
                        <a:t>5-Layer CNN</a:t>
                      </a:r>
                    </a:p>
                  </a:txBody>
                  <a:tcPr marL="45720" marR="45720" marT="18288" marB="18288" anchor="ctr">
                    <a:solidFill>
                      <a:srgbClr val="FFFFFF"/>
                    </a:solidFill>
                  </a:tcPr>
                </a:tc>
                <a:tc>
                  <a:txBody>
                    <a:bodyPr wrap="square"/>
                    <a:lstStyle/>
                    <a:p>
                      <a:r>
                        <a:rPr sz="1000"/>
                        <a:t>Tone Perfect</a:t>
                      </a:r>
                    </a:p>
                  </a:txBody>
                  <a:tcPr marL="45720" marR="45720" marT="18288" marB="18288" anchor="ctr">
                    <a:solidFill>
                      <a:srgbClr val="FFFFFF"/>
                    </a:solidFill>
                  </a:tcPr>
                </a:tc>
                <a:tc>
                  <a:txBody>
                    <a:bodyPr wrap="square"/>
                    <a:lstStyle/>
                    <a:p>
                      <a:r>
                        <a:rPr sz="1000"/>
                        <a:t>99,8 %</a:t>
                      </a:r>
                    </a:p>
                  </a:txBody>
                  <a:tcPr marL="45720" marR="45720" marT="18288" marB="18288" anchor="ctr">
                    <a:solidFill>
                      <a:srgbClr val="FFFFFF"/>
                    </a:solidFill>
                  </a:tcPr>
                </a:tc>
                <a:tc>
                  <a:txBody>
                    <a:bodyPr wrap="square"/>
                    <a:lstStyle/>
                    <a:p>
                      <a:r>
                        <a:rPr sz="1000"/>
                        <a:t>native</a:t>
                      </a:r>
                    </a:p>
                  </a:txBody>
                  <a:tcPr marL="45720" marR="45720" marT="18288" marB="18288" anchor="ctr">
                    <a:solidFill>
                      <a:srgbClr val="FFFFFF"/>
                    </a:solidFill>
                  </a:tcPr>
                </a:tc>
              </a:tr>
              <a:tr h="310896">
                <a:tc>
                  <a:txBody>
                    <a:bodyPr wrap="square"/>
                    <a:lstStyle/>
                    <a:p>
                      <a:r>
                        <a:rPr sz="1000"/>
                        <a:t>HuBERT-Tonklassifik.</a:t>
                      </a:r>
                    </a:p>
                  </a:txBody>
                  <a:tcPr marL="45720" marR="45720" marT="18288" marB="18288" anchor="ctr">
                    <a:solidFill>
                      <a:srgbClr val="E8EEF4"/>
                    </a:solidFill>
                  </a:tcPr>
                </a:tc>
                <a:tc>
                  <a:txBody>
                    <a:bodyPr wrap="square"/>
                    <a:lstStyle/>
                    <a:p>
                      <a:r>
                        <a:rPr sz="1000"/>
                        <a:t>fine-getunt</a:t>
                      </a:r>
                    </a:p>
                  </a:txBody>
                  <a:tcPr marL="45720" marR="45720" marT="18288" marB="18288" anchor="ctr">
                    <a:solidFill>
                      <a:srgbClr val="E8EEF4"/>
                    </a:solidFill>
                  </a:tcPr>
                </a:tc>
                <a:tc>
                  <a:txBody>
                    <a:bodyPr wrap="square"/>
                    <a:lstStyle/>
                    <a:p>
                      <a:r>
                        <a:rPr sz="1000"/>
                        <a:t>Tone Perfect</a:t>
                      </a:r>
                    </a:p>
                  </a:txBody>
                  <a:tcPr marL="45720" marR="45720" marT="18288" marB="18288" anchor="ctr">
                    <a:solidFill>
                      <a:srgbClr val="E8EEF4"/>
                    </a:solidFill>
                  </a:tcPr>
                </a:tc>
                <a:tc>
                  <a:txBody>
                    <a:bodyPr wrap="square"/>
                    <a:lstStyle/>
                    <a:p>
                      <a:r>
                        <a:rPr sz="1000"/>
                        <a:t>~100 % Ton, 98 % Silbe</a:t>
                      </a:r>
                    </a:p>
                  </a:txBody>
                  <a:tcPr marL="45720" marR="45720" marT="18288" marB="18288" anchor="ctr">
                    <a:solidFill>
                      <a:srgbClr val="E8EEF4"/>
                    </a:solidFill>
                  </a:tcPr>
                </a:tc>
                <a:tc>
                  <a:txBody>
                    <a:bodyPr wrap="square"/>
                    <a:lstStyle/>
                    <a:p>
                      <a:r>
                        <a:rPr sz="1000"/>
                        <a:t>native</a:t>
                      </a:r>
                    </a:p>
                  </a:txBody>
                  <a:tcPr marL="45720" marR="45720" marT="18288" marB="18288" anchor="ctr">
                    <a:solidFill>
                      <a:srgbClr val="E8EEF4"/>
                    </a:solidFill>
                  </a:tcPr>
                </a:tc>
              </a:tr>
              <a:tr h="310896">
                <a:tc>
                  <a:txBody>
                    <a:bodyPr wrap="square"/>
                    <a:lstStyle/>
                    <a:p>
                      <a:r>
                        <a:rPr sz="1000"/>
                        <a:t>ToneNet (IS 2019)</a:t>
                      </a:r>
                    </a:p>
                  </a:txBody>
                  <a:tcPr marL="45720" marR="45720" marT="18288" marB="18288" anchor="ctr">
                    <a:solidFill>
                      <a:srgbClr val="FFFFFF"/>
                    </a:solidFill>
                  </a:tcPr>
                </a:tc>
                <a:tc>
                  <a:txBody>
                    <a:bodyPr wrap="square"/>
                    <a:lstStyle/>
                    <a:p>
                      <a:r>
                        <a:rPr sz="1000"/>
                        <a:t>CNN + MLP</a:t>
                      </a:r>
                    </a:p>
                  </a:txBody>
                  <a:tcPr marL="45720" marR="45720" marT="18288" marB="18288" anchor="ctr">
                    <a:solidFill>
                      <a:srgbClr val="FFFFFF"/>
                    </a:solidFill>
                  </a:tcPr>
                </a:tc>
                <a:tc>
                  <a:txBody>
                    <a:bodyPr wrap="square"/>
                    <a:lstStyle/>
                    <a:p>
                      <a:r>
                        <a:rPr sz="1000"/>
                        <a:t>SCSC</a:t>
                      </a:r>
                    </a:p>
                  </a:txBody>
                  <a:tcPr marL="45720" marR="45720" marT="18288" marB="18288" anchor="ctr">
                    <a:solidFill>
                      <a:srgbClr val="FFFFFF"/>
                    </a:solidFill>
                  </a:tcPr>
                </a:tc>
                <a:tc>
                  <a:txBody>
                    <a:bodyPr wrap="square"/>
                    <a:lstStyle/>
                    <a:p>
                      <a:r>
                        <a:rPr sz="1000"/>
                        <a:t>97–99,16 %</a:t>
                      </a:r>
                    </a:p>
                  </a:txBody>
                  <a:tcPr marL="45720" marR="45720" marT="18288" marB="18288" anchor="ctr">
                    <a:solidFill>
                      <a:srgbClr val="FFFFFF"/>
                    </a:solidFill>
                  </a:tcPr>
                </a:tc>
                <a:tc>
                  <a:txBody>
                    <a:bodyPr wrap="square"/>
                    <a:lstStyle/>
                    <a:p>
                      <a:r>
                        <a:rPr sz="1000"/>
                        <a:t>native</a:t>
                      </a:r>
                    </a:p>
                  </a:txBody>
                  <a:tcPr marL="45720" marR="45720" marT="18288" marB="18288" anchor="ctr">
                    <a:solidFill>
                      <a:srgbClr val="FFFFFF"/>
                    </a:solidFill>
                  </a:tcPr>
                </a:tc>
              </a:tr>
              <a:tr h="310896">
                <a:tc>
                  <a:txBody>
                    <a:bodyPr wrap="square"/>
                    <a:lstStyle/>
                    <a:p>
                      <a:r>
                        <a:rPr sz="1000"/>
                        <a:t>wav2vec2 (Yuan 2021)</a:t>
                      </a:r>
                    </a:p>
                  </a:txBody>
                  <a:tcPr marL="45720" marR="45720" marT="18288" marB="18288" anchor="ctr">
                    <a:solidFill>
                      <a:srgbClr val="E8EEF4"/>
                    </a:solidFill>
                  </a:tcPr>
                </a:tc>
                <a:tc>
                  <a:txBody>
                    <a:bodyPr wrap="square"/>
                    <a:lstStyle/>
                    <a:p>
                      <a:r>
                        <a:rPr sz="1000"/>
                        <a:t>fine-getunt</a:t>
                      </a:r>
                    </a:p>
                  </a:txBody>
                  <a:tcPr marL="45720" marR="45720" marT="18288" marB="18288" anchor="ctr">
                    <a:solidFill>
                      <a:srgbClr val="E8EEF4"/>
                    </a:solidFill>
                  </a:tcPr>
                </a:tc>
                <a:tc>
                  <a:txBody>
                    <a:bodyPr wrap="square"/>
                    <a:lstStyle/>
                    <a:p>
                      <a:r>
                        <a:rPr sz="1000"/>
                        <a:t>Mandarin</a:t>
                      </a:r>
                    </a:p>
                  </a:txBody>
                  <a:tcPr marL="45720" marR="45720" marT="18288" marB="18288" anchor="ctr">
                    <a:solidFill>
                      <a:srgbClr val="E8EEF4"/>
                    </a:solidFill>
                  </a:tcPr>
                </a:tc>
                <a:tc>
                  <a:txBody>
                    <a:bodyPr wrap="square"/>
                    <a:lstStyle/>
                    <a:p>
                      <a:r>
                        <a:rPr sz="1000"/>
                        <a:t>6 % TER</a:t>
                      </a:r>
                    </a:p>
                  </a:txBody>
                  <a:tcPr marL="45720" marR="45720" marT="18288" marB="18288" anchor="ctr">
                    <a:solidFill>
                      <a:srgbClr val="E8EEF4"/>
                    </a:solidFill>
                  </a:tcPr>
                </a:tc>
                <a:tc>
                  <a:txBody>
                    <a:bodyPr wrap="square"/>
                    <a:lstStyle/>
                    <a:p>
                      <a:r>
                        <a:rPr sz="1000"/>
                        <a:t>native</a:t>
                      </a:r>
                    </a:p>
                  </a:txBody>
                  <a:tcPr marL="45720" marR="45720" marT="18288" marB="18288" anchor="ctr">
                    <a:solidFill>
                      <a:srgbClr val="E8EEF4"/>
                    </a:solidFill>
                  </a:tcPr>
                </a:tc>
              </a:tr>
              <a:tr h="310896">
                <a:tc>
                  <a:txBody>
                    <a:bodyPr wrap="square"/>
                    <a:lstStyle/>
                    <a:p>
                      <a:r>
                        <a:rPr sz="1000"/>
                        <a:t>Systematic Review 2025</a:t>
                      </a:r>
                    </a:p>
                  </a:txBody>
                  <a:tcPr marL="45720" marR="45720" marT="18288" marB="18288" anchor="ctr">
                    <a:solidFill>
                      <a:srgbClr val="FFFFFF"/>
                    </a:solidFill>
                  </a:tcPr>
                </a:tc>
                <a:tc>
                  <a:txBody>
                    <a:bodyPr wrap="square"/>
                    <a:lstStyle/>
                    <a:p>
                      <a:r>
                        <a:rPr sz="1000"/>
                        <a:t>61 Studien (PRISMA)</a:t>
                      </a:r>
                    </a:p>
                  </a:txBody>
                  <a:tcPr marL="45720" marR="45720" marT="18288" marB="18288" anchor="ctr">
                    <a:solidFill>
                      <a:srgbClr val="FFFFFF"/>
                    </a:solidFill>
                  </a:tcPr>
                </a:tc>
                <a:tc>
                  <a:txBody>
                    <a:bodyPr wrap="square"/>
                    <a:lstStyle/>
                    <a:p>
                      <a:r>
                        <a:rPr sz="1000"/>
                        <a:t>div.</a:t>
                      </a:r>
                    </a:p>
                  </a:txBody>
                  <a:tcPr marL="45720" marR="45720" marT="18288" marB="18288" anchor="ctr">
                    <a:solidFill>
                      <a:srgbClr val="FFFFFF"/>
                    </a:solidFill>
                  </a:tcPr>
                </a:tc>
                <a:tc>
                  <a:txBody>
                    <a:bodyPr wrap="square"/>
                    <a:lstStyle/>
                    <a:p>
                      <a:r>
                        <a:rPr sz="1000"/>
                        <a:t>Ø DL 88,8 % vs. klassisch 83,1 %</a:t>
                      </a:r>
                    </a:p>
                  </a:txBody>
                  <a:tcPr marL="45720" marR="45720" marT="18288" marB="18288" anchor="ctr">
                    <a:solidFill>
                      <a:srgbClr val="FFFFFF"/>
                    </a:solidFill>
                  </a:tcPr>
                </a:tc>
                <a:tc>
                  <a:txBody>
                    <a:bodyPr wrap="square"/>
                    <a:lstStyle/>
                    <a:p>
                      <a:r>
                        <a:rPr sz="1000"/>
                        <a:t>meist native</a:t>
                      </a:r>
                    </a:p>
                  </a:txBody>
                  <a:tcPr marL="45720" marR="45720" marT="18288" marB="18288" anchor="ctr">
                    <a:solidFill>
                      <a:srgbClr val="FFFFFF"/>
                    </a:solidFill>
                  </a:tcPr>
                </a:tc>
              </a:tr>
            </a:tbl>
          </a:graphicData>
        </a:graphic>
      </p:graphicFrame>
      <p:sp>
        <p:nvSpPr>
          <p:cNvPr id="5" name="TextBox 4"/>
          <p:cNvSpPr txBox="1"/>
          <p:nvPr/>
        </p:nvSpPr>
        <p:spPr>
          <a:xfrm>
            <a:off x="411480" y="3081528"/>
            <a:ext cx="11368735" cy="438912"/>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Isolierte Silbe + Muttersprachler  →  Tonklassifikation ≈ GELÖST (99–100 %)</a:t>
            </a:r>
          </a:p>
          <a:p>
            <a:pPr>
              <a:lnSpc>
                <a:spcPct val="100000"/>
              </a:lnSpc>
              <a:spcAft>
                <a:spcPts val="0"/>
              </a:spcAft>
            </a:pPr>
            <a:r>
              <a:rPr sz="900">
                <a:solidFill>
                  <a:srgbClr val="223344"/>
                </a:solidFill>
                <a:latin typeface="Consolas"/>
              </a:rPr>
              <a:t>Durchgängig schwächster Ton: Ton 3 (tief-fallend-steigend)</a:t>
            </a:r>
          </a:p>
        </p:txBody>
      </p:sp>
      <p:sp>
        <p:nvSpPr>
          <p:cNvPr id="6" name="TextBox 5"/>
          <p:cNvSpPr txBox="1"/>
          <p:nvPr/>
        </p:nvSpPr>
        <p:spPr>
          <a:xfrm>
            <a:off x="411480" y="3611880"/>
            <a:ext cx="11368735" cy="1261872"/>
          </a:xfrm>
          <a:prstGeom prst="rect">
            <a:avLst/>
          </a:prstGeom>
          <a:noFill/>
        </p:spPr>
        <p:txBody>
          <a:bodyPr wrap="square">
            <a:spAutoFit/>
          </a:bodyPr>
          <a:lstStyle/>
          <a:p>
            <a:pPr>
              <a:spcAft>
                <a:spcPts val="300"/>
              </a:spcAft>
            </a:pPr>
            <a:r>
              <a:rPr sz="1300"/>
              <a:t>•  Für Phase 1 (Tone Perfect, native) kann ein CNN als automatischer Cross-Check dienen (≈99 % gegen menschliche Labels, frei reproduzierbar)</a:t>
            </a:r>
          </a:p>
          <a:p>
            <a:pPr>
              <a:spcAft>
                <a:spcPts val="300"/>
              </a:spcAft>
            </a:pPr>
            <a:r>
              <a:rPr sz="1300"/>
              <a:t>•  Schwellenwert: Wenn Klassifikator-Genauigkeit gegen Tone-Perfect-Labels &gt;98 %, ist manuelle Annotation für Phase 1 verzichtbar</a:t>
            </a:r>
          </a:p>
          <a:p>
            <a:pPr>
              <a:spcAft>
                <a:spcPts val="300"/>
              </a:spcAft>
            </a:pPr>
            <a:r>
              <a:rPr sz="1300"/>
              <a:t>•  Diese Werte sind die idealen Nicht-LLM-Baselines für meine Vergleichstabelle (Spezialmodell ~99 % vs. LLM ?)</a:t>
            </a:r>
          </a:p>
          <a:p>
            <a:pPr>
              <a:spcAft>
                <a:spcPts val="300"/>
              </a:spcAft>
            </a:pPr>
            <a:r>
              <a:rPr sz="1300"/>
              <a:t>•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L2-Lerner — hier brechen ALLE Tools ein (DER 26–32 %)</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1554480"/>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System</a:t>
                      </a:r>
                    </a:p>
                  </a:txBody>
                  <a:tcPr marL="45720" marR="45720" marT="18288" marB="18288" anchor="ctr">
                    <a:solidFill>
                      <a:srgbClr val="1F3A5F"/>
                    </a:solidFill>
                  </a:tcPr>
                </a:tc>
                <a:tc>
                  <a:txBody>
                    <a:bodyPr wrap="square"/>
                    <a:lstStyle/>
                    <a:p>
                      <a:r>
                        <a:rPr sz="1000" b="1">
                          <a:solidFill>
                            <a:srgbClr val="FFFFFF"/>
                          </a:solidFill>
                        </a:rPr>
                        <a:t>Architektur</a:t>
                      </a:r>
                    </a:p>
                  </a:txBody>
                  <a:tcPr marL="45720" marR="45720" marT="18288" marB="18288" anchor="ctr">
                    <a:solidFill>
                      <a:srgbClr val="1F3A5F"/>
                    </a:solidFill>
                  </a:tcPr>
                </a:tc>
                <a:tc>
                  <a:txBody>
                    <a:bodyPr wrap="square"/>
                    <a:lstStyle/>
                    <a:p>
                      <a:r>
                        <a:rPr sz="1000" b="1">
                          <a:solidFill>
                            <a:srgbClr val="FFFFFF"/>
                          </a:solidFill>
                        </a:rPr>
                        <a:t>Eval-Korpus (L2)</a:t>
                      </a:r>
                    </a:p>
                  </a:txBody>
                  <a:tcPr marL="45720" marR="45720" marT="18288" marB="18288" anchor="ctr">
                    <a:solidFill>
                      <a:srgbClr val="1F3A5F"/>
                    </a:solidFill>
                  </a:tcPr>
                </a:tc>
                <a:tc>
                  <a:txBody>
                    <a:bodyPr wrap="square"/>
                    <a:lstStyle/>
                    <a:p>
                      <a:r>
                        <a:rPr sz="1000" b="1">
                          <a:solidFill>
                            <a:srgbClr val="FFFFFF"/>
                          </a:solidFill>
                        </a:rPr>
                        <a:t>Diagnose-Fehlerrate (DER)</a:t>
                      </a:r>
                    </a:p>
                  </a:txBody>
                  <a:tcPr marL="45720" marR="45720" marT="18288" marB="18288" anchor="ctr">
                    <a:solidFill>
                      <a:srgbClr val="1F3A5F"/>
                    </a:solidFill>
                  </a:tcPr>
                </a:tc>
              </a:tr>
              <a:tr h="310896">
                <a:tc>
                  <a:txBody>
                    <a:bodyPr wrap="square"/>
                    <a:lstStyle/>
                    <a:p>
                      <a:r>
                        <a:rPr sz="1000"/>
                        <a:t>Pitch-Aware RNN-T (Wang, IS 2024)</a:t>
                      </a:r>
                    </a:p>
                  </a:txBody>
                  <a:tcPr marL="45720" marR="45720" marT="18288" marB="18288" anchor="ctr">
                    <a:solidFill>
                      <a:srgbClr val="FFFFFF"/>
                    </a:solidFill>
                  </a:tcPr>
                </a:tc>
                <a:tc>
                  <a:txBody>
                    <a:bodyPr wrap="square"/>
                    <a:lstStyle/>
                    <a:p>
                      <a:r>
                        <a:rPr sz="1000"/>
                        <a:t>HuBERT + Pitch-Fusion</a:t>
                      </a:r>
                    </a:p>
                  </a:txBody>
                  <a:tcPr marL="45720" marR="45720" marT="18288" marB="18288" anchor="ctr">
                    <a:solidFill>
                      <a:srgbClr val="FFFFFF"/>
                    </a:solidFill>
                  </a:tcPr>
                </a:tc>
                <a:tc>
                  <a:txBody>
                    <a:bodyPr wrap="square"/>
                    <a:lstStyle/>
                    <a:p>
                      <a:r>
                        <a:rPr sz="1000"/>
                        <a:t>LATIC</a:t>
                      </a:r>
                    </a:p>
                  </a:txBody>
                  <a:tcPr marL="45720" marR="45720" marT="18288" marB="18288" anchor="ctr">
                    <a:solidFill>
                      <a:srgbClr val="FFFFFF"/>
                    </a:solidFill>
                  </a:tcPr>
                </a:tc>
                <a:tc>
                  <a:txBody>
                    <a:bodyPr wrap="square"/>
                    <a:lstStyle/>
                    <a:p>
                      <a:r>
                        <a:rPr sz="1000"/>
                        <a:t>31,80 %</a:t>
                      </a:r>
                    </a:p>
                  </a:txBody>
                  <a:tcPr marL="45720" marR="45720" marT="18288" marB="18288" anchor="ctr">
                    <a:solidFill>
                      <a:srgbClr val="FFFFFF"/>
                    </a:solidFill>
                  </a:tcPr>
                </a:tc>
              </a:tr>
              <a:tr h="310896">
                <a:tc>
                  <a:txBody>
                    <a:bodyPr wrap="square"/>
                    <a:lstStyle/>
                    <a:p>
                      <a:r>
                        <a:rPr sz="1000"/>
                        <a:t>Tone-CAT (arXiv 2606.22022)</a:t>
                      </a:r>
                    </a:p>
                  </a:txBody>
                  <a:tcPr marL="45720" marR="45720" marT="18288" marB="18288" anchor="ctr">
                    <a:solidFill>
                      <a:srgbClr val="E8EEF4"/>
                    </a:solidFill>
                  </a:tcPr>
                </a:tc>
                <a:tc>
                  <a:txBody>
                    <a:bodyPr wrap="square"/>
                    <a:lstStyle/>
                    <a:p>
                      <a:r>
                        <a:rPr sz="1000"/>
                        <a:t>Phonolog. wav2vec2</a:t>
                      </a:r>
                    </a:p>
                  </a:txBody>
                  <a:tcPr marL="45720" marR="45720" marT="18288" marB="18288" anchor="ctr">
                    <a:solidFill>
                      <a:srgbClr val="E8EEF4"/>
                    </a:solidFill>
                  </a:tcPr>
                </a:tc>
                <a:tc>
                  <a:txBody>
                    <a:bodyPr wrap="square"/>
                    <a:lstStyle/>
                    <a:p>
                      <a:r>
                        <a:rPr sz="1000"/>
                        <a:t>LATIC</a:t>
                      </a:r>
                    </a:p>
                  </a:txBody>
                  <a:tcPr marL="45720" marR="45720" marT="18288" marB="18288" anchor="ctr">
                    <a:solidFill>
                      <a:srgbClr val="E8EEF4"/>
                    </a:solidFill>
                  </a:tcPr>
                </a:tc>
                <a:tc>
                  <a:txBody>
                    <a:bodyPr wrap="square"/>
                    <a:lstStyle/>
                    <a:p>
                      <a:r>
                        <a:rPr sz="1000"/>
                        <a:t>27,86 %</a:t>
                      </a:r>
                    </a:p>
                  </a:txBody>
                  <a:tcPr marL="45720" marR="45720" marT="18288" marB="18288" anchor="ctr">
                    <a:solidFill>
                      <a:srgbClr val="E8EEF4"/>
                    </a:solidFill>
                  </a:tcPr>
                </a:tc>
              </a:tr>
              <a:tr h="310896">
                <a:tc>
                  <a:txBody>
                    <a:bodyPr wrap="square"/>
                    <a:lstStyle/>
                    <a:p>
                      <a:r>
                        <a:rPr sz="1000"/>
                        <a:t>Tone-PT (arXiv 2606.22022)</a:t>
                      </a:r>
                    </a:p>
                  </a:txBody>
                  <a:tcPr marL="45720" marR="45720" marT="18288" marB="18288" anchor="ctr">
                    <a:solidFill>
                      <a:srgbClr val="FFFFFF"/>
                    </a:solidFill>
                  </a:tcPr>
                </a:tc>
                <a:tc>
                  <a:txBody>
                    <a:bodyPr wrap="square"/>
                    <a:lstStyle/>
                    <a:p>
                      <a:r>
                        <a:rPr sz="1000"/>
                        <a:t>Phonolog. wav2vec2</a:t>
                      </a:r>
                    </a:p>
                  </a:txBody>
                  <a:tcPr marL="45720" marR="45720" marT="18288" marB="18288" anchor="ctr">
                    <a:solidFill>
                      <a:srgbClr val="FFFFFF"/>
                    </a:solidFill>
                  </a:tcPr>
                </a:tc>
                <a:tc>
                  <a:txBody>
                    <a:bodyPr wrap="square"/>
                    <a:lstStyle/>
                    <a:p>
                      <a:r>
                        <a:rPr sz="1000"/>
                        <a:t>LATIC</a:t>
                      </a:r>
                    </a:p>
                  </a:txBody>
                  <a:tcPr marL="45720" marR="45720" marT="18288" marB="18288" anchor="ctr">
                    <a:solidFill>
                      <a:srgbClr val="FFFFFF"/>
                    </a:solidFill>
                  </a:tcPr>
                </a:tc>
                <a:tc>
                  <a:txBody>
                    <a:bodyPr wrap="square"/>
                    <a:lstStyle/>
                    <a:p>
                      <a:r>
                        <a:rPr sz="1000"/>
                        <a:t>26,05 %</a:t>
                      </a:r>
                    </a:p>
                  </a:txBody>
                  <a:tcPr marL="45720" marR="45720" marT="18288" marB="18288" anchor="ctr">
                    <a:solidFill>
                      <a:srgbClr val="FFFFFF"/>
                    </a:solidFill>
                  </a:tcPr>
                </a:tc>
              </a:tr>
              <a:tr h="310896">
                <a:tc>
                  <a:txBody>
                    <a:bodyPr wrap="square"/>
                    <a:lstStyle/>
                    <a:p>
                      <a:r>
                        <a:rPr sz="1000"/>
                        <a:t>Siamese ResNet (2025)</a:t>
                      </a:r>
                    </a:p>
                  </a:txBody>
                  <a:tcPr marL="45720" marR="45720" marT="18288" marB="18288" anchor="ctr">
                    <a:solidFill>
                      <a:srgbClr val="E8EEF4"/>
                    </a:solidFill>
                  </a:tcPr>
                </a:tc>
                <a:tc>
                  <a:txBody>
                    <a:bodyPr wrap="square"/>
                    <a:lstStyle/>
                    <a:p>
                      <a:r>
                        <a:rPr sz="1000"/>
                        <a:t>Referenz-vs-Test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MSE 0,189 (korreliert mit Mensch)</a:t>
                      </a:r>
                    </a:p>
                  </a:txBody>
                  <a:tcPr marL="45720" marR="45720" marT="18288" marB="18288" anchor="ctr">
                    <a:solidFill>
                      <a:srgbClr val="E8EEF4"/>
                    </a:solidFill>
                  </a:tcPr>
                </a:tc>
              </a:tr>
            </a:tbl>
          </a:graphicData>
        </a:graphic>
      </p:graphicFrame>
      <p:sp>
        <p:nvSpPr>
          <p:cNvPr id="5" name="TextBox 4"/>
          <p:cNvSpPr txBox="1"/>
          <p:nvPr/>
        </p:nvSpPr>
        <p:spPr>
          <a:xfrm>
            <a:off x="411480" y="2770632"/>
            <a:ext cx="11368735" cy="589788"/>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Native isolierte Silbe:  99 %+ Genauigkeit   →  Tool als Cross-Check OK</a:t>
            </a:r>
          </a:p>
          <a:p>
            <a:pPr>
              <a:lnSpc>
                <a:spcPct val="100000"/>
              </a:lnSpc>
              <a:spcAft>
                <a:spcPts val="0"/>
              </a:spcAft>
            </a:pPr>
            <a:r>
              <a:rPr sz="900">
                <a:solidFill>
                  <a:srgbClr val="223344"/>
                </a:solidFill>
                <a:latin typeface="Consolas"/>
              </a:rPr>
              <a:t>L2-Lerner:               DER 26–32 %          →  Mensch unverzichtbar</a:t>
            </a:r>
          </a:p>
          <a:p>
            <a:pPr>
              <a:lnSpc>
                <a:spcPct val="100000"/>
              </a:lnSpc>
              <a:spcAft>
                <a:spcPts val="0"/>
              </a:spcAft>
            </a:pPr>
            <a:r>
              <a:rPr sz="900">
                <a:solidFill>
                  <a:srgbClr val="223344"/>
                </a:solidFill>
                <a:latin typeface="Consolas"/>
              </a:rPr>
              <a:t>                                                 (Tool nur als Vor-Filter)</a:t>
            </a:r>
          </a:p>
        </p:txBody>
      </p:sp>
      <p:sp>
        <p:nvSpPr>
          <p:cNvPr id="6" name="TextBox 5"/>
          <p:cNvSpPr txBox="1"/>
          <p:nvPr/>
        </p:nvSpPr>
        <p:spPr>
          <a:xfrm>
            <a:off x="411480" y="3451860"/>
            <a:ext cx="11368735" cy="1554480"/>
          </a:xfrm>
          <a:prstGeom prst="rect">
            <a:avLst/>
          </a:prstGeom>
          <a:noFill/>
        </p:spPr>
        <p:txBody>
          <a:bodyPr wrap="square">
            <a:spAutoFit/>
          </a:bodyPr>
          <a:lstStyle/>
          <a:p>
            <a:pPr>
              <a:spcAft>
                <a:spcPts val="300"/>
              </a:spcAft>
            </a:pPr>
            <a:r>
              <a:rPr sz="1300"/>
              <a:t>•  Warum? L2-Realisierungen weichen stark ab (aspiriert/unaspiriert verwechselt, Ton 3 zu flach → klingt wie Ton 2), + Datenknappheit</a:t>
            </a:r>
          </a:p>
          <a:p>
            <a:pPr>
              <a:spcAft>
                <a:spcPts val="300"/>
              </a:spcAft>
            </a:pPr>
            <a:r>
              <a:rPr sz="1300"/>
              <a:t>•  Konsequenz für Phase 2 (L2): Menschliche Annotation bleibt nötig; Tool nur als Vorab-Label + Doppelannotation</a:t>
            </a:r>
          </a:p>
          <a:p>
            <a:pPr>
              <a:spcAft>
                <a:spcPts val="300"/>
              </a:spcAft>
            </a:pPr>
            <a:r>
              <a:rPr sz="1300"/>
              <a:t>•  Schwellenwert für Vollautomatik: erst wenn Tool–Mensch-Agreement (Cohens κ) &gt;0,85 auf Pilotstichprobe</a:t>
            </a:r>
          </a:p>
          <a:p>
            <a:pPr>
              <a:spcAft>
                <a:spcPts val="300"/>
              </a:spcAft>
            </a:pPr>
            <a:r>
              <a:rPr sz="1300"/>
              <a:t>•  Das ist genau, warum mein L2-Experiment wertvoll ist: Können LLMs hier besser/anders abschneiden als spezialisierte MDD-Systeme?</a:t>
            </a:r>
          </a:p>
          <a:p>
            <a:pPr>
              <a:spcAft>
                <a:spcPts val="300"/>
              </a:spcAft>
            </a:pPr>
            <a:r>
              <a:rPr sz="1300"/>
              <a:t>•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Tier C — Pitch-Analyse: Praat, Parselmouth, ProsodyPro, MFA</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1554480"/>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Tool</a:t>
                      </a:r>
                    </a:p>
                  </a:txBody>
                  <a:tcPr marL="45720" marR="45720" marT="18288" marB="18288" anchor="ctr">
                    <a:solidFill>
                      <a:srgbClr val="1F3A5F"/>
                    </a:solidFill>
                  </a:tcPr>
                </a:tc>
                <a:tc>
                  <a:txBody>
                    <a:bodyPr wrap="square"/>
                    <a:lstStyle/>
                    <a:p>
                      <a:r>
                        <a:rPr sz="1000" b="1">
                          <a:solidFill>
                            <a:srgbClr val="FFFFFF"/>
                          </a:solidFill>
                        </a:rPr>
                        <a:t>Aufgabe</a:t>
                      </a:r>
                    </a:p>
                  </a:txBody>
                  <a:tcPr marL="45720" marR="45720" marT="18288" marB="18288" anchor="ctr">
                    <a:solidFill>
                      <a:srgbClr val="1F3A5F"/>
                    </a:solidFill>
                  </a:tcPr>
                </a:tc>
                <a:tc>
                  <a:txBody>
                    <a:bodyPr wrap="square"/>
                    <a:lstStyle/>
                    <a:p>
                      <a:r>
                        <a:rPr sz="1000" b="1">
                          <a:solidFill>
                            <a:srgbClr val="FFFFFF"/>
                          </a:solidFill>
                        </a:rPr>
                        <a:t>Output</a:t>
                      </a:r>
                    </a:p>
                  </a:txBody>
                  <a:tcPr marL="45720" marR="45720" marT="18288" marB="18288" anchor="ctr">
                    <a:solidFill>
                      <a:srgbClr val="1F3A5F"/>
                    </a:solidFill>
                  </a:tcPr>
                </a:tc>
                <a:tc>
                  <a:txBody>
                    <a:bodyPr wrap="square"/>
                    <a:lstStyle/>
                    <a:p>
                      <a:r>
                        <a:rPr sz="1000" b="1">
                          <a:solidFill>
                            <a:srgbClr val="FFFFFF"/>
                          </a:solidFill>
                        </a:rPr>
                        <a:t>Für unsere Arbeit</a:t>
                      </a:r>
                    </a:p>
                  </a:txBody>
                  <a:tcPr marL="45720" marR="45720" marT="18288" marB="18288" anchor="ctr">
                    <a:solidFill>
                      <a:srgbClr val="1F3A5F"/>
                    </a:solidFill>
                  </a:tcPr>
                </a:tc>
              </a:tr>
              <a:tr h="310896">
                <a:tc>
                  <a:txBody>
                    <a:bodyPr wrap="square"/>
                    <a:lstStyle/>
                    <a:p>
                      <a:r>
                        <a:rPr sz="1000"/>
                        <a:t>Praat</a:t>
                      </a:r>
                    </a:p>
                  </a:txBody>
                  <a:tcPr marL="45720" marR="45720" marT="18288" marB="18288" anchor="ctr">
                    <a:solidFill>
                      <a:srgbClr val="FFFFFF"/>
                    </a:solidFill>
                  </a:tcPr>
                </a:tc>
                <a:tc>
                  <a:txBody>
                    <a:bodyPr wrap="square"/>
                    <a:lstStyle/>
                    <a:p>
                      <a:r>
                        <a:rPr sz="1000"/>
                        <a:t>F0-Extraktion (Autokorrelation)</a:t>
                      </a:r>
                    </a:p>
                  </a:txBody>
                  <a:tcPr marL="45720" marR="45720" marT="18288" marB="18288" anchor="ctr">
                    <a:solidFill>
                      <a:srgbClr val="FFFFFF"/>
                    </a:solidFill>
                  </a:tcPr>
                </a:tc>
                <a:tc>
                  <a:txBody>
                    <a:bodyPr wrap="square"/>
                    <a:lstStyle/>
                    <a:p>
                      <a:r>
                        <a:rPr sz="1000"/>
                        <a:t>Pitch-Kontur, Spektrogramm</a:t>
                      </a:r>
                    </a:p>
                  </a:txBody>
                  <a:tcPr marL="45720" marR="45720" marT="18288" marB="18288" anchor="ctr">
                    <a:solidFill>
                      <a:srgbClr val="FFFFFF"/>
                    </a:solidFill>
                  </a:tcPr>
                </a:tc>
                <a:tc>
                  <a:txBody>
                    <a:bodyPr wrap="square"/>
                    <a:lstStyle/>
                    <a:p>
                      <a:r>
                        <a:rPr sz="1000"/>
                        <a:t>Goldstandard, manuelle L2-Stichprobe</a:t>
                      </a:r>
                    </a:p>
                  </a:txBody>
                  <a:tcPr marL="45720" marR="45720" marT="18288" marB="18288" anchor="ctr">
                    <a:solidFill>
                      <a:srgbClr val="FFFFFF"/>
                    </a:solidFill>
                  </a:tcPr>
                </a:tc>
              </a:tr>
              <a:tr h="310896">
                <a:tc>
                  <a:txBody>
                    <a:bodyPr wrap="square"/>
                    <a:lstStyle/>
                    <a:p>
                      <a:r>
                        <a:rPr sz="1000"/>
                        <a:t>Parselmouth</a:t>
                      </a:r>
                    </a:p>
                  </a:txBody>
                  <a:tcPr marL="45720" marR="45720" marT="18288" marB="18288" anchor="ctr">
                    <a:solidFill>
                      <a:srgbClr val="E8EEF4"/>
                    </a:solidFill>
                  </a:tcPr>
                </a:tc>
                <a:tc>
                  <a:txBody>
                    <a:bodyPr wrap="square"/>
                    <a:lstStyle/>
                    <a:p>
                      <a:r>
                        <a:rPr sz="1000"/>
                        <a:t>Praat-Kern in Python</a:t>
                      </a:r>
                    </a:p>
                  </a:txBody>
                  <a:tcPr marL="45720" marR="45720" marT="18288" marB="18288" anchor="ctr">
                    <a:solidFill>
                      <a:srgbClr val="E8EEF4"/>
                    </a:solidFill>
                  </a:tcPr>
                </a:tc>
                <a:tc>
                  <a:txBody>
                    <a:bodyPr wrap="square"/>
                    <a:lstStyle/>
                    <a:p>
                      <a:r>
                        <a:rPr sz="1000"/>
                        <a:t>F0-Werte programmatisch</a:t>
                      </a:r>
                    </a:p>
                  </a:txBody>
                  <a:tcPr marL="45720" marR="45720" marT="18288" marB="18288" anchor="ctr">
                    <a:solidFill>
                      <a:srgbClr val="E8EEF4"/>
                    </a:solidFill>
                  </a:tcPr>
                </a:tc>
                <a:tc>
                  <a:txBody>
                    <a:bodyPr wrap="square"/>
                    <a:lstStyle/>
                    <a:p>
                      <a:r>
                        <a:rPr sz="1000"/>
                        <a:t>Batch-Pipeline für alle Samples</a:t>
                      </a:r>
                    </a:p>
                  </a:txBody>
                  <a:tcPr marL="45720" marR="45720" marT="18288" marB="18288" anchor="ctr">
                    <a:solidFill>
                      <a:srgbClr val="E8EEF4"/>
                    </a:solidFill>
                  </a:tcPr>
                </a:tc>
              </a:tr>
              <a:tr h="310896">
                <a:tc>
                  <a:txBody>
                    <a:bodyPr wrap="square"/>
                    <a:lstStyle/>
                    <a:p>
                      <a:r>
                        <a:rPr sz="1000"/>
                        <a:t>ProsodyPro (Yi Xu)</a:t>
                      </a:r>
                    </a:p>
                  </a:txBody>
                  <a:tcPr marL="45720" marR="45720" marT="18288" marB="18288" anchor="ctr">
                    <a:solidFill>
                      <a:srgbClr val="FFFFFF"/>
                    </a:solidFill>
                  </a:tcPr>
                </a:tc>
                <a:tc>
                  <a:txBody>
                    <a:bodyPr wrap="square"/>
                    <a:lstStyle/>
                    <a:p>
                      <a:r>
                        <a:rPr sz="1000"/>
                        <a:t>zeitnormalisierte F0</a:t>
                      </a:r>
                    </a:p>
                  </a:txBody>
                  <a:tcPr marL="45720" marR="45720" marT="18288" marB="18288" anchor="ctr">
                    <a:solidFill>
                      <a:srgbClr val="FFFFFF"/>
                    </a:solidFill>
                  </a:tcPr>
                </a:tc>
                <a:tc>
                  <a:txBody>
                    <a:bodyPr wrap="square"/>
                    <a:lstStyle/>
                    <a:p>
                      <a:r>
                        <a:rPr sz="1000"/>
                        <a:t>10 Punkte/Silbe, F0-Velocity, Range</a:t>
                      </a:r>
                    </a:p>
                  </a:txBody>
                  <a:tcPr marL="45720" marR="45720" marT="18288" marB="18288" anchor="ctr">
                    <a:solidFill>
                      <a:srgbClr val="FFFFFF"/>
                    </a:solidFill>
                  </a:tcPr>
                </a:tc>
                <a:tc>
                  <a:txBody>
                    <a:bodyPr wrap="square"/>
                    <a:lstStyle/>
                    <a:p>
                      <a:r>
                        <a:rPr sz="1000"/>
                        <a:t>Soll-vs-Ist-Konturvergleich</a:t>
                      </a:r>
                    </a:p>
                  </a:txBody>
                  <a:tcPr marL="45720" marR="45720" marT="18288" marB="18288" anchor="ctr">
                    <a:solidFill>
                      <a:srgbClr val="FFFFFF"/>
                    </a:solidFill>
                  </a:tcPr>
                </a:tc>
              </a:tr>
              <a:tr h="310896">
                <a:tc>
                  <a:txBody>
                    <a:bodyPr wrap="square"/>
                    <a:lstStyle/>
                    <a:p>
                      <a:r>
                        <a:rPr sz="1000"/>
                        <a:t>MFA (Montreal Forced Aligner)</a:t>
                      </a:r>
                    </a:p>
                  </a:txBody>
                  <a:tcPr marL="45720" marR="45720" marT="18288" marB="18288" anchor="ctr">
                    <a:solidFill>
                      <a:srgbClr val="E8EEF4"/>
                    </a:solidFill>
                  </a:tcPr>
                </a:tc>
                <a:tc>
                  <a:txBody>
                    <a:bodyPr wrap="square"/>
                    <a:lstStyle/>
                    <a:p>
                      <a:r>
                        <a:rPr sz="1000"/>
                        <a:t>Audio+Text→Zeitgrenzen</a:t>
                      </a:r>
                    </a:p>
                  </a:txBody>
                  <a:tcPr marL="45720" marR="45720" marT="18288" marB="18288" anchor="ctr">
                    <a:solidFill>
                      <a:srgbClr val="E8EEF4"/>
                    </a:solidFill>
                  </a:tcPr>
                </a:tc>
                <a:tc>
                  <a:txBody>
                    <a:bodyPr wrap="square"/>
                    <a:lstStyle/>
                    <a:p>
                      <a:r>
                        <a:rPr sz="1000"/>
                        <a:t>TextGrid (Phonem-Timing)</a:t>
                      </a:r>
                    </a:p>
                  </a:txBody>
                  <a:tcPr marL="45720" marR="45720" marT="18288" marB="18288" anchor="ctr">
                    <a:solidFill>
                      <a:srgbClr val="E8EEF4"/>
                    </a:solidFill>
                  </a:tcPr>
                </a:tc>
                <a:tc>
                  <a:txBody>
                    <a:bodyPr wrap="square"/>
                    <a:lstStyle/>
                    <a:p>
                      <a:r>
                        <a:rPr sz="1000"/>
                        <a:t>Segmentierung vor F0-Analyse</a:t>
                      </a:r>
                    </a:p>
                  </a:txBody>
                  <a:tcPr marL="45720" marR="45720" marT="18288" marB="18288" anchor="ctr">
                    <a:solidFill>
                      <a:srgbClr val="E8EEF4"/>
                    </a:solidFill>
                  </a:tcPr>
                </a:tc>
              </a:tr>
            </a:tbl>
          </a:graphicData>
        </a:graphic>
      </p:graphicFrame>
      <p:sp>
        <p:nvSpPr>
          <p:cNvPr id="5" name="TextBox 4"/>
          <p:cNvSpPr txBox="1"/>
          <p:nvPr/>
        </p:nvSpPr>
        <p:spPr>
          <a:xfrm>
            <a:off x="411480" y="2770632"/>
            <a:ext cx="11368735" cy="438912"/>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Ton 3 (Soll, 214):   ╲___╱      L2-Lerner (Ist):  ╲___      → „Anstieg fehlt"</a:t>
            </a:r>
          </a:p>
          <a:p>
            <a:pPr>
              <a:lnSpc>
                <a:spcPct val="100000"/>
              </a:lnSpc>
              <a:spcAft>
                <a:spcPts val="0"/>
              </a:spcAft>
            </a:pPr>
            <a:r>
              <a:rPr sz="900">
                <a:solidFill>
                  <a:srgbClr val="223344"/>
                </a:solidFill>
                <a:latin typeface="Consolas"/>
              </a:rPr>
              <a:t>                     tief-steigend                 nur tief-fallend (≈ T2-Verwechslung)</a:t>
            </a:r>
          </a:p>
        </p:txBody>
      </p:sp>
      <p:sp>
        <p:nvSpPr>
          <p:cNvPr id="6" name="TextBox 5"/>
          <p:cNvSpPr txBox="1"/>
          <p:nvPr/>
        </p:nvSpPr>
        <p:spPr>
          <a:xfrm>
            <a:off x="411480" y="3300984"/>
            <a:ext cx="11368735" cy="1554480"/>
          </a:xfrm>
          <a:prstGeom prst="rect">
            <a:avLst/>
          </a:prstGeom>
          <a:noFill/>
        </p:spPr>
        <p:txBody>
          <a:bodyPr wrap="square">
            <a:spAutoFit/>
          </a:bodyPr>
          <a:lstStyle/>
          <a:p>
            <a:pPr>
              <a:spcAft>
                <a:spcPts val="300"/>
              </a:spcAft>
            </a:pPr>
            <a:r>
              <a:rPr sz="1300"/>
              <a:t>•  Pipeline: MFA (Segmentierung) → Parselmouth/ProsodyPro (F0) → Vergleich gegen Tone-Perfect-Referenzkonturen</a:t>
            </a:r>
          </a:p>
          <a:p>
            <a:pPr>
              <a:spcAft>
                <a:spcPts val="300"/>
              </a:spcAft>
            </a:pPr>
            <a:r>
              <a:rPr sz="1300"/>
              <a:t>•  Liefert quantitatives, erklärbares Feedback: „Ton-2-Anstieg begann zu spät" — Rohdaten für künftigen Vokabeltrainer</a:t>
            </a:r>
          </a:p>
          <a:p>
            <a:pPr>
              <a:spcAft>
                <a:spcPts val="300"/>
              </a:spcAft>
            </a:pPr>
            <a:r>
              <a:rPr sz="1300"/>
              <a:t>•  Aber: Tier C klassifiziert nicht selbst in Tonkategorien — das muss man aufsetzen (CNN oder Regel)</a:t>
            </a:r>
          </a:p>
          <a:p>
            <a:pPr>
              <a:spcAft>
                <a:spcPts val="300"/>
              </a:spcAft>
            </a:pPr>
            <a:r>
              <a:rPr sz="1300"/>
              <a:t>•  MFA-Einschränkung: Akustikmodelle sind auf native Aussprache trainiert → bei starken L2-Abweichungen kann das Alignment verfehlen</a:t>
            </a:r>
          </a:p>
          <a:p>
            <a:pPr>
              <a:spcAft>
                <a:spcPts val="300"/>
              </a:spcAft>
            </a:pPr>
            <a:r>
              <a:rPr sz="1300"/>
              <a:t>•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Die naheliegende Pipeline (Whisper→g2pW) — und ihr blinder Fleck</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2098548"/>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Audio "mǎ" (Ton 3, native)</a:t>
            </a:r>
          </a:p>
          <a:p>
            <a:pPr>
              <a:lnSpc>
                <a:spcPct val="100000"/>
              </a:lnSpc>
              <a:spcAft>
                <a:spcPts val="0"/>
              </a:spcAft>
            </a:pPr>
            <a:r>
              <a:rPr sz="900">
                <a:solidFill>
                  <a:srgbClr val="223344"/>
                </a:solidFill>
                <a:latin typeface="Consolas"/>
              </a:rPr>
              <a:t>  └─→ Whisper large-v3 → 马 → g2pW → mǎ (T3) ✓   funktioniert für native</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ABER bei L2-Lerner:</a:t>
            </a:r>
          </a:p>
          <a:p>
            <a:pPr>
              <a:lnSpc>
                <a:spcPct val="100000"/>
              </a:lnSpc>
              <a:spcAft>
                <a:spcPts val="0"/>
              </a:spcAft>
            </a:pPr>
            <a:r>
              <a:rPr sz="900">
                <a:solidFill>
                  <a:srgbClr val="223344"/>
                </a:solidFill>
                <a:latin typeface="Consolas"/>
              </a:rPr>
              <a:t>Audio "má" (Ton 2 GESPROCHEN, gemeint war 马/Ton 3)</a:t>
            </a:r>
          </a:p>
          <a:p>
            <a:pPr>
              <a:lnSpc>
                <a:spcPct val="100000"/>
              </a:lnSpc>
              <a:spcAft>
                <a:spcPts val="0"/>
              </a:spcAft>
            </a:pPr>
            <a:r>
              <a:rPr sz="900">
                <a:solidFill>
                  <a:srgbClr val="223344"/>
                </a:solidFill>
                <a:latin typeface="Consolas"/>
              </a:rPr>
              <a:t>  └─→ Whisper → 马 (rät das ZEICHEN) → g2pW → mǎ (T3)</a:t>
            </a:r>
          </a:p>
          <a:p>
            <a:pPr>
              <a:lnSpc>
                <a:spcPct val="100000"/>
              </a:lnSpc>
              <a:spcAft>
                <a:spcPts val="0"/>
              </a:spcAft>
            </a:pPr>
            <a:r>
              <a:rPr sz="900">
                <a:solidFill>
                  <a:srgbClr val="223344"/>
                </a:solidFill>
                <a:latin typeface="Consolas"/>
              </a:rPr>
              <a:t>                                        ↑ Tonfehler VERSCHWINDET</a:t>
            </a:r>
          </a:p>
          <a:p>
            <a:pPr>
              <a:lnSpc>
                <a:spcPct val="100000"/>
              </a:lnSpc>
              <a:spcAft>
                <a:spcPts val="0"/>
              </a:spcAft>
            </a:pPr>
            <a:r>
              <a:rPr sz="900">
                <a:solidFill>
                  <a:srgbClr val="223344"/>
                </a:solidFill>
                <a:latin typeface="Consolas"/>
              </a:rPr>
              <a:t>                                          (Whisper wählt wahrscheinlichstes Zeichen,</a:t>
            </a:r>
          </a:p>
          <a:p>
            <a:pPr>
              <a:lnSpc>
                <a:spcPct val="100000"/>
              </a:lnSpc>
              <a:spcAft>
                <a:spcPts val="0"/>
              </a:spcAft>
            </a:pPr>
            <a:r>
              <a:rPr sz="900">
                <a:solidFill>
                  <a:srgbClr val="223344"/>
                </a:solidFill>
                <a:latin typeface="Consolas"/>
              </a:rPr>
              <a:t>                                           g2pW gibt dessen STANDARDton aus)</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Unsere Methode (multimodales LLM):</a:t>
            </a:r>
          </a:p>
          <a:p>
            <a:pPr>
              <a:lnSpc>
                <a:spcPct val="100000"/>
              </a:lnSpc>
              <a:spcAft>
                <a:spcPts val="0"/>
              </a:spcAft>
            </a:pPr>
            <a:r>
              <a:rPr sz="900">
                <a:solidFill>
                  <a:srgbClr val="223344"/>
                </a:solidFill>
                <a:latin typeface="Consolas"/>
              </a:rPr>
              <a:t>  └─→ Prompt „Transcribe to Pinyin with tone number"</a:t>
            </a:r>
          </a:p>
          <a:p>
            <a:pPr>
              <a:lnSpc>
                <a:spcPct val="100000"/>
              </a:lnSpc>
              <a:spcAft>
                <a:spcPts val="0"/>
              </a:spcAft>
            </a:pPr>
            <a:r>
              <a:rPr sz="900">
                <a:solidFill>
                  <a:srgbClr val="223344"/>
                </a:solidFill>
                <a:latin typeface="Consolas"/>
              </a:rPr>
              <a:t>       → "ma2" ← direkt prüfbar gegen Ground Truth "ma3" ✓</a:t>
            </a:r>
          </a:p>
        </p:txBody>
      </p:sp>
      <p:sp>
        <p:nvSpPr>
          <p:cNvPr id="5" name="TextBox 4"/>
          <p:cNvSpPr txBox="1"/>
          <p:nvPr/>
        </p:nvSpPr>
        <p:spPr>
          <a:xfrm>
            <a:off x="411480" y="3268980"/>
            <a:ext cx="11368735" cy="1554480"/>
          </a:xfrm>
          <a:prstGeom prst="rect">
            <a:avLst/>
          </a:prstGeom>
          <a:noFill/>
        </p:spPr>
        <p:txBody>
          <a:bodyPr wrap="square">
            <a:spAutoFit/>
          </a:bodyPr>
          <a:lstStyle/>
          <a:p>
            <a:pPr>
              <a:spcAft>
                <a:spcPts val="300"/>
              </a:spcAft>
            </a:pPr>
            <a:r>
              <a:rPr sz="1300"/>
              <a:t>•  Standard-ASR (Whisper, iFlytek-ASR) gibt Zeichen aus, keine expliziten Tonlabels → für Ton-Cross-Check ungeeignet ohne Nachbearbeitung</a:t>
            </a:r>
          </a:p>
          <a:p>
            <a:pPr>
              <a:spcAft>
                <a:spcPts val="300"/>
              </a:spcAft>
            </a:pPr>
            <a:r>
              <a:rPr sz="1300"/>
              <a:t>•  Die Pipeline Whisper→g2pW „repariert" L2-Fehler unbeabsichtigt → Tonfehler werden unsichtbar</a:t>
            </a:r>
          </a:p>
          <a:p>
            <a:pPr>
              <a:spcAft>
                <a:spcPts val="300"/>
              </a:spcAft>
            </a:pPr>
            <a:r>
              <a:rPr sz="1300"/>
              <a:t>•  Spezielle Pinyin-ASR (Whisper+LoRA ~6,5 % WER, Branchformer 4,7 %) verbessert Pinyin, löst aber nicht das L2-Ton-Diagnoseproblem</a:t>
            </a:r>
          </a:p>
          <a:p>
            <a:pPr>
              <a:spcAft>
                <a:spcPts val="300"/>
              </a:spcAft>
            </a:pPr>
            <a:r>
              <a:rPr sz="1300"/>
              <a:t>•  Unser direkter Weg (Audio→Pinyin+Ton via LLM) hält Tonfehler sichtbar</a:t>
            </a:r>
          </a:p>
          <a:p>
            <a:pPr>
              <a:spcAft>
                <a:spcPts val="300"/>
              </a:spcAft>
            </a:pPr>
            <a:r>
              <a:rPr sz="1300"/>
              <a:t>•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Die Benchmark-Lücke — LLMs sind bei Phonologie schwach &amp; ungetestet</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1865376"/>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Benchmark</a:t>
                      </a:r>
                    </a:p>
                  </a:txBody>
                  <a:tcPr marL="45720" marR="45720" marT="18288" marB="18288" anchor="ctr">
                    <a:solidFill>
                      <a:srgbClr val="1F3A5F"/>
                    </a:solidFill>
                  </a:tcPr>
                </a:tc>
                <a:tc>
                  <a:txBody>
                    <a:bodyPr wrap="square"/>
                    <a:lstStyle/>
                    <a:p>
                      <a:r>
                        <a:rPr sz="1000" b="1">
                          <a:solidFill>
                            <a:srgbClr val="FFFFFF"/>
                          </a:solidFill>
                        </a:rPr>
                        <a:t>Was getestet</a:t>
                      </a:r>
                    </a:p>
                  </a:txBody>
                  <a:tcPr marL="45720" marR="45720" marT="18288" marB="18288" anchor="ctr">
                    <a:solidFill>
                      <a:srgbClr val="1F3A5F"/>
                    </a:solidFill>
                  </a:tcPr>
                </a:tc>
                <a:tc>
                  <a:txBody>
                    <a:bodyPr wrap="square"/>
                    <a:lstStyle/>
                    <a:p>
                      <a:r>
                        <a:rPr sz="1000" b="1">
                          <a:solidFill>
                            <a:srgbClr val="FFFFFF"/>
                          </a:solidFill>
                        </a:rPr>
                        <a:t>Bestes LLM</a:t>
                      </a:r>
                    </a:p>
                  </a:txBody>
                  <a:tcPr marL="45720" marR="45720" marT="18288" marB="18288" anchor="ctr">
                    <a:solidFill>
                      <a:srgbClr val="1F3A5F"/>
                    </a:solidFill>
                  </a:tcPr>
                </a:tc>
                <a:tc>
                  <a:txBody>
                    <a:bodyPr wrap="square"/>
                    <a:lstStyle/>
                    <a:p>
                      <a:r>
                        <a:rPr sz="1000" b="1">
                          <a:solidFill>
                            <a:srgbClr val="FFFFFF"/>
                          </a:solidFill>
                        </a:rPr>
                        <a:t>Mandarin-Ton isoliert?</a:t>
                      </a:r>
                    </a:p>
                  </a:txBody>
                  <a:tcPr marL="45720" marR="45720" marT="18288" marB="18288" anchor="ctr">
                    <a:solidFill>
                      <a:srgbClr val="1F3A5F"/>
                    </a:solidFill>
                  </a:tcPr>
                </a:tc>
              </a:tr>
              <a:tr h="310896">
                <a:tc>
                  <a:txBody>
                    <a:bodyPr wrap="square"/>
                    <a:lstStyle/>
                    <a:p>
                      <a:r>
                        <a:rPr sz="1000"/>
                        <a:t>MMSU (CUHK, ICLR 2026)</a:t>
                      </a:r>
                    </a:p>
                  </a:txBody>
                  <a:tcPr marL="45720" marR="45720" marT="18288" marB="18288" anchor="ctr">
                    <a:solidFill>
                      <a:srgbClr val="FFFFFF"/>
                    </a:solidFill>
                  </a:tcPr>
                </a:tc>
                <a:tc>
                  <a:txBody>
                    <a:bodyPr wrap="square"/>
                    <a:lstStyle/>
                    <a:p>
                      <a:r>
                        <a:rPr sz="1000"/>
                        <a:t>47 Tasks, inkl. Phonologie</a:t>
                      </a:r>
                    </a:p>
                  </a:txBody>
                  <a:tcPr marL="45720" marR="45720" marT="18288" marB="18288" anchor="ctr">
                    <a:solidFill>
                      <a:srgbClr val="FFFFFF"/>
                    </a:solidFill>
                  </a:tcPr>
                </a:tc>
                <a:tc>
                  <a:txBody>
                    <a:bodyPr wrap="square"/>
                    <a:lstStyle/>
                    <a:p>
                      <a:r>
                        <a:rPr sz="1000"/>
                        <a:t>Gemini-1.5-Pro 60,68 % (Mensch 89,72 %)</a:t>
                      </a:r>
                    </a:p>
                  </a:txBody>
                  <a:tcPr marL="45720" marR="45720" marT="18288" marB="18288" anchor="ctr">
                    <a:solidFill>
                      <a:srgbClr val="FFFFFF"/>
                    </a:solidFill>
                  </a:tcPr>
                </a:tc>
                <a:tc>
                  <a:txBody>
                    <a:bodyPr wrap="square"/>
                    <a:lstStyle/>
                    <a:p>
                      <a:r>
                        <a:rPr sz="1000"/>
                        <a:t>❌ aggregiert, real-world</a:t>
                      </a:r>
                    </a:p>
                  </a:txBody>
                  <a:tcPr marL="45720" marR="45720" marT="18288" marB="18288" anchor="ctr">
                    <a:solidFill>
                      <a:srgbClr val="FFFFFF"/>
                    </a:solidFill>
                  </a:tcPr>
                </a:tc>
              </a:tr>
              <a:tr h="310896">
                <a:tc>
                  <a:txBody>
                    <a:bodyPr wrap="square"/>
                    <a:lstStyle/>
                    <a:p>
                      <a:r>
                        <a:rPr sz="1000"/>
                        <a:t>→ Phonologie-Domäne</a:t>
                      </a:r>
                    </a:p>
                  </a:txBody>
                  <a:tcPr marL="45720" marR="45720" marT="18288" marB="18288" anchor="ctr">
                    <a:solidFill>
                      <a:srgbClr val="E8EEF4"/>
                    </a:solidFill>
                  </a:tcPr>
                </a:tc>
                <a:tc>
                  <a:txBody>
                    <a:bodyPr wrap="square"/>
                    <a:lstStyle/>
                    <a:p>
                      <a:r>
                        <a:rPr sz="1000"/>
                        <a:t>Ton/Prosodie/Phoneme</a:t>
                      </a:r>
                    </a:p>
                  </a:txBody>
                  <a:tcPr marL="45720" marR="45720" marT="18288" marB="18288" anchor="ctr">
                    <a:solidFill>
                      <a:srgbClr val="E8EEF4"/>
                    </a:solidFill>
                  </a:tcPr>
                </a:tc>
                <a:tc>
                  <a:txBody>
                    <a:bodyPr wrap="square"/>
                    <a:lstStyle/>
                    <a:p>
                      <a:r>
                        <a:rPr sz="1000"/>
                        <a:t>nur 53,60 %</a:t>
                      </a:r>
                    </a:p>
                  </a:txBody>
                  <a:tcPr marL="45720" marR="45720" marT="18288" marB="18288" anchor="ctr">
                    <a:solidFill>
                      <a:srgbClr val="E8EEF4"/>
                    </a:solidFill>
                  </a:tcPr>
                </a:tc>
                <a:tc>
                  <a:txBody>
                    <a:bodyPr wrap="square"/>
                    <a:lstStyle/>
                    <a:p>
                      <a:r>
                        <a:rPr sz="1000"/>
                        <a:t>❌ keine Per-Ton-Zahlen</a:t>
                      </a:r>
                    </a:p>
                  </a:txBody>
                  <a:tcPr marL="45720" marR="45720" marT="18288" marB="18288" anchor="ctr">
                    <a:solidFill>
                      <a:srgbClr val="E8EEF4"/>
                    </a:solidFill>
                  </a:tcPr>
                </a:tc>
              </a:tr>
              <a:tr h="310896">
                <a:tc>
                  <a:txBody>
                    <a:bodyPr wrap="square"/>
                    <a:lstStyle/>
                    <a:p>
                      <a:r>
                        <a:rPr sz="1000"/>
                        <a:t>→ GPT-4o-Audio</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56,38 % (&lt; Open-Source!)</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r>
              <a:tr h="310896">
                <a:tc>
                  <a:txBody>
                    <a:bodyPr wrap="square"/>
                    <a:lstStyle/>
                    <a:p>
                      <a:r>
                        <a:rPr sz="1000"/>
                        <a:t>PRiSM (2026)</a:t>
                      </a:r>
                    </a:p>
                  </a:txBody>
                  <a:tcPr marL="45720" marR="45720" marT="18288" marB="18288" anchor="ctr">
                    <a:solidFill>
                      <a:srgbClr val="E8EEF4"/>
                    </a:solidFill>
                  </a:tcPr>
                </a:tc>
                <a:tc>
                  <a:txBody>
                    <a:bodyPr wrap="square"/>
                    <a:lstStyle/>
                    <a:p>
                      <a:r>
                        <a:rPr sz="1000"/>
                        <a:t>Phonerkennung + LALMs</a:t>
                      </a:r>
                    </a:p>
                  </a:txBody>
                  <a:tcPr marL="45720" marR="45720" marT="18288" marB="18288" anchor="ctr">
                    <a:solidFill>
                      <a:srgbClr val="E8EEF4"/>
                    </a:solidFill>
                  </a:tcPr>
                </a:tc>
                <a:tc>
                  <a:txBody>
                    <a:bodyPr wrap="square"/>
                    <a:lstStyle/>
                    <a:p>
                      <a:r>
                        <a:rPr sz="1000"/>
                        <a:t>„LALMs lag behind specialized"</a:t>
                      </a:r>
                    </a:p>
                  </a:txBody>
                  <a:tcPr marL="45720" marR="45720" marT="18288" marB="18288" anchor="ctr">
                    <a:solidFill>
                      <a:srgbClr val="E8EEF4"/>
                    </a:solidFill>
                  </a:tcPr>
                </a:tc>
                <a:tc>
                  <a:txBody>
                    <a:bodyPr wrap="square"/>
                    <a:lstStyle/>
                    <a:p>
                      <a:r>
                        <a:rPr sz="1000"/>
                        <a:t>❌ multilingual/IPA</a:t>
                      </a:r>
                    </a:p>
                  </a:txBody>
                  <a:tcPr marL="45720" marR="45720" marT="18288" marB="18288" anchor="ctr">
                    <a:solidFill>
                      <a:srgbClr val="E8EEF4"/>
                    </a:solidFill>
                  </a:tcPr>
                </a:tc>
              </a:tr>
              <a:tr h="310896">
                <a:tc>
                  <a:txBody>
                    <a:bodyPr wrap="square"/>
                    <a:lstStyle/>
                    <a:p>
                      <a:r>
                        <a:rPr sz="1000"/>
                        <a:t>SSL-Probing (2024–26)</a:t>
                      </a:r>
                    </a:p>
                  </a:txBody>
                  <a:tcPr marL="45720" marR="45720" marT="18288" marB="18288" anchor="ctr">
                    <a:solidFill>
                      <a:srgbClr val="FFFFFF"/>
                    </a:solidFill>
                  </a:tcPr>
                </a:tc>
                <a:tc>
                  <a:txBody>
                    <a:bodyPr wrap="square"/>
                    <a:lstStyle/>
                    <a:p>
                      <a:r>
                        <a:rPr sz="1000"/>
                        <a:t>Ton in HuBERT-Layern</a:t>
                      </a:r>
                    </a:p>
                  </a:txBody>
                  <a:tcPr marL="45720" marR="45720" marT="18288" marB="18288" anchor="ctr">
                    <a:solidFill>
                      <a:srgbClr val="FFFFFF"/>
                    </a:solidFill>
                  </a:tcPr>
                </a:tc>
                <a:tc>
                  <a:txBody>
                    <a:bodyPr wrap="square"/>
                    <a:lstStyle/>
                    <a:p>
                      <a:r>
                        <a:rPr sz="1000"/>
                        <a:t>F1 0,80–0,87 (mittlere Layer)</a:t>
                      </a:r>
                    </a:p>
                  </a:txBody>
                  <a:tcPr marL="45720" marR="45720" marT="18288" marB="18288" anchor="ctr">
                    <a:solidFill>
                      <a:srgbClr val="FFFFFF"/>
                    </a:solidFill>
                  </a:tcPr>
                </a:tc>
                <a:tc>
                  <a:txBody>
                    <a:bodyPr wrap="square"/>
                    <a:lstStyle/>
                    <a:p>
                      <a:r>
                        <a:rPr sz="1000"/>
                        <a:t>⚠️ zeigt: Tokenisierung zerstört Ton</a:t>
                      </a:r>
                    </a:p>
                  </a:txBody>
                  <a:tcPr marL="45720" marR="45720" marT="18288" marB="18288" anchor="ctr">
                    <a:solidFill>
                      <a:srgbClr val="FFFFFF"/>
                    </a:solidFill>
                  </a:tcPr>
                </a:tc>
              </a:tr>
            </a:tbl>
          </a:graphicData>
        </a:graphic>
      </p:graphicFrame>
      <p:sp>
        <p:nvSpPr>
          <p:cNvPr id="5" name="TextBox 4"/>
          <p:cNvSpPr txBox="1"/>
          <p:nvPr/>
        </p:nvSpPr>
        <p:spPr>
          <a:xfrm>
            <a:off x="411480" y="3081528"/>
            <a:ext cx="11368735" cy="740664"/>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 Frontier-Audio-LLMs erreichen bei Phonologie nur ~54 % (Mensch ~90 %)</a:t>
            </a:r>
          </a:p>
          <a:p>
            <a:pPr>
              <a:lnSpc>
                <a:spcPct val="100000"/>
              </a:lnSpc>
              <a:spcAft>
                <a:spcPts val="0"/>
              </a:spcAft>
            </a:pPr>
            <a:r>
              <a:rPr sz="900">
                <a:solidFill>
                  <a:srgbClr val="223344"/>
                </a:solidFill>
                <a:latin typeface="Consolas"/>
              </a:rPr>
              <a:t>• GPT-4o-Audio schlägt sich SCHLECHTER als Open-Source (Qwen2.5-Omni, Kimi-Audio)</a:t>
            </a:r>
          </a:p>
          <a:p>
            <a:pPr>
              <a:lnSpc>
                <a:spcPct val="100000"/>
              </a:lnSpc>
              <a:spcAft>
                <a:spcPts val="0"/>
              </a:spcAft>
            </a:pPr>
            <a:r>
              <a:rPr sz="900">
                <a:solidFill>
                  <a:srgbClr val="223344"/>
                </a:solidFill>
                <a:latin typeface="Consolas"/>
              </a:rPr>
              <a:t>• KEIN Paper benchmarkt LLMs auf isolierter Silben-Tonebene (T1/T2/T3/T4)</a:t>
            </a:r>
          </a:p>
          <a:p>
            <a:pPr>
              <a:lnSpc>
                <a:spcPct val="100000"/>
              </a:lnSpc>
              <a:spcAft>
                <a:spcPts val="0"/>
              </a:spcAft>
            </a:pPr>
            <a:r>
              <a:rPr sz="900">
                <a:solidFill>
                  <a:srgbClr val="223344"/>
                </a:solidFill>
                <a:latin typeface="Consolas"/>
              </a:rPr>
              <a:t>• SSL-Studien erklären WARUM: diskrete Tokenisierung zerstört Toninformation</a:t>
            </a:r>
          </a:p>
        </p:txBody>
      </p:sp>
      <p:sp>
        <p:nvSpPr>
          <p:cNvPr id="6" name="TextBox 5"/>
          <p:cNvSpPr txBox="1"/>
          <p:nvPr/>
        </p:nvSpPr>
        <p:spPr>
          <a:xfrm>
            <a:off x="411480" y="3913632"/>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Was genau fehlt — und wie wir uns abgrenzen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1865376"/>
        </p:xfrm>
        <a:graphic>
          <a:graphicData uri="http://schemas.openxmlformats.org/drawingml/2006/table">
            <a:tbl>
              <a:tblPr firstRow="1" bandRow="1">
                <a:tableStyleId>{5C22544A-7EE6-4342-B048-85BDC9FD1C3A}</a:tableStyleId>
              </a:tblPr>
              <a:tblGrid>
                <a:gridCol w="1910029"/>
                <a:gridCol w="1910029"/>
                <a:gridCol w="1910029"/>
                <a:gridCol w="1910029"/>
                <a:gridCol w="1910029"/>
                <a:gridCol w="1910029"/>
              </a:tblGrid>
              <a:tr h="310896">
                <a:tc>
                  <a:txBody>
                    <a:bodyPr wrap="square"/>
                    <a:lstStyle/>
                    <a:p>
                      <a:r>
                        <a:rPr sz="1000" b="1">
                          <a:solidFill>
                            <a:srgbClr val="FFFFFF"/>
                          </a:solidFill>
                        </a:rPr>
                        <a:t>Arbeit</a:t>
                      </a:r>
                    </a:p>
                  </a:txBody>
                  <a:tcPr marL="45720" marR="45720" marT="18288" marB="18288" anchor="ctr">
                    <a:solidFill>
                      <a:srgbClr val="1F3A5F"/>
                    </a:solidFill>
                  </a:tcPr>
                </a:tc>
                <a:tc>
                  <a:txBody>
                    <a:bodyPr wrap="square"/>
                    <a:lstStyle/>
                    <a:p>
                      <a:r>
                        <a:rPr sz="1000" b="1">
                          <a:solidFill>
                            <a:srgbClr val="FFFFFF"/>
                          </a:solidFill>
                        </a:rPr>
                        <a:t>LLM?</a:t>
                      </a:r>
                    </a:p>
                  </a:txBody>
                  <a:tcPr marL="45720" marR="45720" marT="18288" marB="18288" anchor="ctr">
                    <a:solidFill>
                      <a:srgbClr val="1F3A5F"/>
                    </a:solidFill>
                  </a:tcPr>
                </a:tc>
                <a:tc>
                  <a:txBody>
                    <a:bodyPr wrap="square"/>
                    <a:lstStyle/>
                    <a:p>
                      <a:r>
                        <a:rPr sz="1000" b="1">
                          <a:solidFill>
                            <a:srgbClr val="FFFFFF"/>
                          </a:solidFill>
                        </a:rPr>
                        <a:t>Audio→Pinyin+Ton?</a:t>
                      </a:r>
                    </a:p>
                  </a:txBody>
                  <a:tcPr marL="45720" marR="45720" marT="18288" marB="18288" anchor="ctr">
                    <a:solidFill>
                      <a:srgbClr val="1F3A5F"/>
                    </a:solidFill>
                  </a:tcPr>
                </a:tc>
                <a:tc>
                  <a:txBody>
                    <a:bodyPr wrap="square"/>
                    <a:lstStyle/>
                    <a:p>
                      <a:r>
                        <a:rPr sz="1000" b="1">
                          <a:solidFill>
                            <a:srgbClr val="FFFFFF"/>
                          </a:solidFill>
                        </a:rPr>
                        <a:t>Isolierte Silbe?</a:t>
                      </a:r>
                    </a:p>
                  </a:txBody>
                  <a:tcPr marL="45720" marR="45720" marT="18288" marB="18288" anchor="ctr">
                    <a:solidFill>
                      <a:srgbClr val="1F3A5F"/>
                    </a:solidFill>
                  </a:tcPr>
                </a:tc>
                <a:tc>
                  <a:txBody>
                    <a:bodyPr wrap="square"/>
                    <a:lstStyle/>
                    <a:p>
                      <a:r>
                        <a:rPr sz="1000" b="1">
                          <a:solidFill>
                            <a:srgbClr val="FFFFFF"/>
                          </a:solidFill>
                        </a:rPr>
                        <a:t>Per-Ton?</a:t>
                      </a:r>
                    </a:p>
                  </a:txBody>
                  <a:tcPr marL="45720" marR="45720" marT="18288" marB="18288" anchor="ctr">
                    <a:solidFill>
                      <a:srgbClr val="1F3A5F"/>
                    </a:solidFill>
                  </a:tcPr>
                </a:tc>
                <a:tc>
                  <a:txBody>
                    <a:bodyPr wrap="square"/>
                    <a:lstStyle/>
                    <a:p>
                      <a:r>
                        <a:rPr sz="1000" b="1">
                          <a:solidFill>
                            <a:srgbClr val="FFFFFF"/>
                          </a:solidFill>
                        </a:rPr>
                        <a:t>L2?</a:t>
                      </a:r>
                    </a:p>
                  </a:txBody>
                  <a:tcPr marL="45720" marR="45720" marT="18288" marB="18288" anchor="ctr">
                    <a:solidFill>
                      <a:srgbClr val="1F3A5F"/>
                    </a:solidFill>
                  </a:tcPr>
                </a:tc>
              </a:tr>
              <a:tr h="310896">
                <a:tc>
                  <a:txBody>
                    <a:bodyPr wrap="square"/>
                    <a:lstStyle/>
                    <a:p>
                      <a:r>
                        <a:rPr sz="1000"/>
                        <a:t>CNN/HuBERT (Tone Perfect)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 nur Ton-Klasse</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r>
              <a:tr h="310896">
                <a:tc>
                  <a:txBody>
                    <a:bodyPr wrap="square"/>
                    <a:lstStyle/>
                    <a:p>
                      <a:r>
                        <a:rPr sz="1000"/>
                        <a:t>SpeechSuper/iFlytek</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 Ton-Score</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 Black-Box</a:t>
                      </a:r>
                    </a:p>
                  </a:txBody>
                  <a:tcPr marL="45720" marR="45720" marT="18288" marB="18288" anchor="ctr">
                    <a:solidFill>
                      <a:srgbClr val="E8EEF4"/>
                    </a:solidFill>
                  </a:tcPr>
                </a:tc>
              </a:tr>
              <a:tr h="310896">
                <a:tc>
                  <a:txBody>
                    <a:bodyPr wrap="square"/>
                    <a:lstStyle/>
                    <a:p>
                      <a:r>
                        <a:rPr sz="1000"/>
                        <a:t>MMSU</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 aggregiert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r>
              <a:tr h="310896">
                <a:tc>
                  <a:txBody>
                    <a:bodyPr wrap="square"/>
                    <a:lstStyle/>
                    <a:p>
                      <a:r>
                        <a:rPr sz="1000"/>
                        <a:t>Tone-CAT/PT (MDD)</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 Diagnose</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 DER 26 %</a:t>
                      </a:r>
                    </a:p>
                  </a:txBody>
                  <a:tcPr marL="45720" marR="45720" marT="18288" marB="18288" anchor="ctr">
                    <a:solidFill>
                      <a:srgbClr val="E8EEF4"/>
                    </a:solidFill>
                  </a:tcPr>
                </a:tc>
              </a:tr>
              <a:tr h="310896">
                <a:tc>
                  <a:txBody>
                    <a:bodyPr wrap="square"/>
                    <a:lstStyle/>
                    <a:p>
                      <a:r>
                        <a:rPr sz="1000"/>
                        <a:t>Unsere Arbeit</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 direkt</a:t>
                      </a:r>
                    </a:p>
                  </a:txBody>
                  <a:tcPr marL="45720" marR="45720" marT="18288" marB="18288" anchor="ctr">
                    <a:solidFill>
                      <a:srgbClr val="FFFFFF"/>
                    </a:solidFill>
                  </a:tcPr>
                </a:tc>
                <a:tc>
                  <a:txBody>
                    <a:bodyPr wrap="square"/>
                    <a:lstStyle/>
                    <a:p>
                      <a:r>
                        <a:rPr sz="1000"/>
                        <a:t>✅ Tone Perfect</a:t>
                      </a:r>
                    </a:p>
                  </a:txBody>
                  <a:tcPr marL="45720" marR="45720" marT="18288" marB="18288" anchor="ctr">
                    <a:solidFill>
                      <a:srgbClr val="FFFFFF"/>
                    </a:solidFill>
                  </a:tcPr>
                </a:tc>
                <a:tc>
                  <a:txBody>
                    <a:bodyPr wrap="square"/>
                    <a:lstStyle/>
                    <a:p>
                      <a:r>
                        <a:rPr sz="1000"/>
                        <a:t>✅ TER + Konfusion</a:t>
                      </a:r>
                    </a:p>
                  </a:txBody>
                  <a:tcPr marL="45720" marR="45720" marT="18288" marB="18288" anchor="ctr">
                    <a:solidFill>
                      <a:srgbClr val="FFFFFF"/>
                    </a:solidFill>
                  </a:tcPr>
                </a:tc>
                <a:tc>
                  <a:txBody>
                    <a:bodyPr wrap="square"/>
                    <a:lstStyle/>
                    <a:p>
                      <a:r>
                        <a:rPr sz="1000"/>
                        <a:t>✅ LATIC</a:t>
                      </a:r>
                    </a:p>
                  </a:txBody>
                  <a:tcPr marL="45720" marR="45720" marT="18288" marB="18288" anchor="ctr">
                    <a:solidFill>
                      <a:srgbClr val="FFFFFF"/>
                    </a:solidFill>
                  </a:tcPr>
                </a:tc>
              </a:tr>
            </a:tbl>
          </a:graphicData>
        </a:graphic>
      </p:graphicFrame>
      <p:sp>
        <p:nvSpPr>
          <p:cNvPr id="5" name="TextBox 4"/>
          <p:cNvSpPr txBox="1"/>
          <p:nvPr/>
        </p:nvSpPr>
        <p:spPr>
          <a:xfrm>
            <a:off x="411480" y="3081528"/>
            <a:ext cx="11368735" cy="676656"/>
          </a:xfrm>
          <a:prstGeom prst="rect">
            <a:avLst/>
          </a:prstGeom>
          <a:noFill/>
        </p:spPr>
        <p:txBody>
          <a:bodyPr wrap="square">
            <a:spAutoFit/>
          </a:bodyPr>
          <a:lstStyle/>
          <a:p>
            <a:pPr>
              <a:spcAft>
                <a:spcPts val="300"/>
              </a:spcAft>
            </a:pPr>
            <a:r>
              <a:rPr i="1" sz="1200">
                <a:solidFill>
                  <a:srgbClr val="444444"/>
                </a:solidFill>
              </a:rPr>
              <a:t>„„Erstes systematisches isolierte-Silben-Mandarin-Ton-+-Phonem-Benchmark von Frontier-Audio-LLMs — abgegrenzt von MMSU (aggregierte Phonologie), PRiSM (multilinguale Phonerkennung) und SSL-Probing (kein instruction-tuned LLM).""</a:t>
            </a:r>
          </a:p>
          <a:p>
            <a:pPr>
              <a:spcAft>
                <a:spcPts val="300"/>
              </a:spcAft>
            </a:pPr>
            <a:r>
              <a:rPr sz="1300"/>
              <a:t>•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Wie wir die Tools nutzen — drei Rollen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947672"/>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ROLLE 1: NICHT-LLM-BASELINE (Vergleichsmaßstab)</a:t>
            </a:r>
          </a:p>
          <a:p>
            <a:pPr>
              <a:lnSpc>
                <a:spcPct val="100000"/>
              </a:lnSpc>
              <a:spcAft>
                <a:spcPts val="0"/>
              </a:spcAft>
            </a:pPr>
            <a:r>
              <a:rPr sz="900">
                <a:solidFill>
                  <a:srgbClr val="223344"/>
                </a:solidFill>
                <a:latin typeface="Consolas"/>
              </a:rPr>
              <a:t>  Text  → g2pW (99 %)                          → RQ1-Baseline</a:t>
            </a:r>
          </a:p>
          <a:p>
            <a:pPr>
              <a:lnSpc>
                <a:spcPct val="100000"/>
              </a:lnSpc>
              <a:spcAft>
                <a:spcPts val="0"/>
              </a:spcAft>
            </a:pPr>
            <a:r>
              <a:rPr sz="900">
                <a:solidFill>
                  <a:srgbClr val="223344"/>
                </a:solidFill>
                <a:latin typeface="Consolas"/>
              </a:rPr>
              <a:t>  Audio → CNN/HuBERT-Tonklassifik. (~99 % native) → Tier-B-Baseline</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ROLLE 2: AUTOMATISCHER CROSS-CHECK (Annotationskosten senken)</a:t>
            </a:r>
          </a:p>
          <a:p>
            <a:pPr>
              <a:lnSpc>
                <a:spcPct val="100000"/>
              </a:lnSpc>
              <a:spcAft>
                <a:spcPts val="0"/>
              </a:spcAft>
            </a:pPr>
            <a:r>
              <a:rPr sz="900">
                <a:solidFill>
                  <a:srgbClr val="223344"/>
                </a:solidFill>
                <a:latin typeface="Consolas"/>
              </a:rPr>
              <a:t>  Phase 1 (native):  Tone-Perfect-Labels + CNN-Klassifik. → manuelles Labeln entfällt (κ&gt;0,85)</a:t>
            </a:r>
          </a:p>
          <a:p>
            <a:pPr>
              <a:lnSpc>
                <a:spcPct val="100000"/>
              </a:lnSpc>
              <a:spcAft>
                <a:spcPts val="0"/>
              </a:spcAft>
            </a:pPr>
            <a:r>
              <a:rPr sz="900">
                <a:solidFill>
                  <a:srgbClr val="223344"/>
                </a:solidFill>
                <a:latin typeface="Consolas"/>
              </a:rPr>
              <a:t>  Phase 2 (L2):      SpeechSuper/iFlytek als VOR-Label → Mensch prüft Stichprobe + Disagreements</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ROLLE 3: EVALUATION DES LLM-OUTPUTS</a:t>
            </a:r>
          </a:p>
          <a:p>
            <a:pPr>
              <a:lnSpc>
                <a:spcPct val="100000"/>
              </a:lnSpc>
              <a:spcAft>
                <a:spcPts val="0"/>
              </a:spcAft>
            </a:pPr>
            <a:r>
              <a:rPr sz="900">
                <a:solidFill>
                  <a:srgbClr val="223344"/>
                </a:solidFill>
                <a:latin typeface="Consolas"/>
              </a:rPr>
              <a:t>  LLM → pinyin-to-ipa → PanPhon  → PFER (artikulatorisch gewichtet)</a:t>
            </a:r>
          </a:p>
          <a:p>
            <a:pPr>
              <a:lnSpc>
                <a:spcPct val="100000"/>
              </a:lnSpc>
              <a:spcAft>
                <a:spcPts val="0"/>
              </a:spcAft>
            </a:pPr>
            <a:r>
              <a:rPr sz="900">
                <a:solidFill>
                  <a:srgbClr val="223344"/>
                </a:solidFill>
                <a:latin typeface="Consolas"/>
              </a:rPr>
              <a:t>  LLM vs. Ground Truth: Tonvergleich → TER ;  Zeichen → CER (Literatur)</a:t>
            </a:r>
          </a:p>
          <a:p>
            <a:pPr>
              <a:lnSpc>
                <a:spcPct val="100000"/>
              </a:lnSpc>
              <a:spcAft>
                <a:spcPts val="0"/>
              </a:spcAft>
            </a:pPr>
            <a:r>
              <a:rPr sz="900">
                <a:solidFill>
                  <a:srgbClr val="223344"/>
                </a:solidFill>
                <a:latin typeface="Consolas"/>
              </a:rPr>
              <a:t>  Strittige L2-Fälle:  MFA → Parselmouth/ProsodyPro → F0-Kontur (Schiedsrichter)</a:t>
            </a:r>
          </a:p>
        </p:txBody>
      </p:sp>
      <p:sp>
        <p:nvSpPr>
          <p:cNvPr id="5" name="TextBox 4"/>
          <p:cNvSpPr txBox="1"/>
          <p:nvPr/>
        </p:nvSpPr>
        <p:spPr>
          <a:xfrm>
            <a:off x="411480" y="3118104"/>
            <a:ext cx="11368735" cy="5029200"/>
          </a:xfrm>
          <a:prstGeom prst="rect">
            <a:avLst/>
          </a:prstGeom>
          <a:noFill/>
        </p:spPr>
        <p:txBody>
          <a:bodyPr wrap="square">
            <a:spAutoFit/>
          </a:bodyPr>
          <a:lstStyle/>
          <a:p>
            <a:pPr>
              <a:spcAft>
                <a:spcPts val="300"/>
              </a:spcAft>
            </a:pPr>
            <a:r>
              <a:rPr sz="1300"/>
              <a:t>•  Komplett kostenlos möglich: g2pW, CNN, MFA, Parselmouth, ProsodyPro, PanPhon = Open Source; CAPT-APIs nur als optionaler Gegencheck (Free-Trials)</a:t>
            </a:r>
          </a:p>
          <a:p>
            <a:pPr>
              <a:spcAft>
                <a:spcPts val="300"/>
              </a:spcAft>
            </a:pPr>
            <a:r>
              <a:rPr sz="1300"/>
              <a:t>•  Kostenkontrolle (passt zum &lt;50 €-Budget): keine teuren manuellen Annotatoren für Phase 1</a:t>
            </a:r>
          </a:p>
          <a:p>
            <a:pPr>
              <a:spcAft>
                <a:spcPts val="300"/>
              </a:spcAft>
            </a:pPr>
            <a:r>
              <a:rPr sz="1300"/>
              <a:t>•  PanPhon bleibt zentral für faire PFER (Near-Miss m↔n wird milder bestraft als m↔ts)</a:t>
            </a:r>
          </a:p>
          <a:p>
            <a:pPr>
              <a:spcAft>
                <a:spcPts val="300"/>
              </a:spcAft>
            </a:pPr>
            <a:r>
              <a:rPr sz="1300"/>
              <a:t>•  ---</a:t>
            </a:r>
          </a:p>
          <a:p>
            <a:pPr>
              <a:spcAft>
                <a:spcPts val="300"/>
              </a:spcAft>
            </a:pPr>
            <a:r>
              <a:rPr sz="1300"/>
              <a:t>•  Vortragbare Folien: T1–T10. Kürzungsoption (auf ~6): T1, T2, dann T3+T4+T5 zu „Tier B" zusammenziehen, T7, T8, T10.</a:t>
            </a:r>
          </a:p>
          <a:p>
            <a:pPr>
              <a:spcAft>
                <a:spcPts val="300"/>
              </a:spcAft>
            </a:pPr>
            <a:r>
              <a:rPr sz="1300"/>
              <a:t>•  Die wichtigste neue Botschaft an Tim (ggü. gestern verschärft):</a:t>
            </a:r>
          </a:p>
          <a:p>
            <a:pPr>
              <a:spcAft>
                <a:spcPts val="300"/>
              </a:spcAft>
            </a:pPr>
            <a:r>
              <a:rPr sz="1300"/>
              <a:t>•  1. Audio→Ton-Tools existieren — aber gespalten: native gelöst (~99 %), L2 kaputt (DER 26–32 %).</a:t>
            </a:r>
          </a:p>
          <a:p>
            <a:pPr>
              <a:spcAft>
                <a:spcPts val="300"/>
              </a:spcAft>
            </a:pPr>
            <a:r>
              <a:rPr sz="1300"/>
              <a:t>•  2. Daraus folgt direkt: Phase 1 braucht kein teures Labeling (CNN-Cross-Check reicht); Phase 2 schon (Mensch unverzichtbar).</a:t>
            </a:r>
          </a:p>
          <a:p>
            <a:pPr>
              <a:spcAft>
                <a:spcPts val="300"/>
              </a:spcAft>
            </a:pPr>
            <a:r>
              <a:rPr sz="1300"/>
              <a:t>•  3. Die LLM-Lücke ist schärfer als „kein Tool": kein Frontier-LLM wurde je auf isolierter Silben-Tonebene gebenchmarkt (MMSU-Phonologie nur 53,6 %).</a:t>
            </a:r>
          </a:p>
          <a:p>
            <a:pPr>
              <a:spcAft>
                <a:spcPts val="300"/>
              </a:spcAft>
            </a:pPr>
            <a:r>
              <a:rPr sz="1300"/>
              <a:t>•  Verifizierte Headline-Zahlen (Q&amp;A-fest, Stand 2026-06-29):</a:t>
            </a:r>
          </a:p>
          <a:p>
            <a:pPr lvl="1">
              <a:spcAft>
                <a:spcPts val="300"/>
              </a:spcAft>
            </a:pPr>
            <a:r>
              <a:rPr sz="1300"/>
              <a:t>–  MMSU: Gemini-1.5-Pro 60,68 % (Phonologie 53,6 %), GPT-4o-Audio 56,38 %, Mensch 89,72 % → arXiv 2506.04779</a:t>
            </a:r>
          </a:p>
          <a:p>
            <a:pPr lvl="1">
              <a:spcAft>
                <a:spcPts val="300"/>
              </a:spcAft>
            </a:pPr>
            <a:r>
              <a:rPr sz="1300"/>
              <a:t>–  CNN Tone Perfect 99,8 % (alicex2020); ToneNet ~99 %; wav2vec2 6 % TER (Yuan 2021)</a:t>
            </a:r>
          </a:p>
          <a:p>
            <a:pPr lvl="1">
              <a:spcAft>
                <a:spcPts val="300"/>
              </a:spcAft>
            </a:pPr>
            <a:r>
              <a:rPr sz="1300"/>
              <a:t>–  L2-MDD DER: Pitch-Aware RNN-T 31,8 % → Tone-CAT 27,86 % → Tone-PT 26,05 % (arXiv 2606.22022)</a:t>
            </a:r>
          </a:p>
          <a:p>
            <a:pPr lvl="1">
              <a:spcAft>
                <a:spcPts val="300"/>
              </a:spcAft>
            </a:pPr>
            <a:r>
              <a:rPr sz="1300"/>
              <a:t>–  SpeechSuper: getrennter Ton-Score + Ton-Prädiktion; Wort/Phrase „in Arbeit"</a:t>
            </a:r>
          </a:p>
          <a:p>
            <a:pPr lvl="1">
              <a:spcAft>
                <a:spcPts val="300"/>
              </a:spcAft>
            </a:pPr>
            <a:r>
              <a:rPr sz="1300"/>
              <a:t>–  Azure zh-CN: kein separater Ton-Score</a:t>
            </a:r>
          </a:p>
          <a:p>
            <a:pPr>
              <a:spcAft>
                <a:spcPts val="300"/>
              </a:spcAft>
            </a:pPr>
            <a:r>
              <a:rPr sz="1300"/>
              <a:t>•  Bewusst NICHT als Headline zitiert (unbelegt): „9M-CAPT-Modell 98,29 %" (Blog/Show-HN); App-Genauigkeiten (TonePerfect/MandaTone/Yutone — keine Peer-Review-Zahlen). Nur als Markt-Kontext nennen.</a:t>
            </a:r>
          </a:p>
          <a:p>
            <a:pPr>
              <a:spcAft>
                <a:spcPts val="300"/>
              </a:spcAft>
            </a:pPr>
            <a:r>
              <a:rPr sz="1300"/>
              <a:t>•  Offene Validierungs-Aufgabe vor Nutzung: CAPT-APIs auf eigener Pilotstichprobe prüfen (κ gegen menschliche Labels), bevor sie als L2-Cross-Check dienen.</a:t>
            </a:r>
          </a:p>
          <a:p>
            <a:pPr>
              <a:spcAft>
                <a:spcPts val="300"/>
              </a:spcAft>
            </a:pPr>
            <a:r>
              <a:rPr sz="1300"/>
              <a:t>•  MMSU: [arXiv 2506.04779](https://arxiv.org/abs/2506.04779) | [HTML](https://arxiv.org/html/2506.04779v2)</a:t>
            </a:r>
          </a:p>
          <a:p>
            <a:pPr>
              <a:spcAft>
                <a:spcPts val="300"/>
              </a:spcAft>
            </a:pPr>
            <a:r>
              <a:rPr sz="1300"/>
              <a:t>•  Phonological-Level Wav2Vec2 MDD (Tone-CAT/PT): [arXiv 2606.22022](https://arxiv.org/html/2606.22022v1) | [Speech Communication](https://www.sciencedirect.com/science/article/pii/S0167639325000640)</a:t>
            </a:r>
          </a:p>
          <a:p>
            <a:pPr>
              <a:spcAft>
                <a:spcPts val="300"/>
              </a:spcAft>
            </a:pPr>
            <a:r>
              <a:rPr sz="1300"/>
              <a:t>•  Pitch-Aware RNN-T MDD (Wang, IS 2024): [arXiv 2406.04595](https://arxiv.org/abs/2406.04595)</a:t>
            </a:r>
          </a:p>
          <a:p>
            <a:pPr>
              <a:spcAft>
                <a:spcPts val="300"/>
              </a:spcAft>
            </a:pPr>
            <a:r>
              <a:rPr sz="1300"/>
              <a:t>•  CNN Tone Classification (Tone Perfect, 99,8 %): [GitHub alicex2020](https://github.com/alicex2020/Mandarin-Tone-Classification) | [Tone Perfect MSU](https://tone.lib.msu.edu/related)</a:t>
            </a:r>
          </a:p>
          <a:p>
            <a:pPr>
              <a:spcAft>
                <a:spcPts val="300"/>
              </a:spcAft>
            </a:pPr>
            <a:r>
              <a:rPr sz="1300"/>
              <a:t>•  ToneNet (IS 2019): [ISCA Archive](https://www.isca-archive.org/interspeech_2019/gao19c_interspeech.pdf)</a:t>
            </a:r>
          </a:p>
          <a:p>
            <a:pPr>
              <a:spcAft>
                <a:spcPts val="300"/>
              </a:spcAft>
            </a:pPr>
            <a:r>
              <a:rPr sz="1300"/>
              <a:t>•  Systematic Review ML Mandarin Tone (2025): [Preprints.org 202510.2478](https://www.preprints.org/manuscript/202510.2478)</a:t>
            </a:r>
          </a:p>
          <a:p>
            <a:pPr>
              <a:spcAft>
                <a:spcPts val="300"/>
              </a:spcAft>
            </a:pPr>
            <a:r>
              <a:rPr sz="1300"/>
              <a:t>•  SpeechSuper Tone Prediction: [Medium](https://medium.com/@speechsuper1024/unveiling-speechsupers-tone-prediction-feature-for-improved-mandarin-chinese-pronunciation-2b6c2e30e3cb) | [API Samples](https://github.com/speechsuper/SpeechSuper-API-Samples)</a:t>
            </a:r>
          </a:p>
          <a:p>
            <a:pPr>
              <a:spcAft>
                <a:spcPts val="300"/>
              </a:spcAft>
            </a:pPr>
            <a:r>
              <a:rPr sz="1300"/>
              <a:t>•  iFlytek ISE: [Produkt](https://global.xfyun.cn/products/ise) | [API-Doku](https://global.xfyun.cn/doc/voiceservice/ise/API.html)</a:t>
            </a:r>
          </a:p>
          <a:p>
            <a:pPr>
              <a:spcAft>
                <a:spcPts val="300"/>
              </a:spcAft>
            </a:pPr>
            <a:r>
              <a:rPr sz="1300"/>
              <a:t>•  Azure Pronunciation Assessment: [MS Learn](https://learn.microsoft.com/en-us/azure/ai-services/speech-service/how-to-pronunciation-assessment)</a:t>
            </a:r>
          </a:p>
          <a:p>
            <a:pPr>
              <a:spcAft>
                <a:spcPts val="300"/>
              </a:spcAft>
            </a:pPr>
            <a:r>
              <a:rPr sz="1300"/>
              <a:t>•  SpeakGoodChinese: [UvA](https://www.fon.hum.uva.nl/sgc/) | [IS2007 Poster](https://www.fon.hum.uva.nl/rob/Publications/is2007_sgc_Poster.pdf)</a:t>
            </a:r>
          </a:p>
          <a:p>
            <a:pPr>
              <a:spcAft>
                <a:spcPts val="300"/>
              </a:spcAft>
            </a:pPr>
            <a:r>
              <a:rPr sz="1300"/>
              <a:t>•  Parselmouth: [Doku](https://parselmouth.readthedocs.io) | ProsodyPro (Yi Xu, UCL): [TRASP 2013](https://www.homepages.ucl.ac.uk/~uclyyix/yispapers/Xu_TRASP2013.pdf)</a:t>
            </a:r>
          </a:p>
          <a:p>
            <a:pPr>
              <a:spcAft>
                <a:spcPts val="300"/>
              </a:spcAft>
            </a:pPr>
            <a:r>
              <a:rPr sz="1300"/>
              <a:t>•  g2pW: [GitHub](https://github.com/GitYCC/g2pW) | [Paper IS2022](https://arxiv.org/abs/2203.10430) · g2pM: [Paper IS2020](https://arxiv.org/abs/2004.03136)</a:t>
            </a:r>
          </a:p>
          <a:p>
            <a:pPr>
              <a:spcAft>
                <a:spcPts val="300"/>
              </a:spcAft>
            </a:pPr>
            <a:r>
              <a:rPr sz="1300"/>
              <a:t>•  PanPhon: [GitHub](https://github.com/dmort27/panphon) | [Paper COLING 2016](https://aclanthology.org/C16-1328.pdf)</a:t>
            </a:r>
          </a:p>
          <a:p>
            <a:pPr>
              <a:spcAft>
                <a:spcPts val="300"/>
              </a:spcAft>
            </a:pPr>
            <a:r>
              <a:rPr sz="1300"/>
              <a:t>•  pinyin-to-ipa / dragonmapper / epitran: [stefantaubert](https://github.com/stefantaubert/pinyin-to-ipa) | [tsroten](https://github.com/tsroten/dragonmapper) | [dmort27](https://github.com/dmort27/epitran)</a:t>
            </a:r>
          </a:p>
          <a:p>
            <a:pPr>
              <a:spcAft>
                <a:spcPts val="300"/>
              </a:spcAft>
            </a:pPr>
            <a:r>
              <a:rPr sz="1300"/>
              <a:t>•  MFA: [Doku](https://montreal-forced-aligner.readthedocs.io) | [arXiv 2606.18466](https://arxiv.org/html/2606.18466v1)</a:t>
            </a:r>
          </a:p>
          <a:p>
            <a:pPr>
              <a:spcAft>
                <a:spcPts val="300"/>
              </a:spcAft>
            </a:pPr>
            <a:r>
              <a:rPr sz="1300"/>
              <a:t>•  Praat: [praat.org](https://www.fon.hum.uva.nl/praat/)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728655" cy="1371600"/>
          </a:xfrm>
          <a:prstGeom prst="rect">
            <a:avLst/>
          </a:prstGeom>
          <a:noFill/>
        </p:spPr>
        <p:txBody>
          <a:bodyPr wrap="square">
            <a:spAutoFit/>
          </a:bodyPr>
          <a:lstStyle/>
          <a:p>
            <a:r>
              <a:rPr sz="3400" b="1">
                <a:solidFill>
                  <a:srgbClr val="FFFFFF"/>
                </a:solidFill>
              </a:rPr>
              <a:t>Metriken — Übersicht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Wie Transkription ausgewertet wird — und wo die blinden Flecken liegen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261872"/>
          </a:xfrm>
          <a:prstGeom prst="rect">
            <a:avLst/>
          </a:prstGeom>
          <a:noFill/>
        </p:spPr>
        <p:txBody>
          <a:bodyPr wrap="square">
            <a:spAutoFit/>
          </a:bodyPr>
          <a:lstStyle/>
          <a:p>
            <a:pPr>
              <a:spcAft>
                <a:spcPts val="300"/>
              </a:spcAft>
            </a:pPr>
            <a:r>
              <a:rPr sz="1300"/>
              <a:t>•  Dominanz: CER und WER tragen die gesamte Speech-LLM-Literatur (20+ Paper) — aber nur auf Zeichen-/Wortebene</a:t>
            </a:r>
          </a:p>
          <a:p>
            <a:pPr>
              <a:spcAft>
                <a:spcPts val="300"/>
              </a:spcAft>
            </a:pPr>
            <a:r>
              <a:rPr sz="1300"/>
              <a:t>•  Selten: Phonem-Ebene (PER, Pinyin-CER) — nur einzelne Paper</a:t>
            </a:r>
          </a:p>
          <a:p>
            <a:pPr>
              <a:spcAft>
                <a:spcPts val="300"/>
              </a:spcAft>
            </a:pPr>
            <a:r>
              <a:rPr sz="1300"/>
              <a:t>•  Fast leer: Ton als eigene Metrik (TER) — empfohlen, aber von keinem Paper angewandt</a:t>
            </a:r>
          </a:p>
          <a:p>
            <a:pPr>
              <a:spcAft>
                <a:spcPts val="300"/>
              </a:spcAft>
            </a:pPr>
            <a:r>
              <a:rPr sz="1300"/>
              <a:t>•  Unbekannt im LLM-Kontext: phonetisch *gewichtete* Distanz (PFER/WPER)</a:t>
            </a:r>
          </a:p>
        </p:txBody>
      </p:sp>
      <p:sp>
        <p:nvSpPr>
          <p:cNvPr id="5" name="TextBox 4"/>
          <p:cNvSpPr txBox="1"/>
          <p:nvPr/>
        </p:nvSpPr>
        <p:spPr>
          <a:xfrm>
            <a:off x="411480" y="2432304"/>
            <a:ext cx="11368735" cy="740664"/>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   CER / WER          ← Standard (20+ Paper)</a:t>
            </a:r>
          </a:p>
          <a:p>
            <a:pPr>
              <a:lnSpc>
                <a:spcPct val="100000"/>
              </a:lnSpc>
              <a:spcAft>
                <a:spcPts val="0"/>
              </a:spcAft>
            </a:pPr>
            <a:r>
              <a:rPr sz="900">
                <a:solidFill>
                  <a:srgbClr val="223344"/>
                </a:solidFill>
                <a:latin typeface="Consolas"/>
              </a:rPr>
              <a:t>   PER / Pinyin-CER    ← selten (≈4 Paper)</a:t>
            </a:r>
          </a:p>
          <a:p>
            <a:pPr>
              <a:lnSpc>
                <a:spcPct val="100000"/>
              </a:lnSpc>
              <a:spcAft>
                <a:spcPts val="0"/>
              </a:spcAft>
            </a:pPr>
            <a:r>
              <a:rPr sz="900">
                <a:solidFill>
                  <a:srgbClr val="223344"/>
                </a:solidFill>
                <a:latin typeface="Consolas"/>
              </a:rPr>
              <a:t>   PFER                ← 1 Paper (ZIPA)</a:t>
            </a:r>
          </a:p>
          <a:p>
            <a:pPr>
              <a:lnSpc>
                <a:spcPct val="100000"/>
              </a:lnSpc>
              <a:spcAft>
                <a:spcPts val="0"/>
              </a:spcAft>
            </a:pPr>
            <a:r>
              <a:rPr sz="900">
                <a:solidFill>
                  <a:srgbClr val="223344"/>
                </a:solidFill>
                <a:latin typeface="Consolas"/>
              </a:rPr>
              <a:t>   TER                 ← 0 Paper (nur empfohlen)</a:t>
            </a:r>
          </a:p>
        </p:txBody>
      </p:sp>
      <p:sp>
        <p:nvSpPr>
          <p:cNvPr id="6" name="TextBox 5"/>
          <p:cNvSpPr txBox="1"/>
          <p:nvPr/>
        </p:nvSpPr>
        <p:spPr>
          <a:xfrm>
            <a:off x="411480" y="3264408"/>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CER &amp; WER — der Standard, der Töne versteckt</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261872"/>
          </a:xfrm>
          <a:prstGeom prst="rect">
            <a:avLst/>
          </a:prstGeom>
          <a:noFill/>
        </p:spPr>
        <p:txBody>
          <a:bodyPr wrap="square">
            <a:spAutoFit/>
          </a:bodyPr>
          <a:lstStyle/>
          <a:p>
            <a:pPr>
              <a:spcAft>
                <a:spcPts val="300"/>
              </a:spcAft>
            </a:pPr>
            <a:r>
              <a:rPr sz="1300"/>
              <a:t>•  CER = Editierdistanz auf chinesischen Zeichen; WER = auf Wörtern</a:t>
            </a:r>
          </a:p>
          <a:p>
            <a:pPr>
              <a:spcAft>
                <a:spcPts val="300"/>
              </a:spcAft>
            </a:pPr>
            <a:r>
              <a:rPr sz="1300"/>
              <a:t>•  Genutzt von allen Speech LLMs: Seed-ASR (1), FireRedASR (2/3), Kimi-Audio (4), Qwen3-ASR (5), Step-Audio 2 (6)</a:t>
            </a:r>
          </a:p>
          <a:p>
            <a:pPr>
              <a:spcAft>
                <a:spcPts val="300"/>
              </a:spcAft>
            </a:pPr>
            <a:r>
              <a:rPr sz="1300"/>
              <a:t>•  Misst orthografische Korrektheit — nicht Initial/Final/Ton getrennt</a:t>
            </a:r>
          </a:p>
          <a:p>
            <a:pPr>
              <a:spcAft>
                <a:spcPts val="300"/>
              </a:spcAft>
            </a:pPr>
            <a:r>
              <a:rPr sz="1300"/>
              <a:t>•  Ton ist im Zeichen „eingebacken" → ein Tonfehler ist nicht von einem Lautfehler unterscheidbar</a:t>
            </a:r>
          </a:p>
        </p:txBody>
      </p:sp>
      <p:sp>
        <p:nvSpPr>
          <p:cNvPr id="5" name="TextBox 4"/>
          <p:cNvSpPr txBox="1"/>
          <p:nvPr/>
        </p:nvSpPr>
        <p:spPr>
          <a:xfrm>
            <a:off x="411480" y="2432304"/>
            <a:ext cx="11368735" cy="676656"/>
          </a:xfrm>
          <a:prstGeom prst="rect">
            <a:avLst/>
          </a:prstGeom>
          <a:noFill/>
        </p:spPr>
        <p:txBody>
          <a:bodyPr wrap="square">
            <a:spAutoFit/>
          </a:bodyPr>
          <a:lstStyle/>
          <a:p>
            <a:pPr>
              <a:spcAft>
                <a:spcPts val="300"/>
              </a:spcAft>
            </a:pPr>
            <a:r>
              <a:rPr i="1" sz="1200">
                <a:solidFill>
                  <a:srgbClr val="444444"/>
                </a:solidFill>
              </a:rPr>
              <a:t>„ASR-Evaluation = *„Word Error Rate (WER), Character Error Rate (CER), Match Error Rate (MER)"* — Peng Survey (2025), Sec. VII.A, S. 18"</a:t>
            </a:r>
          </a:p>
          <a:p>
            <a:pPr>
              <a:spcAft>
                <a:spcPts val="300"/>
              </a:spcAft>
            </a:pPr>
            <a:r>
              <a:rPr sz="1300"/>
              <a:t>•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Phonem-Ebene — und die faire, *gewichtete* Distanz</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261872"/>
          </a:xfrm>
          <a:prstGeom prst="rect">
            <a:avLst/>
          </a:prstGeom>
          <a:noFill/>
        </p:spPr>
        <p:txBody>
          <a:bodyPr wrap="square">
            <a:spAutoFit/>
          </a:bodyPr>
          <a:lstStyle/>
          <a:p>
            <a:pPr>
              <a:spcAft>
                <a:spcPts val="300"/>
              </a:spcAft>
            </a:pPr>
            <a:r>
              <a:rPr sz="1300"/>
              <a:t>•  PER (Phone Error Rate): Wang MDD (15), VocalBench-zh (24), Dyn-SUPERB (27)</a:t>
            </a:r>
          </a:p>
          <a:p>
            <a:pPr>
              <a:spcAft>
                <a:spcPts val="300"/>
              </a:spcAft>
            </a:pPr>
            <a:r>
              <a:rPr sz="1300"/>
              <a:t>•  Pinyin-CER / Pinyin ERR: Zhengjie PYG (13, 1,9 %), Chen SCCM (14, 2,41 %) — Pinyin statt Hanzi, aber ohne Töne</a:t>
            </a:r>
          </a:p>
          <a:p>
            <a:pPr>
              <a:spcAft>
                <a:spcPts val="300"/>
              </a:spcAft>
            </a:pPr>
            <a:r>
              <a:rPr sz="1300"/>
              <a:t>•  PFER (Phone *Feature* Error Rate): Zhu ZIPA (18) — gewichtet nach 24 artikulatorischen Merkmalen</a:t>
            </a:r>
          </a:p>
          <a:p>
            <a:pPr>
              <a:spcAft>
                <a:spcPts val="300"/>
              </a:spcAft>
            </a:pPr>
            <a:r>
              <a:rPr sz="1300"/>
              <a:t>•  → PFER bestraft d→l (nah) milder als d→c (fern) — Teilpunkte statt alles-oder-nichts</a:t>
            </a:r>
          </a:p>
        </p:txBody>
      </p:sp>
      <p:sp>
        <p:nvSpPr>
          <p:cNvPr id="5" name="TextBox 4"/>
          <p:cNvSpPr txBox="1"/>
          <p:nvPr/>
        </p:nvSpPr>
        <p:spPr>
          <a:xfrm>
            <a:off x="411480" y="2432304"/>
            <a:ext cx="11368735" cy="676656"/>
          </a:xfrm>
          <a:prstGeom prst="rect">
            <a:avLst/>
          </a:prstGeom>
          <a:noFill/>
        </p:spPr>
        <p:txBody>
          <a:bodyPr wrap="square">
            <a:spAutoFit/>
          </a:bodyPr>
          <a:lstStyle/>
          <a:p>
            <a:pPr>
              <a:spcAft>
                <a:spcPts val="300"/>
              </a:spcAft>
            </a:pPr>
            <a:r>
              <a:rPr i="1" sz="1200">
                <a:solidFill>
                  <a:srgbClr val="444444"/>
                </a:solidFill>
              </a:rPr>
              <a:t>„*„the top errors are the substitution of vowels that are close in the vowel space"* — Zhu et al., ZIPA (2025), Sec. 7, S. 8"</a:t>
            </a:r>
          </a:p>
          <a:p>
            <a:pPr>
              <a:spcAft>
                <a:spcPts val="300"/>
              </a:spcAft>
            </a:pPr>
            <a:r>
              <a:rPr sz="1300"/>
              <a:t>•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Tone Error Rate — empfohlen, aber von niemandem angewandt</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261872"/>
          </a:xfrm>
          <a:prstGeom prst="rect">
            <a:avLst/>
          </a:prstGeom>
          <a:noFill/>
        </p:spPr>
        <p:txBody>
          <a:bodyPr wrap="square">
            <a:spAutoFit/>
          </a:bodyPr>
          <a:lstStyle/>
          <a:p>
            <a:pPr>
              <a:spcAft>
                <a:spcPts val="300"/>
              </a:spcAft>
            </a:pPr>
            <a:r>
              <a:rPr sz="1300"/>
              <a:t>•  TER = Anteil der Silben mit falschem Ton (unabhängig vom Segment)</a:t>
            </a:r>
          </a:p>
          <a:p>
            <a:pPr>
              <a:spcAft>
                <a:spcPts val="300"/>
              </a:spcAft>
            </a:pPr>
            <a:r>
              <a:rPr sz="1300"/>
              <a:t>•  Empfohlen als Best Practice von Zou et al. (2025, Review über 61 Studien)</a:t>
            </a:r>
          </a:p>
          <a:p>
            <a:pPr>
              <a:spcAft>
                <a:spcPts val="300"/>
              </a:spcAft>
            </a:pPr>
            <a:r>
              <a:rPr sz="1300"/>
              <a:t>•  In 0 von 42 Papern tatsächlich berechnet — die Lücke zwischen „anerkannt wichtig" und „gemessen"</a:t>
            </a:r>
          </a:p>
          <a:p>
            <a:pPr>
              <a:spcAft>
                <a:spcPts val="300"/>
              </a:spcAft>
            </a:pPr>
            <a:r>
              <a:rPr sz="1300"/>
              <a:t>•  Nahester Verwandter: *tonal CER* bei Chirkova (21) — aber für Baima, nicht Mandarin, ohne LLM</a:t>
            </a:r>
          </a:p>
        </p:txBody>
      </p:sp>
      <p:sp>
        <p:nvSpPr>
          <p:cNvPr id="5" name="TextBox 4"/>
          <p:cNvSpPr txBox="1"/>
          <p:nvPr/>
        </p:nvSpPr>
        <p:spPr>
          <a:xfrm>
            <a:off x="411480" y="2432304"/>
            <a:ext cx="11368735" cy="676656"/>
          </a:xfrm>
          <a:prstGeom prst="rect">
            <a:avLst/>
          </a:prstGeom>
          <a:noFill/>
        </p:spPr>
        <p:txBody>
          <a:bodyPr wrap="square">
            <a:spAutoFit/>
          </a:bodyPr>
          <a:lstStyle/>
          <a:p>
            <a:pPr>
              <a:spcAft>
                <a:spcPts val="300"/>
              </a:spcAft>
            </a:pPr>
            <a:r>
              <a:rPr i="1" sz="1200">
                <a:solidFill>
                  <a:srgbClr val="444444"/>
                </a:solidFill>
              </a:rPr>
              <a:t>„Beitrag dieser Arbeit: TER erstmals systematisch für multimodale LLMs auf Mandarin — als eigene Evaluationsachse neben dem Segment."</a:t>
            </a:r>
          </a:p>
          <a:p>
            <a:pPr>
              <a:spcAft>
                <a:spcPts val="300"/>
              </a:spcAft>
            </a:pPr>
            <a:r>
              <a:rPr sz="1300"/>
              <a:t>•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Mispronunciation-Detection-Metriken — fürs Feedback-Szenario</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261872"/>
          </a:xfrm>
          <a:prstGeom prst="rect">
            <a:avLst/>
          </a:prstGeom>
          <a:noFill/>
        </p:spPr>
        <p:txBody>
          <a:bodyPr wrap="square">
            <a:spAutoFit/>
          </a:bodyPr>
          <a:lstStyle/>
          <a:p>
            <a:pPr>
              <a:spcAft>
                <a:spcPts val="300"/>
              </a:spcAft>
            </a:pPr>
            <a:r>
              <a:rPr sz="1300"/>
              <a:t>•  FRR / FAR (False Rejection / Acceptance Rate) + DA (Diagnostic Accuracy): Wu (16), Wang MDD (15)</a:t>
            </a:r>
          </a:p>
          <a:p>
            <a:pPr>
              <a:spcAft>
                <a:spcPts val="300"/>
              </a:spcAft>
            </a:pPr>
            <a:r>
              <a:rPr sz="1300"/>
              <a:t>•  DER (Diagnostic Error Rate): Wang MDD (15)</a:t>
            </a:r>
          </a:p>
          <a:p>
            <a:pPr>
              <a:spcAft>
                <a:spcPts val="300"/>
              </a:spcAft>
            </a:pPr>
            <a:r>
              <a:rPr sz="1300"/>
              <a:t>•  F1 / Precision / Recall (per Ton/Phonem): Zou (9), Wang MDD (15), Huang (17), PYG (13)</a:t>
            </a:r>
          </a:p>
          <a:p>
            <a:pPr>
              <a:spcAft>
                <a:spcPts val="300"/>
              </a:spcAft>
            </a:pPr>
            <a:r>
              <a:rPr sz="1300"/>
              <a:t>•  Relevant, sobald es um Lerner-Feedback geht (RQ3/RQ5): nicht „wie viel % falsch", sondern „welcher Fehler, wie zuverlässig erkannt"</a:t>
            </a:r>
          </a:p>
        </p:txBody>
      </p:sp>
      <p:sp>
        <p:nvSpPr>
          <p:cNvPr id="5" name="TextBox 4"/>
          <p:cNvSpPr txBox="1"/>
          <p:nvPr/>
        </p:nvSpPr>
        <p:spPr>
          <a:xfrm>
            <a:off x="411480" y="2432304"/>
            <a:ext cx="11368735" cy="676656"/>
          </a:xfrm>
          <a:prstGeom prst="rect">
            <a:avLst/>
          </a:prstGeom>
          <a:noFill/>
        </p:spPr>
        <p:txBody>
          <a:bodyPr wrap="square">
            <a:spAutoFit/>
          </a:bodyPr>
          <a:lstStyle/>
          <a:p>
            <a:pPr>
              <a:spcAft>
                <a:spcPts val="300"/>
              </a:spcAft>
            </a:pPr>
            <a:r>
              <a:rPr i="1" sz="1200">
                <a:solidFill>
                  <a:srgbClr val="444444"/>
                </a:solidFill>
              </a:rPr>
              <a:t>„Human-Korrelation der automatischen Bewertung nur 0,31–0,60 — *„applicability to L2 classrooms remains questionable"* — Wu &amp; Shen (2024)"</a:t>
            </a:r>
          </a:p>
          <a:p>
            <a:pPr>
              <a:spcAft>
                <a:spcPts val="300"/>
              </a:spcAft>
            </a:pPr>
            <a:r>
              <a:rPr sz="1300"/>
              <a:t>•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Der Metrik-Stack dieser Arbeit — entkoppelt nach Laut und Ton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1554480"/>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Ebene</a:t>
                      </a:r>
                    </a:p>
                  </a:txBody>
                  <a:tcPr marL="45720" marR="45720" marT="18288" marB="18288" anchor="ctr">
                    <a:solidFill>
                      <a:srgbClr val="1F3A5F"/>
                    </a:solidFill>
                  </a:tcPr>
                </a:tc>
                <a:tc>
                  <a:txBody>
                    <a:bodyPr wrap="square"/>
                    <a:lstStyle/>
                    <a:p>
                      <a:r>
                        <a:rPr sz="1000" b="1">
                          <a:solidFill>
                            <a:srgbClr val="FFFFFF"/>
                          </a:solidFill>
                        </a:rPr>
                        <a:t>Metrik</a:t>
                      </a:r>
                    </a:p>
                  </a:txBody>
                  <a:tcPr marL="45720" marR="45720" marT="18288" marB="18288" anchor="ctr">
                    <a:solidFill>
                      <a:srgbClr val="1F3A5F"/>
                    </a:solidFill>
                  </a:tcPr>
                </a:tc>
                <a:tc>
                  <a:txBody>
                    <a:bodyPr wrap="square"/>
                    <a:lstStyle/>
                    <a:p>
                      <a:r>
                        <a:rPr sz="1000" b="1">
                          <a:solidFill>
                            <a:srgbClr val="FFFFFF"/>
                          </a:solidFill>
                        </a:rPr>
                        <a:t>Beantwortet</a:t>
                      </a:r>
                    </a:p>
                  </a:txBody>
                  <a:tcPr marL="45720" marR="45720" marT="18288" marB="18288" anchor="ctr">
                    <a:solidFill>
                      <a:srgbClr val="1F3A5F"/>
                    </a:solidFill>
                  </a:tcPr>
                </a:tc>
                <a:tc>
                  <a:txBody>
                    <a:bodyPr wrap="square"/>
                    <a:lstStyle/>
                    <a:p>
                      <a:r>
                        <a:rPr sz="1000" b="1">
                          <a:solidFill>
                            <a:srgbClr val="FFFFFF"/>
                          </a:solidFill>
                        </a:rPr>
                        <a:t>Status</a:t>
                      </a:r>
                    </a:p>
                  </a:txBody>
                  <a:tcPr marL="45720" marR="45720" marT="18288" marB="18288" anchor="ctr">
                    <a:solidFill>
                      <a:srgbClr val="1F3A5F"/>
                    </a:solidFill>
                  </a:tcPr>
                </a:tc>
              </a:tr>
              <a:tr h="310896">
                <a:tc>
                  <a:txBody>
                    <a:bodyPr wrap="square"/>
                    <a:lstStyle/>
                    <a:p>
                      <a:r>
                        <a:rPr sz="1000"/>
                        <a:t>Zeichen</a:t>
                      </a:r>
                    </a:p>
                  </a:txBody>
                  <a:tcPr marL="45720" marR="45720" marT="18288" marB="18288" anchor="ctr">
                    <a:solidFill>
                      <a:srgbClr val="FFFFFF"/>
                    </a:solidFill>
                  </a:tcPr>
                </a:tc>
                <a:tc>
                  <a:txBody>
                    <a:bodyPr wrap="square"/>
                    <a:lstStyle/>
                    <a:p>
                      <a:r>
                        <a:rPr sz="1000"/>
                        <a:t>CER</a:t>
                      </a:r>
                    </a:p>
                  </a:txBody>
                  <a:tcPr marL="45720" marR="45720" marT="18288" marB="18288" anchor="ctr">
                    <a:solidFill>
                      <a:srgbClr val="FFFFFF"/>
                    </a:solidFill>
                  </a:tcPr>
                </a:tc>
                <a:tc>
                  <a:txBody>
                    <a:bodyPr wrap="square"/>
                    <a:lstStyle/>
                    <a:p>
                      <a:r>
                        <a:rPr sz="1000"/>
                        <a:t>Vergleich mit Literatur (RQ4)</a:t>
                      </a:r>
                    </a:p>
                  </a:txBody>
                  <a:tcPr marL="45720" marR="45720" marT="18288" marB="18288" anchor="ctr">
                    <a:solidFill>
                      <a:srgbClr val="FFFFFF"/>
                    </a:solidFill>
                  </a:tcPr>
                </a:tc>
                <a:tc>
                  <a:txBody>
                    <a:bodyPr wrap="square"/>
                    <a:lstStyle/>
                    <a:p>
                      <a:r>
                        <a:rPr sz="1000"/>
                        <a:t>Standard</a:t>
                      </a:r>
                    </a:p>
                  </a:txBody>
                  <a:tcPr marL="45720" marR="45720" marT="18288" marB="18288" anchor="ctr">
                    <a:solidFill>
                      <a:srgbClr val="FFFFFF"/>
                    </a:solidFill>
                  </a:tcPr>
                </a:tc>
              </a:tr>
              <a:tr h="310896">
                <a:tc>
                  <a:txBody>
                    <a:bodyPr wrap="square"/>
                    <a:lstStyle/>
                    <a:p>
                      <a:r>
                        <a:rPr sz="1000"/>
                        <a:t>Segment</a:t>
                      </a:r>
                    </a:p>
                  </a:txBody>
                  <a:tcPr marL="45720" marR="45720" marT="18288" marB="18288" anchor="ctr">
                    <a:solidFill>
                      <a:srgbClr val="E8EEF4"/>
                    </a:solidFill>
                  </a:tcPr>
                </a:tc>
                <a:tc>
                  <a:txBody>
                    <a:bodyPr wrap="square"/>
                    <a:lstStyle/>
                    <a:p>
                      <a:r>
                        <a:rPr sz="1000"/>
                        <a:t>Pinyin-CER (tonlos) / PFER</a:t>
                      </a:r>
                    </a:p>
                  </a:txBody>
                  <a:tcPr marL="45720" marR="45720" marT="18288" marB="18288" anchor="ctr">
                    <a:solidFill>
                      <a:srgbClr val="E8EEF4"/>
                    </a:solidFill>
                  </a:tcPr>
                </a:tc>
                <a:tc>
                  <a:txBody>
                    <a:bodyPr wrap="square"/>
                    <a:lstStyle/>
                    <a:p>
                      <a:r>
                        <a:rPr sz="1000"/>
                        <a:t>„Konsonanten &amp; Vokale korrekt?" (RQ2b)</a:t>
                      </a:r>
                    </a:p>
                  </a:txBody>
                  <a:tcPr marL="45720" marR="45720" marT="18288" marB="18288" anchor="ctr">
                    <a:solidFill>
                      <a:srgbClr val="E8EEF4"/>
                    </a:solidFill>
                  </a:tcPr>
                </a:tc>
                <a:tc>
                  <a:txBody>
                    <a:bodyPr wrap="square"/>
                    <a:lstStyle/>
                    <a:p>
                      <a:r>
                        <a:rPr sz="1000"/>
                        <a:t>selten / [NEU] im LLM-Kontext</a:t>
                      </a:r>
                    </a:p>
                  </a:txBody>
                  <a:tcPr marL="45720" marR="45720" marT="18288" marB="18288" anchor="ctr">
                    <a:solidFill>
                      <a:srgbClr val="E8EEF4"/>
                    </a:solidFill>
                  </a:tcPr>
                </a:tc>
              </a:tr>
              <a:tr h="310896">
                <a:tc>
                  <a:txBody>
                    <a:bodyPr wrap="square"/>
                    <a:lstStyle/>
                    <a:p>
                      <a:r>
                        <a:rPr sz="1000"/>
                        <a:t>Ton</a:t>
                      </a:r>
                    </a:p>
                  </a:txBody>
                  <a:tcPr marL="45720" marR="45720" marT="18288" marB="18288" anchor="ctr">
                    <a:solidFill>
                      <a:srgbClr val="FFFFFF"/>
                    </a:solidFill>
                  </a:tcPr>
                </a:tc>
                <a:tc>
                  <a:txBody>
                    <a:bodyPr wrap="square"/>
                    <a:lstStyle/>
                    <a:p>
                      <a:r>
                        <a:rPr sz="1000"/>
                        <a:t>TER + per-Ton-F1</a:t>
                      </a:r>
                    </a:p>
                  </a:txBody>
                  <a:tcPr marL="45720" marR="45720" marT="18288" marB="18288" anchor="ctr">
                    <a:solidFill>
                      <a:srgbClr val="FFFFFF"/>
                    </a:solidFill>
                  </a:tcPr>
                </a:tc>
                <a:tc>
                  <a:txBody>
                    <a:bodyPr wrap="square"/>
                    <a:lstStyle/>
                    <a:p>
                      <a:r>
                        <a:rPr sz="1000"/>
                        <a:t>„Töne korrekt?" (RQ2c, RQ5)</a:t>
                      </a:r>
                    </a:p>
                  </a:txBody>
                  <a:tcPr marL="45720" marR="45720" marT="18288" marB="18288" anchor="ctr">
                    <a:solidFill>
                      <a:srgbClr val="FFFFFF"/>
                    </a:solidFill>
                  </a:tcPr>
                </a:tc>
                <a:tc>
                  <a:txBody>
                    <a:bodyPr wrap="square"/>
                    <a:lstStyle/>
                    <a:p>
                      <a:r>
                        <a:rPr sz="1000"/>
                        <a:t>[NEU]</a:t>
                      </a:r>
                    </a:p>
                  </a:txBody>
                  <a:tcPr marL="45720" marR="45720" marT="18288" marB="18288" anchor="ctr">
                    <a:solidFill>
                      <a:srgbClr val="FFFFFF"/>
                    </a:solidFill>
                  </a:tcPr>
                </a:tc>
              </a:tr>
              <a:tr h="310896">
                <a:tc>
                  <a:txBody>
                    <a:bodyPr wrap="square"/>
                    <a:lstStyle/>
                    <a:p>
                      <a:r>
                        <a:rPr sz="1000"/>
                        <a:t>Feedback</a:t>
                      </a:r>
                    </a:p>
                  </a:txBody>
                  <a:tcPr marL="45720" marR="45720" marT="18288" marB="18288" anchor="ctr">
                    <a:solidFill>
                      <a:srgbClr val="E8EEF4"/>
                    </a:solidFill>
                  </a:tcPr>
                </a:tc>
                <a:tc>
                  <a:txBody>
                    <a:bodyPr wrap="square"/>
                    <a:lstStyle/>
                    <a:p>
                      <a:r>
                        <a:rPr sz="1000"/>
                        <a:t>FRR/FAR/DA</a:t>
                      </a:r>
                    </a:p>
                  </a:txBody>
                  <a:tcPr marL="45720" marR="45720" marT="18288" marB="18288" anchor="ctr">
                    <a:solidFill>
                      <a:srgbClr val="E8EEF4"/>
                    </a:solidFill>
                  </a:tcPr>
                </a:tc>
                <a:tc>
                  <a:txBody>
                    <a:bodyPr wrap="square"/>
                    <a:lstStyle/>
                    <a:p>
                      <a:r>
                        <a:rPr sz="1000"/>
                        <a:t>Diagnosegüte (RQ3/RQ5)</a:t>
                      </a:r>
                    </a:p>
                  </a:txBody>
                  <a:tcPr marL="45720" marR="45720" marT="18288" marB="18288" anchor="ctr">
                    <a:solidFill>
                      <a:srgbClr val="E8EEF4"/>
                    </a:solidFill>
                  </a:tcPr>
                </a:tc>
                <a:tc>
                  <a:txBody>
                    <a:bodyPr wrap="square"/>
                    <a:lstStyle/>
                    <a:p>
                      <a:r>
                        <a:rPr sz="1000"/>
                        <a:t>aus MDD übernommen</a:t>
                      </a:r>
                    </a:p>
                  </a:txBody>
                  <a:tcPr marL="45720" marR="45720" marT="18288" marB="18288" anchor="ctr">
                    <a:solidFill>
                      <a:srgbClr val="E8EEF4"/>
                    </a:solidFill>
                  </a:tcPr>
                </a:tc>
              </a:tr>
            </a:tbl>
          </a:graphicData>
        </a:graphic>
      </p:graphicFrame>
      <p:sp>
        <p:nvSpPr>
          <p:cNvPr id="5" name="TextBox 4"/>
          <p:cNvSpPr txBox="1"/>
          <p:nvPr/>
        </p:nvSpPr>
        <p:spPr>
          <a:xfrm>
            <a:off x="411480" y="2770632"/>
            <a:ext cx="11368735" cy="2724912"/>
          </a:xfrm>
          <a:prstGeom prst="rect">
            <a:avLst/>
          </a:prstGeom>
          <a:noFill/>
        </p:spPr>
        <p:txBody>
          <a:bodyPr wrap="square">
            <a:spAutoFit/>
          </a:bodyPr>
          <a:lstStyle/>
          <a:p>
            <a:pPr>
              <a:spcAft>
                <a:spcPts val="300"/>
              </a:spcAft>
            </a:pPr>
            <a:r>
              <a:rPr i="1" sz="1200">
                <a:solidFill>
                  <a:srgbClr val="444444"/>
                </a:solidFill>
              </a:rPr>
              <a:t>„Kernprinzip: Laut und Ton getrennt auswerten + Near-Misses fair gewichten (PFER) — das macht für multimodale LLMs noch niemand."</a:t>
            </a:r>
          </a:p>
          <a:p>
            <a:pPr>
              <a:spcAft>
                <a:spcPts val="300"/>
              </a:spcAft>
            </a:pPr>
            <a:r>
              <a:rPr sz="1300"/>
              <a:t>•  ---</a:t>
            </a:r>
          </a:p>
          <a:p>
            <a:pPr>
              <a:spcAft>
                <a:spcPts val="300"/>
              </a:spcAft>
            </a:pPr>
            <a:r>
              <a:rPr sz="1300"/>
              <a:t>•  Welche Metriken sind „neu" — und in welchem Sinn?</a:t>
            </a:r>
          </a:p>
          <a:p>
            <a:pPr lvl="1">
              <a:spcAft>
                <a:spcPts val="300"/>
              </a:spcAft>
            </a:pPr>
            <a:r>
              <a:rPr sz="1300"/>
              <a:t>–  TER: existiert als Konzept (Zou empfiehlt), aber Anwendung auf multimodale LLMs + Mandarin ist neu. Sauberster Beitrag.</a:t>
            </a:r>
          </a:p>
          <a:p>
            <a:pPr lvl="1">
              <a:spcAft>
                <a:spcPts val="300"/>
              </a:spcAft>
            </a:pPr>
            <a:r>
              <a:rPr sz="1300"/>
              <a:t>–  PFER: existiert (ZIPA), aber nicht für LLMs / nicht mit Mandarin-Ton-Fokus → neue Anwendung.</a:t>
            </a:r>
          </a:p>
          <a:p>
            <a:pPr lvl="1">
              <a:spcAft>
                <a:spcPts val="300"/>
              </a:spcAft>
            </a:pPr>
            <a:r>
              <a:rPr sz="1300"/>
              <a:t>–  WPER / artik. gew. Editierdistanz: existieren extern (arXiv:2507.14346, 1905.02639), nicht im Korpus → optionaler Zusatzbeitrag, falls du Near-Miss-Gewichtung formal begründen willst.</a:t>
            </a:r>
          </a:p>
          <a:p>
            <a:pPr lvl="1">
              <a:spcAft>
                <a:spcPts val="300"/>
              </a:spcAft>
            </a:pPr>
            <a:r>
              <a:rPr sz="1300"/>
              <a:t>–  „Decoupled Segment+Tone Scoring": die *Kombination* (Laut-Achse + Ton-Achse getrennt, mit Gewichtung) kannst du als kleine methodische Eigenleistung framen.</a:t>
            </a:r>
          </a:p>
          <a:p>
            <a:pPr>
              <a:spcAft>
                <a:spcPts val="300"/>
              </a:spcAft>
            </a:pPr>
            <a:r>
              <a:rPr sz="1300"/>
              <a:t>•  Häufigkeits-Aussagen (für Q&amp;A belegbar): CER/WER = Standard (20+ Paper); PER/Pinyin-CER = selten (≈4); TER = 0 angewandt; PFER = 1 (ZIPA).</a:t>
            </a:r>
          </a:p>
          <a:p>
            <a:pPr>
              <a:spcAft>
                <a:spcPts val="300"/>
              </a:spcAft>
            </a:pPr>
            <a:r>
              <a:rPr sz="1300"/>
              <a:t>•  Folienzahl: M1–M6 = 6 Folien. Falls Zeit knapp: M3+M4 zu einer „Phonem- &amp; Ton-Ebene"-Folie zusammenziehen → 5 Folien.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728655" cy="1371600"/>
          </a:xfrm>
          <a:prstGeom prst="rect">
            <a:avLst/>
          </a:prstGeom>
          <a:noFill/>
        </p:spPr>
        <p:txBody>
          <a:bodyPr wrap="square">
            <a:spAutoFit/>
          </a:bodyPr>
          <a:lstStyle/>
          <a:p>
            <a:r>
              <a:rPr sz="3400" b="1">
                <a:solidFill>
                  <a:srgbClr val="FFFFFF"/>
                </a:solidFill>
              </a:rPr>
              <a:t>Metrik-Methodik — Detail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„CER" ist nicht gleich „CER" — die versteckte Referenz-Einheit</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891540"/>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Audio: [diànnǎo]</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Paper A (CER auf Hanzi):      Ref: 电脑    Hyp: 电闹    → CER = 50%</a:t>
            </a:r>
          </a:p>
          <a:p>
            <a:pPr>
              <a:lnSpc>
                <a:spcPct val="100000"/>
              </a:lnSpc>
              <a:spcAft>
                <a:spcPts val="0"/>
              </a:spcAft>
            </a:pPr>
            <a:r>
              <a:rPr sz="900">
                <a:solidFill>
                  <a:srgbClr val="223344"/>
                </a:solidFill>
                <a:latin typeface="Consolas"/>
              </a:rPr>
              <a:t>Paper B (CER auf Pinyin):     Ref: diannao  Hyp: diannao  → CER = 0%</a:t>
            </a:r>
          </a:p>
          <a:p>
            <a:pPr>
              <a:lnSpc>
                <a:spcPct val="100000"/>
              </a:lnSpc>
              <a:spcAft>
                <a:spcPts val="0"/>
              </a:spcAft>
            </a:pPr>
            <a:r>
              <a:rPr sz="900">
                <a:solidFill>
                  <a:srgbClr val="223344"/>
                </a:solidFill>
                <a:latin typeface="Consolas"/>
              </a:rPr>
              <a:t>Paper C (CER auf Pinyin+Ton): Ref: dian4nao3 Hyp: dian4nao2 → CER = 11%</a:t>
            </a:r>
          </a:p>
        </p:txBody>
      </p:sp>
      <p:sp>
        <p:nvSpPr>
          <p:cNvPr id="5" name="TextBox 4"/>
          <p:cNvSpPr txBox="1"/>
          <p:nvPr/>
        </p:nvSpPr>
        <p:spPr>
          <a:xfrm>
            <a:off x="411480" y="2061972"/>
            <a:ext cx="11368735" cy="1554480"/>
          </a:xfrm>
          <a:prstGeom prst="rect">
            <a:avLst/>
          </a:prstGeom>
          <a:noFill/>
        </p:spPr>
        <p:txBody>
          <a:bodyPr wrap="square">
            <a:spAutoFit/>
          </a:bodyPr>
          <a:lstStyle/>
          <a:p>
            <a:pPr>
              <a:spcAft>
                <a:spcPts val="300"/>
              </a:spcAft>
            </a:pPr>
            <a:r>
              <a:rPr sz="1300"/>
              <a:t>•  Gleicher Name, verschiedenes Ergebnis: „CER" in Seed-ASR (Hanzi) misst etwas völlig anderes als „CER" in Chirkova (IPA+Ton)</a:t>
            </a:r>
          </a:p>
          <a:p>
            <a:pPr>
              <a:spcAft>
                <a:spcPts val="300"/>
              </a:spcAft>
            </a:pPr>
            <a:r>
              <a:rPr sz="1300"/>
              <a:t>•  27 von 42 Papers vergleichen auf Hanzi-Ebene — phonetische Fehler sind unsichtbar</a:t>
            </a:r>
          </a:p>
          <a:p>
            <a:pPr>
              <a:spcAft>
                <a:spcPts val="300"/>
              </a:spcAft>
            </a:pPr>
            <a:r>
              <a:rPr sz="1300"/>
              <a:t>•  Nur 8 Papers messen auf einer Ebene, die für Aussprache-Bewertung relevant ist</a:t>
            </a:r>
          </a:p>
          <a:p>
            <a:pPr>
              <a:spcAft>
                <a:spcPts val="300"/>
              </a:spcAft>
            </a:pPr>
            <a:r>
              <a:rPr sz="1300"/>
              <a:t>•  Kernproblem: Ein Tonfehler (mā→má) erzeugt auf Hanzi-Ebene 0 % Fehler, auf Pinyin+Ton-Ebene aber einen klaren Fehler</a:t>
            </a:r>
          </a:p>
          <a:p>
            <a:pPr>
              <a:spcAft>
                <a:spcPts val="300"/>
              </a:spcAft>
            </a:pPr>
            <a:r>
              <a:rPr sz="1300"/>
              <a:t>•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42 Papers — 5 Evaluations-Ebenen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2400300"/>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EBENE                         PAPERS                               ANZAHL</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Hanzi (Zeichen)      Seed, FireRed, FireRed2S, Kimi, Qwen3,          ~27</a:t>
            </a:r>
          </a:p>
          <a:p>
            <a:pPr>
              <a:lnSpc>
                <a:spcPct val="100000"/>
              </a:lnSpc>
              <a:spcAft>
                <a:spcPts val="0"/>
              </a:spcAft>
            </a:pPr>
            <a:r>
              <a:rPr sz="900">
                <a:solidFill>
                  <a:srgbClr val="223344"/>
                </a:solidFill>
                <a:latin typeface="Consolas"/>
              </a:rPr>
              <a:t>                     Step-Audio, Wei, TELEVAL, Benchmarks, Surveys...</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Wort (WER)           ContextASR, WildSpeech, Chirkova (auch)            3</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Pinyin (Silbe)       Zhengjie PYG-ASR, Chen SCCM                       2</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Phonem               Du Zipformer, Wang MDD, Zhu ZIPA                  3</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Ton (F0/Ton-Label)   Bu Siamese, Wu L2 Prosody, Zou Review             3</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Prosodie (Items)     Wang MSPB                                         1</a:t>
            </a:r>
          </a:p>
          <a:p>
            <a:pPr>
              <a:lnSpc>
                <a:spcPct val="100000"/>
              </a:lnSpc>
              <a:spcAft>
                <a:spcPts val="0"/>
              </a:spcAft>
            </a:pPr>
            <a:r>
              <a:rPr sz="900">
                <a:solidFill>
                  <a:srgbClr val="223344"/>
                </a:solidFill>
                <a:latin typeface="Consolas"/>
              </a:rPr>
              <a:t>━━━━━━━━━━━━━━━━━━━━━━━━━━━━━━━━━━━━━━━━━━━━━━━━━━━━━━━━━━━━━━━━━━━━━━━</a:t>
            </a:r>
          </a:p>
        </p:txBody>
      </p:sp>
      <p:sp>
        <p:nvSpPr>
          <p:cNvPr id="5" name="TextBox 4"/>
          <p:cNvSpPr txBox="1"/>
          <p:nvPr/>
        </p:nvSpPr>
        <p:spPr>
          <a:xfrm>
            <a:off x="411480" y="3570732"/>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Referenz vs. Hypothese — die 8 phonetisch relevanten Papers im Detail</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5" cy="2798064"/>
        </p:xfrm>
        <a:graphic>
          <a:graphicData uri="http://schemas.openxmlformats.org/drawingml/2006/table">
            <a:tbl>
              <a:tblPr firstRow="1" bandRow="1">
                <a:tableStyleId>{5C22544A-7EE6-4342-B048-85BDC9FD1C3A}</a:tableStyleId>
              </a:tblPr>
              <a:tblGrid>
                <a:gridCol w="2292035"/>
                <a:gridCol w="2292035"/>
                <a:gridCol w="2292035"/>
                <a:gridCol w="2292035"/>
                <a:gridCol w="2292035"/>
              </a:tblGrid>
              <a:tr h="310896">
                <a:tc>
                  <a:txBody>
                    <a:bodyPr wrap="square"/>
                    <a:lstStyle/>
                    <a:p>
                      <a:r>
                        <a:rPr sz="1000" b="1">
                          <a:solidFill>
                            <a:srgbClr val="FFFFFF"/>
                          </a:solidFill>
                        </a:rPr>
                        <a:t>Paper</a:t>
                      </a:r>
                    </a:p>
                  </a:txBody>
                  <a:tcPr marL="45720" marR="45720" marT="18288" marB="18288" anchor="ctr">
                    <a:solidFill>
                      <a:srgbClr val="1F3A5F"/>
                    </a:solidFill>
                  </a:tcPr>
                </a:tc>
                <a:tc>
                  <a:txBody>
                    <a:bodyPr wrap="square"/>
                    <a:lstStyle/>
                    <a:p>
                      <a:r>
                        <a:rPr sz="1000" b="1">
                          <a:solidFill>
                            <a:srgbClr val="FFFFFF"/>
                          </a:solidFill>
                        </a:rPr>
                        <a:t>Referenz (Goldstandard)</a:t>
                      </a:r>
                    </a:p>
                  </a:txBody>
                  <a:tcPr marL="45720" marR="45720" marT="18288" marB="18288" anchor="ctr">
                    <a:solidFill>
                      <a:srgbClr val="1F3A5F"/>
                    </a:solidFill>
                  </a:tcPr>
                </a:tc>
                <a:tc>
                  <a:txBody>
                    <a:bodyPr wrap="square"/>
                    <a:lstStyle/>
                    <a:p>
                      <a:r>
                        <a:rPr sz="1000" b="1">
                          <a:solidFill>
                            <a:srgbClr val="FFFFFF"/>
                          </a:solidFill>
                        </a:rPr>
                        <a:t>Hypothese (System-Output)</a:t>
                      </a:r>
                    </a:p>
                  </a:txBody>
                  <a:tcPr marL="45720" marR="45720" marT="18288" marB="18288" anchor="ctr">
                    <a:solidFill>
                      <a:srgbClr val="1F3A5F"/>
                    </a:solidFill>
                  </a:tcPr>
                </a:tc>
                <a:tc>
                  <a:txBody>
                    <a:bodyPr wrap="square"/>
                    <a:lstStyle/>
                    <a:p>
                      <a:r>
                        <a:rPr sz="1000" b="1">
                          <a:solidFill>
                            <a:srgbClr val="FFFFFF"/>
                          </a:solidFill>
                        </a:rPr>
                        <a:t>Vergleichs-Ebene</a:t>
                      </a:r>
                    </a:p>
                  </a:txBody>
                  <a:tcPr marL="45720" marR="45720" marT="18288" marB="18288" anchor="ctr">
                    <a:solidFill>
                      <a:srgbClr val="1F3A5F"/>
                    </a:solidFill>
                  </a:tcPr>
                </a:tc>
                <a:tc>
                  <a:txBody>
                    <a:bodyPr wrap="square"/>
                    <a:lstStyle/>
                    <a:p>
                      <a:r>
                        <a:rPr sz="1000" b="1">
                          <a:solidFill>
                            <a:srgbClr val="FFFFFF"/>
                          </a:solidFill>
                        </a:rPr>
                        <a:t>Metrik</a:t>
                      </a:r>
                    </a:p>
                  </a:txBody>
                  <a:tcPr marL="45720" marR="45720" marT="18288" marB="18288" anchor="ctr">
                    <a:solidFill>
                      <a:srgbClr val="1F3A5F"/>
                    </a:solidFill>
                  </a:tcPr>
                </a:tc>
              </a:tr>
              <a:tr h="310896">
                <a:tc>
                  <a:txBody>
                    <a:bodyPr wrap="square"/>
                    <a:lstStyle/>
                    <a:p>
                      <a:r>
                        <a:rPr sz="1000"/>
                        <a:t>Du Zipformer (2025)</a:t>
                      </a:r>
                    </a:p>
                  </a:txBody>
                  <a:tcPr marL="45720" marR="45720" marT="18288" marB="18288" anchor="ctr">
                    <a:solidFill>
                      <a:srgbClr val="FFFFFF"/>
                    </a:solidFill>
                  </a:tcPr>
                </a:tc>
                <a:tc>
                  <a:txBody>
                    <a:bodyPr wrap="square"/>
                    <a:lstStyle/>
                    <a:p>
                      <a:r>
                        <a:rPr sz="1000"/>
                        <a:t>Phonem-Sequenzen (66 Kat.)</a:t>
                      </a:r>
                    </a:p>
                  </a:txBody>
                  <a:tcPr marL="45720" marR="45720" marT="18288" marB="18288" anchor="ctr">
                    <a:solidFill>
                      <a:srgbClr val="FFFFFF"/>
                    </a:solidFill>
                  </a:tcPr>
                </a:tc>
                <a:tc>
                  <a:txBody>
                    <a:bodyPr wrap="square"/>
                    <a:lstStyle/>
                    <a:p>
                      <a:r>
                        <a:rPr sz="1000"/>
                        <a:t>Phonem-Sequenzen</a:t>
                      </a:r>
                    </a:p>
                  </a:txBody>
                  <a:tcPr marL="45720" marR="45720" marT="18288" marB="18288" anchor="ctr">
                    <a:solidFill>
                      <a:srgbClr val="FFFFFF"/>
                    </a:solidFill>
                  </a:tcPr>
                </a:tc>
                <a:tc>
                  <a:txBody>
                    <a:bodyPr wrap="square"/>
                    <a:lstStyle/>
                    <a:p>
                      <a:r>
                        <a:rPr sz="1000"/>
                        <a:t>Phonem</a:t>
                      </a:r>
                    </a:p>
                  </a:txBody>
                  <a:tcPr marL="45720" marR="45720" marT="18288" marB="18288" anchor="ctr">
                    <a:solidFill>
                      <a:srgbClr val="FFFFFF"/>
                    </a:solidFill>
                  </a:tcPr>
                </a:tc>
                <a:tc>
                  <a:txBody>
                    <a:bodyPr wrap="square"/>
                    <a:lstStyle/>
                    <a:p>
                      <a:r>
                        <a:rPr sz="1000"/>
                        <a:t>WER (=PER)</a:t>
                      </a:r>
                    </a:p>
                  </a:txBody>
                  <a:tcPr marL="45720" marR="45720" marT="18288" marB="18288" anchor="ctr">
                    <a:solidFill>
                      <a:srgbClr val="FFFFFF"/>
                    </a:solidFill>
                  </a:tcPr>
                </a:tc>
              </a:tr>
              <a:tr h="310896">
                <a:tc>
                  <a:txBody>
                    <a:bodyPr wrap="square"/>
                    <a:lstStyle/>
                    <a:p>
                      <a:r>
                        <a:rPr sz="1000"/>
                        <a:t>Wang MDD (2024)</a:t>
                      </a:r>
                    </a:p>
                  </a:txBody>
                  <a:tcPr marL="45720" marR="45720" marT="18288" marB="18288" anchor="ctr">
                    <a:solidFill>
                      <a:srgbClr val="E8EEF4"/>
                    </a:solidFill>
                  </a:tcPr>
                </a:tc>
                <a:tc>
                  <a:txBody>
                    <a:bodyPr wrap="square"/>
                    <a:lstStyle/>
                    <a:p>
                      <a:r>
                        <a:rPr sz="1000"/>
                        <a:t>Tonal-Phoneme (66 Kat., T1–T5)</a:t>
                      </a:r>
                    </a:p>
                  </a:txBody>
                  <a:tcPr marL="45720" marR="45720" marT="18288" marB="18288" anchor="ctr">
                    <a:solidFill>
                      <a:srgbClr val="E8EEF4"/>
                    </a:solidFill>
                  </a:tcPr>
                </a:tc>
                <a:tc>
                  <a:txBody>
                    <a:bodyPr wrap="square"/>
                    <a:lstStyle/>
                    <a:p>
                      <a:r>
                        <a:rPr sz="1000"/>
                        <a:t>Tonal-Phoneme</a:t>
                      </a:r>
                    </a:p>
                  </a:txBody>
                  <a:tcPr marL="45720" marR="45720" marT="18288" marB="18288" anchor="ctr">
                    <a:solidFill>
                      <a:srgbClr val="E8EEF4"/>
                    </a:solidFill>
                  </a:tcPr>
                </a:tc>
                <a:tc>
                  <a:txBody>
                    <a:bodyPr wrap="square"/>
                    <a:lstStyle/>
                    <a:p>
                      <a:r>
                        <a:rPr sz="1000"/>
                        <a:t>Phonem</a:t>
                      </a:r>
                    </a:p>
                  </a:txBody>
                  <a:tcPr marL="45720" marR="45720" marT="18288" marB="18288" anchor="ctr">
                    <a:solidFill>
                      <a:srgbClr val="E8EEF4"/>
                    </a:solidFill>
                  </a:tcPr>
                </a:tc>
                <a:tc>
                  <a:txBody>
                    <a:bodyPr wrap="square"/>
                    <a:lstStyle/>
                    <a:p>
                      <a:r>
                        <a:rPr sz="1000"/>
                        <a:t>PER, FRR, FAR, F1</a:t>
                      </a:r>
                    </a:p>
                  </a:txBody>
                  <a:tcPr marL="45720" marR="45720" marT="18288" marB="18288" anchor="ctr">
                    <a:solidFill>
                      <a:srgbClr val="E8EEF4"/>
                    </a:solidFill>
                  </a:tcPr>
                </a:tc>
              </a:tr>
              <a:tr h="310896">
                <a:tc>
                  <a:txBody>
                    <a:bodyPr wrap="square"/>
                    <a:lstStyle/>
                    <a:p>
                      <a:r>
                        <a:rPr sz="1000"/>
                        <a:t>Zhu ZIPA (2025)</a:t>
                      </a:r>
                    </a:p>
                  </a:txBody>
                  <a:tcPr marL="45720" marR="45720" marT="18288" marB="18288" anchor="ctr">
                    <a:solidFill>
                      <a:srgbClr val="FFFFFF"/>
                    </a:solidFill>
                  </a:tcPr>
                </a:tc>
                <a:tc>
                  <a:txBody>
                    <a:bodyPr wrap="square"/>
                    <a:lstStyle/>
                    <a:p>
                      <a:r>
                        <a:rPr sz="1000"/>
                        <a:t>IPA-Phoneme (broad)</a:t>
                      </a:r>
                    </a:p>
                  </a:txBody>
                  <a:tcPr marL="45720" marR="45720" marT="18288" marB="18288" anchor="ctr">
                    <a:solidFill>
                      <a:srgbClr val="FFFFFF"/>
                    </a:solidFill>
                  </a:tcPr>
                </a:tc>
                <a:tc>
                  <a:txBody>
                    <a:bodyPr wrap="square"/>
                    <a:lstStyle/>
                    <a:p>
                      <a:r>
                        <a:rPr sz="1000"/>
                        <a:t>IPA-Phoneme</a:t>
                      </a:r>
                    </a:p>
                  </a:txBody>
                  <a:tcPr marL="45720" marR="45720" marT="18288" marB="18288" anchor="ctr">
                    <a:solidFill>
                      <a:srgbClr val="FFFFFF"/>
                    </a:solidFill>
                  </a:tcPr>
                </a:tc>
                <a:tc>
                  <a:txBody>
                    <a:bodyPr wrap="square"/>
                    <a:lstStyle/>
                    <a:p>
                      <a:r>
                        <a:rPr sz="1000"/>
                        <a:t>Phonem</a:t>
                      </a:r>
                    </a:p>
                  </a:txBody>
                  <a:tcPr marL="45720" marR="45720" marT="18288" marB="18288" anchor="ctr">
                    <a:solidFill>
                      <a:srgbClr val="FFFFFF"/>
                    </a:solidFill>
                  </a:tcPr>
                </a:tc>
                <a:tc>
                  <a:txBody>
                    <a:bodyPr wrap="square"/>
                    <a:lstStyle/>
                    <a:p>
                      <a:r>
                        <a:rPr sz="1000"/>
                        <a:t>PFER (gewichtet)</a:t>
                      </a:r>
                    </a:p>
                  </a:txBody>
                  <a:tcPr marL="45720" marR="45720" marT="18288" marB="18288" anchor="ctr">
                    <a:solidFill>
                      <a:srgbClr val="FFFFFF"/>
                    </a:solidFill>
                  </a:tcPr>
                </a:tc>
              </a:tr>
              <a:tr h="310896">
                <a:tc>
                  <a:txBody>
                    <a:bodyPr wrap="square"/>
                    <a:lstStyle/>
                    <a:p>
                      <a:r>
                        <a:rPr sz="1000"/>
                        <a:t>Zhengjie PYG (2025)</a:t>
                      </a:r>
                    </a:p>
                  </a:txBody>
                  <a:tcPr marL="45720" marR="45720" marT="18288" marB="18288" anchor="ctr">
                    <a:solidFill>
                      <a:srgbClr val="E8EEF4"/>
                    </a:solidFill>
                  </a:tcPr>
                </a:tc>
                <a:tc>
                  <a:txBody>
                    <a:bodyPr wrap="square"/>
                    <a:lstStyle/>
                    <a:p>
                      <a:r>
                        <a:rPr sz="1000"/>
                        <a:t>Pinyin (ohne Ton)</a:t>
                      </a:r>
                    </a:p>
                  </a:txBody>
                  <a:tcPr marL="45720" marR="45720" marT="18288" marB="18288" anchor="ctr">
                    <a:solidFill>
                      <a:srgbClr val="E8EEF4"/>
                    </a:solidFill>
                  </a:tcPr>
                </a:tc>
                <a:tc>
                  <a:txBody>
                    <a:bodyPr wrap="square"/>
                    <a:lstStyle/>
                    <a:p>
                      <a:r>
                        <a:rPr sz="1000"/>
                        <a:t>Pinyin + Hanzi (dual)</a:t>
                      </a:r>
                    </a:p>
                  </a:txBody>
                  <a:tcPr marL="45720" marR="45720" marT="18288" marB="18288" anchor="ctr">
                    <a:solidFill>
                      <a:srgbClr val="E8EEF4"/>
                    </a:solidFill>
                  </a:tcPr>
                </a:tc>
                <a:tc>
                  <a:txBody>
                    <a:bodyPr wrap="square"/>
                    <a:lstStyle/>
                    <a:p>
                      <a:r>
                        <a:rPr sz="1000"/>
                        <a:t>Silbe</a:t>
                      </a:r>
                    </a:p>
                  </a:txBody>
                  <a:tcPr marL="45720" marR="45720" marT="18288" marB="18288" anchor="ctr">
                    <a:solidFill>
                      <a:srgbClr val="E8EEF4"/>
                    </a:solidFill>
                  </a:tcPr>
                </a:tc>
                <a:tc>
                  <a:txBody>
                    <a:bodyPr wrap="square"/>
                    <a:lstStyle/>
                    <a:p>
                      <a:r>
                        <a:rPr sz="1000"/>
                        <a:t>Pinyin-ERR, CER</a:t>
                      </a:r>
                    </a:p>
                  </a:txBody>
                  <a:tcPr marL="45720" marR="45720" marT="18288" marB="18288" anchor="ctr">
                    <a:solidFill>
                      <a:srgbClr val="E8EEF4"/>
                    </a:solidFill>
                  </a:tcPr>
                </a:tc>
              </a:tr>
              <a:tr h="310896">
                <a:tc>
                  <a:txBody>
                    <a:bodyPr wrap="square"/>
                    <a:lstStyle/>
                    <a:p>
                      <a:r>
                        <a:rPr sz="1000"/>
                        <a:t>Chen SCCM (2025)</a:t>
                      </a:r>
                    </a:p>
                  </a:txBody>
                  <a:tcPr marL="45720" marR="45720" marT="18288" marB="18288" anchor="ctr">
                    <a:solidFill>
                      <a:srgbClr val="FFFFFF"/>
                    </a:solidFill>
                  </a:tcPr>
                </a:tc>
                <a:tc>
                  <a:txBody>
                    <a:bodyPr wrap="square"/>
                    <a:lstStyle/>
                    <a:p>
                      <a:r>
                        <a:rPr sz="1000"/>
                        <a:t>Pinyin (Initial+Final)</a:t>
                      </a:r>
                    </a:p>
                  </a:txBody>
                  <a:tcPr marL="45720" marR="45720" marT="18288" marB="18288" anchor="ctr">
                    <a:solidFill>
                      <a:srgbClr val="FFFFFF"/>
                    </a:solidFill>
                  </a:tcPr>
                </a:tc>
                <a:tc>
                  <a:txBody>
                    <a:bodyPr wrap="square"/>
                    <a:lstStyle/>
                    <a:p>
                      <a:r>
                        <a:rPr sz="1000"/>
                        <a:t>Pinyin + Hanzi</a:t>
                      </a:r>
                    </a:p>
                  </a:txBody>
                  <a:tcPr marL="45720" marR="45720" marT="18288" marB="18288" anchor="ctr">
                    <a:solidFill>
                      <a:srgbClr val="FFFFFF"/>
                    </a:solidFill>
                  </a:tcPr>
                </a:tc>
                <a:tc>
                  <a:txBody>
                    <a:bodyPr wrap="square"/>
                    <a:lstStyle/>
                    <a:p>
                      <a:r>
                        <a:rPr sz="1000"/>
                        <a:t>Silbe</a:t>
                      </a:r>
                    </a:p>
                  </a:txBody>
                  <a:tcPr marL="45720" marR="45720" marT="18288" marB="18288" anchor="ctr">
                    <a:solidFill>
                      <a:srgbClr val="FFFFFF"/>
                    </a:solidFill>
                  </a:tcPr>
                </a:tc>
                <a:tc>
                  <a:txBody>
                    <a:bodyPr wrap="square"/>
                    <a:lstStyle/>
                    <a:p>
                      <a:r>
                        <a:rPr sz="1000"/>
                        <a:t>CER, Pinyin-ERR</a:t>
                      </a:r>
                    </a:p>
                  </a:txBody>
                  <a:tcPr marL="45720" marR="45720" marT="18288" marB="18288" anchor="ctr">
                    <a:solidFill>
                      <a:srgbClr val="FFFFFF"/>
                    </a:solidFill>
                  </a:tcPr>
                </a:tc>
              </a:tr>
              <a:tr h="310896">
                <a:tc>
                  <a:txBody>
                    <a:bodyPr wrap="square"/>
                    <a:lstStyle/>
                    <a:p>
                      <a:r>
                        <a:rPr sz="1000"/>
                        <a:t>Chirkova (2025)</a:t>
                      </a:r>
                    </a:p>
                  </a:txBody>
                  <a:tcPr marL="45720" marR="45720" marT="18288" marB="18288" anchor="ctr">
                    <a:solidFill>
                      <a:srgbClr val="E8EEF4"/>
                    </a:solidFill>
                  </a:tcPr>
                </a:tc>
                <a:tc>
                  <a:txBody>
                    <a:bodyPr wrap="square"/>
                    <a:lstStyle/>
                    <a:p>
                      <a:r>
                        <a:rPr sz="1000"/>
                        <a:t>IPA + Pinyin (mit Ton)</a:t>
                      </a:r>
                    </a:p>
                  </a:txBody>
                  <a:tcPr marL="45720" marR="45720" marT="18288" marB="18288" anchor="ctr">
                    <a:solidFill>
                      <a:srgbClr val="E8EEF4"/>
                    </a:solidFill>
                  </a:tcPr>
                </a:tc>
                <a:tc>
                  <a:txBody>
                    <a:bodyPr wrap="square"/>
                    <a:lstStyle/>
                    <a:p>
                      <a:r>
                        <a:rPr sz="1000"/>
                        <a:t>IPA / Pinyin / Simple</a:t>
                      </a:r>
                    </a:p>
                  </a:txBody>
                  <a:tcPr marL="45720" marR="45720" marT="18288" marB="18288" anchor="ctr">
                    <a:solidFill>
                      <a:srgbClr val="E8EEF4"/>
                    </a:solidFill>
                  </a:tcPr>
                </a:tc>
                <a:tc>
                  <a:txBody>
                    <a:bodyPr wrap="square"/>
                    <a:lstStyle/>
                    <a:p>
                      <a:r>
                        <a:rPr sz="1000"/>
                        <a:t>Wort</a:t>
                      </a:r>
                    </a:p>
                  </a:txBody>
                  <a:tcPr marL="45720" marR="45720" marT="18288" marB="18288" anchor="ctr">
                    <a:solidFill>
                      <a:srgbClr val="E8EEF4"/>
                    </a:solidFill>
                  </a:tcPr>
                </a:tc>
                <a:tc>
                  <a:txBody>
                    <a:bodyPr wrap="square"/>
                    <a:lstStyle/>
                    <a:p>
                      <a:r>
                        <a:rPr sz="1000"/>
                        <a:t>tCER, tWER</a:t>
                      </a:r>
                    </a:p>
                  </a:txBody>
                  <a:tcPr marL="45720" marR="45720" marT="18288" marB="18288" anchor="ctr">
                    <a:solidFill>
                      <a:srgbClr val="E8EEF4"/>
                    </a:solidFill>
                  </a:tcPr>
                </a:tc>
              </a:tr>
              <a:tr h="310896">
                <a:tc>
                  <a:txBody>
                    <a:bodyPr wrap="square"/>
                    <a:lstStyle/>
                    <a:p>
                      <a:r>
                        <a:rPr sz="1000"/>
                        <a:t>Bu Siamese (2025)</a:t>
                      </a:r>
                    </a:p>
                  </a:txBody>
                  <a:tcPr marL="45720" marR="45720" marT="18288" marB="18288" anchor="ctr">
                    <a:solidFill>
                      <a:srgbClr val="FFFFFF"/>
                    </a:solidFill>
                  </a:tcPr>
                </a:tc>
                <a:tc>
                  <a:txBody>
                    <a:bodyPr wrap="square"/>
                    <a:lstStyle/>
                    <a:p>
                      <a:r>
                        <a:rPr sz="1000"/>
                        <a:t>F0-Konturen (Standard-Mand.)</a:t>
                      </a:r>
                    </a:p>
                  </a:txBody>
                  <a:tcPr marL="45720" marR="45720" marT="18288" marB="18288" anchor="ctr">
                    <a:solidFill>
                      <a:srgbClr val="FFFFFF"/>
                    </a:solidFill>
                  </a:tcPr>
                </a:tc>
                <a:tc>
                  <a:txBody>
                    <a:bodyPr wrap="square"/>
                    <a:lstStyle/>
                    <a:p>
                      <a:r>
                        <a:rPr sz="1000"/>
                        <a:t>Ton-Diskrepanz-Score</a:t>
                      </a:r>
                    </a:p>
                  </a:txBody>
                  <a:tcPr marL="45720" marR="45720" marT="18288" marB="18288" anchor="ctr">
                    <a:solidFill>
                      <a:srgbClr val="FFFFFF"/>
                    </a:solidFill>
                  </a:tcPr>
                </a:tc>
                <a:tc>
                  <a:txBody>
                    <a:bodyPr wrap="square"/>
                    <a:lstStyle/>
                    <a:p>
                      <a:r>
                        <a:rPr sz="1000"/>
                        <a:t>Silbe (F0)</a:t>
                      </a:r>
                    </a:p>
                  </a:txBody>
                  <a:tcPr marL="45720" marR="45720" marT="18288" marB="18288" anchor="ctr">
                    <a:solidFill>
                      <a:srgbClr val="FFFFFF"/>
                    </a:solidFill>
                  </a:tcPr>
                </a:tc>
                <a:tc>
                  <a:txBody>
                    <a:bodyPr wrap="square"/>
                    <a:lstStyle/>
                    <a:p>
                      <a:r>
                        <a:rPr sz="1000"/>
                        <a:t>MSE, RMSE</a:t>
                      </a:r>
                    </a:p>
                  </a:txBody>
                  <a:tcPr marL="45720" marR="45720" marT="18288" marB="18288" anchor="ctr">
                    <a:solidFill>
                      <a:srgbClr val="FFFFFF"/>
                    </a:solidFill>
                  </a:tcPr>
                </a:tc>
              </a:tr>
              <a:tr h="310896">
                <a:tc>
                  <a:txBody>
                    <a:bodyPr wrap="square"/>
                    <a:lstStyle/>
                    <a:p>
                      <a:r>
                        <a:rPr sz="1000"/>
                        <a:t>Wu L2 Prosody (2024)</a:t>
                      </a:r>
                    </a:p>
                  </a:txBody>
                  <a:tcPr marL="45720" marR="45720" marT="18288" marB="18288" anchor="ctr">
                    <a:solidFill>
                      <a:srgbClr val="E8EEF4"/>
                    </a:solidFill>
                  </a:tcPr>
                </a:tc>
                <a:tc>
                  <a:txBody>
                    <a:bodyPr wrap="square"/>
                    <a:lstStyle/>
                    <a:p>
                      <a:r>
                        <a:rPr sz="1000"/>
                        <a:t>Human-annotierte Töne (T1–T4)</a:t>
                      </a:r>
                    </a:p>
                  </a:txBody>
                  <a:tcPr marL="45720" marR="45720" marT="18288" marB="18288" anchor="ctr">
                    <a:solidFill>
                      <a:srgbClr val="E8EEF4"/>
                    </a:solidFill>
                  </a:tcPr>
                </a:tc>
                <a:tc>
                  <a:txBody>
                    <a:bodyPr wrap="square"/>
                    <a:lstStyle/>
                    <a:p>
                      <a:r>
                        <a:rPr sz="1000"/>
                        <a:t>Automatische Engines</a:t>
                      </a:r>
                    </a:p>
                  </a:txBody>
                  <a:tcPr marL="45720" marR="45720" marT="18288" marB="18288" anchor="ctr">
                    <a:solidFill>
                      <a:srgbClr val="E8EEF4"/>
                    </a:solidFill>
                  </a:tcPr>
                </a:tc>
                <a:tc>
                  <a:txBody>
                    <a:bodyPr wrap="square"/>
                    <a:lstStyle/>
                    <a:p>
                      <a:r>
                        <a:rPr sz="1000"/>
                        <a:t>Silbe</a:t>
                      </a:r>
                    </a:p>
                  </a:txBody>
                  <a:tcPr marL="45720" marR="45720" marT="18288" marB="18288" anchor="ctr">
                    <a:solidFill>
                      <a:srgbClr val="E8EEF4"/>
                    </a:solidFill>
                  </a:tcPr>
                </a:tc>
                <a:tc>
                  <a:txBody>
                    <a:bodyPr wrap="square"/>
                    <a:lstStyle/>
                    <a:p>
                      <a:r>
                        <a:rPr sz="1000"/>
                        <a:t>FRR, FAR, DA</a:t>
                      </a:r>
                    </a:p>
                  </a:txBody>
                  <a:tcPr marL="45720" marR="45720" marT="18288" marB="18288" anchor="ctr">
                    <a:solidFill>
                      <a:srgbClr val="E8EEF4"/>
                    </a:solidFill>
                  </a:tcPr>
                </a:tc>
              </a:tr>
            </a:tbl>
          </a:graphicData>
        </a:graphic>
      </p:graphicFrame>
      <p:sp>
        <p:nvSpPr>
          <p:cNvPr id="5" name="TextBox 4"/>
          <p:cNvSpPr txBox="1"/>
          <p:nvPr/>
        </p:nvSpPr>
        <p:spPr>
          <a:xfrm>
            <a:off x="411480" y="4014216"/>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Vier Strategien für Töne — und ihre Konsequenzen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607308"/>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IGNORIERT (27 Papers)           │  IMPLIZIT IM PHONEM (3 Papers)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Seed, FireRed, Kimi, Qwen3,    │  Du Zipformer: Phonem-Set mit     │</a:t>
            </a:r>
          </a:p>
          <a:p>
            <a:pPr>
              <a:lnSpc>
                <a:spcPct val="100000"/>
              </a:lnSpc>
              <a:spcAft>
                <a:spcPts val="0"/>
              </a:spcAft>
            </a:pPr>
            <a:r>
              <a:rPr sz="900">
                <a:solidFill>
                  <a:srgbClr val="223344"/>
                </a:solidFill>
                <a:latin typeface="Consolas"/>
              </a:rPr>
              <a:t>│  Step-Audio, Surveys, Benchm.   │   Ton als Teil des Inventars      │</a:t>
            </a:r>
          </a:p>
          <a:p>
            <a:pPr>
              <a:lnSpc>
                <a:spcPct val="100000"/>
              </a:lnSpc>
              <a:spcAft>
                <a:spcPts val="0"/>
              </a:spcAft>
            </a:pPr>
            <a:r>
              <a:rPr sz="900">
                <a:solidFill>
                  <a:srgbClr val="223344"/>
                </a:solidFill>
                <a:latin typeface="Consolas"/>
              </a:rPr>
              <a:t>│                                  │  Wang MDD: 66 tonal phonemes      │</a:t>
            </a:r>
          </a:p>
          <a:p>
            <a:pPr>
              <a:lnSpc>
                <a:spcPct val="100000"/>
              </a:lnSpc>
              <a:spcAft>
                <a:spcPts val="0"/>
              </a:spcAft>
            </a:pPr>
            <a:r>
              <a:rPr sz="900">
                <a:solidFill>
                  <a:srgbClr val="223344"/>
                </a:solidFill>
                <a:latin typeface="Consolas"/>
              </a:rPr>
              <a:t>│  → Tonfehler = unsichtbar        │  Zhu ZIPA: Chao tone letters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"CER on characters treats       │  "tonal phonemes to assess        │</a:t>
            </a:r>
          </a:p>
          <a:p>
            <a:pPr>
              <a:lnSpc>
                <a:spcPct val="100000"/>
              </a:lnSpc>
              <a:spcAft>
                <a:spcPts val="0"/>
              </a:spcAft>
            </a:pPr>
            <a:r>
              <a:rPr sz="900">
                <a:solidFill>
                  <a:srgbClr val="223344"/>
                </a:solidFill>
                <a:latin typeface="Consolas"/>
              </a:rPr>
              <a:t>│  tones as invisible"             │  pronunciation with greater       │</a:t>
            </a:r>
          </a:p>
          <a:p>
            <a:pPr>
              <a:lnSpc>
                <a:spcPct val="100000"/>
              </a:lnSpc>
              <a:spcAft>
                <a:spcPts val="0"/>
              </a:spcAft>
            </a:pPr>
            <a:r>
              <a:rPr sz="900">
                <a:solidFill>
                  <a:srgbClr val="223344"/>
                </a:solidFill>
                <a:latin typeface="Consolas"/>
              </a:rPr>
              <a:t>│                                  │  granularity" — Wang (2024)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SEPARATE METRIK (4 Papers)      │  F0-BASIERT (2 Papers)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Chirkova: tCER, tWER           │  Bu: MSE/RMSE auf F0-Konturen     │</a:t>
            </a:r>
          </a:p>
          <a:p>
            <a:pPr>
              <a:lnSpc>
                <a:spcPct val="100000"/>
              </a:lnSpc>
              <a:spcAft>
                <a:spcPts val="0"/>
              </a:spcAft>
            </a:pPr>
            <a:r>
              <a:rPr sz="900">
                <a:solidFill>
                  <a:srgbClr val="223344"/>
                </a:solidFill>
                <a:latin typeface="Consolas"/>
              </a:rPr>
              <a:t>│  Wu: FRR/FAR pro T1–T4          │  Kang: Divergenzpunkt-Analyse     │</a:t>
            </a:r>
          </a:p>
          <a:p>
            <a:pPr>
              <a:lnSpc>
                <a:spcPct val="100000"/>
              </a:lnSpc>
              <a:spcAft>
                <a:spcPts val="0"/>
              </a:spcAft>
            </a:pPr>
            <a:r>
              <a:rPr sz="900">
                <a:solidFill>
                  <a:srgbClr val="223344"/>
                </a:solidFill>
                <a:latin typeface="Consolas"/>
              </a:rPr>
              <a:t>│  Zou: TER empfohlen (!)         │                                   │</a:t>
            </a:r>
          </a:p>
          <a:p>
            <a:pPr>
              <a:lnSpc>
                <a:spcPct val="100000"/>
              </a:lnSpc>
              <a:spcAft>
                <a:spcPts val="0"/>
              </a:spcAft>
            </a:pPr>
            <a:r>
              <a:rPr sz="900">
                <a:solidFill>
                  <a:srgbClr val="223344"/>
                </a:solidFill>
                <a:latin typeface="Consolas"/>
              </a:rPr>
              <a:t>│  Huang: Review (pro Ton)        │  → Akustisch, nicht symbolisch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"Confusion matrices reveal      │  "pitch contour for each syllable │</a:t>
            </a:r>
          </a:p>
          <a:p>
            <a:pPr>
              <a:lnSpc>
                <a:spcPct val="100000"/>
              </a:lnSpc>
              <a:spcAft>
                <a:spcPts val="0"/>
              </a:spcAft>
            </a:pPr>
            <a:r>
              <a:rPr sz="900">
                <a:solidFill>
                  <a:srgbClr val="223344"/>
                </a:solidFill>
                <a:latin typeface="Consolas"/>
              </a:rPr>
              <a:t>│  Tone 3 as most error-prone"    │  normalized on a 0-5 scale"       │</a:t>
            </a:r>
          </a:p>
          <a:p>
            <a:pPr>
              <a:lnSpc>
                <a:spcPct val="100000"/>
              </a:lnSpc>
              <a:spcAft>
                <a:spcPts val="0"/>
              </a:spcAft>
            </a:pPr>
            <a:r>
              <a:rPr sz="900">
                <a:solidFill>
                  <a:srgbClr val="223344"/>
                </a:solidFill>
                <a:latin typeface="Consolas"/>
              </a:rPr>
              <a:t>│  — Zou (2025)                    │  — Bu (2025)                      │</a:t>
            </a:r>
          </a:p>
          <a:p>
            <a:pPr>
              <a:lnSpc>
                <a:spcPct val="100000"/>
              </a:lnSpc>
              <a:spcAft>
                <a:spcPts val="0"/>
              </a:spcAft>
            </a:pPr>
            <a:r>
              <a:rPr sz="900">
                <a:solidFill>
                  <a:srgbClr val="223344"/>
                </a:solidFill>
                <a:latin typeface="Consolas"/>
              </a:rPr>
              <a:t>└──────────────────────────────────┴───────────────────────────────────┘</a:t>
            </a:r>
          </a:p>
        </p:txBody>
      </p:sp>
      <p:sp>
        <p:nvSpPr>
          <p:cNvPr id="5" name="TextBox 4"/>
          <p:cNvSpPr txBox="1"/>
          <p:nvPr/>
        </p:nvSpPr>
        <p:spPr>
          <a:xfrm>
            <a:off x="411480" y="4777740"/>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Wie wird gerechnet? — Von Levenshtein bis Feature-Distanz</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4814316"/>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STRATEGIE 1: Levenshtein (Standard)</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Ref:  d i a n 4  n a o 3       (9 Token)</a:t>
            </a:r>
          </a:p>
          <a:p>
            <a:pPr>
              <a:lnSpc>
                <a:spcPct val="100000"/>
              </a:lnSpc>
              <a:spcAft>
                <a:spcPts val="0"/>
              </a:spcAft>
            </a:pPr>
            <a:r>
              <a:rPr sz="900">
                <a:solidFill>
                  <a:srgbClr val="223344"/>
                </a:solidFill>
                <a:latin typeface="Consolas"/>
              </a:rPr>
              <a:t>  Hyp:  d i a n 4  n a o 2       (9 Token)</a:t>
            </a:r>
          </a:p>
          <a:p>
            <a:pPr>
              <a:lnSpc>
                <a:spcPct val="100000"/>
              </a:lnSpc>
              <a:spcAft>
                <a:spcPts val="0"/>
              </a:spcAft>
            </a:pPr>
            <a:r>
              <a:rPr sz="900">
                <a:solidFill>
                  <a:srgbClr val="223344"/>
                </a:solidFill>
                <a:latin typeface="Consolas"/>
              </a:rPr>
              <a:t>                                ↑ 1 Substitution</a:t>
            </a:r>
          </a:p>
          <a:p>
            <a:pPr>
              <a:lnSpc>
                <a:spcPct val="100000"/>
              </a:lnSpc>
              <a:spcAft>
                <a:spcPts val="0"/>
              </a:spcAft>
            </a:pPr>
            <a:r>
              <a:rPr sz="900">
                <a:solidFill>
                  <a:srgbClr val="223344"/>
                </a:solidFill>
                <a:latin typeface="Consolas"/>
              </a:rPr>
              <a:t>  PER = S+D+I / N = 1/9 = 11,1%</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 Jeder Fehler kostet genau 1 (egal wie ähnlich)</a:t>
            </a:r>
          </a:p>
          <a:p>
            <a:pPr>
              <a:lnSpc>
                <a:spcPct val="100000"/>
              </a:lnSpc>
              <a:spcAft>
                <a:spcPts val="0"/>
              </a:spcAft>
            </a:pPr>
            <a:r>
              <a:rPr sz="900">
                <a:solidFill>
                  <a:srgbClr val="223344"/>
                </a:solidFill>
                <a:latin typeface="Consolas"/>
              </a:rPr>
              <a:t>  → Genutzt von: fast alle (CER, WER, PER, Pinyin-ERR, TER)</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STRATEGIE 2: Feature-Distanz (PFER, nur Zhu ZIPA)</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Ref: /d/  = [−cont, +voice, +alveolar, ...]  (24 Features)</a:t>
            </a:r>
          </a:p>
          <a:p>
            <a:pPr>
              <a:lnSpc>
                <a:spcPct val="100000"/>
              </a:lnSpc>
              <a:spcAft>
                <a:spcPts val="0"/>
              </a:spcAft>
            </a:pPr>
            <a:r>
              <a:rPr sz="900">
                <a:solidFill>
                  <a:srgbClr val="223344"/>
                </a:solidFill>
                <a:latin typeface="Consolas"/>
              </a:rPr>
              <a:t>  Hyp: /l/  = [+cont, +voice, +alveolar, ...]  (24 Features)</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Feature-Distanz(/d/, /l/) = Hamming(Ref, Hyp) / 24 = 1/24 = 0,042</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 Ähnliche Laute kosten weniger als verschiedene</a:t>
            </a:r>
          </a:p>
          <a:p>
            <a:pPr>
              <a:lnSpc>
                <a:spcPct val="100000"/>
              </a:lnSpc>
              <a:spcAft>
                <a:spcPts val="0"/>
              </a:spcAft>
            </a:pPr>
            <a:r>
              <a:rPr sz="900">
                <a:solidFill>
                  <a:srgbClr val="223344"/>
                </a:solidFill>
                <a:latin typeface="Consolas"/>
              </a:rPr>
              <a:t>  → "the top errors are substitution of vowels close</a:t>
            </a:r>
          </a:p>
          <a:p>
            <a:pPr>
              <a:lnSpc>
                <a:spcPct val="100000"/>
              </a:lnSpc>
              <a:spcAft>
                <a:spcPts val="0"/>
              </a:spcAft>
            </a:pPr>
            <a:r>
              <a:rPr sz="900">
                <a:solidFill>
                  <a:srgbClr val="223344"/>
                </a:solidFill>
                <a:latin typeface="Consolas"/>
              </a:rPr>
              <a:t>     in the vowel space" — Zhu (2025)</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STRATEGIE 3: F0-Regression (nur Bu Siamese)</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Ref:  F0-Vektor = [5, 5, 5, 5, 5]     (Tone 1: high level)</a:t>
            </a:r>
          </a:p>
          <a:p>
            <a:pPr>
              <a:lnSpc>
                <a:spcPct val="100000"/>
              </a:lnSpc>
              <a:spcAft>
                <a:spcPts val="0"/>
              </a:spcAft>
            </a:pPr>
            <a:r>
              <a:rPr sz="900">
                <a:solidFill>
                  <a:srgbClr val="223344"/>
                </a:solidFill>
                <a:latin typeface="Consolas"/>
              </a:rPr>
              <a:t>  Hyp:  F0-Vektor = [3, 5, 4, 2, 1]     (Tone 4: falling)</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MSE = Σ(Ref_i − Hyp_i)² / N = 5,2</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 Kontinuierliche Distanz statt kategorischer Fehler</a:t>
            </a:r>
          </a:p>
          <a:p>
            <a:pPr>
              <a:lnSpc>
                <a:spcPct val="100000"/>
              </a:lnSpc>
              <a:spcAft>
                <a:spcPts val="0"/>
              </a:spcAft>
            </a:pPr>
            <a:r>
              <a:rPr sz="900">
                <a:solidFill>
                  <a:srgbClr val="223344"/>
                </a:solidFill>
                <a:latin typeface="Consolas"/>
              </a:rPr>
              <a:t>  → "MSE and RMSE between model evaluation and</a:t>
            </a:r>
          </a:p>
          <a:p>
            <a:pPr>
              <a:lnSpc>
                <a:spcPct val="100000"/>
              </a:lnSpc>
              <a:spcAft>
                <a:spcPts val="0"/>
              </a:spcAft>
            </a:pPr>
            <a:r>
              <a:rPr sz="900">
                <a:solidFill>
                  <a:srgbClr val="223344"/>
                </a:solidFill>
                <a:latin typeface="Consolas"/>
              </a:rPr>
              <a:t>     expert evaluators" — Bu (2025)</a:t>
            </a:r>
          </a:p>
        </p:txBody>
      </p:sp>
      <p:sp>
        <p:nvSpPr>
          <p:cNvPr id="5" name="TextBox 4"/>
          <p:cNvSpPr txBox="1"/>
          <p:nvPr/>
        </p:nvSpPr>
        <p:spPr>
          <a:xfrm>
            <a:off x="411480" y="5984748"/>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41 von 42 Papers: Jeder Fehler kostet genau 1</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969264"/>
          </a:xfrm>
          <a:prstGeom prst="rect">
            <a:avLst/>
          </a:prstGeom>
          <a:noFill/>
        </p:spPr>
        <p:txBody>
          <a:bodyPr wrap="square">
            <a:spAutoFit/>
          </a:bodyPr>
          <a:lstStyle/>
          <a:p>
            <a:pPr>
              <a:spcAft>
                <a:spcPts val="300"/>
              </a:spcAft>
            </a:pPr>
            <a:r>
              <a:rPr sz="1300"/>
              <a:t>•  Standard (41 Papers): Alle Substitutionen, Deletionen, Insertionen kosten gleich viel</a:t>
            </a:r>
          </a:p>
          <a:p>
            <a:pPr>
              <a:spcAft>
                <a:spcPts val="300"/>
              </a:spcAft>
            </a:pPr>
            <a:r>
              <a:rPr sz="1300"/>
              <a:t>•  Einzige Ausnahme: Zhu ZIPA — PFER gewichtet nach phonetischer Feature-Distanz (24 Merkmale)</a:t>
            </a:r>
          </a:p>
          <a:p>
            <a:pPr>
              <a:spcAft>
                <a:spcPts val="300"/>
              </a:spcAft>
            </a:pPr>
            <a:r>
              <a:rPr sz="1300"/>
              <a:t>•  Partielle Ausnahme: Seed-ASR — WWER gewichtet Keyword-Fehler stärker (aber nicht phonetisch)</a:t>
            </a:r>
          </a:p>
        </p:txBody>
      </p:sp>
      <p:sp>
        <p:nvSpPr>
          <p:cNvPr id="5" name="TextBox 4"/>
          <p:cNvSpPr txBox="1"/>
          <p:nvPr/>
        </p:nvSpPr>
        <p:spPr>
          <a:xfrm>
            <a:off x="411480" y="2139696"/>
            <a:ext cx="11368735" cy="1495044"/>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Standard (ungewichtet):</a:t>
            </a:r>
          </a:p>
          <a:p>
            <a:pPr>
              <a:lnSpc>
                <a:spcPct val="100000"/>
              </a:lnSpc>
              <a:spcAft>
                <a:spcPts val="0"/>
              </a:spcAft>
            </a:pPr>
            <a:r>
              <a:rPr sz="900">
                <a:solidFill>
                  <a:srgbClr val="223344"/>
                </a:solidFill>
                <a:latin typeface="Consolas"/>
              </a:rPr>
              <a:t>  "dian" → "tian"  (d↔t, stimmhaft↔stimmlos)     = 1 Fehler</a:t>
            </a:r>
          </a:p>
          <a:p>
            <a:pPr>
              <a:lnSpc>
                <a:spcPct val="100000"/>
              </a:lnSpc>
              <a:spcAft>
                <a:spcPts val="0"/>
              </a:spcAft>
            </a:pPr>
            <a:r>
              <a:rPr sz="900">
                <a:solidFill>
                  <a:srgbClr val="223344"/>
                </a:solidFill>
                <a:latin typeface="Consolas"/>
              </a:rPr>
              <a:t>  "dian" → "zhao"  (komplett anderer Laut)          = 1 Fehler</a:t>
            </a:r>
          </a:p>
          <a:p>
            <a:pPr>
              <a:lnSpc>
                <a:spcPct val="100000"/>
              </a:lnSpc>
              <a:spcAft>
                <a:spcPts val="0"/>
              </a:spcAft>
            </a:pPr>
            <a:r>
              <a:rPr sz="900">
                <a:solidFill>
                  <a:srgbClr val="223344"/>
                </a:solidFill>
                <a:latin typeface="Consolas"/>
              </a:rPr>
              <a:t>  → Identische Bestrafung!</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Gewichtet (PFER-Stil):</a:t>
            </a:r>
          </a:p>
          <a:p>
            <a:pPr>
              <a:lnSpc>
                <a:spcPct val="100000"/>
              </a:lnSpc>
              <a:spcAft>
                <a:spcPts val="0"/>
              </a:spcAft>
            </a:pPr>
            <a:r>
              <a:rPr sz="900">
                <a:solidFill>
                  <a:srgbClr val="223344"/>
                </a:solidFill>
                <a:latin typeface="Consolas"/>
              </a:rPr>
              <a:t>  "dian" → "tian"  Feature-Distanz = 0.042          = milder Fehler</a:t>
            </a:r>
          </a:p>
          <a:p>
            <a:pPr>
              <a:lnSpc>
                <a:spcPct val="100000"/>
              </a:lnSpc>
              <a:spcAft>
                <a:spcPts val="0"/>
              </a:spcAft>
            </a:pPr>
            <a:r>
              <a:rPr sz="900">
                <a:solidFill>
                  <a:srgbClr val="223344"/>
                </a:solidFill>
                <a:latin typeface="Consolas"/>
              </a:rPr>
              <a:t>  "dian" → "zhao"  Feature-Distanz = 0.375          = schwerer Fehler</a:t>
            </a:r>
          </a:p>
          <a:p>
            <a:pPr>
              <a:lnSpc>
                <a:spcPct val="100000"/>
              </a:lnSpc>
              <a:spcAft>
                <a:spcPts val="0"/>
              </a:spcAft>
            </a:pPr>
            <a:r>
              <a:rPr sz="900">
                <a:solidFill>
                  <a:srgbClr val="223344"/>
                </a:solidFill>
                <a:latin typeface="Consolas"/>
              </a:rPr>
              <a:t>  → Phonetisch faire Bewertung</a:t>
            </a:r>
          </a:p>
        </p:txBody>
      </p:sp>
      <p:sp>
        <p:nvSpPr>
          <p:cNvPr id="6" name="TextBox 5"/>
          <p:cNvSpPr txBox="1"/>
          <p:nvPr/>
        </p:nvSpPr>
        <p:spPr>
          <a:xfrm>
            <a:off x="411480" y="3726180"/>
            <a:ext cx="11368735" cy="676656"/>
          </a:xfrm>
          <a:prstGeom prst="rect">
            <a:avLst/>
          </a:prstGeom>
          <a:noFill/>
        </p:spPr>
        <p:txBody>
          <a:bodyPr wrap="square">
            <a:spAutoFit/>
          </a:bodyPr>
          <a:lstStyle/>
          <a:p>
            <a:pPr>
              <a:spcAft>
                <a:spcPts val="300"/>
              </a:spcAft>
            </a:pPr>
            <a:r>
              <a:rPr i="1" sz="1200">
                <a:solidFill>
                  <a:srgbClr val="444444"/>
                </a:solidFill>
              </a:rPr>
              <a:t>„*"the top errors are the substitution of vowels that are close in the vowel space"* — Zhu et al., ZIPA (2025), Sec. 7"</a:t>
            </a:r>
          </a:p>
          <a:p>
            <a:pPr>
              <a:spcAft>
                <a:spcPts val="300"/>
              </a:spcAft>
            </a:pPr>
            <a:r>
              <a:rPr sz="1300"/>
              <a:t>•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Gewichtete Ton-Fehler? — Niemand.</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2702052"/>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                   EXISTIERT                FEHLT</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Ton-Klassifikation  ✅ Zou (2025):</a:t>
            </a:r>
          </a:p>
          <a:p>
            <a:pPr>
              <a:lnSpc>
                <a:spcPct val="100000"/>
              </a:lnSpc>
              <a:spcAft>
                <a:spcPts val="0"/>
              </a:spcAft>
            </a:pPr>
            <a:r>
              <a:rPr sz="900">
                <a:solidFill>
                  <a:srgbClr val="223344"/>
                </a:solidFill>
                <a:latin typeface="Consolas"/>
              </a:rPr>
              <a:t>(T1/T2/T3/T4)      "Tone 3 most</a:t>
            </a:r>
          </a:p>
          <a:p>
            <a:pPr>
              <a:lnSpc>
                <a:spcPct val="100000"/>
              </a:lnSpc>
              <a:spcAft>
                <a:spcPts val="0"/>
              </a:spcAft>
            </a:pPr>
            <a:r>
              <a:rPr sz="900">
                <a:solidFill>
                  <a:srgbClr val="223344"/>
                </a:solidFill>
                <a:latin typeface="Consolas"/>
              </a:rPr>
              <a:t>                    error-prone"</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Ton-Fehlerrate     ✅ Chirkova (2025):      ❌ TER auf Mandarin</a:t>
            </a:r>
          </a:p>
          <a:p>
            <a:pPr>
              <a:lnSpc>
                <a:spcPct val="100000"/>
              </a:lnSpc>
              <a:spcAft>
                <a:spcPts val="0"/>
              </a:spcAft>
            </a:pPr>
            <a:r>
              <a:rPr sz="900">
                <a:solidFill>
                  <a:srgbClr val="223344"/>
                </a:solidFill>
                <a:latin typeface="Consolas"/>
              </a:rPr>
              <a:t>pro Ton            tCER, tWER für Baima         + LLM</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FRR/FAR pro Ton    ✅ Wu (2024):            ❌ FRR/FAR für</a:t>
            </a:r>
          </a:p>
          <a:p>
            <a:pPr>
              <a:lnSpc>
                <a:spcPct val="100000"/>
              </a:lnSpc>
              <a:spcAft>
                <a:spcPts val="0"/>
              </a:spcAft>
            </a:pPr>
            <a:r>
              <a:rPr sz="900">
                <a:solidFill>
                  <a:srgbClr val="223344"/>
                </a:solidFill>
                <a:latin typeface="Consolas"/>
              </a:rPr>
              <a:t>                   T1: 25%/16%                  LLM-Transkription</a:t>
            </a:r>
          </a:p>
          <a:p>
            <a:pPr>
              <a:lnSpc>
                <a:spcPct val="100000"/>
              </a:lnSpc>
              <a:spcAft>
                <a:spcPts val="0"/>
              </a:spcAft>
            </a:pPr>
            <a:r>
              <a:rPr sz="900">
                <a:solidFill>
                  <a:srgbClr val="223344"/>
                </a:solidFill>
                <a:latin typeface="Consolas"/>
              </a:rPr>
              <a:t>                   T2: 19%/8%</a:t>
            </a:r>
          </a:p>
          <a:p>
            <a:pPr>
              <a:lnSpc>
                <a:spcPct val="100000"/>
              </a:lnSpc>
              <a:spcAft>
                <a:spcPts val="0"/>
              </a:spcAft>
            </a:pPr>
            <a:r>
              <a:rPr sz="900">
                <a:solidFill>
                  <a:srgbClr val="223344"/>
                </a:solidFill>
                <a:latin typeface="Consolas"/>
              </a:rPr>
              <a:t>                   T3: 30%/13%</a:t>
            </a:r>
          </a:p>
          <a:p>
            <a:pPr>
              <a:lnSpc>
                <a:spcPct val="100000"/>
              </a:lnSpc>
              <a:spcAft>
                <a:spcPts val="0"/>
              </a:spcAft>
            </a:pPr>
            <a:r>
              <a:rPr sz="900">
                <a:solidFill>
                  <a:srgbClr val="223344"/>
                </a:solidFill>
                <a:latin typeface="Consolas"/>
              </a:rPr>
              <a:t>                   T4: 15%/7%</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Gewichtete          ❌ NIEMAND              ❌ T2↔T3 anders</a:t>
            </a:r>
          </a:p>
          <a:p>
            <a:pPr>
              <a:lnSpc>
                <a:spcPct val="100000"/>
              </a:lnSpc>
              <a:spcAft>
                <a:spcPts val="0"/>
              </a:spcAft>
            </a:pPr>
            <a:r>
              <a:rPr sz="900">
                <a:solidFill>
                  <a:srgbClr val="223344"/>
                </a:solidFill>
                <a:latin typeface="Consolas"/>
              </a:rPr>
              <a:t>Ton-Distanz                                      als T1↔T4</a:t>
            </a:r>
          </a:p>
        </p:txBody>
      </p:sp>
      <p:sp>
        <p:nvSpPr>
          <p:cNvPr id="5" name="TextBox 4"/>
          <p:cNvSpPr txBox="1"/>
          <p:nvPr/>
        </p:nvSpPr>
        <p:spPr>
          <a:xfrm>
            <a:off x="411480" y="3872484"/>
            <a:ext cx="11368735" cy="676656"/>
          </a:xfrm>
          <a:prstGeom prst="rect">
            <a:avLst/>
          </a:prstGeom>
          <a:noFill/>
        </p:spPr>
        <p:txBody>
          <a:bodyPr wrap="square">
            <a:spAutoFit/>
          </a:bodyPr>
          <a:lstStyle/>
          <a:p>
            <a:pPr>
              <a:spcAft>
                <a:spcPts val="300"/>
              </a:spcAft>
            </a:pPr>
            <a:r>
              <a:rPr i="1" sz="1200">
                <a:solidFill>
                  <a:srgbClr val="444444"/>
                </a:solidFill>
              </a:rPr>
              <a:t>„*"Confusion matrices consistently reveal Tone 3 as the most error-prone category"* — Zou et al. (2025), S. 10"</a:t>
            </a:r>
          </a:p>
          <a:p>
            <a:pPr>
              <a:spcAft>
                <a:spcPts val="300"/>
              </a:spcAft>
            </a:pPr>
            <a:r>
              <a:rPr sz="1300"/>
              <a:t>•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Unser Ansatz — Segment und Ton entkoppelt, fair gewichtet</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607308"/>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Audio → LLM → "ma2"</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 ACHSE 1: Segment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  Ref: "ma"    Hyp: "ma"   → SyllER = 0%        │</a:t>
            </a:r>
          </a:p>
          <a:p>
            <a:pPr>
              <a:lnSpc>
                <a:spcPct val="100000"/>
              </a:lnSpc>
              <a:spcAft>
                <a:spcPts val="0"/>
              </a:spcAft>
            </a:pPr>
            <a:r>
              <a:rPr sz="900">
                <a:solidFill>
                  <a:srgbClr val="223344"/>
                </a:solidFill>
                <a:latin typeface="Consolas"/>
              </a:rPr>
              <a:t>            │  (oder: Ref: m-a  Hyp: m-a → PER_seg = 0%)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  Optional: PFER (gewichtet, Zhu-Stil)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 ACHSE 2: Ton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  Ref: Ton 1   Hyp: Ton 2   → ToneAcc = 0%      │</a:t>
            </a:r>
          </a:p>
          <a:p>
            <a:pPr>
              <a:lnSpc>
                <a:spcPct val="100000"/>
              </a:lnSpc>
              <a:spcAft>
                <a:spcPts val="0"/>
              </a:spcAft>
            </a:pPr>
            <a:r>
              <a:rPr sz="900">
                <a:solidFill>
                  <a:srgbClr val="223344"/>
                </a:solidFill>
                <a:latin typeface="Consolas"/>
              </a:rPr>
              <a:t>            │                             → TER = 1/1 = 100%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  Per-Ton-F1: T1=?, T2=?, T3=?, T4=?             │</a:t>
            </a:r>
          </a:p>
          <a:p>
            <a:pPr>
              <a:lnSpc>
                <a:spcPct val="100000"/>
              </a:lnSpc>
              <a:spcAft>
                <a:spcPts val="0"/>
              </a:spcAft>
            </a:pPr>
            <a:r>
              <a:rPr sz="900">
                <a:solidFill>
                  <a:srgbClr val="223344"/>
                </a:solidFill>
                <a:latin typeface="Consolas"/>
              </a:rPr>
              <a:t>            │  Tone Confusion Matrix: welche Töne verwechselt?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 KOMBINIERT ──────────────────────────────────┐</a:t>
            </a:r>
          </a:p>
          <a:p>
            <a:pPr>
              <a:lnSpc>
                <a:spcPct val="100000"/>
              </a:lnSpc>
              <a:spcAft>
                <a:spcPts val="0"/>
              </a:spcAft>
            </a:pPr>
            <a:r>
              <a:rPr sz="900">
                <a:solidFill>
                  <a:srgbClr val="223344"/>
                </a:solidFill>
                <a:latin typeface="Consolas"/>
              </a:rPr>
              <a:t>            │  Silbe "ma" korrekt + Ton 1≠2 falsch            │</a:t>
            </a:r>
          </a:p>
          <a:p>
            <a:pPr>
              <a:lnSpc>
                <a:spcPct val="100000"/>
              </a:lnSpc>
              <a:spcAft>
                <a:spcPts val="0"/>
              </a:spcAft>
            </a:pPr>
            <a:r>
              <a:rPr sz="900">
                <a:solidFill>
                  <a:srgbClr val="223344"/>
                </a:solidFill>
                <a:latin typeface="Consolas"/>
              </a:rPr>
              <a:t>            │  → Combined Accuracy = 0%                        │</a:t>
            </a:r>
          </a:p>
          <a:p>
            <a:pPr>
              <a:lnSpc>
                <a:spcPct val="100000"/>
              </a:lnSpc>
              <a:spcAft>
                <a:spcPts val="0"/>
              </a:spcAft>
            </a:pPr>
            <a:r>
              <a:rPr sz="900">
                <a:solidFill>
                  <a:srgbClr val="223344"/>
                </a:solidFill>
                <a:latin typeface="Consolas"/>
              </a:rPr>
              <a:t>            └─────────────────────────────────────────────────┘</a:t>
            </a:r>
          </a:p>
        </p:txBody>
      </p:sp>
      <p:sp>
        <p:nvSpPr>
          <p:cNvPr id="5" name="TextBox 4"/>
          <p:cNvSpPr txBox="1"/>
          <p:nvPr/>
        </p:nvSpPr>
        <p:spPr>
          <a:xfrm>
            <a:off x="411480" y="4777740"/>
            <a:ext cx="11368735" cy="1554480"/>
          </a:xfrm>
          <a:prstGeom prst="rect">
            <a:avLst/>
          </a:prstGeom>
          <a:noFill/>
        </p:spPr>
        <p:txBody>
          <a:bodyPr wrap="square">
            <a:spAutoFit/>
          </a:bodyPr>
          <a:lstStyle/>
          <a:p>
            <a:pPr>
              <a:spcAft>
                <a:spcPts val="300"/>
              </a:spcAft>
            </a:pPr>
            <a:r>
              <a:rPr sz="1300"/>
              <a:t>•  Achse 1 (Segment): Sind Konsonant+Vokal korrekt? → Syllable Error Rate oder PER (segmental)</a:t>
            </a:r>
          </a:p>
          <a:p>
            <a:pPr>
              <a:spcAft>
                <a:spcPts val="300"/>
              </a:spcAft>
            </a:pPr>
            <a:r>
              <a:rPr sz="1300"/>
              <a:t>•  Achse 2 (Ton): Ist der Ton korrekt? → TER + per-Ton-F1 + Confusion Matrix</a:t>
            </a:r>
          </a:p>
          <a:p>
            <a:pPr>
              <a:spcAft>
                <a:spcPts val="300"/>
              </a:spcAft>
            </a:pPr>
            <a:r>
              <a:rPr sz="1300"/>
              <a:t>•  Kombiniert: Beides korrekt? → Combined Accuracy</a:t>
            </a:r>
          </a:p>
          <a:p>
            <a:pPr>
              <a:spcAft>
                <a:spcPts val="300"/>
              </a:spcAft>
            </a:pPr>
            <a:r>
              <a:rPr sz="1300"/>
              <a:t>•  Neu im LLM-Kontext: Diese Entkopplung wurde für multimodale Foundation Models noch nie durchgeführt</a:t>
            </a:r>
          </a:p>
          <a:p>
            <a:pPr>
              <a:spcAft>
                <a:spcPts val="300"/>
              </a:spcAft>
            </a:pPr>
            <a:r>
              <a:rPr sz="1300"/>
              <a:t>•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Drei Token-Definitionen für Mandarin — mit verschiedenen Ergebnissen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2551176"/>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Audio: "diànnǎo" (电脑)</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DEFINITION A: Tonal Syllable (unser Ansatz)</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Token: "dian4"  "nao3"                    → 2 Token</a:t>
            </a:r>
          </a:p>
          <a:p>
            <a:pPr>
              <a:lnSpc>
                <a:spcPct val="100000"/>
              </a:lnSpc>
              <a:spcAft>
                <a:spcPts val="0"/>
              </a:spcAft>
            </a:pPr>
            <a:r>
              <a:rPr sz="900">
                <a:solidFill>
                  <a:srgbClr val="223344"/>
                </a:solidFill>
                <a:latin typeface="Consolas"/>
              </a:rPr>
              <a:t>  Fehler: "dian4"→"dian4" ✓  "nao3"→"nao2" ✗ → SyllER = 50%</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DEFINITION B: Initial + Tonal Final (Wang MDD)</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Token: "d" "ian4" "n" "ao3"              → 4 Token</a:t>
            </a:r>
          </a:p>
          <a:p>
            <a:pPr>
              <a:lnSpc>
                <a:spcPct val="100000"/>
              </a:lnSpc>
              <a:spcAft>
                <a:spcPts val="0"/>
              </a:spcAft>
            </a:pPr>
            <a:r>
              <a:rPr sz="900">
                <a:solidFill>
                  <a:srgbClr val="223344"/>
                </a:solidFill>
                <a:latin typeface="Consolas"/>
              </a:rPr>
              <a:t>  Fehler: "ao3"→"ao2"                       → PER = 25%</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DEFINITION C: Fully Decomposed (feinste Granularität)</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Token: "d" "i" "a" "n" "4" "n" "a" "o" "3"  → 9 Token</a:t>
            </a:r>
          </a:p>
          <a:p>
            <a:pPr>
              <a:lnSpc>
                <a:spcPct val="100000"/>
              </a:lnSpc>
              <a:spcAft>
                <a:spcPts val="0"/>
              </a:spcAft>
            </a:pPr>
            <a:r>
              <a:rPr sz="900">
                <a:solidFill>
                  <a:srgbClr val="223344"/>
                </a:solidFill>
                <a:latin typeface="Consolas"/>
              </a:rPr>
              <a:t>  Fehler: "3"→"2"                           → PER = 11%</a:t>
            </a:r>
          </a:p>
        </p:txBody>
      </p:sp>
      <p:sp>
        <p:nvSpPr>
          <p:cNvPr id="5" name="TextBox 4"/>
          <p:cNvSpPr txBox="1"/>
          <p:nvPr/>
        </p:nvSpPr>
        <p:spPr>
          <a:xfrm>
            <a:off x="411480" y="3721608"/>
            <a:ext cx="11368735" cy="1554480"/>
          </a:xfrm>
          <a:prstGeom prst="rect">
            <a:avLst/>
          </a:prstGeom>
          <a:noFill/>
        </p:spPr>
        <p:txBody>
          <a:bodyPr wrap="square">
            <a:spAutoFit/>
          </a:bodyPr>
          <a:lstStyle/>
          <a:p>
            <a:pPr>
              <a:spcAft>
                <a:spcPts val="300"/>
              </a:spcAft>
            </a:pPr>
            <a:r>
              <a:rPr sz="1300"/>
              <a:t>•  Gleicher Fehler (Ton 3→2 bei „nao"), drei verschiedene Fehlerraten: 50%, 25%, 11%</a:t>
            </a:r>
          </a:p>
          <a:p>
            <a:pPr>
              <a:spcAft>
                <a:spcPts val="300"/>
              </a:spcAft>
            </a:pPr>
            <a:r>
              <a:rPr sz="1300"/>
              <a:t>•  Wang MDD nutzt Definition B mit 66 tonal phonemes: *"initial consonant sounds, final vowel sounds, and tones"*</a:t>
            </a:r>
          </a:p>
          <a:p>
            <a:pPr>
              <a:spcAft>
                <a:spcPts val="300"/>
              </a:spcAft>
            </a:pPr>
            <a:r>
              <a:rPr sz="1300"/>
              <a:t>•  Du Zipformer nutzt ebenfalls 66 Phoneme auf Phonem-Ebene</a:t>
            </a:r>
          </a:p>
          <a:p>
            <a:pPr>
              <a:spcAft>
                <a:spcPts val="300"/>
              </a:spcAft>
            </a:pPr>
            <a:r>
              <a:rPr sz="1300"/>
              <a:t>•  Unsere Wahl: Definition A (tonal syllable) — weil Tone Perfect silbenbasiert ist und jede Silbe exakt einen Ton hat</a:t>
            </a:r>
          </a:p>
          <a:p>
            <a:pPr>
              <a:spcAft>
                <a:spcPts val="300"/>
              </a:spcAft>
            </a:pPr>
            <a:r>
              <a:rPr sz="1300"/>
              <a:t>•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Was existiert, was fehlt — und was wir beitragen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3108960"/>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Eigenschaft</a:t>
                      </a:r>
                    </a:p>
                  </a:txBody>
                  <a:tcPr marL="45720" marR="45720" marT="18288" marB="18288" anchor="ctr">
                    <a:solidFill>
                      <a:srgbClr val="1F3A5F"/>
                    </a:solidFill>
                  </a:tcPr>
                </a:tc>
                <a:tc>
                  <a:txBody>
                    <a:bodyPr wrap="square"/>
                    <a:lstStyle/>
                    <a:p>
                      <a:r>
                        <a:rPr sz="1000" b="1">
                          <a:solidFill>
                            <a:srgbClr val="FFFFFF"/>
                          </a:solidFill>
                        </a:rPr>
                        <a:t>Existiert?</a:t>
                      </a:r>
                    </a:p>
                  </a:txBody>
                  <a:tcPr marL="45720" marR="45720" marT="18288" marB="18288" anchor="ctr">
                    <a:solidFill>
                      <a:srgbClr val="1F3A5F"/>
                    </a:solidFill>
                  </a:tcPr>
                </a:tc>
                <a:tc>
                  <a:txBody>
                    <a:bodyPr wrap="square"/>
                    <a:lstStyle/>
                    <a:p>
                      <a:r>
                        <a:rPr sz="1000" b="1">
                          <a:solidFill>
                            <a:srgbClr val="FFFFFF"/>
                          </a:solidFill>
                        </a:rPr>
                        <a:t>Wer?</a:t>
                      </a:r>
                    </a:p>
                  </a:txBody>
                  <a:tcPr marL="45720" marR="45720" marT="18288" marB="18288" anchor="ctr">
                    <a:solidFill>
                      <a:srgbClr val="1F3A5F"/>
                    </a:solidFill>
                  </a:tcPr>
                </a:tc>
                <a:tc>
                  <a:txBody>
                    <a:bodyPr wrap="square"/>
                    <a:lstStyle/>
                    <a:p>
                      <a:r>
                        <a:rPr sz="1000" b="1">
                          <a:solidFill>
                            <a:srgbClr val="FFFFFF"/>
                          </a:solidFill>
                        </a:rPr>
                        <a:t>Unser Beitrag</a:t>
                      </a:r>
                    </a:p>
                  </a:txBody>
                  <a:tcPr marL="45720" marR="45720" marT="18288" marB="18288" anchor="ctr">
                    <a:solidFill>
                      <a:srgbClr val="1F3A5F"/>
                    </a:solidFill>
                  </a:tcPr>
                </a:tc>
              </a:tr>
              <a:tr h="310896">
                <a:tc>
                  <a:txBody>
                    <a:bodyPr wrap="square"/>
                    <a:lstStyle/>
                    <a:p>
                      <a:r>
                        <a:rPr sz="1000"/>
                        <a:t>CER/WER auf Hanzi</a:t>
                      </a:r>
                    </a:p>
                  </a:txBody>
                  <a:tcPr marL="45720" marR="45720" marT="18288" marB="18288" anchor="ctr">
                    <a:solidFill>
                      <a:srgbClr val="FFFFFF"/>
                    </a:solidFill>
                  </a:tcPr>
                </a:tc>
                <a:tc>
                  <a:txBody>
                    <a:bodyPr wrap="square"/>
                    <a:lstStyle/>
                    <a:p>
                      <a:r>
                        <a:rPr sz="1000"/>
                        <a:t>✅ Standard (27 Papers)</a:t>
                      </a:r>
                    </a:p>
                  </a:txBody>
                  <a:tcPr marL="45720" marR="45720" marT="18288" marB="18288" anchor="ctr">
                    <a:solidFill>
                      <a:srgbClr val="FFFFFF"/>
                    </a:solidFill>
                  </a:tcPr>
                </a:tc>
                <a:tc>
                  <a:txBody>
                    <a:bodyPr wrap="square"/>
                    <a:lstStyle/>
                    <a:p>
                      <a:r>
                        <a:rPr sz="1000"/>
                        <a:t>Seed, FireRed, Kimi, Qwen3, ...</a:t>
                      </a:r>
                    </a:p>
                  </a:txBody>
                  <a:tcPr marL="45720" marR="45720" marT="18288" marB="18288" anchor="ctr">
                    <a:solidFill>
                      <a:srgbClr val="FFFFFF"/>
                    </a:solidFill>
                  </a:tcPr>
                </a:tc>
                <a:tc>
                  <a:txBody>
                    <a:bodyPr wrap="square"/>
                    <a:lstStyle/>
                    <a:p>
                      <a:r>
                        <a:rPr sz="1000"/>
                        <a:t>nur Vergleichsanker</a:t>
                      </a:r>
                    </a:p>
                  </a:txBody>
                  <a:tcPr marL="45720" marR="45720" marT="18288" marB="18288" anchor="ctr">
                    <a:solidFill>
                      <a:srgbClr val="FFFFFF"/>
                    </a:solidFill>
                  </a:tcPr>
                </a:tc>
              </a:tr>
              <a:tr h="310896">
                <a:tc>
                  <a:txBody>
                    <a:bodyPr wrap="square"/>
                    <a:lstStyle/>
                    <a:p>
                      <a:r>
                        <a:rPr sz="1000"/>
                        <a:t>PER auf Phonemen</a:t>
                      </a:r>
                    </a:p>
                  </a:txBody>
                  <a:tcPr marL="45720" marR="45720" marT="18288" marB="18288" anchor="ctr">
                    <a:solidFill>
                      <a:srgbClr val="E8EEF4"/>
                    </a:solidFill>
                  </a:tcPr>
                </a:tc>
                <a:tc>
                  <a:txBody>
                    <a:bodyPr wrap="square"/>
                    <a:lstStyle/>
                    <a:p>
                      <a:r>
                        <a:rPr sz="1000"/>
                        <a:t>✅ selten (3 Papers)</a:t>
                      </a:r>
                    </a:p>
                  </a:txBody>
                  <a:tcPr marL="45720" marR="45720" marT="18288" marB="18288" anchor="ctr">
                    <a:solidFill>
                      <a:srgbClr val="E8EEF4"/>
                    </a:solidFill>
                  </a:tcPr>
                </a:tc>
                <a:tc>
                  <a:txBody>
                    <a:bodyPr wrap="square"/>
                    <a:lstStyle/>
                    <a:p>
                      <a:r>
                        <a:rPr sz="1000"/>
                        <a:t>Du, Wang MDD, Zhu ZIPA</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r>
              <a:tr h="310896">
                <a:tc>
                  <a:txBody>
                    <a:bodyPr wrap="square"/>
                    <a:lstStyle/>
                    <a:p>
                      <a:r>
                        <a:rPr sz="1000"/>
                        <a:t>CER auf Pinyin (ohne Ton)</a:t>
                      </a:r>
                    </a:p>
                  </a:txBody>
                  <a:tcPr marL="45720" marR="45720" marT="18288" marB="18288" anchor="ctr">
                    <a:solidFill>
                      <a:srgbClr val="FFFFFF"/>
                    </a:solidFill>
                  </a:tcPr>
                </a:tc>
                <a:tc>
                  <a:txBody>
                    <a:bodyPr wrap="square"/>
                    <a:lstStyle/>
                    <a:p>
                      <a:r>
                        <a:rPr sz="1000"/>
                        <a:t>✅ selten (2 Papers)</a:t>
                      </a:r>
                    </a:p>
                  </a:txBody>
                  <a:tcPr marL="45720" marR="45720" marT="18288" marB="18288" anchor="ctr">
                    <a:solidFill>
                      <a:srgbClr val="FFFFFF"/>
                    </a:solidFill>
                  </a:tcPr>
                </a:tc>
                <a:tc>
                  <a:txBody>
                    <a:bodyPr wrap="square"/>
                    <a:lstStyle/>
                    <a:p>
                      <a:r>
                        <a:rPr sz="1000"/>
                        <a:t>Zhengjie (1,9%), Chen (2,41%)</a:t>
                      </a:r>
                    </a:p>
                  </a:txBody>
                  <a:tcPr marL="45720" marR="45720" marT="18288" marB="18288" anchor="ctr">
                    <a:solidFill>
                      <a:srgbClr val="FFFFFF"/>
                    </a:solidFill>
                  </a:tcPr>
                </a:tc>
                <a:tc>
                  <a:txBody>
                    <a:bodyPr wrap="square"/>
                    <a:lstStyle/>
                    <a:p>
                      <a:r>
                        <a:rPr sz="1000"/>
                        <a:t>Segment-Achse</a:t>
                      </a:r>
                    </a:p>
                  </a:txBody>
                  <a:tcPr marL="45720" marR="45720" marT="18288" marB="18288" anchor="ctr">
                    <a:solidFill>
                      <a:srgbClr val="FFFFFF"/>
                    </a:solidFill>
                  </a:tcPr>
                </a:tc>
              </a:tr>
              <a:tr h="310896">
                <a:tc>
                  <a:txBody>
                    <a:bodyPr wrap="square"/>
                    <a:lstStyle/>
                    <a:p>
                      <a:r>
                        <a:rPr sz="1000"/>
                        <a:t>tCER/tWER (mit Ton)</a:t>
                      </a:r>
                    </a:p>
                  </a:txBody>
                  <a:tcPr marL="45720" marR="45720" marT="18288" marB="18288" anchor="ctr">
                    <a:solidFill>
                      <a:srgbClr val="E8EEF4"/>
                    </a:solidFill>
                  </a:tcPr>
                </a:tc>
                <a:tc>
                  <a:txBody>
                    <a:bodyPr wrap="square"/>
                    <a:lstStyle/>
                    <a:p>
                      <a:r>
                        <a:rPr sz="1000"/>
                        <a:t>✅ 1 Paper (Baima!)</a:t>
                      </a:r>
                    </a:p>
                  </a:txBody>
                  <a:tcPr marL="45720" marR="45720" marT="18288" marB="18288" anchor="ctr">
                    <a:solidFill>
                      <a:srgbClr val="E8EEF4"/>
                    </a:solidFill>
                  </a:tcPr>
                </a:tc>
                <a:tc>
                  <a:txBody>
                    <a:bodyPr wrap="square"/>
                    <a:lstStyle/>
                    <a:p>
                      <a:r>
                        <a:rPr sz="1000"/>
                        <a:t>Chirkova (2025)</a:t>
                      </a:r>
                    </a:p>
                  </a:txBody>
                  <a:tcPr marL="45720" marR="45720" marT="18288" marB="18288" anchor="ctr">
                    <a:solidFill>
                      <a:srgbClr val="E8EEF4"/>
                    </a:solidFill>
                  </a:tcPr>
                </a:tc>
                <a:tc>
                  <a:txBody>
                    <a:bodyPr wrap="square"/>
                    <a:lstStyle/>
                    <a:p>
                      <a:r>
                        <a:rPr sz="1000"/>
                        <a:t>Ton-Achse (Mandarin!)</a:t>
                      </a:r>
                    </a:p>
                  </a:txBody>
                  <a:tcPr marL="45720" marR="45720" marT="18288" marB="18288" anchor="ctr">
                    <a:solidFill>
                      <a:srgbClr val="E8EEF4"/>
                    </a:solidFill>
                  </a:tcPr>
                </a:tc>
              </a:tr>
              <a:tr h="310896">
                <a:tc>
                  <a:txBody>
                    <a:bodyPr wrap="square"/>
                    <a:lstStyle/>
                    <a:p>
                      <a:r>
                        <a:rPr sz="1000"/>
                        <a:t>TER (Tone Error Rate)</a:t>
                      </a:r>
                    </a:p>
                  </a:txBody>
                  <a:tcPr marL="45720" marR="45720" marT="18288" marB="18288" anchor="ctr">
                    <a:solidFill>
                      <a:srgbClr val="FFFFFF"/>
                    </a:solidFill>
                  </a:tcPr>
                </a:tc>
                <a:tc>
                  <a:txBody>
                    <a:bodyPr wrap="square"/>
                    <a:lstStyle/>
                    <a:p>
                      <a:r>
                        <a:rPr sz="1000"/>
                        <a:t>⚠️ empfohlen, nie angewandt</a:t>
                      </a:r>
                    </a:p>
                  </a:txBody>
                  <a:tcPr marL="45720" marR="45720" marT="18288" marB="18288" anchor="ctr">
                    <a:solidFill>
                      <a:srgbClr val="FFFFFF"/>
                    </a:solidFill>
                  </a:tcPr>
                </a:tc>
                <a:tc>
                  <a:txBody>
                    <a:bodyPr wrap="square"/>
                    <a:lstStyle/>
                    <a:p>
                      <a:r>
                        <a:rPr sz="1000"/>
                        <a:t>Zou Review (2025)</a:t>
                      </a:r>
                    </a:p>
                  </a:txBody>
                  <a:tcPr marL="45720" marR="45720" marT="18288" marB="18288" anchor="ctr">
                    <a:solidFill>
                      <a:srgbClr val="FFFFFF"/>
                    </a:solidFill>
                  </a:tcPr>
                </a:tc>
                <a:tc>
                  <a:txBody>
                    <a:bodyPr wrap="square"/>
                    <a:lstStyle/>
                    <a:p>
                      <a:r>
                        <a:rPr sz="1000"/>
                        <a:t>NEU: erstmals berechnet</a:t>
                      </a:r>
                    </a:p>
                  </a:txBody>
                  <a:tcPr marL="45720" marR="45720" marT="18288" marB="18288" anchor="ctr">
                    <a:solidFill>
                      <a:srgbClr val="FFFFFF"/>
                    </a:solidFill>
                  </a:tcPr>
                </a:tc>
              </a:tr>
              <a:tr h="310896">
                <a:tc>
                  <a:txBody>
                    <a:bodyPr wrap="square"/>
                    <a:lstStyle/>
                    <a:p>
                      <a:r>
                        <a:rPr sz="1000"/>
                        <a:t>PFER (gewichtet)</a:t>
                      </a:r>
                    </a:p>
                  </a:txBody>
                  <a:tcPr marL="45720" marR="45720" marT="18288" marB="18288" anchor="ctr">
                    <a:solidFill>
                      <a:srgbClr val="E8EEF4"/>
                    </a:solidFill>
                  </a:tcPr>
                </a:tc>
                <a:tc>
                  <a:txBody>
                    <a:bodyPr wrap="square"/>
                    <a:lstStyle/>
                    <a:p>
                      <a:r>
                        <a:rPr sz="1000"/>
                        <a:t>✅ 1 Paper</a:t>
                      </a:r>
                    </a:p>
                  </a:txBody>
                  <a:tcPr marL="45720" marR="45720" marT="18288" marB="18288" anchor="ctr">
                    <a:solidFill>
                      <a:srgbClr val="E8EEF4"/>
                    </a:solidFill>
                  </a:tcPr>
                </a:tc>
                <a:tc>
                  <a:txBody>
                    <a:bodyPr wrap="square"/>
                    <a:lstStyle/>
                    <a:p>
                      <a:r>
                        <a:rPr sz="1000"/>
                        <a:t>Zhu ZIPA (2025)</a:t>
                      </a:r>
                    </a:p>
                  </a:txBody>
                  <a:tcPr marL="45720" marR="45720" marT="18288" marB="18288" anchor="ctr">
                    <a:solidFill>
                      <a:srgbClr val="E8EEF4"/>
                    </a:solidFill>
                  </a:tcPr>
                </a:tc>
                <a:tc>
                  <a:txBody>
                    <a:bodyPr wrap="square"/>
                    <a:lstStyle/>
                    <a:p>
                      <a:r>
                        <a:rPr sz="1000"/>
                        <a:t>optional</a:t>
                      </a:r>
                    </a:p>
                  </a:txBody>
                  <a:tcPr marL="45720" marR="45720" marT="18288" marB="18288" anchor="ctr">
                    <a:solidFill>
                      <a:srgbClr val="E8EEF4"/>
                    </a:solidFill>
                  </a:tcPr>
                </a:tc>
              </a:tr>
              <a:tr h="310896">
                <a:tc>
                  <a:txBody>
                    <a:bodyPr wrap="square"/>
                    <a:lstStyle/>
                    <a:p>
                      <a:r>
                        <a:rPr sz="1000"/>
                        <a:t>Per-Ton-F1 + Confusion Matrix</a:t>
                      </a:r>
                    </a:p>
                  </a:txBody>
                  <a:tcPr marL="45720" marR="45720" marT="18288" marB="18288" anchor="ctr">
                    <a:solidFill>
                      <a:srgbClr val="FFFFFF"/>
                    </a:solidFill>
                  </a:tcPr>
                </a:tc>
                <a:tc>
                  <a:txBody>
                    <a:bodyPr wrap="square"/>
                    <a:lstStyle/>
                    <a:p>
                      <a:r>
                        <a:rPr sz="1000"/>
                        <a:t>✅ teilweise</a:t>
                      </a:r>
                    </a:p>
                  </a:txBody>
                  <a:tcPr marL="45720" marR="45720" marT="18288" marB="18288" anchor="ctr">
                    <a:solidFill>
                      <a:srgbClr val="FFFFFF"/>
                    </a:solidFill>
                  </a:tcPr>
                </a:tc>
                <a:tc>
                  <a:txBody>
                    <a:bodyPr wrap="square"/>
                    <a:lstStyle/>
                    <a:p>
                      <a:r>
                        <a:rPr sz="1000"/>
                        <a:t>Wu (FRR/FAR pro Ton)</a:t>
                      </a:r>
                    </a:p>
                  </a:txBody>
                  <a:tcPr marL="45720" marR="45720" marT="18288" marB="18288" anchor="ctr">
                    <a:solidFill>
                      <a:srgbClr val="FFFFFF"/>
                    </a:solidFill>
                  </a:tcPr>
                </a:tc>
                <a:tc>
                  <a:txBody>
                    <a:bodyPr wrap="square"/>
                    <a:lstStyle/>
                    <a:p>
                      <a:r>
                        <a:rPr sz="1000"/>
                        <a:t>systematisch für LLMs</a:t>
                      </a:r>
                    </a:p>
                  </a:txBody>
                  <a:tcPr marL="45720" marR="45720" marT="18288" marB="18288" anchor="ctr">
                    <a:solidFill>
                      <a:srgbClr val="FFFFFF"/>
                    </a:solidFill>
                  </a:tcPr>
                </a:tc>
              </a:tr>
              <a:tr h="310896">
                <a:tc>
                  <a:txBody>
                    <a:bodyPr wrap="square"/>
                    <a:lstStyle/>
                    <a:p>
                      <a:r>
                        <a:rPr sz="1000"/>
                        <a:t>Segment+Ton entkoppelt + LLM</a:t>
                      </a:r>
                    </a:p>
                  </a:txBody>
                  <a:tcPr marL="45720" marR="45720" marT="18288" marB="18288" anchor="ctr">
                    <a:solidFill>
                      <a:srgbClr val="E8EEF4"/>
                    </a:solidFill>
                  </a:tcPr>
                </a:tc>
                <a:tc>
                  <a:txBody>
                    <a:bodyPr wrap="square"/>
                    <a:lstStyle/>
                    <a:p>
                      <a:r>
                        <a:rPr sz="1000"/>
                        <a:t>❌ niemand</a:t>
                      </a:r>
                    </a:p>
                  </a:txBody>
                  <a:tcPr marL="45720" marR="45720" marT="18288" marB="18288" anchor="ctr">
                    <a:solidFill>
                      <a:srgbClr val="E8EEF4"/>
                    </a:solidFill>
                  </a:tcPr>
                </a:tc>
                <a:tc>
                  <a:txBody>
                    <a:bodyPr wrap="square"/>
                    <a:lstStyle/>
                    <a:p>
                      <a:r>
                        <a:rPr sz="1000"/>
                        <a:t>—</a:t>
                      </a:r>
                    </a:p>
                  </a:txBody>
                  <a:tcPr marL="45720" marR="45720" marT="18288" marB="18288" anchor="ctr">
                    <a:solidFill>
                      <a:srgbClr val="E8EEF4"/>
                    </a:solidFill>
                  </a:tcPr>
                </a:tc>
                <a:tc>
                  <a:txBody>
                    <a:bodyPr wrap="square"/>
                    <a:lstStyle/>
                    <a:p>
                      <a:r>
                        <a:rPr sz="1000"/>
                        <a:t>Kernbeitrag</a:t>
                      </a:r>
                    </a:p>
                  </a:txBody>
                  <a:tcPr marL="45720" marR="45720" marT="18288" marB="18288" anchor="ctr">
                    <a:solidFill>
                      <a:srgbClr val="E8EEF4"/>
                    </a:solidFill>
                  </a:tcPr>
                </a:tc>
              </a:tr>
              <a:tr h="310896">
                <a:tc>
                  <a:txBody>
                    <a:bodyPr wrap="square"/>
                    <a:lstStyle/>
                    <a:p>
                      <a:r>
                        <a:rPr sz="1000"/>
                        <a:t>Gewichtete Ton-Distanz</a:t>
                      </a:r>
                    </a:p>
                  </a:txBody>
                  <a:tcPr marL="45720" marR="45720" marT="18288" marB="18288" anchor="ctr">
                    <a:solidFill>
                      <a:srgbClr val="FFFFFF"/>
                    </a:solidFill>
                  </a:tcPr>
                </a:tc>
                <a:tc>
                  <a:txBody>
                    <a:bodyPr wrap="square"/>
                    <a:lstStyle/>
                    <a:p>
                      <a:r>
                        <a:rPr sz="1000"/>
                        <a:t>❌ niemand</a:t>
                      </a:r>
                    </a:p>
                  </a:txBody>
                  <a:tcPr marL="45720" marR="45720" marT="18288" marB="18288" anchor="ctr">
                    <a:solidFill>
                      <a:srgbClr val="FFFFFF"/>
                    </a:solidFill>
                  </a:tcPr>
                </a:tc>
                <a:tc>
                  <a:txBody>
                    <a:bodyPr wrap="square"/>
                    <a:lstStyle/>
                    <a:p>
                      <a:r>
                        <a:rPr sz="1000"/>
                        <a:t>—</a:t>
                      </a:r>
                    </a:p>
                  </a:txBody>
                  <a:tcPr marL="45720" marR="45720" marT="18288" marB="18288" anchor="ctr">
                    <a:solidFill>
                      <a:srgbClr val="FFFFFF"/>
                    </a:solidFill>
                  </a:tcPr>
                </a:tc>
                <a:tc>
                  <a:txBody>
                    <a:bodyPr wrap="square"/>
                    <a:lstStyle/>
                    <a:p>
                      <a:r>
                        <a:rPr sz="1000"/>
                        <a:t>offene Frage</a:t>
                      </a:r>
                    </a:p>
                  </a:txBody>
                  <a:tcPr marL="45720" marR="45720" marT="18288" marB="18288" anchor="ctr">
                    <a:solidFill>
                      <a:srgbClr val="FFFFFF"/>
                    </a:solidFill>
                  </a:tcPr>
                </a:tc>
              </a:tr>
            </a:tbl>
          </a:graphicData>
        </a:graphic>
      </p:graphicFrame>
      <p:sp>
        <p:nvSpPr>
          <p:cNvPr id="5" name="TextBox 4"/>
          <p:cNvSpPr txBox="1"/>
          <p:nvPr/>
        </p:nvSpPr>
        <p:spPr>
          <a:xfrm>
            <a:off x="411480" y="4325112"/>
            <a:ext cx="11368735" cy="969264"/>
          </a:xfrm>
          <a:prstGeom prst="rect">
            <a:avLst/>
          </a:prstGeom>
          <a:noFill/>
        </p:spPr>
        <p:txBody>
          <a:bodyPr wrap="square">
            <a:spAutoFit/>
          </a:bodyPr>
          <a:lstStyle/>
          <a:p>
            <a:pPr>
              <a:spcAft>
                <a:spcPts val="300"/>
              </a:spcAft>
            </a:pPr>
            <a:r>
              <a:rPr i="1" sz="1200">
                <a:solidFill>
                  <a:srgbClr val="444444"/>
                </a:solidFill>
              </a:rPr>
              <a:t>„Forschungslücke in einem Satz: Kein Paper kombiniert Pinyin+Ton als Referenz, entkoppelte Segment/Ton-Evaluation, und multimodale LLMs für Mandarin."</a:t>
            </a:r>
          </a:p>
          <a:p>
            <a:pPr>
              <a:spcAft>
                <a:spcPts val="300"/>
              </a:spcAft>
            </a:pPr>
            <a:r>
              <a:rPr sz="1300"/>
              <a:t>•  ---</a:t>
            </a:r>
          </a:p>
          <a:p>
            <a:pPr>
              <a:spcAft>
                <a:spcPts val="300"/>
              </a:spcAft>
            </a:pPr>
            <a:r>
              <a:rPr sz="1300"/>
              <a:t>•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Vollständige Metrik-Methodik-Übersicht (Backup / Handout)</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5120640"/>
        </p:xfrm>
        <a:graphic>
          <a:graphicData uri="http://schemas.openxmlformats.org/drawingml/2006/table">
            <a:tbl>
              <a:tblPr firstRow="1" bandRow="1">
                <a:tableStyleId>{5C22544A-7EE6-4342-B048-85BDC9FD1C3A}</a:tableStyleId>
              </a:tblPr>
              <a:tblGrid>
                <a:gridCol w="1910029"/>
                <a:gridCol w="1910029"/>
                <a:gridCol w="1910029"/>
                <a:gridCol w="1910029"/>
                <a:gridCol w="1910029"/>
                <a:gridCol w="1910029"/>
              </a:tblGrid>
              <a:tr h="131298">
                <a:tc>
                  <a:txBody>
                    <a:bodyPr wrap="square"/>
                    <a:lstStyle/>
                    <a:p>
                      <a:r>
                        <a:rPr sz="1000" b="1">
                          <a:solidFill>
                            <a:srgbClr val="FFFFFF"/>
                          </a:solidFill>
                        </a:rPr>
                        <a:t>#</a:t>
                      </a:r>
                    </a:p>
                  </a:txBody>
                  <a:tcPr marL="45720" marR="45720" marT="18288" marB="18288" anchor="ctr">
                    <a:solidFill>
                      <a:srgbClr val="1F3A5F"/>
                    </a:solidFill>
                  </a:tcPr>
                </a:tc>
                <a:tc>
                  <a:txBody>
                    <a:bodyPr wrap="square"/>
                    <a:lstStyle/>
                    <a:p>
                      <a:r>
                        <a:rPr sz="1000" b="1">
                          <a:solidFill>
                            <a:srgbClr val="FFFFFF"/>
                          </a:solidFill>
                        </a:rPr>
                        <a:t>Paper</a:t>
                      </a:r>
                    </a:p>
                  </a:txBody>
                  <a:tcPr marL="45720" marR="45720" marT="18288" marB="18288" anchor="ctr">
                    <a:solidFill>
                      <a:srgbClr val="1F3A5F"/>
                    </a:solidFill>
                  </a:tcPr>
                </a:tc>
                <a:tc>
                  <a:txBody>
                    <a:bodyPr wrap="square"/>
                    <a:lstStyle/>
                    <a:p>
                      <a:r>
                        <a:rPr sz="1000" b="1">
                          <a:solidFill>
                            <a:srgbClr val="FFFFFF"/>
                          </a:solidFill>
                        </a:rPr>
                        <a:t>Referenz-Einheit</a:t>
                      </a:r>
                    </a:p>
                  </a:txBody>
                  <a:tcPr marL="45720" marR="45720" marT="18288" marB="18288" anchor="ctr">
                    <a:solidFill>
                      <a:srgbClr val="1F3A5F"/>
                    </a:solidFill>
                  </a:tcPr>
                </a:tc>
                <a:tc>
                  <a:txBody>
                    <a:bodyPr wrap="square"/>
                    <a:lstStyle/>
                    <a:p>
                      <a:r>
                        <a:rPr sz="1000" b="1">
                          <a:solidFill>
                            <a:srgbClr val="FFFFFF"/>
                          </a:solidFill>
                        </a:rPr>
                        <a:t>Metrik</a:t>
                      </a:r>
                    </a:p>
                  </a:txBody>
                  <a:tcPr marL="45720" marR="45720" marT="18288" marB="18288" anchor="ctr">
                    <a:solidFill>
                      <a:srgbClr val="1F3A5F"/>
                    </a:solidFill>
                  </a:tcPr>
                </a:tc>
                <a:tc>
                  <a:txBody>
                    <a:bodyPr wrap="square"/>
                    <a:lstStyle/>
                    <a:p>
                      <a:r>
                        <a:rPr sz="1000" b="1">
                          <a:solidFill>
                            <a:srgbClr val="FFFFFF"/>
                          </a:solidFill>
                        </a:rPr>
                        <a:t>Ton-Behandlung</a:t>
                      </a:r>
                    </a:p>
                  </a:txBody>
                  <a:tcPr marL="45720" marR="45720" marT="18288" marB="18288" anchor="ctr">
                    <a:solidFill>
                      <a:srgbClr val="1F3A5F"/>
                    </a:solidFill>
                  </a:tcPr>
                </a:tc>
                <a:tc>
                  <a:txBody>
                    <a:bodyPr wrap="square"/>
                    <a:lstStyle/>
                    <a:p>
                      <a:r>
                        <a:rPr sz="1000" b="1">
                          <a:solidFill>
                            <a:srgbClr val="FFFFFF"/>
                          </a:solidFill>
                        </a:rPr>
                        <a:t>Phon. Relevanz</a:t>
                      </a:r>
                    </a:p>
                  </a:txBody>
                  <a:tcPr marL="45720" marR="45720" marT="18288" marB="18288" anchor="ctr">
                    <a:solidFill>
                      <a:srgbClr val="1F3A5F"/>
                    </a:solidFill>
                  </a:tcPr>
                </a:tc>
              </a:tr>
              <a:tr h="131298">
                <a:tc>
                  <a:txBody>
                    <a:bodyPr wrap="square"/>
                    <a:lstStyle/>
                    <a:p>
                      <a:r>
                        <a:rPr sz="1000"/>
                        <a:t>1</a:t>
                      </a:r>
                    </a:p>
                  </a:txBody>
                  <a:tcPr marL="45720" marR="45720" marT="18288" marB="18288" anchor="ctr">
                    <a:solidFill>
                      <a:srgbClr val="FFFFFF"/>
                    </a:solidFill>
                  </a:tcPr>
                </a:tc>
                <a:tc>
                  <a:txBody>
                    <a:bodyPr wrap="square"/>
                    <a:lstStyle/>
                    <a:p>
                      <a:r>
                        <a:rPr sz="1000"/>
                        <a:t>Seed-ASR (2024)</a:t>
                      </a:r>
                    </a:p>
                  </a:txBody>
                  <a:tcPr marL="45720" marR="45720" marT="18288" marB="18288" anchor="ctr">
                    <a:solidFill>
                      <a:srgbClr val="FFFFFF"/>
                    </a:solidFill>
                  </a:tcPr>
                </a:tc>
                <a:tc>
                  <a:txBody>
                    <a:bodyPr wrap="square"/>
                    <a:lstStyle/>
                    <a:p>
                      <a:r>
                        <a:rPr sz="1000"/>
                        <a:t>Hanzi</a:t>
                      </a:r>
                    </a:p>
                  </a:txBody>
                  <a:tcPr marL="45720" marR="45720" marT="18288" marB="18288" anchor="ctr">
                    <a:solidFill>
                      <a:srgbClr val="FFFFFF"/>
                    </a:solidFill>
                  </a:tcPr>
                </a:tc>
                <a:tc>
                  <a:txBody>
                    <a:bodyPr wrap="square"/>
                    <a:lstStyle/>
                    <a:p>
                      <a:r>
                        <a:rPr sz="1000"/>
                        <a:t>CER/WER/WWER</a:t>
                      </a:r>
                    </a:p>
                  </a:txBody>
                  <a:tcPr marL="45720" marR="45720" marT="18288" marB="18288" anchor="ctr">
                    <a:solidFill>
                      <a:srgbClr val="FFFFFF"/>
                    </a:solidFill>
                  </a:tcPr>
                </a:tc>
                <a:tc>
                  <a:txBody>
                    <a:bodyPr wrap="square"/>
                    <a:lstStyle/>
                    <a:p>
                      <a:r>
                        <a:rPr sz="1000"/>
                        <a:t>Ignoriert</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131298">
                <a:tc>
                  <a:txBody>
                    <a:bodyPr wrap="square"/>
                    <a:lstStyle/>
                    <a:p>
                      <a:r>
                        <a:rPr sz="1000"/>
                        <a:t>2</a:t>
                      </a:r>
                    </a:p>
                  </a:txBody>
                  <a:tcPr marL="45720" marR="45720" marT="18288" marB="18288" anchor="ctr">
                    <a:solidFill>
                      <a:srgbClr val="E8EEF4"/>
                    </a:solidFill>
                  </a:tcPr>
                </a:tc>
                <a:tc>
                  <a:txBody>
                    <a:bodyPr wrap="square"/>
                    <a:lstStyle/>
                    <a:p>
                      <a:r>
                        <a:rPr sz="1000"/>
                        <a:t>FireRedASR (2025)</a:t>
                      </a:r>
                    </a:p>
                  </a:txBody>
                  <a:tcPr marL="45720" marR="45720" marT="18288" marB="18288" anchor="ctr">
                    <a:solidFill>
                      <a:srgbClr val="E8EEF4"/>
                    </a:solidFill>
                  </a:tcPr>
                </a:tc>
                <a:tc>
                  <a:txBody>
                    <a:bodyPr wrap="square"/>
                    <a:lstStyle/>
                    <a:p>
                      <a:r>
                        <a:rPr sz="1000"/>
                        <a:t>Hanzi</a:t>
                      </a:r>
                    </a:p>
                  </a:txBody>
                  <a:tcPr marL="45720" marR="45720" marT="18288" marB="18288" anchor="ctr">
                    <a:solidFill>
                      <a:srgbClr val="E8EEF4"/>
                    </a:solidFill>
                  </a:tcPr>
                </a:tc>
                <a:tc>
                  <a:txBody>
                    <a:bodyPr wrap="square"/>
                    <a:lstStyle/>
                    <a:p>
                      <a:r>
                        <a:rPr sz="1000"/>
                        <a:t>CER</a:t>
                      </a:r>
                    </a:p>
                  </a:txBody>
                  <a:tcPr marL="45720" marR="45720" marT="18288" marB="18288" anchor="ctr">
                    <a:solidFill>
                      <a:srgbClr val="E8EEF4"/>
                    </a:solidFill>
                  </a:tcPr>
                </a:tc>
                <a:tc>
                  <a:txBody>
                    <a:bodyPr wrap="square"/>
                    <a:lstStyle/>
                    <a:p>
                      <a:r>
                        <a:rPr sz="1000"/>
                        <a:t>Ignoriert</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r h="131298">
                <a:tc>
                  <a:txBody>
                    <a:bodyPr wrap="square"/>
                    <a:lstStyle/>
                    <a:p>
                      <a:r>
                        <a:rPr sz="1000"/>
                        <a:t>3</a:t>
                      </a:r>
                    </a:p>
                  </a:txBody>
                  <a:tcPr marL="45720" marR="45720" marT="18288" marB="18288" anchor="ctr">
                    <a:solidFill>
                      <a:srgbClr val="FFFFFF"/>
                    </a:solidFill>
                  </a:tcPr>
                </a:tc>
                <a:tc>
                  <a:txBody>
                    <a:bodyPr wrap="square"/>
                    <a:lstStyle/>
                    <a:p>
                      <a:r>
                        <a:rPr sz="1000"/>
                        <a:t>FireRedASR2S (2026)</a:t>
                      </a:r>
                    </a:p>
                  </a:txBody>
                  <a:tcPr marL="45720" marR="45720" marT="18288" marB="18288" anchor="ctr">
                    <a:solidFill>
                      <a:srgbClr val="FFFFFF"/>
                    </a:solidFill>
                  </a:tcPr>
                </a:tc>
                <a:tc>
                  <a:txBody>
                    <a:bodyPr wrap="square"/>
                    <a:lstStyle/>
                    <a:p>
                      <a:r>
                        <a:rPr sz="1000"/>
                        <a:t>Hanzi</a:t>
                      </a:r>
                    </a:p>
                  </a:txBody>
                  <a:tcPr marL="45720" marR="45720" marT="18288" marB="18288" anchor="ctr">
                    <a:solidFill>
                      <a:srgbClr val="FFFFFF"/>
                    </a:solidFill>
                  </a:tcPr>
                </a:tc>
                <a:tc>
                  <a:txBody>
                    <a:bodyPr wrap="square"/>
                    <a:lstStyle/>
                    <a:p>
                      <a:r>
                        <a:rPr sz="1000"/>
                        <a:t>CER</a:t>
                      </a:r>
                    </a:p>
                  </a:txBody>
                  <a:tcPr marL="45720" marR="45720" marT="18288" marB="18288" anchor="ctr">
                    <a:solidFill>
                      <a:srgbClr val="FFFFFF"/>
                    </a:solidFill>
                  </a:tcPr>
                </a:tc>
                <a:tc>
                  <a:txBody>
                    <a:bodyPr wrap="square"/>
                    <a:lstStyle/>
                    <a:p>
                      <a:r>
                        <a:rPr sz="1000"/>
                        <a:t>Ignoriert</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131298">
                <a:tc>
                  <a:txBody>
                    <a:bodyPr wrap="square"/>
                    <a:lstStyle/>
                    <a:p>
                      <a:r>
                        <a:rPr sz="1000"/>
                        <a:t>4</a:t>
                      </a:r>
                    </a:p>
                  </a:txBody>
                  <a:tcPr marL="45720" marR="45720" marT="18288" marB="18288" anchor="ctr">
                    <a:solidFill>
                      <a:srgbClr val="E8EEF4"/>
                    </a:solidFill>
                  </a:tcPr>
                </a:tc>
                <a:tc>
                  <a:txBody>
                    <a:bodyPr wrap="square"/>
                    <a:lstStyle/>
                    <a:p>
                      <a:r>
                        <a:rPr sz="1000"/>
                        <a:t>Kimi-Audio (2025)</a:t>
                      </a:r>
                    </a:p>
                  </a:txBody>
                  <a:tcPr marL="45720" marR="45720" marT="18288" marB="18288" anchor="ctr">
                    <a:solidFill>
                      <a:srgbClr val="E8EEF4"/>
                    </a:solidFill>
                  </a:tcPr>
                </a:tc>
                <a:tc>
                  <a:txBody>
                    <a:bodyPr wrap="square"/>
                    <a:lstStyle/>
                    <a:p>
                      <a:r>
                        <a:rPr sz="1000"/>
                        <a:t>Hanzi</a:t>
                      </a:r>
                    </a:p>
                  </a:txBody>
                  <a:tcPr marL="45720" marR="45720" marT="18288" marB="18288" anchor="ctr">
                    <a:solidFill>
                      <a:srgbClr val="E8EEF4"/>
                    </a:solidFill>
                  </a:tcPr>
                </a:tc>
                <a:tc>
                  <a:txBody>
                    <a:bodyPr wrap="square"/>
                    <a:lstStyle/>
                    <a:p>
                      <a:r>
                        <a:rPr sz="1000"/>
                        <a:t>WER</a:t>
                      </a:r>
                    </a:p>
                  </a:txBody>
                  <a:tcPr marL="45720" marR="45720" marT="18288" marB="18288" anchor="ctr">
                    <a:solidFill>
                      <a:srgbClr val="E8EEF4"/>
                    </a:solidFill>
                  </a:tcPr>
                </a:tc>
                <a:tc>
                  <a:txBody>
                    <a:bodyPr wrap="square"/>
                    <a:lstStyle/>
                    <a:p>
                      <a:r>
                        <a:rPr sz="1000"/>
                        <a:t>Ignoriert</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r h="131298">
                <a:tc>
                  <a:txBody>
                    <a:bodyPr wrap="square"/>
                    <a:lstStyle/>
                    <a:p>
                      <a:r>
                        <a:rPr sz="1000"/>
                        <a:t>5</a:t>
                      </a:r>
                    </a:p>
                  </a:txBody>
                  <a:tcPr marL="45720" marR="45720" marT="18288" marB="18288" anchor="ctr">
                    <a:solidFill>
                      <a:srgbClr val="FFFFFF"/>
                    </a:solidFill>
                  </a:tcPr>
                </a:tc>
                <a:tc>
                  <a:txBody>
                    <a:bodyPr wrap="square"/>
                    <a:lstStyle/>
                    <a:p>
                      <a:r>
                        <a:rPr sz="1000"/>
                        <a:t>Qwen3-ASR (2026)</a:t>
                      </a:r>
                    </a:p>
                  </a:txBody>
                  <a:tcPr marL="45720" marR="45720" marT="18288" marB="18288" anchor="ctr">
                    <a:solidFill>
                      <a:srgbClr val="FFFFFF"/>
                    </a:solidFill>
                  </a:tcPr>
                </a:tc>
                <a:tc>
                  <a:txBody>
                    <a:bodyPr wrap="square"/>
                    <a:lstStyle/>
                    <a:p>
                      <a:r>
                        <a:rPr sz="1000"/>
                        <a:t>Hanzi</a:t>
                      </a:r>
                    </a:p>
                  </a:txBody>
                  <a:tcPr marL="45720" marR="45720" marT="18288" marB="18288" anchor="ctr">
                    <a:solidFill>
                      <a:srgbClr val="FFFFFF"/>
                    </a:solidFill>
                  </a:tcPr>
                </a:tc>
                <a:tc>
                  <a:txBody>
                    <a:bodyPr wrap="square"/>
                    <a:lstStyle/>
                    <a:p>
                      <a:r>
                        <a:rPr sz="1000"/>
                        <a:t>CER/WER</a:t>
                      </a:r>
                    </a:p>
                  </a:txBody>
                  <a:tcPr marL="45720" marR="45720" marT="18288" marB="18288" anchor="ctr">
                    <a:solidFill>
                      <a:srgbClr val="FFFFFF"/>
                    </a:solidFill>
                  </a:tcPr>
                </a:tc>
                <a:tc>
                  <a:txBody>
                    <a:bodyPr wrap="square"/>
                    <a:lstStyle/>
                    <a:p>
                      <a:r>
                        <a:rPr sz="1000"/>
                        <a:t>Ignoriert</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131298">
                <a:tc>
                  <a:txBody>
                    <a:bodyPr wrap="square"/>
                    <a:lstStyle/>
                    <a:p>
                      <a:r>
                        <a:rPr sz="1000"/>
                        <a:t>6</a:t>
                      </a:r>
                    </a:p>
                  </a:txBody>
                  <a:tcPr marL="45720" marR="45720" marT="18288" marB="18288" anchor="ctr">
                    <a:solidFill>
                      <a:srgbClr val="E8EEF4"/>
                    </a:solidFill>
                  </a:tcPr>
                </a:tc>
                <a:tc>
                  <a:txBody>
                    <a:bodyPr wrap="square"/>
                    <a:lstStyle/>
                    <a:p>
                      <a:r>
                        <a:rPr sz="1000"/>
                        <a:t>Step-Audio 2 (2025)</a:t>
                      </a:r>
                    </a:p>
                  </a:txBody>
                  <a:tcPr marL="45720" marR="45720" marT="18288" marB="18288" anchor="ctr">
                    <a:solidFill>
                      <a:srgbClr val="E8EEF4"/>
                    </a:solidFill>
                  </a:tcPr>
                </a:tc>
                <a:tc>
                  <a:txBody>
                    <a:bodyPr wrap="square"/>
                    <a:lstStyle/>
                    <a:p>
                      <a:r>
                        <a:rPr sz="1000"/>
                        <a:t>Hanzi</a:t>
                      </a:r>
                    </a:p>
                  </a:txBody>
                  <a:tcPr marL="45720" marR="45720" marT="18288" marB="18288" anchor="ctr">
                    <a:solidFill>
                      <a:srgbClr val="E8EEF4"/>
                    </a:solidFill>
                  </a:tcPr>
                </a:tc>
                <a:tc>
                  <a:txBody>
                    <a:bodyPr wrap="square"/>
                    <a:lstStyle/>
                    <a:p>
                      <a:r>
                        <a:rPr sz="1000"/>
                        <a:t>CER/WER</a:t>
                      </a:r>
                    </a:p>
                  </a:txBody>
                  <a:tcPr marL="45720" marR="45720" marT="18288" marB="18288" anchor="ctr">
                    <a:solidFill>
                      <a:srgbClr val="E8EEF4"/>
                    </a:solidFill>
                  </a:tcPr>
                </a:tc>
                <a:tc>
                  <a:txBody>
                    <a:bodyPr wrap="square"/>
                    <a:lstStyle/>
                    <a:p>
                      <a:r>
                        <a:rPr sz="1000"/>
                        <a:t>Ignoriert</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r h="131298">
                <a:tc>
                  <a:txBody>
                    <a:bodyPr wrap="square"/>
                    <a:lstStyle/>
                    <a:p>
                      <a:r>
                        <a:rPr sz="1000"/>
                        <a:t>7</a:t>
                      </a:r>
                    </a:p>
                  </a:txBody>
                  <a:tcPr marL="45720" marR="45720" marT="18288" marB="18288" anchor="ctr">
                    <a:solidFill>
                      <a:srgbClr val="FFFFFF"/>
                    </a:solidFill>
                  </a:tcPr>
                </a:tc>
                <a:tc>
                  <a:txBody>
                    <a:bodyPr wrap="square"/>
                    <a:lstStyle/>
                    <a:p>
                      <a:r>
                        <a:rPr sz="1000"/>
                        <a:t>Wei ASR-EC (2024)</a:t>
                      </a:r>
                    </a:p>
                  </a:txBody>
                  <a:tcPr marL="45720" marR="45720" marT="18288" marB="18288" anchor="ctr">
                    <a:solidFill>
                      <a:srgbClr val="FFFFFF"/>
                    </a:solidFill>
                  </a:tcPr>
                </a:tc>
                <a:tc>
                  <a:txBody>
                    <a:bodyPr wrap="square"/>
                    <a:lstStyle/>
                    <a:p>
                      <a:r>
                        <a:rPr sz="1000"/>
                        <a:t>Hanzi</a:t>
                      </a:r>
                    </a:p>
                  </a:txBody>
                  <a:tcPr marL="45720" marR="45720" marT="18288" marB="18288" anchor="ctr">
                    <a:solidFill>
                      <a:srgbClr val="FFFFFF"/>
                    </a:solidFill>
                  </a:tcPr>
                </a:tc>
                <a:tc>
                  <a:txBody>
                    <a:bodyPr wrap="square"/>
                    <a:lstStyle/>
                    <a:p>
                      <a:r>
                        <a:rPr sz="1000"/>
                        <a:t>CER (S/D/I)</a:t>
                      </a:r>
                    </a:p>
                  </a:txBody>
                  <a:tcPr marL="45720" marR="45720" marT="18288" marB="18288" anchor="ctr">
                    <a:solidFill>
                      <a:srgbClr val="FFFFFF"/>
                    </a:solidFill>
                  </a:tcPr>
                </a:tc>
                <a:tc>
                  <a:txBody>
                    <a:bodyPr wrap="square"/>
                    <a:lstStyle/>
                    <a:p>
                      <a:r>
                        <a:rPr sz="1000"/>
                        <a:t>Ignoriert</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131298">
                <a:tc>
                  <a:txBody>
                    <a:bodyPr wrap="square"/>
                    <a:lstStyle/>
                    <a:p>
                      <a:r>
                        <a:rPr sz="1000"/>
                        <a:t>8</a:t>
                      </a:r>
                    </a:p>
                  </a:txBody>
                  <a:tcPr marL="45720" marR="45720" marT="18288" marB="18288" anchor="ctr">
                    <a:solidFill>
                      <a:srgbClr val="E8EEF4"/>
                    </a:solidFill>
                  </a:tcPr>
                </a:tc>
                <a:tc>
                  <a:txBody>
                    <a:bodyPr wrap="square"/>
                    <a:lstStyle/>
                    <a:p>
                      <a:r>
                        <a:rPr sz="1000"/>
                        <a:t>ContextASR (2025)</a:t>
                      </a:r>
                    </a:p>
                  </a:txBody>
                  <a:tcPr marL="45720" marR="45720" marT="18288" marB="18288" anchor="ctr">
                    <a:solidFill>
                      <a:srgbClr val="E8EEF4"/>
                    </a:solidFill>
                  </a:tcPr>
                </a:tc>
                <a:tc>
                  <a:txBody>
                    <a:bodyPr wrap="square"/>
                    <a:lstStyle/>
                    <a:p>
                      <a:r>
                        <a:rPr sz="1000"/>
                        <a:t>Wort/NE</a:t>
                      </a:r>
                    </a:p>
                  </a:txBody>
                  <a:tcPr marL="45720" marR="45720" marT="18288" marB="18288" anchor="ctr">
                    <a:solidFill>
                      <a:srgbClr val="E8EEF4"/>
                    </a:solidFill>
                  </a:tcPr>
                </a:tc>
                <a:tc>
                  <a:txBody>
                    <a:bodyPr wrap="square"/>
                    <a:lstStyle/>
                    <a:p>
                      <a:r>
                        <a:rPr sz="1000"/>
                        <a:t>WER/NE-WER</a:t>
                      </a:r>
                    </a:p>
                  </a:txBody>
                  <a:tcPr marL="45720" marR="45720" marT="18288" marB="18288" anchor="ctr">
                    <a:solidFill>
                      <a:srgbClr val="E8EEF4"/>
                    </a:solidFill>
                  </a:tcPr>
                </a:tc>
                <a:tc>
                  <a:txBody>
                    <a:bodyPr wrap="square"/>
                    <a:lstStyle/>
                    <a:p>
                      <a:r>
                        <a:rPr sz="1000"/>
                        <a:t>Ignoriert</a:t>
                      </a:r>
                    </a:p>
                  </a:txBody>
                  <a:tcPr marL="45720" marR="45720" marT="18288" marB="18288" anchor="ctr">
                    <a:solidFill>
                      <a:srgbClr val="E8EEF4"/>
                    </a:solidFill>
                  </a:tcPr>
                </a:tc>
                <a:tc>
                  <a:txBody>
                    <a:bodyPr wrap="square"/>
                    <a:lstStyle/>
                    <a:p>
                      <a:r>
                        <a:rPr sz="1000"/>
                        <a:t>TEILW.</a:t>
                      </a:r>
                    </a:p>
                  </a:txBody>
                  <a:tcPr marL="45720" marR="45720" marT="18288" marB="18288" anchor="ctr">
                    <a:solidFill>
                      <a:srgbClr val="E8EEF4"/>
                    </a:solidFill>
                  </a:tcPr>
                </a:tc>
              </a:tr>
              <a:tr h="131298">
                <a:tc>
                  <a:txBody>
                    <a:bodyPr wrap="square"/>
                    <a:lstStyle/>
                    <a:p>
                      <a:r>
                        <a:rPr sz="1000"/>
                        <a:t>9</a:t>
                      </a:r>
                    </a:p>
                  </a:txBody>
                  <a:tcPr marL="45720" marR="45720" marT="18288" marB="18288" anchor="ctr">
                    <a:solidFill>
                      <a:srgbClr val="FFFFFF"/>
                    </a:solidFill>
                  </a:tcPr>
                </a:tc>
                <a:tc>
                  <a:txBody>
                    <a:bodyPr wrap="square"/>
                    <a:lstStyle/>
                    <a:p>
                      <a:r>
                        <a:rPr sz="1000"/>
                        <a:t>VocalBench-zh (2025)</a:t>
                      </a:r>
                    </a:p>
                  </a:txBody>
                  <a:tcPr marL="45720" marR="45720" marT="18288" marB="18288" anchor="ctr">
                    <a:solidFill>
                      <a:srgbClr val="FFFFFF"/>
                    </a:solidFill>
                  </a:tcPr>
                </a:tc>
                <a:tc>
                  <a:txBody>
                    <a:bodyPr wrap="square"/>
                    <a:lstStyle/>
                    <a:p>
                      <a:r>
                        <a:rPr sz="1000"/>
                        <a:t>Text+Phonem</a:t>
                      </a:r>
                    </a:p>
                  </a:txBody>
                  <a:tcPr marL="45720" marR="45720" marT="18288" marB="18288" anchor="ctr">
                    <a:solidFill>
                      <a:srgbClr val="FFFFFF"/>
                    </a:solidFill>
                  </a:tcPr>
                </a:tc>
                <a:tc>
                  <a:txBody>
                    <a:bodyPr wrap="square"/>
                    <a:lstStyle/>
                    <a:p>
                      <a:r>
                        <a:rPr sz="1000"/>
                        <a:t>PER/UTMOS/Acc</a:t>
                      </a:r>
                    </a:p>
                  </a:txBody>
                  <a:tcPr marL="45720" marR="45720" marT="18288" marB="18288" anchor="ctr">
                    <a:solidFill>
                      <a:srgbClr val="FFFFFF"/>
                    </a:solidFill>
                  </a:tcPr>
                </a:tc>
                <a:tc>
                  <a:txBody>
                    <a:bodyPr wrap="square"/>
                    <a:lstStyle/>
                    <a:p>
                      <a:r>
                        <a:rPr sz="1000"/>
                        <a:t>Ignoriert</a:t>
                      </a:r>
                    </a:p>
                  </a:txBody>
                  <a:tcPr marL="45720" marR="45720" marT="18288" marB="18288" anchor="ctr">
                    <a:solidFill>
                      <a:srgbClr val="FFFFFF"/>
                    </a:solidFill>
                  </a:tcPr>
                </a:tc>
                <a:tc>
                  <a:txBody>
                    <a:bodyPr wrap="square"/>
                    <a:lstStyle/>
                    <a:p>
                      <a:r>
                        <a:rPr sz="1000"/>
                        <a:t>TEILW.</a:t>
                      </a:r>
                    </a:p>
                  </a:txBody>
                  <a:tcPr marL="45720" marR="45720" marT="18288" marB="18288" anchor="ctr">
                    <a:solidFill>
                      <a:srgbClr val="FFFFFF"/>
                    </a:solidFill>
                  </a:tcPr>
                </a:tc>
              </a:tr>
              <a:tr h="131298">
                <a:tc>
                  <a:txBody>
                    <a:bodyPr wrap="square"/>
                    <a:lstStyle/>
                    <a:p>
                      <a:r>
                        <a:rPr sz="1000"/>
                        <a:t>10</a:t>
                      </a:r>
                    </a:p>
                  </a:txBody>
                  <a:tcPr marL="45720" marR="45720" marT="18288" marB="18288" anchor="ctr">
                    <a:solidFill>
                      <a:srgbClr val="E8EEF4"/>
                    </a:solidFill>
                  </a:tcPr>
                </a:tc>
                <a:tc>
                  <a:txBody>
                    <a:bodyPr wrap="square"/>
                    <a:lstStyle/>
                    <a:p>
                      <a:r>
                        <a:rPr sz="1000"/>
                        <a:t>Du Zipformer (2025)</a:t>
                      </a:r>
                    </a:p>
                  </a:txBody>
                  <a:tcPr marL="45720" marR="45720" marT="18288" marB="18288" anchor="ctr">
                    <a:solidFill>
                      <a:srgbClr val="E8EEF4"/>
                    </a:solidFill>
                  </a:tcPr>
                </a:tc>
                <a:tc>
                  <a:txBody>
                    <a:bodyPr wrap="square"/>
                    <a:lstStyle/>
                    <a:p>
                      <a:r>
                        <a:rPr sz="1000"/>
                        <a:t>Phoneme (66)</a:t>
                      </a:r>
                    </a:p>
                  </a:txBody>
                  <a:tcPr marL="45720" marR="45720" marT="18288" marB="18288" anchor="ctr">
                    <a:solidFill>
                      <a:srgbClr val="E8EEF4"/>
                    </a:solidFill>
                  </a:tcPr>
                </a:tc>
                <a:tc>
                  <a:txBody>
                    <a:bodyPr wrap="square"/>
                    <a:lstStyle/>
                    <a:p>
                      <a:r>
                        <a:rPr sz="1000"/>
                        <a:t>WER (=PER)</a:t>
                      </a:r>
                    </a:p>
                  </a:txBody>
                  <a:tcPr marL="45720" marR="45720" marT="18288" marB="18288" anchor="ctr">
                    <a:solidFill>
                      <a:srgbClr val="E8EEF4"/>
                    </a:solidFill>
                  </a:tcPr>
                </a:tc>
                <a:tc>
                  <a:txBody>
                    <a:bodyPr wrap="square"/>
                    <a:lstStyle/>
                    <a:p>
                      <a:r>
                        <a:rPr sz="1000"/>
                        <a:t>Implizit</a:t>
                      </a:r>
                    </a:p>
                  </a:txBody>
                  <a:tcPr marL="45720" marR="45720" marT="18288" marB="18288" anchor="ctr">
                    <a:solidFill>
                      <a:srgbClr val="E8EEF4"/>
                    </a:solidFill>
                  </a:tcPr>
                </a:tc>
                <a:tc>
                  <a:txBody>
                    <a:bodyPr wrap="square"/>
                    <a:lstStyle/>
                    <a:p>
                      <a:r>
                        <a:rPr sz="1000"/>
                        <a:t>JA</a:t>
                      </a:r>
                    </a:p>
                  </a:txBody>
                  <a:tcPr marL="45720" marR="45720" marT="18288" marB="18288" anchor="ctr">
                    <a:solidFill>
                      <a:srgbClr val="E8EEF4"/>
                    </a:solidFill>
                  </a:tcPr>
                </a:tc>
              </a:tr>
              <a:tr h="131298">
                <a:tc>
                  <a:txBody>
                    <a:bodyPr wrap="square"/>
                    <a:lstStyle/>
                    <a:p>
                      <a:r>
                        <a:rPr sz="1000"/>
                        <a:t>11</a:t>
                      </a:r>
                    </a:p>
                  </a:txBody>
                  <a:tcPr marL="45720" marR="45720" marT="18288" marB="18288" anchor="ctr">
                    <a:solidFill>
                      <a:srgbClr val="FFFFFF"/>
                    </a:solidFill>
                  </a:tcPr>
                </a:tc>
                <a:tc>
                  <a:txBody>
                    <a:bodyPr wrap="square"/>
                    <a:lstStyle/>
                    <a:p>
                      <a:r>
                        <a:rPr sz="1000"/>
                        <a:t>Zou Review (2025)</a:t>
                      </a:r>
                    </a:p>
                  </a:txBody>
                  <a:tcPr marL="45720" marR="45720" marT="18288" marB="18288" anchor="ctr">
                    <a:solidFill>
                      <a:srgbClr val="FFFFFF"/>
                    </a:solidFill>
                  </a:tcPr>
                </a:tc>
                <a:tc>
                  <a:txBody>
                    <a:bodyPr wrap="square"/>
                    <a:lstStyle/>
                    <a:p>
                      <a:r>
                        <a:rPr sz="1000"/>
                        <a:t>Ton-Labels</a:t>
                      </a:r>
                    </a:p>
                  </a:txBody>
                  <a:tcPr marL="45720" marR="45720" marT="18288" marB="18288" anchor="ctr">
                    <a:solidFill>
                      <a:srgbClr val="FFFFFF"/>
                    </a:solidFill>
                  </a:tcPr>
                </a:tc>
                <a:tc>
                  <a:txBody>
                    <a:bodyPr wrap="square"/>
                    <a:lstStyle/>
                    <a:p>
                      <a:r>
                        <a:rPr sz="1000"/>
                        <a:t>TER/Acc/F1</a:t>
                      </a:r>
                    </a:p>
                  </a:txBody>
                  <a:tcPr marL="45720" marR="45720" marT="18288" marB="18288" anchor="ctr">
                    <a:solidFill>
                      <a:srgbClr val="FFFFFF"/>
                    </a:solidFill>
                  </a:tcPr>
                </a:tc>
                <a:tc>
                  <a:txBody>
                    <a:bodyPr wrap="square"/>
                    <a:lstStyle/>
                    <a:p>
                      <a:r>
                        <a:rPr sz="1000"/>
                        <a:t>Fokus</a:t>
                      </a:r>
                    </a:p>
                  </a:txBody>
                  <a:tcPr marL="45720" marR="45720" marT="18288" marB="18288" anchor="ctr">
                    <a:solidFill>
                      <a:srgbClr val="FFFFFF"/>
                    </a:solidFill>
                  </a:tcPr>
                </a:tc>
                <a:tc>
                  <a:txBody>
                    <a:bodyPr wrap="square"/>
                    <a:lstStyle/>
                    <a:p>
                      <a:r>
                        <a:rPr sz="1000"/>
                        <a:t>JA</a:t>
                      </a:r>
                    </a:p>
                  </a:txBody>
                  <a:tcPr marL="45720" marR="45720" marT="18288" marB="18288" anchor="ctr">
                    <a:solidFill>
                      <a:srgbClr val="FFFFFF"/>
                    </a:solidFill>
                  </a:tcPr>
                </a:tc>
              </a:tr>
              <a:tr h="131298">
                <a:tc>
                  <a:txBody>
                    <a:bodyPr wrap="square"/>
                    <a:lstStyle/>
                    <a:p>
                      <a:r>
                        <a:rPr sz="1000"/>
                        <a:t>12</a:t>
                      </a:r>
                    </a:p>
                  </a:txBody>
                  <a:tcPr marL="45720" marR="45720" marT="18288" marB="18288" anchor="ctr">
                    <a:solidFill>
                      <a:srgbClr val="E8EEF4"/>
                    </a:solidFill>
                  </a:tcPr>
                </a:tc>
                <a:tc>
                  <a:txBody>
                    <a:bodyPr wrap="square"/>
                    <a:lstStyle/>
                    <a:p>
                      <a:r>
                        <a:rPr sz="1000"/>
                        <a:t>TELEVAL (2026)</a:t>
                      </a:r>
                    </a:p>
                  </a:txBody>
                  <a:tcPr marL="45720" marR="45720" marT="18288" marB="18288" anchor="ctr">
                    <a:solidFill>
                      <a:srgbClr val="E8EEF4"/>
                    </a:solidFill>
                  </a:tcPr>
                </a:tc>
                <a:tc>
                  <a:txBody>
                    <a:bodyPr wrap="square"/>
                    <a:lstStyle/>
                    <a:p>
                      <a:r>
                        <a:rPr sz="1000"/>
                        <a:t>Hanzi</a:t>
                      </a:r>
                    </a:p>
                  </a:txBody>
                  <a:tcPr marL="45720" marR="45720" marT="18288" marB="18288" anchor="ctr">
                    <a:solidFill>
                      <a:srgbClr val="E8EEF4"/>
                    </a:solidFill>
                  </a:tcPr>
                </a:tc>
                <a:tc>
                  <a:txBody>
                    <a:bodyPr wrap="square"/>
                    <a:lstStyle/>
                    <a:p>
                      <a:r>
                        <a:rPr sz="1000"/>
                        <a:t>CER/DNSMOS</a:t>
                      </a:r>
                    </a:p>
                  </a:txBody>
                  <a:tcPr marL="45720" marR="45720" marT="18288" marB="18288" anchor="ctr">
                    <a:solidFill>
                      <a:srgbClr val="E8EEF4"/>
                    </a:solidFill>
                  </a:tcPr>
                </a:tc>
                <a:tc>
                  <a:txBody>
                    <a:bodyPr wrap="square"/>
                    <a:lstStyle/>
                    <a:p>
                      <a:r>
                        <a:rPr sz="1000"/>
                        <a:t>Ignoriert</a:t>
                      </a:r>
                    </a:p>
                  </a:txBody>
                  <a:tcPr marL="45720" marR="45720" marT="18288" marB="18288" anchor="ctr">
                    <a:solidFill>
                      <a:srgbClr val="E8EEF4"/>
                    </a:solidFill>
                  </a:tcPr>
                </a:tc>
                <a:tc>
                  <a:txBody>
                    <a:bodyPr wrap="square"/>
                    <a:lstStyle/>
                    <a:p>
                      <a:r>
                        <a:rPr sz="1000"/>
                        <a:t>TEILW.</a:t>
                      </a:r>
                    </a:p>
                  </a:txBody>
                  <a:tcPr marL="45720" marR="45720" marT="18288" marB="18288" anchor="ctr">
                    <a:solidFill>
                      <a:srgbClr val="E8EEF4"/>
                    </a:solidFill>
                  </a:tcPr>
                </a:tc>
              </a:tr>
              <a:tr h="131298">
                <a:tc>
                  <a:txBody>
                    <a:bodyPr wrap="square"/>
                    <a:lstStyle/>
                    <a:p>
                      <a:r>
                        <a:rPr sz="1000"/>
                        <a:t>13</a:t>
                      </a:r>
                    </a:p>
                  </a:txBody>
                  <a:tcPr marL="45720" marR="45720" marT="18288" marB="18288" anchor="ctr">
                    <a:solidFill>
                      <a:srgbClr val="FFFFFF"/>
                    </a:solidFill>
                  </a:tcPr>
                </a:tc>
                <a:tc>
                  <a:txBody>
                    <a:bodyPr wrap="square"/>
                    <a:lstStyle/>
                    <a:p>
                      <a:r>
                        <a:rPr sz="1000"/>
                        <a:t>Zhengjie PYG (2025)</a:t>
                      </a:r>
                    </a:p>
                  </a:txBody>
                  <a:tcPr marL="45720" marR="45720" marT="18288" marB="18288" anchor="ctr">
                    <a:solidFill>
                      <a:srgbClr val="FFFFFF"/>
                    </a:solidFill>
                  </a:tcPr>
                </a:tc>
                <a:tc>
                  <a:txBody>
                    <a:bodyPr wrap="square"/>
                    <a:lstStyle/>
                    <a:p>
                      <a:r>
                        <a:rPr sz="1000"/>
                        <a:t>Pinyin (o. Ton)</a:t>
                      </a:r>
                    </a:p>
                  </a:txBody>
                  <a:tcPr marL="45720" marR="45720" marT="18288" marB="18288" anchor="ctr">
                    <a:solidFill>
                      <a:srgbClr val="FFFFFF"/>
                    </a:solidFill>
                  </a:tcPr>
                </a:tc>
                <a:tc>
                  <a:txBody>
                    <a:bodyPr wrap="square"/>
                    <a:lstStyle/>
                    <a:p>
                      <a:r>
                        <a:rPr sz="1000"/>
                        <a:t>Pinyin-ERR</a:t>
                      </a:r>
                    </a:p>
                  </a:txBody>
                  <a:tcPr marL="45720" marR="45720" marT="18288" marB="18288" anchor="ctr">
                    <a:solidFill>
                      <a:srgbClr val="FFFFFF"/>
                    </a:solidFill>
                  </a:tcPr>
                </a:tc>
                <a:tc>
                  <a:txBody>
                    <a:bodyPr wrap="square"/>
                    <a:lstStyle/>
                    <a:p>
                      <a:r>
                        <a:rPr sz="1000"/>
                        <a:t>Ignoriert</a:t>
                      </a:r>
                    </a:p>
                  </a:txBody>
                  <a:tcPr marL="45720" marR="45720" marT="18288" marB="18288" anchor="ctr">
                    <a:solidFill>
                      <a:srgbClr val="FFFFFF"/>
                    </a:solidFill>
                  </a:tcPr>
                </a:tc>
                <a:tc>
                  <a:txBody>
                    <a:bodyPr wrap="square"/>
                    <a:lstStyle/>
                    <a:p>
                      <a:r>
                        <a:rPr sz="1000"/>
                        <a:t>JA</a:t>
                      </a:r>
                    </a:p>
                  </a:txBody>
                  <a:tcPr marL="45720" marR="45720" marT="18288" marB="18288" anchor="ctr">
                    <a:solidFill>
                      <a:srgbClr val="FFFFFF"/>
                    </a:solidFill>
                  </a:tcPr>
                </a:tc>
              </a:tr>
              <a:tr h="131298">
                <a:tc>
                  <a:txBody>
                    <a:bodyPr wrap="square"/>
                    <a:lstStyle/>
                    <a:p>
                      <a:r>
                        <a:rPr sz="1000"/>
                        <a:t>14</a:t>
                      </a:r>
                    </a:p>
                  </a:txBody>
                  <a:tcPr marL="45720" marR="45720" marT="18288" marB="18288" anchor="ctr">
                    <a:solidFill>
                      <a:srgbClr val="E8EEF4"/>
                    </a:solidFill>
                  </a:tcPr>
                </a:tc>
                <a:tc>
                  <a:txBody>
                    <a:bodyPr wrap="square"/>
                    <a:lstStyle/>
                    <a:p>
                      <a:r>
                        <a:rPr sz="1000"/>
                        <a:t>Chen SCCM (2025)</a:t>
                      </a:r>
                    </a:p>
                  </a:txBody>
                  <a:tcPr marL="45720" marR="45720" marT="18288" marB="18288" anchor="ctr">
                    <a:solidFill>
                      <a:srgbClr val="E8EEF4"/>
                    </a:solidFill>
                  </a:tcPr>
                </a:tc>
                <a:tc>
                  <a:txBody>
                    <a:bodyPr wrap="square"/>
                    <a:lstStyle/>
                    <a:p>
                      <a:r>
                        <a:rPr sz="1000"/>
                        <a:t>Pinyin (I+F)</a:t>
                      </a:r>
                    </a:p>
                  </a:txBody>
                  <a:tcPr marL="45720" marR="45720" marT="18288" marB="18288" anchor="ctr">
                    <a:solidFill>
                      <a:srgbClr val="E8EEF4"/>
                    </a:solidFill>
                  </a:tcPr>
                </a:tc>
                <a:tc>
                  <a:txBody>
                    <a:bodyPr wrap="square"/>
                    <a:lstStyle/>
                    <a:p>
                      <a:r>
                        <a:rPr sz="1000"/>
                        <a:t>CER/Pinyin-ERR</a:t>
                      </a:r>
                    </a:p>
                  </a:txBody>
                  <a:tcPr marL="45720" marR="45720" marT="18288" marB="18288" anchor="ctr">
                    <a:solidFill>
                      <a:srgbClr val="E8EEF4"/>
                    </a:solidFill>
                  </a:tcPr>
                </a:tc>
                <a:tc>
                  <a:txBody>
                    <a:bodyPr wrap="square"/>
                    <a:lstStyle/>
                    <a:p>
                      <a:r>
                        <a:rPr sz="1000"/>
                        <a:t>Ignoriert</a:t>
                      </a:r>
                    </a:p>
                  </a:txBody>
                  <a:tcPr marL="45720" marR="45720" marT="18288" marB="18288" anchor="ctr">
                    <a:solidFill>
                      <a:srgbClr val="E8EEF4"/>
                    </a:solidFill>
                  </a:tcPr>
                </a:tc>
                <a:tc>
                  <a:txBody>
                    <a:bodyPr wrap="square"/>
                    <a:lstStyle/>
                    <a:p>
                      <a:r>
                        <a:rPr sz="1000"/>
                        <a:t>TEILW.</a:t>
                      </a:r>
                    </a:p>
                  </a:txBody>
                  <a:tcPr marL="45720" marR="45720" marT="18288" marB="18288" anchor="ctr">
                    <a:solidFill>
                      <a:srgbClr val="E8EEF4"/>
                    </a:solidFill>
                  </a:tcPr>
                </a:tc>
              </a:tr>
              <a:tr h="131298">
                <a:tc>
                  <a:txBody>
                    <a:bodyPr wrap="square"/>
                    <a:lstStyle/>
                    <a:p>
                      <a:r>
                        <a:rPr sz="1000"/>
                        <a:t>15</a:t>
                      </a:r>
                    </a:p>
                  </a:txBody>
                  <a:tcPr marL="45720" marR="45720" marT="18288" marB="18288" anchor="ctr">
                    <a:solidFill>
                      <a:srgbClr val="FFFFFF"/>
                    </a:solidFill>
                  </a:tcPr>
                </a:tc>
                <a:tc>
                  <a:txBody>
                    <a:bodyPr wrap="square"/>
                    <a:lstStyle/>
                    <a:p>
                      <a:r>
                        <a:rPr sz="1000"/>
                        <a:t>Wang MDD (2024)</a:t>
                      </a:r>
                    </a:p>
                  </a:txBody>
                  <a:tcPr marL="45720" marR="45720" marT="18288" marB="18288" anchor="ctr">
                    <a:solidFill>
                      <a:srgbClr val="FFFFFF"/>
                    </a:solidFill>
                  </a:tcPr>
                </a:tc>
                <a:tc>
                  <a:txBody>
                    <a:bodyPr wrap="square"/>
                    <a:lstStyle/>
                    <a:p>
                      <a:r>
                        <a:rPr sz="1000"/>
                        <a:t>Tonal-Phoneme</a:t>
                      </a:r>
                    </a:p>
                  </a:txBody>
                  <a:tcPr marL="45720" marR="45720" marT="18288" marB="18288" anchor="ctr">
                    <a:solidFill>
                      <a:srgbClr val="FFFFFF"/>
                    </a:solidFill>
                  </a:tcPr>
                </a:tc>
                <a:tc>
                  <a:txBody>
                    <a:bodyPr wrap="square"/>
                    <a:lstStyle/>
                    <a:p>
                      <a:r>
                        <a:rPr sz="1000"/>
                        <a:t>PER/FRR/FAR/F1</a:t>
                      </a:r>
                    </a:p>
                  </a:txBody>
                  <a:tcPr marL="45720" marR="45720" marT="18288" marB="18288" anchor="ctr">
                    <a:solidFill>
                      <a:srgbClr val="FFFFFF"/>
                    </a:solidFill>
                  </a:tcPr>
                </a:tc>
                <a:tc>
                  <a:txBody>
                    <a:bodyPr wrap="square"/>
                    <a:lstStyle/>
                    <a:p>
                      <a:r>
                        <a:rPr sz="1000"/>
                        <a:t>Implizit</a:t>
                      </a:r>
                    </a:p>
                  </a:txBody>
                  <a:tcPr marL="45720" marR="45720" marT="18288" marB="18288" anchor="ctr">
                    <a:solidFill>
                      <a:srgbClr val="FFFFFF"/>
                    </a:solidFill>
                  </a:tcPr>
                </a:tc>
                <a:tc>
                  <a:txBody>
                    <a:bodyPr wrap="square"/>
                    <a:lstStyle/>
                    <a:p>
                      <a:r>
                        <a:rPr sz="1000"/>
                        <a:t>JA</a:t>
                      </a:r>
                    </a:p>
                  </a:txBody>
                  <a:tcPr marL="45720" marR="45720" marT="18288" marB="18288" anchor="ctr">
                    <a:solidFill>
                      <a:srgbClr val="FFFFFF"/>
                    </a:solidFill>
                  </a:tcPr>
                </a:tc>
              </a:tr>
              <a:tr h="131298">
                <a:tc>
                  <a:txBody>
                    <a:bodyPr wrap="square"/>
                    <a:lstStyle/>
                    <a:p>
                      <a:r>
                        <a:rPr sz="1000"/>
                        <a:t>16</a:t>
                      </a:r>
                    </a:p>
                  </a:txBody>
                  <a:tcPr marL="45720" marR="45720" marT="18288" marB="18288" anchor="ctr">
                    <a:solidFill>
                      <a:srgbClr val="E8EEF4"/>
                    </a:solidFill>
                  </a:tcPr>
                </a:tc>
                <a:tc>
                  <a:txBody>
                    <a:bodyPr wrap="square"/>
                    <a:lstStyle/>
                    <a:p>
                      <a:r>
                        <a:rPr sz="1000"/>
                        <a:t>Wu L2 Prosody (2024)</a:t>
                      </a:r>
                    </a:p>
                  </a:txBody>
                  <a:tcPr marL="45720" marR="45720" marT="18288" marB="18288" anchor="ctr">
                    <a:solidFill>
                      <a:srgbClr val="E8EEF4"/>
                    </a:solidFill>
                  </a:tcPr>
                </a:tc>
                <a:tc>
                  <a:txBody>
                    <a:bodyPr wrap="square"/>
                    <a:lstStyle/>
                    <a:p>
                      <a:r>
                        <a:rPr sz="1000"/>
                        <a:t>Human-Töne</a:t>
                      </a:r>
                    </a:p>
                  </a:txBody>
                  <a:tcPr marL="45720" marR="45720" marT="18288" marB="18288" anchor="ctr">
                    <a:solidFill>
                      <a:srgbClr val="E8EEF4"/>
                    </a:solidFill>
                  </a:tcPr>
                </a:tc>
                <a:tc>
                  <a:txBody>
                    <a:bodyPr wrap="square"/>
                    <a:lstStyle/>
                    <a:p>
                      <a:r>
                        <a:rPr sz="1000"/>
                        <a:t>FRR/FAR/DA</a:t>
                      </a:r>
                    </a:p>
                  </a:txBody>
                  <a:tcPr marL="45720" marR="45720" marT="18288" marB="18288" anchor="ctr">
                    <a:solidFill>
                      <a:srgbClr val="E8EEF4"/>
                    </a:solidFill>
                  </a:tcPr>
                </a:tc>
                <a:tc>
                  <a:txBody>
                    <a:bodyPr wrap="square"/>
                    <a:lstStyle/>
                    <a:p>
                      <a:r>
                        <a:rPr sz="1000"/>
                        <a:t>Separat</a:t>
                      </a:r>
                    </a:p>
                  </a:txBody>
                  <a:tcPr marL="45720" marR="45720" marT="18288" marB="18288" anchor="ctr">
                    <a:solidFill>
                      <a:srgbClr val="E8EEF4"/>
                    </a:solidFill>
                  </a:tcPr>
                </a:tc>
                <a:tc>
                  <a:txBody>
                    <a:bodyPr wrap="square"/>
                    <a:lstStyle/>
                    <a:p>
                      <a:r>
                        <a:rPr sz="1000"/>
                        <a:t>JA</a:t>
                      </a:r>
                    </a:p>
                  </a:txBody>
                  <a:tcPr marL="45720" marR="45720" marT="18288" marB="18288" anchor="ctr">
                    <a:solidFill>
                      <a:srgbClr val="E8EEF4"/>
                    </a:solidFill>
                  </a:tcPr>
                </a:tc>
              </a:tr>
              <a:tr h="131298">
                <a:tc>
                  <a:txBody>
                    <a:bodyPr wrap="square"/>
                    <a:lstStyle/>
                    <a:p>
                      <a:r>
                        <a:rPr sz="1000"/>
                        <a:t>17</a:t>
                      </a:r>
                    </a:p>
                  </a:txBody>
                  <a:tcPr marL="45720" marR="45720" marT="18288" marB="18288" anchor="ctr">
                    <a:solidFill>
                      <a:srgbClr val="FFFFFF"/>
                    </a:solidFill>
                  </a:tcPr>
                </a:tc>
                <a:tc>
                  <a:txBody>
                    <a:bodyPr wrap="square"/>
                    <a:lstStyle/>
                    <a:p>
                      <a:r>
                        <a:rPr sz="1000"/>
                        <a:t>Huang Review (2026)</a:t>
                      </a:r>
                    </a:p>
                  </a:txBody>
                  <a:tcPr marL="45720" marR="45720" marT="18288" marB="18288" anchor="ctr">
                    <a:solidFill>
                      <a:srgbClr val="FFFFFF"/>
                    </a:solidFill>
                  </a:tcPr>
                </a:tc>
                <a:tc>
                  <a:txBody>
                    <a:bodyPr wrap="square"/>
                    <a:lstStyle/>
                    <a:p>
                      <a:r>
                        <a:rPr sz="1000"/>
                        <a:t>F0-Param.</a:t>
                      </a:r>
                    </a:p>
                  </a:txBody>
                  <a:tcPr marL="45720" marR="45720" marT="18288" marB="18288" anchor="ctr">
                    <a:solidFill>
                      <a:srgbClr val="FFFFFF"/>
                    </a:solidFill>
                  </a:tcPr>
                </a:tc>
                <a:tc>
                  <a:txBody>
                    <a:bodyPr wrap="square"/>
                    <a:lstStyle/>
                    <a:p>
                      <a:r>
                        <a:rPr sz="1000"/>
                        <a:t>Review</a:t>
                      </a:r>
                    </a:p>
                  </a:txBody>
                  <a:tcPr marL="45720" marR="45720" marT="18288" marB="18288" anchor="ctr">
                    <a:solidFill>
                      <a:srgbClr val="FFFFFF"/>
                    </a:solidFill>
                  </a:tcPr>
                </a:tc>
                <a:tc>
                  <a:txBody>
                    <a:bodyPr wrap="square"/>
                    <a:lstStyle/>
                    <a:p>
                      <a:r>
                        <a:rPr sz="1000"/>
                        <a:t>Fokus</a:t>
                      </a:r>
                    </a:p>
                  </a:txBody>
                  <a:tcPr marL="45720" marR="45720" marT="18288" marB="18288" anchor="ctr">
                    <a:solidFill>
                      <a:srgbClr val="FFFFFF"/>
                    </a:solidFill>
                  </a:tcPr>
                </a:tc>
                <a:tc>
                  <a:txBody>
                    <a:bodyPr wrap="square"/>
                    <a:lstStyle/>
                    <a:p>
                      <a:r>
                        <a:rPr sz="1000"/>
                        <a:t>TEILW.</a:t>
                      </a:r>
                    </a:p>
                  </a:txBody>
                  <a:tcPr marL="45720" marR="45720" marT="18288" marB="18288" anchor="ctr">
                    <a:solidFill>
                      <a:srgbClr val="FFFFFF"/>
                    </a:solidFill>
                  </a:tcPr>
                </a:tc>
              </a:tr>
              <a:tr h="131298">
                <a:tc>
                  <a:txBody>
                    <a:bodyPr wrap="square"/>
                    <a:lstStyle/>
                    <a:p>
                      <a:r>
                        <a:rPr sz="1000"/>
                        <a:t>18</a:t>
                      </a:r>
                    </a:p>
                  </a:txBody>
                  <a:tcPr marL="45720" marR="45720" marT="18288" marB="18288" anchor="ctr">
                    <a:solidFill>
                      <a:srgbClr val="E8EEF4"/>
                    </a:solidFill>
                  </a:tcPr>
                </a:tc>
                <a:tc>
                  <a:txBody>
                    <a:bodyPr wrap="square"/>
                    <a:lstStyle/>
                    <a:p>
                      <a:r>
                        <a:rPr sz="1000"/>
                        <a:t>Zhu ZIPA (2025)</a:t>
                      </a:r>
                    </a:p>
                  </a:txBody>
                  <a:tcPr marL="45720" marR="45720" marT="18288" marB="18288" anchor="ctr">
                    <a:solidFill>
                      <a:srgbClr val="E8EEF4"/>
                    </a:solidFill>
                  </a:tcPr>
                </a:tc>
                <a:tc>
                  <a:txBody>
                    <a:bodyPr wrap="square"/>
                    <a:lstStyle/>
                    <a:p>
                      <a:r>
                        <a:rPr sz="1000"/>
                        <a:t>IPA-Phoneme</a:t>
                      </a:r>
                    </a:p>
                  </a:txBody>
                  <a:tcPr marL="45720" marR="45720" marT="18288" marB="18288" anchor="ctr">
                    <a:solidFill>
                      <a:srgbClr val="E8EEF4"/>
                    </a:solidFill>
                  </a:tcPr>
                </a:tc>
                <a:tc>
                  <a:txBody>
                    <a:bodyPr wrap="square"/>
                    <a:lstStyle/>
                    <a:p>
                      <a:r>
                        <a:rPr sz="1000"/>
                        <a:t>PFER</a:t>
                      </a:r>
                    </a:p>
                  </a:txBody>
                  <a:tcPr marL="45720" marR="45720" marT="18288" marB="18288" anchor="ctr">
                    <a:solidFill>
                      <a:srgbClr val="E8EEF4"/>
                    </a:solidFill>
                  </a:tcPr>
                </a:tc>
                <a:tc>
                  <a:txBody>
                    <a:bodyPr wrap="square"/>
                    <a:lstStyle/>
                    <a:p>
                      <a:r>
                        <a:rPr sz="1000"/>
                        <a:t>Implizit</a:t>
                      </a:r>
                    </a:p>
                  </a:txBody>
                  <a:tcPr marL="45720" marR="45720" marT="18288" marB="18288" anchor="ctr">
                    <a:solidFill>
                      <a:srgbClr val="E8EEF4"/>
                    </a:solidFill>
                  </a:tcPr>
                </a:tc>
                <a:tc>
                  <a:txBody>
                    <a:bodyPr wrap="square"/>
                    <a:lstStyle/>
                    <a:p>
                      <a:r>
                        <a:rPr sz="1000"/>
                        <a:t>JA</a:t>
                      </a:r>
                    </a:p>
                  </a:txBody>
                  <a:tcPr marL="45720" marR="45720" marT="18288" marB="18288" anchor="ctr">
                    <a:solidFill>
                      <a:srgbClr val="E8EEF4"/>
                    </a:solidFill>
                  </a:tcPr>
                </a:tc>
              </a:tr>
              <a:tr h="131298">
                <a:tc>
                  <a:txBody>
                    <a:bodyPr wrap="square"/>
                    <a:lstStyle/>
                    <a:p>
                      <a:r>
                        <a:rPr sz="1000"/>
                        <a:t>19</a:t>
                      </a:r>
                    </a:p>
                  </a:txBody>
                  <a:tcPr marL="45720" marR="45720" marT="18288" marB="18288" anchor="ctr">
                    <a:solidFill>
                      <a:srgbClr val="FFFFFF"/>
                    </a:solidFill>
                  </a:tcPr>
                </a:tc>
                <a:tc>
                  <a:txBody>
                    <a:bodyPr wrap="square"/>
                    <a:lstStyle/>
                    <a:p>
                      <a:r>
                        <a:rPr sz="1000"/>
                        <a:t>Bu Siamese (2025)</a:t>
                      </a:r>
                    </a:p>
                  </a:txBody>
                  <a:tcPr marL="45720" marR="45720" marT="18288" marB="18288" anchor="ctr">
                    <a:solidFill>
                      <a:srgbClr val="FFFFFF"/>
                    </a:solidFill>
                  </a:tcPr>
                </a:tc>
                <a:tc>
                  <a:txBody>
                    <a:bodyPr wrap="square"/>
                    <a:lstStyle/>
                    <a:p>
                      <a:r>
                        <a:rPr sz="1000"/>
                        <a:t>F0-Konturen</a:t>
                      </a:r>
                    </a:p>
                  </a:txBody>
                  <a:tcPr marL="45720" marR="45720" marT="18288" marB="18288" anchor="ctr">
                    <a:solidFill>
                      <a:srgbClr val="FFFFFF"/>
                    </a:solidFill>
                  </a:tcPr>
                </a:tc>
                <a:tc>
                  <a:txBody>
                    <a:bodyPr wrap="square"/>
                    <a:lstStyle/>
                    <a:p>
                      <a:r>
                        <a:rPr sz="1000"/>
                        <a:t>MSE/RMSE</a:t>
                      </a:r>
                    </a:p>
                  </a:txBody>
                  <a:tcPr marL="45720" marR="45720" marT="18288" marB="18288" anchor="ctr">
                    <a:solidFill>
                      <a:srgbClr val="FFFFFF"/>
                    </a:solidFill>
                  </a:tcPr>
                </a:tc>
                <a:tc>
                  <a:txBody>
                    <a:bodyPr wrap="square"/>
                    <a:lstStyle/>
                    <a:p>
                      <a:r>
                        <a:rPr sz="1000"/>
                        <a:t>Separat</a:t>
                      </a:r>
                    </a:p>
                  </a:txBody>
                  <a:tcPr marL="45720" marR="45720" marT="18288" marB="18288" anchor="ctr">
                    <a:solidFill>
                      <a:srgbClr val="FFFFFF"/>
                    </a:solidFill>
                  </a:tcPr>
                </a:tc>
                <a:tc>
                  <a:txBody>
                    <a:bodyPr wrap="square"/>
                    <a:lstStyle/>
                    <a:p>
                      <a:r>
                        <a:rPr sz="1000"/>
                        <a:t>JA</a:t>
                      </a:r>
                    </a:p>
                  </a:txBody>
                  <a:tcPr marL="45720" marR="45720" marT="18288" marB="18288" anchor="ctr">
                    <a:solidFill>
                      <a:srgbClr val="FFFFFF"/>
                    </a:solidFill>
                  </a:tcPr>
                </a:tc>
              </a:tr>
              <a:tr h="131298">
                <a:tc>
                  <a:txBody>
                    <a:bodyPr wrap="square"/>
                    <a:lstStyle/>
                    <a:p>
                      <a:r>
                        <a:rPr sz="1000"/>
                        <a:t>20</a:t>
                      </a:r>
                    </a:p>
                  </a:txBody>
                  <a:tcPr marL="45720" marR="45720" marT="18288" marB="18288" anchor="ctr">
                    <a:solidFill>
                      <a:srgbClr val="E8EEF4"/>
                    </a:solidFill>
                  </a:tcPr>
                </a:tc>
                <a:tc>
                  <a:txBody>
                    <a:bodyPr wrap="square"/>
                    <a:lstStyle/>
                    <a:p>
                      <a:r>
                        <a:rPr sz="1000"/>
                        <a:t>Wang MSPB (2025)</a:t>
                      </a:r>
                    </a:p>
                  </a:txBody>
                  <a:tcPr marL="45720" marR="45720" marT="18288" marB="18288" anchor="ctr">
                    <a:solidFill>
                      <a:srgbClr val="E8EEF4"/>
                    </a:solidFill>
                  </a:tcPr>
                </a:tc>
                <a:tc>
                  <a:txBody>
                    <a:bodyPr wrap="square"/>
                    <a:lstStyle/>
                    <a:p>
                      <a:r>
                        <a:rPr sz="1000"/>
                        <a:t>Expert-Urteile</a:t>
                      </a:r>
                    </a:p>
                  </a:txBody>
                  <a:tcPr marL="45720" marR="45720" marT="18288" marB="18288" anchor="ctr">
                    <a:solidFill>
                      <a:srgbClr val="E8EEF4"/>
                    </a:solidFill>
                  </a:tcPr>
                </a:tc>
                <a:tc>
                  <a:txBody>
                    <a:bodyPr wrap="square"/>
                    <a:lstStyle/>
                    <a:p>
                      <a:r>
                        <a:rPr sz="1000"/>
                        <a:t>Accuracy</a:t>
                      </a:r>
                    </a:p>
                  </a:txBody>
                  <a:tcPr marL="45720" marR="45720" marT="18288" marB="18288" anchor="ctr">
                    <a:solidFill>
                      <a:srgbClr val="E8EEF4"/>
                    </a:solidFill>
                  </a:tcPr>
                </a:tc>
                <a:tc>
                  <a:txBody>
                    <a:bodyPr wrap="square"/>
                    <a:lstStyle/>
                    <a:p>
                      <a:r>
                        <a:rPr sz="1000"/>
                        <a:t>Prosodie</a:t>
                      </a:r>
                    </a:p>
                  </a:txBody>
                  <a:tcPr marL="45720" marR="45720" marT="18288" marB="18288" anchor="ctr">
                    <a:solidFill>
                      <a:srgbClr val="E8EEF4"/>
                    </a:solidFill>
                  </a:tcPr>
                </a:tc>
                <a:tc>
                  <a:txBody>
                    <a:bodyPr wrap="square"/>
                    <a:lstStyle/>
                    <a:p>
                      <a:r>
                        <a:rPr sz="1000"/>
                        <a:t>TEILW.</a:t>
                      </a:r>
                    </a:p>
                  </a:txBody>
                  <a:tcPr marL="45720" marR="45720" marT="18288" marB="18288" anchor="ctr">
                    <a:solidFill>
                      <a:srgbClr val="E8EEF4"/>
                    </a:solidFill>
                  </a:tcPr>
                </a:tc>
              </a:tr>
              <a:tr h="131298">
                <a:tc>
                  <a:txBody>
                    <a:bodyPr wrap="square"/>
                    <a:lstStyle/>
                    <a:p>
                      <a:r>
                        <a:rPr sz="1000"/>
                        <a:t>21</a:t>
                      </a:r>
                    </a:p>
                  </a:txBody>
                  <a:tcPr marL="45720" marR="45720" marT="18288" marB="18288" anchor="ctr">
                    <a:solidFill>
                      <a:srgbClr val="FFFFFF"/>
                    </a:solidFill>
                  </a:tcPr>
                </a:tc>
                <a:tc>
                  <a:txBody>
                    <a:bodyPr wrap="square"/>
                    <a:lstStyle/>
                    <a:p>
                      <a:r>
                        <a:rPr sz="1000"/>
                        <a:t>Chirkova (2025)</a:t>
                      </a:r>
                    </a:p>
                  </a:txBody>
                  <a:tcPr marL="45720" marR="45720" marT="18288" marB="18288" anchor="ctr">
                    <a:solidFill>
                      <a:srgbClr val="FFFFFF"/>
                    </a:solidFill>
                  </a:tcPr>
                </a:tc>
                <a:tc>
                  <a:txBody>
                    <a:bodyPr wrap="square"/>
                    <a:lstStyle/>
                    <a:p>
                      <a:r>
                        <a:rPr sz="1000"/>
                        <a:t>IPA+Pinyin+Ton</a:t>
                      </a:r>
                    </a:p>
                  </a:txBody>
                  <a:tcPr marL="45720" marR="45720" marT="18288" marB="18288" anchor="ctr">
                    <a:solidFill>
                      <a:srgbClr val="FFFFFF"/>
                    </a:solidFill>
                  </a:tcPr>
                </a:tc>
                <a:tc>
                  <a:txBody>
                    <a:bodyPr wrap="square"/>
                    <a:lstStyle/>
                    <a:p>
                      <a:r>
                        <a:rPr sz="1000"/>
                        <a:t>tCER/tWER</a:t>
                      </a:r>
                    </a:p>
                  </a:txBody>
                  <a:tcPr marL="45720" marR="45720" marT="18288" marB="18288" anchor="ctr">
                    <a:solidFill>
                      <a:srgbClr val="FFFFFF"/>
                    </a:solidFill>
                  </a:tcPr>
                </a:tc>
                <a:tc>
                  <a:txBody>
                    <a:bodyPr wrap="square"/>
                    <a:lstStyle/>
                    <a:p>
                      <a:r>
                        <a:rPr sz="1000"/>
                        <a:t>Separat</a:t>
                      </a:r>
                    </a:p>
                  </a:txBody>
                  <a:tcPr marL="45720" marR="45720" marT="18288" marB="18288" anchor="ctr">
                    <a:solidFill>
                      <a:srgbClr val="FFFFFF"/>
                    </a:solidFill>
                  </a:tcPr>
                </a:tc>
                <a:tc>
                  <a:txBody>
                    <a:bodyPr wrap="square"/>
                    <a:lstStyle/>
                    <a:p>
                      <a:r>
                        <a:rPr sz="1000"/>
                        <a:t>JA</a:t>
                      </a:r>
                    </a:p>
                  </a:txBody>
                  <a:tcPr marL="45720" marR="45720" marT="18288" marB="18288" anchor="ctr">
                    <a:solidFill>
                      <a:srgbClr val="FFFFFF"/>
                    </a:solidFill>
                  </a:tcPr>
                </a:tc>
              </a:tr>
              <a:tr h="131298">
                <a:tc>
                  <a:txBody>
                    <a:bodyPr wrap="square"/>
                    <a:lstStyle/>
                    <a:p>
                      <a:r>
                        <a:rPr sz="1000"/>
                        <a:t>22</a:t>
                      </a:r>
                    </a:p>
                  </a:txBody>
                  <a:tcPr marL="45720" marR="45720" marT="18288" marB="18288" anchor="ctr">
                    <a:solidFill>
                      <a:srgbClr val="E8EEF4"/>
                    </a:solidFill>
                  </a:tcPr>
                </a:tc>
                <a:tc>
                  <a:txBody>
                    <a:bodyPr wrap="square"/>
                    <a:lstStyle/>
                    <a:p>
                      <a:r>
                        <a:rPr sz="1000"/>
                        <a:t>Kang Tone-Sync (2024)</a:t>
                      </a:r>
                    </a:p>
                  </a:txBody>
                  <a:tcPr marL="45720" marR="45720" marT="18288" marB="18288" anchor="ctr">
                    <a:solidFill>
                      <a:srgbClr val="E8EEF4"/>
                    </a:solidFill>
                  </a:tcPr>
                </a:tc>
                <a:tc>
                  <a:txBody>
                    <a:bodyPr wrap="square"/>
                    <a:lstStyle/>
                    <a:p>
                      <a:r>
                        <a:rPr sz="1000"/>
                        <a:t>F2/f0-Trajekt.</a:t>
                      </a:r>
                    </a:p>
                  </a:txBody>
                  <a:tcPr marL="45720" marR="45720" marT="18288" marB="18288" anchor="ctr">
                    <a:solidFill>
                      <a:srgbClr val="E8EEF4"/>
                    </a:solidFill>
                  </a:tcPr>
                </a:tc>
                <a:tc>
                  <a:txBody>
                    <a:bodyPr wrap="square"/>
                    <a:lstStyle/>
                    <a:p>
                      <a:r>
                        <a:rPr sz="1000"/>
                        <a:t>GAMMs/Bayes</a:t>
                      </a:r>
                    </a:p>
                  </a:txBody>
                  <a:tcPr marL="45720" marR="45720" marT="18288" marB="18288" anchor="ctr">
                    <a:solidFill>
                      <a:srgbClr val="E8EEF4"/>
                    </a:solidFill>
                  </a:tcPr>
                </a:tc>
                <a:tc>
                  <a:txBody>
                    <a:bodyPr wrap="square"/>
                    <a:lstStyle/>
                    <a:p>
                      <a:r>
                        <a:rPr sz="1000"/>
                        <a:t>Fokus</a:t>
                      </a:r>
                    </a:p>
                  </a:txBody>
                  <a:tcPr marL="45720" marR="45720" marT="18288" marB="18288" anchor="ctr">
                    <a:solidFill>
                      <a:srgbClr val="E8EEF4"/>
                    </a:solidFill>
                  </a:tcPr>
                </a:tc>
                <a:tc>
                  <a:txBody>
                    <a:bodyPr wrap="square"/>
                    <a:lstStyle/>
                    <a:p>
                      <a:r>
                        <a:rPr sz="1000"/>
                        <a:t>TEILW.</a:t>
                      </a:r>
                    </a:p>
                  </a:txBody>
                  <a:tcPr marL="45720" marR="45720" marT="18288" marB="18288" anchor="ctr">
                    <a:solidFill>
                      <a:srgbClr val="E8EEF4"/>
                    </a:solidFill>
                  </a:tcPr>
                </a:tc>
              </a:tr>
              <a:tr h="131298">
                <a:tc>
                  <a:txBody>
                    <a:bodyPr wrap="square"/>
                    <a:lstStyle/>
                    <a:p>
                      <a:r>
                        <a:rPr sz="1000"/>
                        <a:t>23</a:t>
                      </a:r>
                    </a:p>
                  </a:txBody>
                  <a:tcPr marL="45720" marR="45720" marT="18288" marB="18288" anchor="ctr">
                    <a:solidFill>
                      <a:srgbClr val="FFFFFF"/>
                    </a:solidFill>
                  </a:tcPr>
                </a:tc>
                <a:tc>
                  <a:txBody>
                    <a:bodyPr wrap="square"/>
                    <a:lstStyle/>
                    <a:p>
                      <a:r>
                        <a:rPr sz="1000"/>
                        <a:t>Kaur Survey (2021)</a:t>
                      </a:r>
                    </a:p>
                  </a:txBody>
                  <a:tcPr marL="45720" marR="45720" marT="18288" marB="18288" anchor="ctr">
                    <a:solidFill>
                      <a:srgbClr val="FFFFFF"/>
                    </a:solidFill>
                  </a:tcPr>
                </a:tc>
                <a:tc>
                  <a:txBody>
                    <a:bodyPr wrap="square"/>
                    <a:lstStyle/>
                    <a:p>
                      <a:r>
                        <a:rPr sz="1000"/>
                        <a:t>— (Review)</a:t>
                      </a:r>
                    </a:p>
                  </a:txBody>
                  <a:tcPr marL="45720" marR="45720" marT="18288" marB="18288" anchor="ctr">
                    <a:solidFill>
                      <a:srgbClr val="FFFFFF"/>
                    </a:solidFill>
                  </a:tcPr>
                </a:tc>
                <a:tc>
                  <a:txBody>
                    <a:bodyPr wrap="square"/>
                    <a:lstStyle/>
                    <a:p>
                      <a:r>
                        <a:rPr sz="1000"/>
                        <a:t>WER</a:t>
                      </a:r>
                    </a:p>
                  </a:txBody>
                  <a:tcPr marL="45720" marR="45720" marT="18288" marB="18288" anchor="ctr">
                    <a:solidFill>
                      <a:srgbClr val="FFFFFF"/>
                    </a:solidFill>
                  </a:tcPr>
                </a:tc>
                <a:tc>
                  <a:txBody>
                    <a:bodyPr wrap="square"/>
                    <a:lstStyle/>
                    <a:p>
                      <a:r>
                        <a:rPr sz="1000"/>
                        <a:t>Diskutiert</a:t>
                      </a:r>
                    </a:p>
                  </a:txBody>
                  <a:tcPr marL="45720" marR="45720" marT="18288" marB="18288" anchor="ctr">
                    <a:solidFill>
                      <a:srgbClr val="FFFFFF"/>
                    </a:solidFill>
                  </a:tcPr>
                </a:tc>
                <a:tc>
                  <a:txBody>
                    <a:bodyPr wrap="square"/>
                    <a:lstStyle/>
                    <a:p>
                      <a:r>
                        <a:rPr sz="1000"/>
                        <a:t>TEILW.</a:t>
                      </a:r>
                    </a:p>
                  </a:txBody>
                  <a:tcPr marL="45720" marR="45720" marT="18288" marB="18288" anchor="ctr">
                    <a:solidFill>
                      <a:srgbClr val="FFFFFF"/>
                    </a:solidFill>
                  </a:tcPr>
                </a:tc>
              </a:tr>
              <a:tr h="131298">
                <a:tc>
                  <a:txBody>
                    <a:bodyPr wrap="square"/>
                    <a:lstStyle/>
                    <a:p>
                      <a:r>
                        <a:rPr sz="1000"/>
                        <a:t>24</a:t>
                      </a:r>
                    </a:p>
                  </a:txBody>
                  <a:tcPr marL="45720" marR="45720" marT="18288" marB="18288" anchor="ctr">
                    <a:solidFill>
                      <a:srgbClr val="E8EEF4"/>
                    </a:solidFill>
                  </a:tcPr>
                </a:tc>
                <a:tc>
                  <a:txBody>
                    <a:bodyPr wrap="square"/>
                    <a:lstStyle/>
                    <a:p>
                      <a:r>
                        <a:rPr sz="1000"/>
                        <a:t>Ahlawat Survey (2025)</a:t>
                      </a:r>
                    </a:p>
                  </a:txBody>
                  <a:tcPr marL="45720" marR="45720" marT="18288" marB="18288" anchor="ctr">
                    <a:solidFill>
                      <a:srgbClr val="E8EEF4"/>
                    </a:solidFill>
                  </a:tcPr>
                </a:tc>
                <a:tc>
                  <a:txBody>
                    <a:bodyPr wrap="square"/>
                    <a:lstStyle/>
                    <a:p>
                      <a:r>
                        <a:rPr sz="1000"/>
                        <a:t>— (Review)</a:t>
                      </a:r>
                    </a:p>
                  </a:txBody>
                  <a:tcPr marL="45720" marR="45720" marT="18288" marB="18288" anchor="ctr">
                    <a:solidFill>
                      <a:srgbClr val="E8EEF4"/>
                    </a:solidFill>
                  </a:tcPr>
                </a:tc>
                <a:tc>
                  <a:txBody>
                    <a:bodyPr wrap="square"/>
                    <a:lstStyle/>
                    <a:p>
                      <a:r>
                        <a:rPr sz="1000"/>
                        <a:t>WER/CER</a:t>
                      </a:r>
                    </a:p>
                  </a:txBody>
                  <a:tcPr marL="45720" marR="45720" marT="18288" marB="18288" anchor="ctr">
                    <a:solidFill>
                      <a:srgbClr val="E8EEF4"/>
                    </a:solidFill>
                  </a:tcPr>
                </a:tc>
                <a:tc>
                  <a:txBody>
                    <a:bodyPr wrap="square"/>
                    <a:lstStyle/>
                    <a:p>
                      <a:r>
                        <a:rPr sz="1000"/>
                        <a:t>Nicht addr.</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r h="131298">
                <a:tc>
                  <a:txBody>
                    <a:bodyPr wrap="square"/>
                    <a:lstStyle/>
                    <a:p>
                      <a:r>
                        <a:rPr sz="1000"/>
                        <a:t>25</a:t>
                      </a:r>
                    </a:p>
                  </a:txBody>
                  <a:tcPr marL="45720" marR="45720" marT="18288" marB="18288" anchor="ctr">
                    <a:solidFill>
                      <a:srgbClr val="FFFFFF"/>
                    </a:solidFill>
                  </a:tcPr>
                </a:tc>
                <a:tc>
                  <a:txBody>
                    <a:bodyPr wrap="square"/>
                    <a:lstStyle/>
                    <a:p>
                      <a:r>
                        <a:rPr sz="1000"/>
                        <a:t>Li PY-GEC (2024)</a:t>
                      </a:r>
                    </a:p>
                  </a:txBody>
                  <a:tcPr marL="45720" marR="45720" marT="18288" marB="18288" anchor="ctr">
                    <a:solidFill>
                      <a:srgbClr val="FFFFFF"/>
                    </a:solidFill>
                  </a:tcPr>
                </a:tc>
                <a:tc>
                  <a:txBody>
                    <a:bodyPr wrap="square"/>
                    <a:lstStyle/>
                    <a:p>
                      <a:r>
                        <a:rPr sz="1000"/>
                        <a:t>Hanzi</a:t>
                      </a:r>
                    </a:p>
                  </a:txBody>
                  <a:tcPr marL="45720" marR="45720" marT="18288" marB="18288" anchor="ctr">
                    <a:solidFill>
                      <a:srgbClr val="FFFFFF"/>
                    </a:solidFill>
                  </a:tcPr>
                </a:tc>
                <a:tc>
                  <a:txBody>
                    <a:bodyPr wrap="square"/>
                    <a:lstStyle/>
                    <a:p>
                      <a:r>
                        <a:rPr sz="1000"/>
                        <a:t>CER</a:t>
                      </a:r>
                    </a:p>
                  </a:txBody>
                  <a:tcPr marL="45720" marR="45720" marT="18288" marB="18288" anchor="ctr">
                    <a:solidFill>
                      <a:srgbClr val="FFFFFF"/>
                    </a:solidFill>
                  </a:tcPr>
                </a:tc>
                <a:tc>
                  <a:txBody>
                    <a:bodyPr wrap="square"/>
                    <a:lstStyle/>
                    <a:p>
                      <a:r>
                        <a:rPr sz="1000"/>
                        <a:t>Pinyin-Hilfe</a:t>
                      </a:r>
                    </a:p>
                  </a:txBody>
                  <a:tcPr marL="45720" marR="45720" marT="18288" marB="18288" anchor="ctr">
                    <a:solidFill>
                      <a:srgbClr val="FFFFFF"/>
                    </a:solidFill>
                  </a:tcPr>
                </a:tc>
                <a:tc>
                  <a:txBody>
                    <a:bodyPr wrap="square"/>
                    <a:lstStyle/>
                    <a:p>
                      <a:r>
                        <a:rPr sz="1000"/>
                        <a:t>TEILW.</a:t>
                      </a:r>
                    </a:p>
                  </a:txBody>
                  <a:tcPr marL="45720" marR="45720" marT="18288" marB="18288" anchor="ctr">
                    <a:solidFill>
                      <a:srgbClr val="FFFFFF"/>
                    </a:solidFill>
                  </a:tcPr>
                </a:tc>
              </a:tr>
              <a:tr h="131298">
                <a:tc>
                  <a:txBody>
                    <a:bodyPr wrap="square"/>
                    <a:lstStyle/>
                    <a:p>
                      <a:r>
                        <a:rPr sz="1000"/>
                        <a:t>26</a:t>
                      </a:r>
                    </a:p>
                  </a:txBody>
                  <a:tcPr marL="45720" marR="45720" marT="18288" marB="18288" anchor="ctr">
                    <a:solidFill>
                      <a:srgbClr val="E8EEF4"/>
                    </a:solidFill>
                  </a:tcPr>
                </a:tc>
                <a:tc>
                  <a:txBody>
                    <a:bodyPr wrap="square"/>
                    <a:lstStyle/>
                    <a:p>
                      <a:r>
                        <a:rPr sz="1000"/>
                        <a:t>Liang PERL (2024)</a:t>
                      </a:r>
                    </a:p>
                  </a:txBody>
                  <a:tcPr marL="45720" marR="45720" marT="18288" marB="18288" anchor="ctr">
                    <a:solidFill>
                      <a:srgbClr val="E8EEF4"/>
                    </a:solidFill>
                  </a:tcPr>
                </a:tc>
                <a:tc>
                  <a:txBody>
                    <a:bodyPr wrap="square"/>
                    <a:lstStyle/>
                    <a:p>
                      <a:r>
                        <a:rPr sz="1000"/>
                        <a:t>Hanzi</a:t>
                      </a:r>
                    </a:p>
                  </a:txBody>
                  <a:tcPr marL="45720" marR="45720" marT="18288" marB="18288" anchor="ctr">
                    <a:solidFill>
                      <a:srgbClr val="E8EEF4"/>
                    </a:solidFill>
                  </a:tcPr>
                </a:tc>
                <a:tc>
                  <a:txBody>
                    <a:bodyPr wrap="square"/>
                    <a:lstStyle/>
                    <a:p>
                      <a:r>
                        <a:rPr sz="1000"/>
                        <a:t>CER/CERR</a:t>
                      </a:r>
                    </a:p>
                  </a:txBody>
                  <a:tcPr marL="45720" marR="45720" marT="18288" marB="18288" anchor="ctr">
                    <a:solidFill>
                      <a:srgbClr val="E8EEF4"/>
                    </a:solidFill>
                  </a:tcPr>
                </a:tc>
                <a:tc>
                  <a:txBody>
                    <a:bodyPr wrap="square"/>
                    <a:lstStyle/>
                    <a:p>
                      <a:r>
                        <a:rPr sz="1000"/>
                        <a:t>Pinyin-Embed.</a:t>
                      </a:r>
                    </a:p>
                  </a:txBody>
                  <a:tcPr marL="45720" marR="45720" marT="18288" marB="18288" anchor="ctr">
                    <a:solidFill>
                      <a:srgbClr val="E8EEF4"/>
                    </a:solidFill>
                  </a:tcPr>
                </a:tc>
                <a:tc>
                  <a:txBody>
                    <a:bodyPr wrap="square"/>
                    <a:lstStyle/>
                    <a:p>
                      <a:r>
                        <a:rPr sz="1000"/>
                        <a:t>TEILW.</a:t>
                      </a:r>
                    </a:p>
                  </a:txBody>
                  <a:tcPr marL="45720" marR="45720" marT="18288" marB="18288" anchor="ctr">
                    <a:solidFill>
                      <a:srgbClr val="E8EEF4"/>
                    </a:solidFill>
                  </a:tcPr>
                </a:tc>
              </a:tr>
              <a:tr h="131298">
                <a:tc>
                  <a:txBody>
                    <a:bodyPr wrap="square"/>
                    <a:lstStyle/>
                    <a:p>
                      <a:r>
                        <a:rPr sz="1000"/>
                        <a:t>27</a:t>
                      </a:r>
                    </a:p>
                  </a:txBody>
                  <a:tcPr marL="45720" marR="45720" marT="18288" marB="18288" anchor="ctr">
                    <a:solidFill>
                      <a:srgbClr val="FFFFFF"/>
                    </a:solidFill>
                  </a:tcPr>
                </a:tc>
                <a:tc>
                  <a:txBody>
                    <a:bodyPr wrap="square"/>
                    <a:lstStyle/>
                    <a:p>
                      <a:r>
                        <a:rPr sz="1000"/>
                        <a:t>Sakshi MMAU (2024)</a:t>
                      </a:r>
                    </a:p>
                  </a:txBody>
                  <a:tcPr marL="45720" marR="45720" marT="18288" marB="18288" anchor="ctr">
                    <a:solidFill>
                      <a:srgbClr val="FFFFFF"/>
                    </a:solidFill>
                  </a:tcPr>
                </a:tc>
                <a:tc>
                  <a:txBody>
                    <a:bodyPr wrap="square"/>
                    <a:lstStyle/>
                    <a:p>
                      <a:r>
                        <a:rPr sz="1000"/>
                        <a:t>Expert-Annot.</a:t>
                      </a:r>
                    </a:p>
                  </a:txBody>
                  <a:tcPr marL="45720" marR="45720" marT="18288" marB="18288" anchor="ctr">
                    <a:solidFill>
                      <a:srgbClr val="FFFFFF"/>
                    </a:solidFill>
                  </a:tcPr>
                </a:tc>
                <a:tc>
                  <a:txBody>
                    <a:bodyPr wrap="square"/>
                    <a:lstStyle/>
                    <a:p>
                      <a:r>
                        <a:rPr sz="1000"/>
                        <a:t>Micro-Acc</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131298">
                <a:tc>
                  <a:txBody>
                    <a:bodyPr wrap="square"/>
                    <a:lstStyle/>
                    <a:p>
                      <a:r>
                        <a:rPr sz="1000"/>
                        <a:t>28</a:t>
                      </a:r>
                    </a:p>
                  </a:txBody>
                  <a:tcPr marL="45720" marR="45720" marT="18288" marB="18288" anchor="ctr">
                    <a:solidFill>
                      <a:srgbClr val="E8EEF4"/>
                    </a:solidFill>
                  </a:tcPr>
                </a:tc>
                <a:tc>
                  <a:txBody>
                    <a:bodyPr wrap="square"/>
                    <a:lstStyle/>
                    <a:p>
                      <a:r>
                        <a:rPr sz="1000"/>
                        <a:t>Dyn-SUPERB (2024)</a:t>
                      </a:r>
                    </a:p>
                  </a:txBody>
                  <a:tcPr marL="45720" marR="45720" marT="18288" marB="18288" anchor="ctr">
                    <a:solidFill>
                      <a:srgbClr val="E8EEF4"/>
                    </a:solidFill>
                  </a:tcPr>
                </a:tc>
                <a:tc>
                  <a:txBody>
                    <a:bodyPr wrap="square"/>
                    <a:lstStyle/>
                    <a:p>
                      <a:r>
                        <a:rPr sz="1000"/>
                        <a:t>Task-Gold</a:t>
                      </a:r>
                    </a:p>
                  </a:txBody>
                  <a:tcPr marL="45720" marR="45720" marT="18288" marB="18288" anchor="ctr">
                    <a:solidFill>
                      <a:srgbClr val="E8EEF4"/>
                    </a:solidFill>
                  </a:tcPr>
                </a:tc>
                <a:tc>
                  <a:txBody>
                    <a:bodyPr wrap="square"/>
                    <a:lstStyle/>
                    <a:p>
                      <a:r>
                        <a:rPr sz="1000"/>
                        <a:t>LLM-Pipeline</a:t>
                      </a:r>
                    </a:p>
                  </a:txBody>
                  <a:tcPr marL="45720" marR="45720" marT="18288" marB="18288" anchor="ctr">
                    <a:solidFill>
                      <a:srgbClr val="E8EEF4"/>
                    </a:solidFill>
                  </a:tcPr>
                </a:tc>
                <a:tc>
                  <a:txBody>
                    <a:bodyPr wrap="square"/>
                    <a:lstStyle/>
                    <a:p>
                      <a:r>
                        <a:rPr sz="1000"/>
                        <a:t>Teilw.</a:t>
                      </a:r>
                    </a:p>
                  </a:txBody>
                  <a:tcPr marL="45720" marR="45720" marT="18288" marB="18288" anchor="ctr">
                    <a:solidFill>
                      <a:srgbClr val="E8EEF4"/>
                    </a:solidFill>
                  </a:tcPr>
                </a:tc>
                <a:tc>
                  <a:txBody>
                    <a:bodyPr wrap="square"/>
                    <a:lstStyle/>
                    <a:p>
                      <a:r>
                        <a:rPr sz="1000"/>
                        <a:t>TEILW.</a:t>
                      </a:r>
                    </a:p>
                  </a:txBody>
                  <a:tcPr marL="45720" marR="45720" marT="18288" marB="18288" anchor="ctr">
                    <a:solidFill>
                      <a:srgbClr val="E8EEF4"/>
                    </a:solidFill>
                  </a:tcPr>
                </a:tc>
              </a:tr>
              <a:tr h="131298">
                <a:tc>
                  <a:txBody>
                    <a:bodyPr wrap="square"/>
                    <a:lstStyle/>
                    <a:p>
                      <a:r>
                        <a:rPr sz="1000"/>
                        <a:t>29</a:t>
                      </a:r>
                    </a:p>
                  </a:txBody>
                  <a:tcPr marL="45720" marR="45720" marT="18288" marB="18288" anchor="ctr">
                    <a:solidFill>
                      <a:srgbClr val="FFFFFF"/>
                    </a:solidFill>
                  </a:tcPr>
                </a:tc>
                <a:tc>
                  <a:txBody>
                    <a:bodyPr wrap="square"/>
                    <a:lstStyle/>
                    <a:p>
                      <a:r>
                        <a:rPr sz="1000"/>
                        <a:t>Cui VoxEval (2025)</a:t>
                      </a:r>
                    </a:p>
                  </a:txBody>
                  <a:tcPr marL="45720" marR="45720" marT="18288" marB="18288" anchor="ctr">
                    <a:solidFill>
                      <a:srgbClr val="FFFFFF"/>
                    </a:solidFill>
                  </a:tcPr>
                </a:tc>
                <a:tc>
                  <a:txBody>
                    <a:bodyPr wrap="square"/>
                    <a:lstStyle/>
                    <a:p>
                      <a:r>
                        <a:rPr sz="1000"/>
                        <a:t>Wissensbasis</a:t>
                      </a:r>
                    </a:p>
                  </a:txBody>
                  <a:tcPr marL="45720" marR="45720" marT="18288" marB="18288" anchor="ctr">
                    <a:solidFill>
                      <a:srgbClr val="FFFFFF"/>
                    </a:solidFill>
                  </a:tcPr>
                </a:tc>
                <a:tc>
                  <a:txBody>
                    <a:bodyPr wrap="square"/>
                    <a:lstStyle/>
                    <a:p>
                      <a:r>
                        <a:rPr sz="1000"/>
                        <a:t>Accuracy</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131298">
                <a:tc>
                  <a:txBody>
                    <a:bodyPr wrap="square"/>
                    <a:lstStyle/>
                    <a:p>
                      <a:r>
                        <a:rPr sz="1000"/>
                        <a:t>30</a:t>
                      </a:r>
                    </a:p>
                  </a:txBody>
                  <a:tcPr marL="45720" marR="45720" marT="18288" marB="18288" anchor="ctr">
                    <a:solidFill>
                      <a:srgbClr val="E8EEF4"/>
                    </a:solidFill>
                  </a:tcPr>
                </a:tc>
                <a:tc>
                  <a:txBody>
                    <a:bodyPr wrap="square"/>
                    <a:lstStyle/>
                    <a:p>
                      <a:r>
                        <a:rPr sz="1000"/>
                        <a:t>Wang AudioBench (2024)</a:t>
                      </a:r>
                    </a:p>
                  </a:txBody>
                  <a:tcPr marL="45720" marR="45720" marT="18288" marB="18288" anchor="ctr">
                    <a:solidFill>
                      <a:srgbClr val="E8EEF4"/>
                    </a:solidFill>
                  </a:tcPr>
                </a:tc>
                <a:tc>
                  <a:txBody>
                    <a:bodyPr wrap="square"/>
                    <a:lstStyle/>
                    <a:p>
                      <a:r>
                        <a:rPr sz="1000"/>
                        <a:t>Gold-Datensätze</a:t>
                      </a:r>
                    </a:p>
                  </a:txBody>
                  <a:tcPr marL="45720" marR="45720" marT="18288" marB="18288" anchor="ctr">
                    <a:solidFill>
                      <a:srgbClr val="E8EEF4"/>
                    </a:solidFill>
                  </a:tcPr>
                </a:tc>
                <a:tc>
                  <a:txBody>
                    <a:bodyPr wrap="square"/>
                    <a:lstStyle/>
                    <a:p>
                      <a:r>
                        <a:rPr sz="1000"/>
                        <a:t>WER/MOS</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r h="131298">
                <a:tc>
                  <a:txBody>
                    <a:bodyPr wrap="square"/>
                    <a:lstStyle/>
                    <a:p>
                      <a:r>
                        <a:rPr sz="1000"/>
                        <a:t>31</a:t>
                      </a:r>
                    </a:p>
                  </a:txBody>
                  <a:tcPr marL="45720" marR="45720" marT="18288" marB="18288" anchor="ctr">
                    <a:solidFill>
                      <a:srgbClr val="FFFFFF"/>
                    </a:solidFill>
                  </a:tcPr>
                </a:tc>
                <a:tc>
                  <a:txBody>
                    <a:bodyPr wrap="square"/>
                    <a:lstStyle/>
                    <a:p>
                      <a:r>
                        <a:rPr sz="1000"/>
                        <a:t>Zhang WildSpeech (2025)</a:t>
                      </a:r>
                    </a:p>
                  </a:txBody>
                  <a:tcPr marL="45720" marR="45720" marT="18288" marB="18288" anchor="ctr">
                    <a:solidFill>
                      <a:srgbClr val="FFFFFF"/>
                    </a:solidFill>
                  </a:tcPr>
                </a:tc>
                <a:tc>
                  <a:txBody>
                    <a:bodyPr wrap="square"/>
                    <a:lstStyle/>
                    <a:p>
                      <a:r>
                        <a:rPr sz="1000"/>
                        <a:t>Expert-Bew.</a:t>
                      </a:r>
                    </a:p>
                  </a:txBody>
                  <a:tcPr marL="45720" marR="45720" marT="18288" marB="18288" anchor="ctr">
                    <a:solidFill>
                      <a:srgbClr val="FFFFFF"/>
                    </a:solidFill>
                  </a:tcPr>
                </a:tc>
                <a:tc>
                  <a:txBody>
                    <a:bodyPr wrap="square"/>
                    <a:lstStyle/>
                    <a:p>
                      <a:r>
                        <a:rPr sz="1000"/>
                        <a:t>GPT-4o Judge</a:t>
                      </a:r>
                    </a:p>
                  </a:txBody>
                  <a:tcPr marL="45720" marR="45720" marT="18288" marB="18288" anchor="ctr">
                    <a:solidFill>
                      <a:srgbClr val="FFFFFF"/>
                    </a:solidFill>
                  </a:tcPr>
                </a:tc>
                <a:tc>
                  <a:txBody>
                    <a:bodyPr wrap="square"/>
                    <a:lstStyle/>
                    <a:p>
                      <a:r>
                        <a:rPr sz="1000"/>
                        <a:t>Paralinguis.</a:t>
                      </a:r>
                    </a:p>
                  </a:txBody>
                  <a:tcPr marL="45720" marR="45720" marT="18288" marB="18288" anchor="ctr">
                    <a:solidFill>
                      <a:srgbClr val="FFFFFF"/>
                    </a:solidFill>
                  </a:tcPr>
                </a:tc>
                <a:tc>
                  <a:txBody>
                    <a:bodyPr wrap="square"/>
                    <a:lstStyle/>
                    <a:p>
                      <a:r>
                        <a:rPr sz="1000"/>
                        <a:t>TEILW.</a:t>
                      </a:r>
                    </a:p>
                  </a:txBody>
                  <a:tcPr marL="45720" marR="45720" marT="18288" marB="18288" anchor="ctr">
                    <a:solidFill>
                      <a:srgbClr val="FFFFFF"/>
                    </a:solidFill>
                  </a:tcPr>
                </a:tc>
              </a:tr>
              <a:tr h="131298">
                <a:tc>
                  <a:txBody>
                    <a:bodyPr wrap="square"/>
                    <a:lstStyle/>
                    <a:p>
                      <a:r>
                        <a:rPr sz="1000"/>
                        <a:t>32</a:t>
                      </a:r>
                    </a:p>
                  </a:txBody>
                  <a:tcPr marL="45720" marR="45720" marT="18288" marB="18288" anchor="ctr">
                    <a:solidFill>
                      <a:srgbClr val="E8EEF4"/>
                    </a:solidFill>
                  </a:tcPr>
                </a:tc>
                <a:tc>
                  <a:txBody>
                    <a:bodyPr wrap="square"/>
                    <a:lstStyle/>
                    <a:p>
                      <a:r>
                        <a:rPr sz="1000"/>
                        <a:t>Yang LLM+Speech (2025)</a:t>
                      </a:r>
                    </a:p>
                  </a:txBody>
                  <a:tcPr marL="45720" marR="45720" marT="18288" marB="18288" anchor="ctr">
                    <a:solidFill>
                      <a:srgbClr val="E8EEF4"/>
                    </a:solidFill>
                  </a:tcPr>
                </a:tc>
                <a:tc>
                  <a:txBody>
                    <a:bodyPr wrap="square"/>
                    <a:lstStyle/>
                    <a:p>
                      <a:r>
                        <a:rPr sz="1000"/>
                        <a:t>Benchmarks</a:t>
                      </a:r>
                    </a:p>
                  </a:txBody>
                  <a:tcPr marL="45720" marR="45720" marT="18288" marB="18288" anchor="ctr">
                    <a:solidFill>
                      <a:srgbClr val="E8EEF4"/>
                    </a:solidFill>
                  </a:tcPr>
                </a:tc>
                <a:tc>
                  <a:txBody>
                    <a:bodyPr wrap="square"/>
                    <a:lstStyle/>
                    <a:p>
                      <a:r>
                        <a:rPr sz="1000"/>
                        <a:t>WER/BLEU</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r h="131298">
                <a:tc>
                  <a:txBody>
                    <a:bodyPr wrap="square"/>
                    <a:lstStyle/>
                    <a:p>
                      <a:r>
                        <a:rPr sz="1000"/>
                        <a:t>33</a:t>
                      </a:r>
                    </a:p>
                  </a:txBody>
                  <a:tcPr marL="45720" marR="45720" marT="18288" marB="18288" anchor="ctr">
                    <a:solidFill>
                      <a:srgbClr val="FFFFFF"/>
                    </a:solidFill>
                  </a:tcPr>
                </a:tc>
                <a:tc>
                  <a:txBody>
                    <a:bodyPr wrap="square"/>
                    <a:lstStyle/>
                    <a:p>
                      <a:r>
                        <a:rPr sz="1000"/>
                        <a:t>Yang Eval Survey (2025)</a:t>
                      </a:r>
                    </a:p>
                  </a:txBody>
                  <a:tcPr marL="45720" marR="45720" marT="18288" marB="18288" anchor="ctr">
                    <a:solidFill>
                      <a:srgbClr val="FFFFFF"/>
                    </a:solidFill>
                  </a:tcPr>
                </a:tc>
                <a:tc>
                  <a:txBody>
                    <a:bodyPr wrap="square"/>
                    <a:lstStyle/>
                    <a:p>
                      <a:r>
                        <a:rPr sz="1000"/>
                        <a:t>Benchmarks</a:t>
                      </a:r>
                    </a:p>
                  </a:txBody>
                  <a:tcPr marL="45720" marR="45720" marT="18288" marB="18288" anchor="ctr">
                    <a:solidFill>
                      <a:srgbClr val="FFFFFF"/>
                    </a:solidFill>
                  </a:tcPr>
                </a:tc>
                <a:tc>
                  <a:txBody>
                    <a:bodyPr wrap="square"/>
                    <a:lstStyle/>
                    <a:p>
                      <a:r>
                        <a:rPr sz="1000"/>
                        <a:t>Diverse</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131298">
                <a:tc>
                  <a:txBody>
                    <a:bodyPr wrap="square"/>
                    <a:lstStyle/>
                    <a:p>
                      <a:r>
                        <a:rPr sz="1000"/>
                        <a:t>34</a:t>
                      </a:r>
                    </a:p>
                  </a:txBody>
                  <a:tcPr marL="45720" marR="45720" marT="18288" marB="18288" anchor="ctr">
                    <a:solidFill>
                      <a:srgbClr val="E8EEF4"/>
                    </a:solidFill>
                  </a:tcPr>
                </a:tc>
                <a:tc>
                  <a:txBody>
                    <a:bodyPr wrap="square"/>
                    <a:lstStyle/>
                    <a:p>
                      <a:r>
                        <a:rPr sz="1000"/>
                        <a:t>Latif LAM (2023)</a:t>
                      </a:r>
                    </a:p>
                  </a:txBody>
                  <a:tcPr marL="45720" marR="45720" marT="18288" marB="18288" anchor="ctr">
                    <a:solidFill>
                      <a:srgbClr val="E8EEF4"/>
                    </a:solidFill>
                  </a:tcPr>
                </a:tc>
                <a:tc>
                  <a:txBody>
                    <a:bodyPr wrap="square"/>
                    <a:lstStyle/>
                    <a:p>
                      <a:r>
                        <a:rPr sz="1000"/>
                        <a:t>Benchmarks</a:t>
                      </a:r>
                    </a:p>
                  </a:txBody>
                  <a:tcPr marL="45720" marR="45720" marT="18288" marB="18288" anchor="ctr">
                    <a:solidFill>
                      <a:srgbClr val="E8EEF4"/>
                    </a:solidFill>
                  </a:tcPr>
                </a:tc>
                <a:tc>
                  <a:txBody>
                    <a:bodyPr wrap="square"/>
                    <a:lstStyle/>
                    <a:p>
                      <a:r>
                        <a:rPr sz="1000"/>
                        <a:t>WER</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r h="131298">
                <a:tc>
                  <a:txBody>
                    <a:bodyPr wrap="square"/>
                    <a:lstStyle/>
                    <a:p>
                      <a:r>
                        <a:rPr sz="1000"/>
                        <a:t>35</a:t>
                      </a:r>
                    </a:p>
                  </a:txBody>
                  <a:tcPr marL="45720" marR="45720" marT="18288" marB="18288" anchor="ctr">
                    <a:solidFill>
                      <a:srgbClr val="FFFFFF"/>
                    </a:solidFill>
                  </a:tcPr>
                </a:tc>
                <a:tc>
                  <a:txBody>
                    <a:bodyPr wrap="square"/>
                    <a:lstStyle/>
                    <a:p>
                      <a:r>
                        <a:rPr sz="1000"/>
                        <a:t>Gaido ST (2024)</a:t>
                      </a:r>
                    </a:p>
                  </a:txBody>
                  <a:tcPr marL="45720" marR="45720" marT="18288" marB="18288" anchor="ctr">
                    <a:solidFill>
                      <a:srgbClr val="FFFFFF"/>
                    </a:solidFill>
                  </a:tcPr>
                </a:tc>
                <a:tc>
                  <a:txBody>
                    <a:bodyPr wrap="square"/>
                    <a:lstStyle/>
                    <a:p>
                      <a:r>
                        <a:rPr sz="1000"/>
                        <a:t>ST-Benchmarks</a:t>
                      </a:r>
                    </a:p>
                  </a:txBody>
                  <a:tcPr marL="45720" marR="45720" marT="18288" marB="18288" anchor="ctr">
                    <a:solidFill>
                      <a:srgbClr val="FFFFFF"/>
                    </a:solidFill>
                  </a:tcPr>
                </a:tc>
                <a:tc>
                  <a:txBody>
                    <a:bodyPr wrap="square"/>
                    <a:lstStyle/>
                    <a:p>
                      <a:r>
                        <a:rPr sz="1000"/>
                        <a:t>BLEU</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131298">
                <a:tc>
                  <a:txBody>
                    <a:bodyPr wrap="square"/>
                    <a:lstStyle/>
                    <a:p>
                      <a:r>
                        <a:rPr sz="1000"/>
                        <a:t>36</a:t>
                      </a:r>
                    </a:p>
                  </a:txBody>
                  <a:tcPr marL="45720" marR="45720" marT="18288" marB="18288" anchor="ctr">
                    <a:solidFill>
                      <a:srgbClr val="E8EEF4"/>
                    </a:solidFill>
                  </a:tcPr>
                </a:tc>
                <a:tc>
                  <a:txBody>
                    <a:bodyPr wrap="square"/>
                    <a:lstStyle/>
                    <a:p>
                      <a:r>
                        <a:rPr sz="1000"/>
                        <a:t>Cui SpeechLM (2024)</a:t>
                      </a:r>
                    </a:p>
                  </a:txBody>
                  <a:tcPr marL="45720" marR="45720" marT="18288" marB="18288" anchor="ctr">
                    <a:solidFill>
                      <a:srgbClr val="E8EEF4"/>
                    </a:solidFill>
                  </a:tcPr>
                </a:tc>
                <a:tc>
                  <a:txBody>
                    <a:bodyPr wrap="square"/>
                    <a:lstStyle/>
                    <a:p>
                      <a:r>
                        <a:rPr sz="1000"/>
                        <a:t>Benchmarks</a:t>
                      </a:r>
                    </a:p>
                  </a:txBody>
                  <a:tcPr marL="45720" marR="45720" marT="18288" marB="18288" anchor="ctr">
                    <a:solidFill>
                      <a:srgbClr val="E8EEF4"/>
                    </a:solidFill>
                  </a:tcPr>
                </a:tc>
                <a:tc>
                  <a:txBody>
                    <a:bodyPr wrap="square"/>
                    <a:lstStyle/>
                    <a:p>
                      <a:r>
                        <a:rPr sz="1000"/>
                        <a:t>Diverse</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r h="131298">
                <a:tc>
                  <a:txBody>
                    <a:bodyPr wrap="square"/>
                    <a:lstStyle/>
                    <a:p>
                      <a:r>
                        <a:rPr sz="1000"/>
                        <a:t>37</a:t>
                      </a:r>
                    </a:p>
                  </a:txBody>
                  <a:tcPr marL="45720" marR="45720" marT="18288" marB="18288" anchor="ctr">
                    <a:solidFill>
                      <a:srgbClr val="FFFFFF"/>
                    </a:solidFill>
                  </a:tcPr>
                </a:tc>
                <a:tc>
                  <a:txBody>
                    <a:bodyPr wrap="square"/>
                    <a:lstStyle/>
                    <a:p>
                      <a:r>
                        <a:rPr sz="1000"/>
                        <a:t>Arora SLM (2025)</a:t>
                      </a:r>
                    </a:p>
                  </a:txBody>
                  <a:tcPr marL="45720" marR="45720" marT="18288" marB="18288" anchor="ctr">
                    <a:solidFill>
                      <a:srgbClr val="FFFFFF"/>
                    </a:solidFill>
                  </a:tcPr>
                </a:tc>
                <a:tc>
                  <a:txBody>
                    <a:bodyPr wrap="square"/>
                    <a:lstStyle/>
                    <a:p>
                      <a:r>
                        <a:rPr sz="1000"/>
                        <a:t>Benchmarks</a:t>
                      </a:r>
                    </a:p>
                  </a:txBody>
                  <a:tcPr marL="45720" marR="45720" marT="18288" marB="18288" anchor="ctr">
                    <a:solidFill>
                      <a:srgbClr val="FFFFFF"/>
                    </a:solidFill>
                  </a:tcPr>
                </a:tc>
                <a:tc>
                  <a:txBody>
                    <a:bodyPr wrap="square"/>
                    <a:lstStyle/>
                    <a:p>
                      <a:r>
                        <a:rPr sz="1000"/>
                        <a:t>ABX/WER</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c>
                  <a:txBody>
                    <a:bodyPr wrap="square"/>
                    <a:lstStyle/>
                    <a:p>
                      <a:r>
                        <a:rPr sz="1000"/>
                        <a:t>NEIN</a:t>
                      </a:r>
                    </a:p>
                  </a:txBody>
                  <a:tcPr marL="45720" marR="45720" marT="18288" marB="18288" anchor="ctr">
                    <a:solidFill>
                      <a:srgbClr val="FFFFFF"/>
                    </a:solidFill>
                  </a:tcPr>
                </a:tc>
              </a:tr>
              <a:tr h="131316">
                <a:tc>
                  <a:txBody>
                    <a:bodyPr wrap="square"/>
                    <a:lstStyle/>
                    <a:p>
                      <a:r>
                        <a:rPr sz="1000"/>
                        <a:t>38–42</a:t>
                      </a:r>
                    </a:p>
                  </a:txBody>
                  <a:tcPr marL="45720" marR="45720" marT="18288" marB="18288" anchor="ctr">
                    <a:solidFill>
                      <a:srgbClr val="E8EEF4"/>
                    </a:solidFill>
                  </a:tcPr>
                </a:tc>
                <a:tc>
                  <a:txBody>
                    <a:bodyPr wrap="square"/>
                    <a:lstStyle/>
                    <a:p>
                      <a:r>
                        <a:rPr sz="1000"/>
                        <a:t>(Peng, SpeechIO, Xu SITA, etc.)</a:t>
                      </a:r>
                    </a:p>
                  </a:txBody>
                  <a:tcPr marL="45720" marR="45720" marT="18288" marB="18288" anchor="ctr">
                    <a:solidFill>
                      <a:srgbClr val="E8EEF4"/>
                    </a:solidFill>
                  </a:tcPr>
                </a:tc>
                <a:tc>
                  <a:txBody>
                    <a:bodyPr wrap="square"/>
                    <a:lstStyle/>
                    <a:p>
                      <a:r>
                        <a:rPr sz="1000"/>
                        <a:t>Hanzi/Bench.</a:t>
                      </a:r>
                    </a:p>
                  </a:txBody>
                  <a:tcPr marL="45720" marR="45720" marT="18288" marB="18288" anchor="ctr">
                    <a:solidFill>
                      <a:srgbClr val="E8EEF4"/>
                    </a:solidFill>
                  </a:tcPr>
                </a:tc>
                <a:tc>
                  <a:txBody>
                    <a:bodyPr wrap="square"/>
                    <a:lstStyle/>
                    <a:p>
                      <a:r>
                        <a:rPr sz="1000"/>
                        <a:t>CER/WER/Acc</a:t>
                      </a:r>
                    </a:p>
                  </a:txBody>
                  <a:tcPr marL="45720" marR="45720" marT="18288" marB="18288" anchor="ctr">
                    <a:solidFill>
                      <a:srgbClr val="E8EEF4"/>
                    </a:solidFill>
                  </a:tcPr>
                </a:tc>
                <a:tc>
                  <a:txBody>
                    <a:bodyPr wrap="square"/>
                    <a:lstStyle/>
                    <a:p>
                      <a:r>
                        <a:rPr sz="1000"/>
                        <a:t>Ignoriert</a:t>
                      </a:r>
                    </a:p>
                  </a:txBody>
                  <a:tcPr marL="45720" marR="45720" marT="18288" marB="18288" anchor="ctr">
                    <a:solidFill>
                      <a:srgbClr val="E8EEF4"/>
                    </a:solidFill>
                  </a:tcPr>
                </a:tc>
                <a:tc>
                  <a:txBody>
                    <a:bodyPr wrap="square"/>
                    <a:lstStyle/>
                    <a:p>
                      <a:r>
                        <a:rPr sz="1000"/>
                        <a:t>NEIN</a:t>
                      </a:r>
                    </a:p>
                  </a:txBody>
                  <a:tcPr marL="45720" marR="45720" marT="18288" marB="18288" anchor="ctr">
                    <a:solidFill>
                      <a:srgbClr val="E8EEF4"/>
                    </a:solidFill>
                  </a:tcPr>
                </a:tc>
              </a:tr>
            </a:tbl>
          </a:graphicData>
        </a:graphic>
      </p:graphicFrame>
      <p:sp>
        <p:nvSpPr>
          <p:cNvPr id="5" name="TextBox 4"/>
          <p:cNvSpPr txBox="1"/>
          <p:nvPr/>
        </p:nvSpPr>
        <p:spPr>
          <a:xfrm>
            <a:off x="411480" y="6336792"/>
            <a:ext cx="11368735" cy="2724912"/>
          </a:xfrm>
          <a:prstGeom prst="rect">
            <a:avLst/>
          </a:prstGeom>
          <a:noFill/>
        </p:spPr>
        <p:txBody>
          <a:bodyPr wrap="square">
            <a:spAutoFit/>
          </a:bodyPr>
          <a:lstStyle/>
          <a:p>
            <a:pPr>
              <a:spcAft>
                <a:spcPts val="300"/>
              </a:spcAft>
            </a:pPr>
            <a:r>
              <a:rPr sz="1300"/>
              <a:t>•  ---</a:t>
            </a:r>
          </a:p>
          <a:p>
            <a:pPr>
              <a:spcAft>
                <a:spcPts val="300"/>
              </a:spcAft>
            </a:pPr>
            <a:r>
              <a:rPr sz="1300"/>
              <a:t>•  Folien MM1–MM10 ergänzen M1–M6: M1–M6 zeigen welche Metriken es gibt. MM1–MM10 zeigen wie genau jedes Paper seine Metrik berechnet und was die methodischen Implikationen sind.</a:t>
            </a:r>
          </a:p>
          <a:p>
            <a:pPr>
              <a:spcAft>
                <a:spcPts val="300"/>
              </a:spcAft>
            </a:pPr>
            <a:r>
              <a:rPr sz="1300"/>
              <a:t>•  MM1 ist die Eröffnungsfolie — sie macht sofort klar, warum die Metrik-Methodik wichtig ist.</a:t>
            </a:r>
          </a:p>
          <a:p>
            <a:pPr>
              <a:spcAft>
                <a:spcPts val="300"/>
              </a:spcAft>
            </a:pPr>
            <a:r>
              <a:rPr sz="1300"/>
              <a:t>•  MM3 (Referenz-Hypothese-Tabelle) ist die Schlüsselfolie für die Q&amp;A — hier kann man jedes Detail nachschlagen.</a:t>
            </a:r>
          </a:p>
          <a:p>
            <a:pPr>
              <a:spcAft>
                <a:spcPts val="300"/>
              </a:spcAft>
            </a:pPr>
            <a:r>
              <a:rPr sz="1300"/>
              <a:t>•  MM4 (Ton-Strategien) ist das 2×2-Raster, das Tim sofort sieht: 27 ignorieren, 3 implizit, 4 separat, 2 akustisch.</a:t>
            </a:r>
          </a:p>
          <a:p>
            <a:pPr>
              <a:spcAft>
                <a:spcPts val="300"/>
              </a:spcAft>
            </a:pPr>
            <a:r>
              <a:rPr sz="1300"/>
              <a:t>•  MM8 (Unser Ansatz) ist die Antwort auf Tims Frage „Wie macht ihr es?" — zweiachsig, Segment+Ton entkoppelt.</a:t>
            </a:r>
          </a:p>
          <a:p>
            <a:pPr>
              <a:spcAft>
                <a:spcPts val="300"/>
              </a:spcAft>
            </a:pPr>
            <a:r>
              <a:rPr sz="1300"/>
              <a:t>•  MM10 (Zusammenfassung) ist die Folie, die direkt zur Forschungslücke führt.</a:t>
            </a:r>
          </a:p>
          <a:p>
            <a:pPr>
              <a:spcAft>
                <a:spcPts val="300"/>
              </a:spcAft>
            </a:pPr>
            <a:r>
              <a:rPr sz="1300"/>
              <a:t>•  Kürzungsoption: MM5 (Berechnung) und MM6 (Gewichtung) können für einen kürzeren Vortrag zu einer Folie zusammengefasst werden. MM9 (Token-Definition) kann als Backup verschoben werden.</a:t>
            </a:r>
          </a:p>
          <a:p>
            <a:pPr>
              <a:spcAft>
                <a:spcPts val="300"/>
              </a:spcAft>
            </a:pPr>
            <a:r>
              <a:rPr sz="1300"/>
              <a:t>•  Alle Zitate sind aus der DeepSeek-Analyse verifiziert gegen core_information_combined.md und die 37-Paper-Analyse.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728655" cy="1371600"/>
          </a:xfrm>
          <a:prstGeom prst="rect">
            <a:avLst/>
          </a:prstGeom>
          <a:noFill/>
        </p:spPr>
        <p:txBody>
          <a:bodyPr wrap="square">
            <a:spAutoFit/>
          </a:bodyPr>
          <a:lstStyle/>
          <a:p>
            <a:r>
              <a:rPr sz="3400" b="1">
                <a:solidFill>
                  <a:srgbClr val="FFFFFF"/>
                </a:solidFill>
              </a:rPr>
              <a:t>Modelle &amp; Kosten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12 Modelle — aber nicht alle messen dasselbe</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2400300"/>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                USA / GLOBAL          CHINA                  EUROPA</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MULTIMODAL    GPT-5.5 (OpenAI)      Qwen3.5-Omni (Alibaba)</a:t>
            </a:r>
          </a:p>
          <a:p>
            <a:pPr>
              <a:lnSpc>
                <a:spcPct val="100000"/>
              </a:lnSpc>
              <a:spcAft>
                <a:spcPts val="0"/>
              </a:spcAft>
            </a:pPr>
            <a:r>
              <a:rPr sz="900">
                <a:solidFill>
                  <a:srgbClr val="223344"/>
                </a:solidFill>
                <a:latin typeface="Consolas"/>
              </a:rPr>
              <a:t>LLM           Gemini 3.1 Pro        Kimi-Audio (Moonshot)</a:t>
            </a:r>
          </a:p>
          <a:p>
            <a:pPr>
              <a:lnSpc>
                <a:spcPct val="100000"/>
              </a:lnSpc>
              <a:spcAft>
                <a:spcPts val="0"/>
              </a:spcAft>
            </a:pPr>
            <a:r>
              <a:rPr sz="900">
                <a:solidFill>
                  <a:srgbClr val="223344"/>
                </a:solidFill>
                <a:latin typeface="Consolas"/>
              </a:rPr>
              <a:t>(Audio→Pinyin Grok 4.3 (xAI)        GLM-4-Voice (Zhipu)</a:t>
            </a:r>
          </a:p>
          <a:p>
            <a:pPr>
              <a:lnSpc>
                <a:spcPct val="100000"/>
              </a:lnSpc>
              <a:spcAft>
                <a:spcPts val="0"/>
              </a:spcAft>
            </a:pPr>
            <a:r>
              <a:rPr sz="900">
                <a:solidFill>
                  <a:srgbClr val="223344"/>
                </a:solidFill>
                <a:latin typeface="Consolas"/>
              </a:rPr>
              <a:t> direkt)                            Step-Audio 2.5 (StepFun)</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REINE ASR     Whisper large-v3      FireRedASR2S            Voxtral 2</a:t>
            </a:r>
          </a:p>
          <a:p>
            <a:pPr>
              <a:lnSpc>
                <a:spcPct val="100000"/>
              </a:lnSpc>
              <a:spcAft>
                <a:spcPts val="0"/>
              </a:spcAft>
            </a:pPr>
            <a:r>
              <a:rPr sz="900">
                <a:solidFill>
                  <a:srgbClr val="223344"/>
                </a:solidFill>
                <a:latin typeface="Consolas"/>
              </a:rPr>
              <a:t>(→ Hanzi,     Scribe v2 (11Labs)    (Xiaohongshu)          (Mistral)</a:t>
            </a:r>
          </a:p>
          <a:p>
            <a:pPr>
              <a:lnSpc>
                <a:spcPct val="100000"/>
              </a:lnSpc>
              <a:spcAft>
                <a:spcPts val="0"/>
              </a:spcAft>
            </a:pPr>
            <a:r>
              <a:rPr sz="900">
                <a:solidFill>
                  <a:srgbClr val="223344"/>
                </a:solidFill>
                <a:latin typeface="Consolas"/>
              </a:rPr>
              <a:t> G2P nötig)</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NICHT TESTBAR                       Doubao (keine API)</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TEXT-ONLY     Claude Opus 4.8       DeepSeek V4</a:t>
            </a:r>
          </a:p>
          <a:p>
            <a:pPr>
              <a:lnSpc>
                <a:spcPct val="100000"/>
              </a:lnSpc>
              <a:spcAft>
                <a:spcPts val="0"/>
              </a:spcAft>
            </a:pPr>
            <a:r>
              <a:rPr sz="900">
                <a:solidFill>
                  <a:srgbClr val="223344"/>
                </a:solidFill>
                <a:latin typeface="Consolas"/>
              </a:rPr>
              <a:t>(nur RQ1)     Claude Sonnet 4.6</a:t>
            </a:r>
          </a:p>
        </p:txBody>
      </p:sp>
      <p:sp>
        <p:nvSpPr>
          <p:cNvPr id="5" name="TextBox 4"/>
          <p:cNvSpPr txBox="1"/>
          <p:nvPr/>
        </p:nvSpPr>
        <p:spPr>
          <a:xfrm>
            <a:off x="411480" y="3570732"/>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Warum ASR-Systeme nur Baseline sind</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796796"/>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Audio: "yí" (Tone 2)</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MULTIMODALES LLM (GPT-5.5, Qwen-Omni …)</a:t>
            </a:r>
          </a:p>
          <a:p>
            <a:pPr>
              <a:lnSpc>
                <a:spcPct val="100000"/>
              </a:lnSpc>
              <a:spcAft>
                <a:spcPts val="0"/>
              </a:spcAft>
            </a:pPr>
            <a:r>
              <a:rPr sz="900">
                <a:solidFill>
                  <a:srgbClr val="223344"/>
                </a:solidFill>
                <a:latin typeface="Consolas"/>
              </a:rPr>
              <a:t>  Prompt: "Transcribe to Pinyin with tone number"</a:t>
            </a:r>
          </a:p>
          <a:p>
            <a:pPr>
              <a:lnSpc>
                <a:spcPct val="100000"/>
              </a:lnSpc>
              <a:spcAft>
                <a:spcPts val="0"/>
              </a:spcAft>
            </a:pPr>
            <a:r>
              <a:rPr sz="900">
                <a:solidFill>
                  <a:srgbClr val="223344"/>
                </a:solidFill>
                <a:latin typeface="Consolas"/>
              </a:rPr>
              <a:t>  → "yi2"   ✓ Ton direkt prüfbar</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REINE ASR (Whisper, FireRedASR2S …)</a:t>
            </a:r>
          </a:p>
          <a:p>
            <a:pPr>
              <a:lnSpc>
                <a:spcPct val="100000"/>
              </a:lnSpc>
              <a:spcAft>
                <a:spcPts val="0"/>
              </a:spcAft>
            </a:pPr>
            <a:r>
              <a:rPr sz="900">
                <a:solidFill>
                  <a:srgbClr val="223344"/>
                </a:solidFill>
                <a:latin typeface="Consolas"/>
              </a:rPr>
              <a:t>  → 一 (Hanzi)</a:t>
            </a:r>
          </a:p>
          <a:p>
            <a:pPr>
              <a:lnSpc>
                <a:spcPct val="100000"/>
              </a:lnSpc>
              <a:spcAft>
                <a:spcPts val="0"/>
              </a:spcAft>
            </a:pPr>
            <a:r>
              <a:rPr sz="900">
                <a:solidFill>
                  <a:srgbClr val="223344"/>
                </a:solidFill>
                <a:latin typeface="Consolas"/>
              </a:rPr>
              <a:t>  → Pypinyin(一) = "yī"   ✗ Ton 1 statt Ton 2 — FEHLER VERDECKT</a:t>
            </a:r>
          </a:p>
          <a:p>
            <a:pPr>
              <a:lnSpc>
                <a:spcPct val="100000"/>
              </a:lnSpc>
              <a:spcAft>
                <a:spcPts val="0"/>
              </a:spcAft>
            </a:pPr>
            <a:r>
              <a:rPr sz="900">
                <a:solidFill>
                  <a:srgbClr val="223344"/>
                </a:solidFill>
                <a:latin typeface="Consolas"/>
              </a:rPr>
              <a:t>                            (G2P nutzt Standard-Ton des Zeichens,</a:t>
            </a:r>
          </a:p>
          <a:p>
            <a:pPr>
              <a:lnSpc>
                <a:spcPct val="100000"/>
              </a:lnSpc>
              <a:spcAft>
                <a:spcPts val="0"/>
              </a:spcAft>
            </a:pPr>
            <a:r>
              <a:rPr sz="900">
                <a:solidFill>
                  <a:srgbClr val="223344"/>
                </a:solidFill>
                <a:latin typeface="Consolas"/>
              </a:rPr>
              <a:t>                             nicht den tatsächlich gesprochenen)</a:t>
            </a:r>
          </a:p>
        </p:txBody>
      </p:sp>
      <p:sp>
        <p:nvSpPr>
          <p:cNvPr id="5" name="TextBox 4"/>
          <p:cNvSpPr txBox="1"/>
          <p:nvPr/>
        </p:nvSpPr>
        <p:spPr>
          <a:xfrm>
            <a:off x="411480" y="2967228"/>
            <a:ext cx="11368735" cy="1261872"/>
          </a:xfrm>
          <a:prstGeom prst="rect">
            <a:avLst/>
          </a:prstGeom>
          <a:noFill/>
        </p:spPr>
        <p:txBody>
          <a:bodyPr wrap="square">
            <a:spAutoFit/>
          </a:bodyPr>
          <a:lstStyle/>
          <a:p>
            <a:pPr>
              <a:spcAft>
                <a:spcPts val="300"/>
              </a:spcAft>
            </a:pPr>
            <a:r>
              <a:rPr sz="1300"/>
              <a:t>•  Multimodale LLMs lassen sich prompten, Pinyin+Ton direkt auszugeben</a:t>
            </a:r>
          </a:p>
          <a:p>
            <a:pPr>
              <a:spcAft>
                <a:spcPts val="300"/>
              </a:spcAft>
            </a:pPr>
            <a:r>
              <a:rPr sz="1300"/>
              <a:t>•  ASR-Systeme geben Hanzi aus → G2P-Nachbearbeitung → Tonfehler bei Homophonen unsichtbar</a:t>
            </a:r>
          </a:p>
          <a:p>
            <a:pPr>
              <a:spcAft>
                <a:spcPts val="300"/>
              </a:spcAft>
            </a:pPr>
            <a:r>
              <a:rPr sz="1300"/>
              <a:t>•  → Sauberer methodischer Beitrag: die zwei Kategorien getrennt auswerten</a:t>
            </a:r>
          </a:p>
          <a:p>
            <a:pPr>
              <a:spcAft>
                <a:spcPts val="300"/>
              </a:spcAft>
            </a:pPr>
            <a:r>
              <a:rPr sz="1300"/>
              <a:t>•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Überraschung — nur 1 von 12 Modellen braucht lokale GPU</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3730752"/>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Modell</a:t>
                      </a:r>
                    </a:p>
                  </a:txBody>
                  <a:tcPr marL="45720" marR="45720" marT="18288" marB="18288" anchor="ctr">
                    <a:solidFill>
                      <a:srgbClr val="1F3A5F"/>
                    </a:solidFill>
                  </a:tcPr>
                </a:tc>
                <a:tc>
                  <a:txBody>
                    <a:bodyPr wrap="square"/>
                    <a:lstStyle/>
                    <a:p>
                      <a:r>
                        <a:rPr sz="1000" b="1">
                          <a:solidFill>
                            <a:srgbClr val="FFFFFF"/>
                          </a:solidFill>
                        </a:rPr>
                        <a:t>API-Zugang</a:t>
                      </a:r>
                    </a:p>
                  </a:txBody>
                  <a:tcPr marL="45720" marR="45720" marT="18288" marB="18288" anchor="ctr">
                    <a:solidFill>
                      <a:srgbClr val="1F3A5F"/>
                    </a:solidFill>
                  </a:tcPr>
                </a:tc>
                <a:tc>
                  <a:txBody>
                    <a:bodyPr wrap="square"/>
                    <a:lstStyle/>
                    <a:p>
                      <a:r>
                        <a:rPr sz="1000" b="1">
                          <a:solidFill>
                            <a:srgbClr val="FFFFFF"/>
                          </a:solidFill>
                        </a:rPr>
                        <a:t>Anbieter</a:t>
                      </a:r>
                    </a:p>
                  </a:txBody>
                  <a:tcPr marL="45720" marR="45720" marT="18288" marB="18288" anchor="ctr">
                    <a:solidFill>
                      <a:srgbClr val="1F3A5F"/>
                    </a:solidFill>
                  </a:tcPr>
                </a:tc>
                <a:tc>
                  <a:txBody>
                    <a:bodyPr wrap="square"/>
                    <a:lstStyle/>
                    <a:p>
                      <a:r>
                        <a:rPr sz="1000" b="1">
                          <a:solidFill>
                            <a:srgbClr val="FFFFFF"/>
                          </a:solidFill>
                        </a:rPr>
                        <a:t>Preis (verifiziert)</a:t>
                      </a:r>
                    </a:p>
                  </a:txBody>
                  <a:tcPr marL="45720" marR="45720" marT="18288" marB="18288" anchor="ctr">
                    <a:solidFill>
                      <a:srgbClr val="1F3A5F"/>
                    </a:solidFill>
                  </a:tcPr>
                </a:tc>
              </a:tr>
              <a:tr h="310896">
                <a:tc>
                  <a:txBody>
                    <a:bodyPr wrap="square"/>
                    <a:lstStyle/>
                    <a:p>
                      <a:r>
                        <a:rPr sz="1000"/>
                        <a:t>GPT-5.5</a:t>
                      </a:r>
                    </a:p>
                  </a:txBody>
                  <a:tcPr marL="45720" marR="45720" marT="18288" marB="18288" anchor="ctr">
                    <a:solidFill>
                      <a:srgbClr val="FFFFFF"/>
                    </a:solidFill>
                  </a:tcPr>
                </a:tc>
                <a:tc>
                  <a:txBody>
                    <a:bodyPr wrap="square"/>
                    <a:lstStyle/>
                    <a:p>
                      <a:r>
                        <a:rPr sz="1000"/>
                        <a:t>✅ API</a:t>
                      </a:r>
                    </a:p>
                  </a:txBody>
                  <a:tcPr marL="45720" marR="45720" marT="18288" marB="18288" anchor="ctr">
                    <a:solidFill>
                      <a:srgbClr val="FFFFFF"/>
                    </a:solidFill>
                  </a:tcPr>
                </a:tc>
                <a:tc>
                  <a:txBody>
                    <a:bodyPr wrap="square"/>
                    <a:lstStyle/>
                    <a:p>
                      <a:r>
                        <a:rPr sz="1000"/>
                        <a:t>OpenAI</a:t>
                      </a:r>
                    </a:p>
                  </a:txBody>
                  <a:tcPr marL="45720" marR="45720" marT="18288" marB="18288" anchor="ctr">
                    <a:solidFill>
                      <a:srgbClr val="FFFFFF"/>
                    </a:solidFill>
                  </a:tcPr>
                </a:tc>
                <a:tc>
                  <a:txBody>
                    <a:bodyPr wrap="square"/>
                    <a:lstStyle/>
                    <a:p>
                      <a:r>
                        <a:rPr sz="1000"/>
                        <a:t>$5/$30 pro 1M Token</a:t>
                      </a:r>
                    </a:p>
                  </a:txBody>
                  <a:tcPr marL="45720" marR="45720" marT="18288" marB="18288" anchor="ctr">
                    <a:solidFill>
                      <a:srgbClr val="FFFFFF"/>
                    </a:solidFill>
                  </a:tcPr>
                </a:tc>
              </a:tr>
              <a:tr h="310896">
                <a:tc>
                  <a:txBody>
                    <a:bodyPr wrap="square"/>
                    <a:lstStyle/>
                    <a:p>
                      <a:r>
                        <a:rPr sz="1000"/>
                        <a:t>Gemini 3.1 Pro</a:t>
                      </a:r>
                    </a:p>
                  </a:txBody>
                  <a:tcPr marL="45720" marR="45720" marT="18288" marB="18288" anchor="ctr">
                    <a:solidFill>
                      <a:srgbClr val="E8EEF4"/>
                    </a:solidFill>
                  </a:tcPr>
                </a:tc>
                <a:tc>
                  <a:txBody>
                    <a:bodyPr wrap="square"/>
                    <a:lstStyle/>
                    <a:p>
                      <a:r>
                        <a:rPr sz="1000"/>
                        <a:t>✅ API</a:t>
                      </a:r>
                    </a:p>
                  </a:txBody>
                  <a:tcPr marL="45720" marR="45720" marT="18288" marB="18288" anchor="ctr">
                    <a:solidFill>
                      <a:srgbClr val="E8EEF4"/>
                    </a:solidFill>
                  </a:tcPr>
                </a:tc>
                <a:tc>
                  <a:txBody>
                    <a:bodyPr wrap="square"/>
                    <a:lstStyle/>
                    <a:p>
                      <a:r>
                        <a:rPr sz="1000"/>
                        <a:t>Google AI</a:t>
                      </a:r>
                    </a:p>
                  </a:txBody>
                  <a:tcPr marL="45720" marR="45720" marT="18288" marB="18288" anchor="ctr">
                    <a:solidFill>
                      <a:srgbClr val="E8EEF4"/>
                    </a:solidFill>
                  </a:tcPr>
                </a:tc>
                <a:tc>
                  <a:txBody>
                    <a:bodyPr wrap="square"/>
                    <a:lstStyle/>
                    <a:p>
                      <a:r>
                        <a:rPr sz="1000"/>
                        <a:t>$2/$12 pro 1M Token</a:t>
                      </a:r>
                    </a:p>
                  </a:txBody>
                  <a:tcPr marL="45720" marR="45720" marT="18288" marB="18288" anchor="ctr">
                    <a:solidFill>
                      <a:srgbClr val="E8EEF4"/>
                    </a:solidFill>
                  </a:tcPr>
                </a:tc>
              </a:tr>
              <a:tr h="310896">
                <a:tc>
                  <a:txBody>
                    <a:bodyPr wrap="square"/>
                    <a:lstStyle/>
                    <a:p>
                      <a:r>
                        <a:rPr sz="1000"/>
                        <a:t>Grok 4.3</a:t>
                      </a:r>
                    </a:p>
                  </a:txBody>
                  <a:tcPr marL="45720" marR="45720" marT="18288" marB="18288" anchor="ctr">
                    <a:solidFill>
                      <a:srgbClr val="FFFFFF"/>
                    </a:solidFill>
                  </a:tcPr>
                </a:tc>
                <a:tc>
                  <a:txBody>
                    <a:bodyPr wrap="square"/>
                    <a:lstStyle/>
                    <a:p>
                      <a:r>
                        <a:rPr sz="1000"/>
                        <a:t>✅ API</a:t>
                      </a:r>
                    </a:p>
                  </a:txBody>
                  <a:tcPr marL="45720" marR="45720" marT="18288" marB="18288" anchor="ctr">
                    <a:solidFill>
                      <a:srgbClr val="FFFFFF"/>
                    </a:solidFill>
                  </a:tcPr>
                </a:tc>
                <a:tc>
                  <a:txBody>
                    <a:bodyPr wrap="square"/>
                    <a:lstStyle/>
                    <a:p>
                      <a:r>
                        <a:rPr sz="1000"/>
                        <a:t>xAI</a:t>
                      </a:r>
                    </a:p>
                  </a:txBody>
                  <a:tcPr marL="45720" marR="45720" marT="18288" marB="18288" anchor="ctr">
                    <a:solidFill>
                      <a:srgbClr val="FFFFFF"/>
                    </a:solidFill>
                  </a:tcPr>
                </a:tc>
                <a:tc>
                  <a:txBody>
                    <a:bodyPr wrap="square"/>
                    <a:lstStyle/>
                    <a:p>
                      <a:r>
                        <a:rPr sz="1000"/>
                        <a:t>$1,25/$2,50 pro 1M Token; STT: $0,10/Std</a:t>
                      </a:r>
                    </a:p>
                  </a:txBody>
                  <a:tcPr marL="45720" marR="45720" marT="18288" marB="18288" anchor="ctr">
                    <a:solidFill>
                      <a:srgbClr val="FFFFFF"/>
                    </a:solidFill>
                  </a:tcPr>
                </a:tc>
              </a:tr>
              <a:tr h="310896">
                <a:tc>
                  <a:txBody>
                    <a:bodyPr wrap="square"/>
                    <a:lstStyle/>
                    <a:p>
                      <a:r>
                        <a:rPr sz="1000"/>
                        <a:t>Qwen3.5-Omni</a:t>
                      </a:r>
                    </a:p>
                  </a:txBody>
                  <a:tcPr marL="45720" marR="45720" marT="18288" marB="18288" anchor="ctr">
                    <a:solidFill>
                      <a:srgbClr val="E8EEF4"/>
                    </a:solidFill>
                  </a:tcPr>
                </a:tc>
                <a:tc>
                  <a:txBody>
                    <a:bodyPr wrap="square"/>
                    <a:lstStyle/>
                    <a:p>
                      <a:r>
                        <a:rPr sz="1000"/>
                        <a:t>✅ API</a:t>
                      </a:r>
                    </a:p>
                  </a:txBody>
                  <a:tcPr marL="45720" marR="45720" marT="18288" marB="18288" anchor="ctr">
                    <a:solidFill>
                      <a:srgbClr val="E8EEF4"/>
                    </a:solidFill>
                  </a:tcPr>
                </a:tc>
                <a:tc>
                  <a:txBody>
                    <a:bodyPr wrap="square"/>
                    <a:lstStyle/>
                    <a:p>
                      <a:r>
                        <a:rPr sz="1000"/>
                        <a:t>Alibaba Cloud</a:t>
                      </a:r>
                    </a:p>
                  </a:txBody>
                  <a:tcPr marL="45720" marR="45720" marT="18288" marB="18288" anchor="ctr">
                    <a:solidFill>
                      <a:srgbClr val="E8EEF4"/>
                    </a:solidFill>
                  </a:tcPr>
                </a:tc>
                <a:tc>
                  <a:txBody>
                    <a:bodyPr wrap="square"/>
                    <a:lstStyle/>
                    <a:p>
                      <a:r>
                        <a:rPr sz="1000"/>
                        <a:t>$0,40–1,82/$4,80–10,79 pro 1M Token</a:t>
                      </a:r>
                    </a:p>
                  </a:txBody>
                  <a:tcPr marL="45720" marR="45720" marT="18288" marB="18288" anchor="ctr">
                    <a:solidFill>
                      <a:srgbClr val="E8EEF4"/>
                    </a:solidFill>
                  </a:tcPr>
                </a:tc>
              </a:tr>
              <a:tr h="310896">
                <a:tc>
                  <a:txBody>
                    <a:bodyPr wrap="square"/>
                    <a:lstStyle/>
                    <a:p>
                      <a:r>
                        <a:rPr sz="1000"/>
                        <a:t>Kimi-Audio</a:t>
                      </a:r>
                    </a:p>
                  </a:txBody>
                  <a:tcPr marL="45720" marR="45720" marT="18288" marB="18288" anchor="ctr">
                    <a:solidFill>
                      <a:srgbClr val="FFFFFF"/>
                    </a:solidFill>
                  </a:tcPr>
                </a:tc>
                <a:tc>
                  <a:txBody>
                    <a:bodyPr wrap="square"/>
                    <a:lstStyle/>
                    <a:p>
                      <a:r>
                        <a:rPr sz="1000"/>
                        <a:t>✅ API</a:t>
                      </a:r>
                    </a:p>
                  </a:txBody>
                  <a:tcPr marL="45720" marR="45720" marT="18288" marB="18288" anchor="ctr">
                    <a:solidFill>
                      <a:srgbClr val="FFFFFF"/>
                    </a:solidFill>
                  </a:tcPr>
                </a:tc>
                <a:tc>
                  <a:txBody>
                    <a:bodyPr wrap="square"/>
                    <a:lstStyle/>
                    <a:p>
                      <a:r>
                        <a:rPr sz="1000"/>
                        <a:t>Replicate</a:t>
                      </a:r>
                    </a:p>
                  </a:txBody>
                  <a:tcPr marL="45720" marR="45720" marT="18288" marB="18288" anchor="ctr">
                    <a:solidFill>
                      <a:srgbClr val="FFFFFF"/>
                    </a:solidFill>
                  </a:tcPr>
                </a:tc>
                <a:tc>
                  <a:txBody>
                    <a:bodyPr wrap="square"/>
                    <a:lstStyle/>
                    <a:p>
                      <a:r>
                        <a:rPr sz="1000"/>
                        <a:t>~$0,0023/Sek GPU-Zeit</a:t>
                      </a:r>
                    </a:p>
                  </a:txBody>
                  <a:tcPr marL="45720" marR="45720" marT="18288" marB="18288" anchor="ctr">
                    <a:solidFill>
                      <a:srgbClr val="FFFFFF"/>
                    </a:solidFill>
                  </a:tcPr>
                </a:tc>
              </a:tr>
              <a:tr h="310896">
                <a:tc>
                  <a:txBody>
                    <a:bodyPr wrap="square"/>
                    <a:lstStyle/>
                    <a:p>
                      <a:r>
                        <a:rPr sz="1000"/>
                        <a:t>Step-Audio 2.5</a:t>
                      </a:r>
                    </a:p>
                  </a:txBody>
                  <a:tcPr marL="45720" marR="45720" marT="18288" marB="18288" anchor="ctr">
                    <a:solidFill>
                      <a:srgbClr val="E8EEF4"/>
                    </a:solidFill>
                  </a:tcPr>
                </a:tc>
                <a:tc>
                  <a:txBody>
                    <a:bodyPr wrap="square"/>
                    <a:lstStyle/>
                    <a:p>
                      <a:r>
                        <a:rPr sz="1000"/>
                        <a:t>✅ API</a:t>
                      </a:r>
                    </a:p>
                  </a:txBody>
                  <a:tcPr marL="45720" marR="45720" marT="18288" marB="18288" anchor="ctr">
                    <a:solidFill>
                      <a:srgbClr val="E8EEF4"/>
                    </a:solidFill>
                  </a:tcPr>
                </a:tc>
                <a:tc>
                  <a:txBody>
                    <a:bodyPr wrap="square"/>
                    <a:lstStyle/>
                    <a:p>
                      <a:r>
                        <a:rPr sz="1000"/>
                        <a:t>StepFun</a:t>
                      </a:r>
                    </a:p>
                  </a:txBody>
                  <a:tcPr marL="45720" marR="45720" marT="18288" marB="18288" anchor="ctr">
                    <a:solidFill>
                      <a:srgbClr val="E8EEF4"/>
                    </a:solidFill>
                  </a:tcPr>
                </a:tc>
                <a:tc>
                  <a:txBody>
                    <a:bodyPr wrap="square"/>
                    <a:lstStyle/>
                    <a:p>
                      <a:r>
                        <a:rPr sz="1000"/>
                        <a:t>$0,022/Std</a:t>
                      </a:r>
                    </a:p>
                  </a:txBody>
                  <a:tcPr marL="45720" marR="45720" marT="18288" marB="18288" anchor="ctr">
                    <a:solidFill>
                      <a:srgbClr val="E8EEF4"/>
                    </a:solidFill>
                  </a:tcPr>
                </a:tc>
              </a:tr>
              <a:tr h="310896">
                <a:tc>
                  <a:txBody>
                    <a:bodyPr wrap="square"/>
                    <a:lstStyle/>
                    <a:p>
                      <a:r>
                        <a:rPr sz="1000"/>
                        <a:t>GLM-4-Voice</a:t>
                      </a:r>
                    </a:p>
                  </a:txBody>
                  <a:tcPr marL="45720" marR="45720" marT="18288" marB="18288" anchor="ctr">
                    <a:solidFill>
                      <a:srgbClr val="FFFFFF"/>
                    </a:solidFill>
                  </a:tcPr>
                </a:tc>
                <a:tc>
                  <a:txBody>
                    <a:bodyPr wrap="square"/>
                    <a:lstStyle/>
                    <a:p>
                      <a:r>
                        <a:rPr sz="1000"/>
                        <a:t>✅ API</a:t>
                      </a:r>
                    </a:p>
                  </a:txBody>
                  <a:tcPr marL="45720" marR="45720" marT="18288" marB="18288" anchor="ctr">
                    <a:solidFill>
                      <a:srgbClr val="FFFFFF"/>
                    </a:solidFill>
                  </a:tcPr>
                </a:tc>
                <a:tc>
                  <a:txBody>
                    <a:bodyPr wrap="square"/>
                    <a:lstStyle/>
                    <a:p>
                      <a:r>
                        <a:rPr sz="1000"/>
                        <a:t>DeepInfra / Together</a:t>
                      </a:r>
                    </a:p>
                  </a:txBody>
                  <a:tcPr marL="45720" marR="45720" marT="18288" marB="18288" anchor="ctr">
                    <a:solidFill>
                      <a:srgbClr val="FFFFFF"/>
                    </a:solidFill>
                  </a:tcPr>
                </a:tc>
                <a:tc>
                  <a:txBody>
                    <a:bodyPr wrap="square"/>
                    <a:lstStyle/>
                    <a:p>
                      <a:r>
                        <a:rPr sz="1000"/>
                        <a:t>$0,60/$2,20 pro 1M Token</a:t>
                      </a:r>
                    </a:p>
                  </a:txBody>
                  <a:tcPr marL="45720" marR="45720" marT="18288" marB="18288" anchor="ctr">
                    <a:solidFill>
                      <a:srgbClr val="FFFFFF"/>
                    </a:solidFill>
                  </a:tcPr>
                </a:tc>
              </a:tr>
              <a:tr h="310896">
                <a:tc>
                  <a:txBody>
                    <a:bodyPr wrap="square"/>
                    <a:lstStyle/>
                    <a:p>
                      <a:r>
                        <a:rPr sz="1000"/>
                        <a:t>Whisper large-v3</a:t>
                      </a:r>
                    </a:p>
                  </a:txBody>
                  <a:tcPr marL="45720" marR="45720" marT="18288" marB="18288" anchor="ctr">
                    <a:solidFill>
                      <a:srgbClr val="E8EEF4"/>
                    </a:solidFill>
                  </a:tcPr>
                </a:tc>
                <a:tc>
                  <a:txBody>
                    <a:bodyPr wrap="square"/>
                    <a:lstStyle/>
                    <a:p>
                      <a:r>
                        <a:rPr sz="1000"/>
                        <a:t>✅ API</a:t>
                      </a:r>
                    </a:p>
                  </a:txBody>
                  <a:tcPr marL="45720" marR="45720" marT="18288" marB="18288" anchor="ctr">
                    <a:solidFill>
                      <a:srgbClr val="E8EEF4"/>
                    </a:solidFill>
                  </a:tcPr>
                </a:tc>
                <a:tc>
                  <a:txBody>
                    <a:bodyPr wrap="square"/>
                    <a:lstStyle/>
                    <a:p>
                      <a:r>
                        <a:rPr sz="1000"/>
                        <a:t>OpenAI</a:t>
                      </a:r>
                    </a:p>
                  </a:txBody>
                  <a:tcPr marL="45720" marR="45720" marT="18288" marB="18288" anchor="ctr">
                    <a:solidFill>
                      <a:srgbClr val="E8EEF4"/>
                    </a:solidFill>
                  </a:tcPr>
                </a:tc>
                <a:tc>
                  <a:txBody>
                    <a:bodyPr wrap="square"/>
                    <a:lstStyle/>
                    <a:p>
                      <a:r>
                        <a:rPr sz="1000"/>
                        <a:t>$0,006/Min</a:t>
                      </a:r>
                    </a:p>
                  </a:txBody>
                  <a:tcPr marL="45720" marR="45720" marT="18288" marB="18288" anchor="ctr">
                    <a:solidFill>
                      <a:srgbClr val="E8EEF4"/>
                    </a:solidFill>
                  </a:tcPr>
                </a:tc>
              </a:tr>
              <a:tr h="310896">
                <a:tc>
                  <a:txBody>
                    <a:bodyPr wrap="square"/>
                    <a:lstStyle/>
                    <a:p>
                      <a:r>
                        <a:rPr sz="1000"/>
                        <a:t>Voxtral Small</a:t>
                      </a:r>
                    </a:p>
                  </a:txBody>
                  <a:tcPr marL="45720" marR="45720" marT="18288" marB="18288" anchor="ctr">
                    <a:solidFill>
                      <a:srgbClr val="FFFFFF"/>
                    </a:solidFill>
                  </a:tcPr>
                </a:tc>
                <a:tc>
                  <a:txBody>
                    <a:bodyPr wrap="square"/>
                    <a:lstStyle/>
                    <a:p>
                      <a:r>
                        <a:rPr sz="1000"/>
                        <a:t>✅ API</a:t>
                      </a:r>
                    </a:p>
                  </a:txBody>
                  <a:tcPr marL="45720" marR="45720" marT="18288" marB="18288" anchor="ctr">
                    <a:solidFill>
                      <a:srgbClr val="FFFFFF"/>
                    </a:solidFill>
                  </a:tcPr>
                </a:tc>
                <a:tc>
                  <a:txBody>
                    <a:bodyPr wrap="square"/>
                    <a:lstStyle/>
                    <a:p>
                      <a:r>
                        <a:rPr sz="1000"/>
                        <a:t>Mistral</a:t>
                      </a:r>
                    </a:p>
                  </a:txBody>
                  <a:tcPr marL="45720" marR="45720" marT="18288" marB="18288" anchor="ctr">
                    <a:solidFill>
                      <a:srgbClr val="FFFFFF"/>
                    </a:solidFill>
                  </a:tcPr>
                </a:tc>
                <a:tc>
                  <a:txBody>
                    <a:bodyPr wrap="square"/>
                    <a:lstStyle/>
                    <a:p>
                      <a:r>
                        <a:rPr sz="1000"/>
                        <a:t>$0,001–0,002/Min</a:t>
                      </a:r>
                    </a:p>
                  </a:txBody>
                  <a:tcPr marL="45720" marR="45720" marT="18288" marB="18288" anchor="ctr">
                    <a:solidFill>
                      <a:srgbClr val="FFFFFF"/>
                    </a:solidFill>
                  </a:tcPr>
                </a:tc>
              </a:tr>
              <a:tr h="310896">
                <a:tc>
                  <a:txBody>
                    <a:bodyPr wrap="square"/>
                    <a:lstStyle/>
                    <a:p>
                      <a:r>
                        <a:rPr sz="1000"/>
                        <a:t>Scribe v2</a:t>
                      </a:r>
                    </a:p>
                  </a:txBody>
                  <a:tcPr marL="45720" marR="45720" marT="18288" marB="18288" anchor="ctr">
                    <a:solidFill>
                      <a:srgbClr val="E8EEF4"/>
                    </a:solidFill>
                  </a:tcPr>
                </a:tc>
                <a:tc>
                  <a:txBody>
                    <a:bodyPr wrap="square"/>
                    <a:lstStyle/>
                    <a:p>
                      <a:r>
                        <a:rPr sz="1000"/>
                        <a:t>✅ API</a:t>
                      </a:r>
                    </a:p>
                  </a:txBody>
                  <a:tcPr marL="45720" marR="45720" marT="18288" marB="18288" anchor="ctr">
                    <a:solidFill>
                      <a:srgbClr val="E8EEF4"/>
                    </a:solidFill>
                  </a:tcPr>
                </a:tc>
                <a:tc>
                  <a:txBody>
                    <a:bodyPr wrap="square"/>
                    <a:lstStyle/>
                    <a:p>
                      <a:r>
                        <a:rPr sz="1000"/>
                        <a:t>ElevenLabs</a:t>
                      </a:r>
                    </a:p>
                  </a:txBody>
                  <a:tcPr marL="45720" marR="45720" marT="18288" marB="18288" anchor="ctr">
                    <a:solidFill>
                      <a:srgbClr val="E8EEF4"/>
                    </a:solidFill>
                  </a:tcPr>
                </a:tc>
                <a:tc>
                  <a:txBody>
                    <a:bodyPr wrap="square"/>
                    <a:lstStyle/>
                    <a:p>
                      <a:r>
                        <a:rPr sz="1000"/>
                        <a:t>$0,22/Std</a:t>
                      </a:r>
                    </a:p>
                  </a:txBody>
                  <a:tcPr marL="45720" marR="45720" marT="18288" marB="18288" anchor="ctr">
                    <a:solidFill>
                      <a:srgbClr val="E8EEF4"/>
                    </a:solidFill>
                  </a:tcPr>
                </a:tc>
              </a:tr>
              <a:tr h="310896">
                <a:tc>
                  <a:txBody>
                    <a:bodyPr wrap="square"/>
                    <a:lstStyle/>
                    <a:p>
                      <a:r>
                        <a:rPr sz="1000"/>
                        <a:t>FireRedASR2S</a:t>
                      </a:r>
                    </a:p>
                  </a:txBody>
                  <a:tcPr marL="45720" marR="45720" marT="18288" marB="18288" anchor="ctr">
                    <a:solidFill>
                      <a:srgbClr val="FFFFFF"/>
                    </a:solidFill>
                  </a:tcPr>
                </a:tc>
                <a:tc>
                  <a:txBody>
                    <a:bodyPr wrap="square"/>
                    <a:lstStyle/>
                    <a:p>
                      <a:r>
                        <a:rPr sz="1000"/>
                        <a:t>❌ nur lokal</a:t>
                      </a:r>
                    </a:p>
                  </a:txBody>
                  <a:tcPr marL="45720" marR="45720" marT="18288" marB="18288" anchor="ctr">
                    <a:solidFill>
                      <a:srgbClr val="FFFFFF"/>
                    </a:solidFill>
                  </a:tcPr>
                </a:tc>
                <a:tc>
                  <a:txBody>
                    <a:bodyPr wrap="square"/>
                    <a:lstStyle/>
                    <a:p>
                      <a:r>
                        <a:rPr sz="1000"/>
                        <a:t>Hugging Face Weights</a:t>
                      </a:r>
                    </a:p>
                  </a:txBody>
                  <a:tcPr marL="45720" marR="45720" marT="18288" marB="18288" anchor="ctr">
                    <a:solidFill>
                      <a:srgbClr val="FFFFFF"/>
                    </a:solidFill>
                  </a:tcPr>
                </a:tc>
                <a:tc>
                  <a:txBody>
                    <a:bodyPr wrap="square"/>
                    <a:lstStyle/>
                    <a:p>
                      <a:r>
                        <a:rPr sz="1000"/>
                        <a:t>Eigene GPU nötig</a:t>
                      </a:r>
                    </a:p>
                  </a:txBody>
                  <a:tcPr marL="45720" marR="45720" marT="18288" marB="18288" anchor="ctr">
                    <a:solidFill>
                      <a:srgbClr val="FFFFFF"/>
                    </a:solidFill>
                  </a:tcPr>
                </a:tc>
              </a:tr>
            </a:tbl>
          </a:graphicData>
        </a:graphic>
      </p:graphicFrame>
      <p:sp>
        <p:nvSpPr>
          <p:cNvPr id="5" name="TextBox 4"/>
          <p:cNvSpPr txBox="1"/>
          <p:nvPr/>
        </p:nvSpPr>
        <p:spPr>
          <a:xfrm>
            <a:off x="411480" y="4946904"/>
            <a:ext cx="11368735" cy="676656"/>
          </a:xfrm>
          <a:prstGeom prst="rect">
            <a:avLst/>
          </a:prstGeom>
          <a:noFill/>
        </p:spPr>
        <p:txBody>
          <a:bodyPr wrap="square">
            <a:spAutoFit/>
          </a:bodyPr>
          <a:lstStyle/>
          <a:p>
            <a:pPr>
              <a:spcAft>
                <a:spcPts val="300"/>
              </a:spcAft>
            </a:pPr>
            <a:r>
              <a:rPr i="1" sz="1200">
                <a:solidFill>
                  <a:srgbClr val="444444"/>
                </a:solidFill>
              </a:rPr>
              <a:t>„Keine eigene GPU nötig für 11 von 12 Modellen. Chinesische Open-Source-Modelle sind über Drittanbieter (Replicate, DeepInfra, StepFun) aus Europa erreichbar."</a:t>
            </a:r>
          </a:p>
          <a:p>
            <a:pPr>
              <a:spcAft>
                <a:spcPts val="300"/>
              </a:spcAft>
            </a:pPr>
            <a:r>
              <a:rPr sz="1300"/>
              <a:t>•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Kostenschätzung — mit verifizierten Preisen (Stand Juni 2026)</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2" cy="4663440"/>
        </p:xfrm>
        <a:graphic>
          <a:graphicData uri="http://schemas.openxmlformats.org/drawingml/2006/table">
            <a:tbl>
              <a:tblPr firstRow="1" bandRow="1">
                <a:tableStyleId>{5C22544A-7EE6-4342-B048-85BDC9FD1C3A}</a:tableStyleId>
              </a:tblPr>
              <a:tblGrid>
                <a:gridCol w="2865043"/>
                <a:gridCol w="2865043"/>
                <a:gridCol w="2865043"/>
                <a:gridCol w="2865043"/>
              </a:tblGrid>
              <a:tr h="310896">
                <a:tc>
                  <a:txBody>
                    <a:bodyPr wrap="square"/>
                    <a:lstStyle/>
                    <a:p>
                      <a:r>
                        <a:rPr sz="1000" b="1">
                          <a:solidFill>
                            <a:srgbClr val="FFFFFF"/>
                          </a:solidFill>
                        </a:rPr>
                        <a:t>Modell</a:t>
                      </a:r>
                    </a:p>
                  </a:txBody>
                  <a:tcPr marL="45720" marR="45720" marT="18288" marB="18288" anchor="ctr">
                    <a:solidFill>
                      <a:srgbClr val="1F3A5F"/>
                    </a:solidFill>
                  </a:tcPr>
                </a:tc>
                <a:tc>
                  <a:txBody>
                    <a:bodyPr wrap="square"/>
                    <a:lstStyle/>
                    <a:p>
                      <a:r>
                        <a:rPr sz="1000" b="1">
                          <a:solidFill>
                            <a:srgbClr val="FFFFFF"/>
                          </a:solidFill>
                        </a:rPr>
                        <a:t>DeepSeek-Plan</a:t>
                      </a:r>
                    </a:p>
                  </a:txBody>
                  <a:tcPr marL="45720" marR="45720" marT="18288" marB="18288" anchor="ctr">
                    <a:solidFill>
                      <a:srgbClr val="1F3A5F"/>
                    </a:solidFill>
                  </a:tcPr>
                </a:tc>
                <a:tc>
                  <a:txBody>
                    <a:bodyPr wrap="square"/>
                    <a:lstStyle/>
                    <a:p>
                      <a:r>
                        <a:rPr sz="1000" b="1">
                          <a:solidFill>
                            <a:srgbClr val="FFFFFF"/>
                          </a:solidFill>
                        </a:rPr>
                        <a:t>Verifiziert (alle 9.840 Samples)</a:t>
                      </a:r>
                    </a:p>
                  </a:txBody>
                  <a:tcPr marL="45720" marR="45720" marT="18288" marB="18288" anchor="ctr">
                    <a:solidFill>
                      <a:srgbClr val="1F3A5F"/>
                    </a:solidFill>
                  </a:tcPr>
                </a:tc>
                <a:tc>
                  <a:txBody>
                    <a:bodyPr wrap="square"/>
                    <a:lstStyle/>
                    <a:p>
                      <a:r>
                        <a:rPr sz="1000" b="1">
                          <a:solidFill>
                            <a:srgbClr val="FFFFFF"/>
                          </a:solidFill>
                        </a:rPr>
                        <a:t>Verifiziert (Sub-Sample 700)</a:t>
                      </a:r>
                    </a:p>
                  </a:txBody>
                  <a:tcPr marL="45720" marR="45720" marT="18288" marB="18288" anchor="ctr">
                    <a:solidFill>
                      <a:srgbClr val="1F3A5F"/>
                    </a:solidFill>
                  </a:tcPr>
                </a:tc>
              </a:tr>
              <a:tr h="310896">
                <a:tc>
                  <a:txBody>
                    <a:bodyPr wrap="square"/>
                    <a:lstStyle/>
                    <a:p>
                      <a:r>
                        <a:rPr sz="1000"/>
                        <a:t>GPT-5.5 (OpenAI)</a:t>
                      </a:r>
                    </a:p>
                  </a:txBody>
                  <a:tcPr marL="45720" marR="45720" marT="18288" marB="18288" anchor="ctr">
                    <a:solidFill>
                      <a:srgbClr val="FFFFFF"/>
                    </a:solidFill>
                  </a:tcPr>
                </a:tc>
                <a:tc>
                  <a:txBody>
                    <a:bodyPr wrap="square"/>
                    <a:lstStyle/>
                    <a:p>
                      <a:r>
                        <a:rPr sz="1000"/>
                        <a:t>$4,54</a:t>
                      </a:r>
                    </a:p>
                  </a:txBody>
                  <a:tcPr marL="45720" marR="45720" marT="18288" marB="18288" anchor="ctr">
                    <a:solidFill>
                      <a:srgbClr val="FFFFFF"/>
                    </a:solidFill>
                  </a:tcPr>
                </a:tc>
                <a:tc>
                  <a:txBody>
                    <a:bodyPr wrap="square"/>
                    <a:lstStyle/>
                    <a:p>
                      <a:r>
                        <a:rPr sz="1000"/>
                        <a:t>~$10–15</a:t>
                      </a:r>
                    </a:p>
                  </a:txBody>
                  <a:tcPr marL="45720" marR="45720" marT="18288" marB="18288" anchor="ctr">
                    <a:solidFill>
                      <a:srgbClr val="FFFFFF"/>
                    </a:solidFill>
                  </a:tcPr>
                </a:tc>
                <a:tc>
                  <a:txBody>
                    <a:bodyPr wrap="square"/>
                    <a:lstStyle/>
                    <a:p>
                      <a:r>
                        <a:rPr sz="1000"/>
                        <a:t>~$1–2</a:t>
                      </a:r>
                    </a:p>
                  </a:txBody>
                  <a:tcPr marL="45720" marR="45720" marT="18288" marB="18288" anchor="ctr">
                    <a:solidFill>
                      <a:srgbClr val="FFFFFF"/>
                    </a:solidFill>
                  </a:tcPr>
                </a:tc>
              </a:tr>
              <a:tr h="310896">
                <a:tc>
                  <a:txBody>
                    <a:bodyPr wrap="square"/>
                    <a:lstStyle/>
                    <a:p>
                      <a:r>
                        <a:rPr sz="1000"/>
                        <a:t>Gemini 3.1 Pro</a:t>
                      </a:r>
                    </a:p>
                  </a:txBody>
                  <a:tcPr marL="45720" marR="45720" marT="18288" marB="18288" anchor="ctr">
                    <a:solidFill>
                      <a:srgbClr val="E8EEF4"/>
                    </a:solidFill>
                  </a:tcPr>
                </a:tc>
                <a:tc>
                  <a:txBody>
                    <a:bodyPr wrap="square"/>
                    <a:lstStyle/>
                    <a:p>
                      <a:r>
                        <a:rPr sz="1000"/>
                        <a:t>$0,70</a:t>
                      </a:r>
                    </a:p>
                  </a:txBody>
                  <a:tcPr marL="45720" marR="45720" marT="18288" marB="18288" anchor="ctr">
                    <a:solidFill>
                      <a:srgbClr val="E8EEF4"/>
                    </a:solidFill>
                  </a:tcPr>
                </a:tc>
                <a:tc>
                  <a:txBody>
                    <a:bodyPr wrap="square"/>
                    <a:lstStyle/>
                    <a:p>
                      <a:r>
                        <a:rPr sz="1000"/>
                        <a:t>~$4–8</a:t>
                      </a:r>
                    </a:p>
                  </a:txBody>
                  <a:tcPr marL="45720" marR="45720" marT="18288" marB="18288" anchor="ctr">
                    <a:solidFill>
                      <a:srgbClr val="E8EEF4"/>
                    </a:solidFill>
                  </a:tcPr>
                </a:tc>
                <a:tc>
                  <a:txBody>
                    <a:bodyPr wrap="square"/>
                    <a:lstStyle/>
                    <a:p>
                      <a:r>
                        <a:rPr sz="1000"/>
                        <a:t>~$0,50–1</a:t>
                      </a:r>
                    </a:p>
                  </a:txBody>
                  <a:tcPr marL="45720" marR="45720" marT="18288" marB="18288" anchor="ctr">
                    <a:solidFill>
                      <a:srgbClr val="E8EEF4"/>
                    </a:solidFill>
                  </a:tcPr>
                </a:tc>
              </a:tr>
              <a:tr h="310896">
                <a:tc>
                  <a:txBody>
                    <a:bodyPr wrap="square"/>
                    <a:lstStyle/>
                    <a:p>
                      <a:r>
                        <a:rPr sz="1000"/>
                        <a:t>Grok 4.3 (xAI)</a:t>
                      </a:r>
                    </a:p>
                  </a:txBody>
                  <a:tcPr marL="45720" marR="45720" marT="18288" marB="18288" anchor="ctr">
                    <a:solidFill>
                      <a:srgbClr val="FFFFFF"/>
                    </a:solidFill>
                  </a:tcPr>
                </a:tc>
                <a:tc>
                  <a:txBody>
                    <a:bodyPr wrap="square"/>
                    <a:lstStyle/>
                    <a:p>
                      <a:r>
                        <a:rPr sz="1000"/>
                        <a:t>$2,83</a:t>
                      </a:r>
                    </a:p>
                  </a:txBody>
                  <a:tcPr marL="45720" marR="45720" marT="18288" marB="18288" anchor="ctr">
                    <a:solidFill>
                      <a:srgbClr val="FFFFFF"/>
                    </a:solidFill>
                  </a:tcPr>
                </a:tc>
                <a:tc>
                  <a:txBody>
                    <a:bodyPr wrap="square"/>
                    <a:lstStyle/>
                    <a:p>
                      <a:r>
                        <a:rPr sz="1000"/>
                        <a:t>~$0,55–3</a:t>
                      </a:r>
                    </a:p>
                  </a:txBody>
                  <a:tcPr marL="45720" marR="45720" marT="18288" marB="18288" anchor="ctr">
                    <a:solidFill>
                      <a:srgbClr val="FFFFFF"/>
                    </a:solidFill>
                  </a:tcPr>
                </a:tc>
                <a:tc>
                  <a:txBody>
                    <a:bodyPr wrap="square"/>
                    <a:lstStyle/>
                    <a:p>
                      <a:r>
                        <a:rPr sz="1000"/>
                        <a:t>~$0,10–0,50</a:t>
                      </a:r>
                    </a:p>
                  </a:txBody>
                  <a:tcPr marL="45720" marR="45720" marT="18288" marB="18288" anchor="ctr">
                    <a:solidFill>
                      <a:srgbClr val="FFFFFF"/>
                    </a:solidFill>
                  </a:tcPr>
                </a:tc>
              </a:tr>
              <a:tr h="310896">
                <a:tc>
                  <a:txBody>
                    <a:bodyPr wrap="square"/>
                    <a:lstStyle/>
                    <a:p>
                      <a:r>
                        <a:rPr sz="1000"/>
                        <a:t>Qwen3.5-Omni (Alibaba API)</a:t>
                      </a:r>
                    </a:p>
                  </a:txBody>
                  <a:tcPr marL="45720" marR="45720" marT="18288" marB="18288" anchor="ctr">
                    <a:solidFill>
                      <a:srgbClr val="E8EEF4"/>
                    </a:solidFill>
                  </a:tcPr>
                </a:tc>
                <a:tc>
                  <a:txBody>
                    <a:bodyPr wrap="square"/>
                    <a:lstStyle/>
                    <a:p>
                      <a:r>
                        <a:rPr sz="1000"/>
                        <a:t>$0 (lokal)</a:t>
                      </a:r>
                    </a:p>
                  </a:txBody>
                  <a:tcPr marL="45720" marR="45720" marT="18288" marB="18288" anchor="ctr">
                    <a:solidFill>
                      <a:srgbClr val="E8EEF4"/>
                    </a:solidFill>
                  </a:tcPr>
                </a:tc>
                <a:tc>
                  <a:txBody>
                    <a:bodyPr wrap="square"/>
                    <a:lstStyle/>
                    <a:p>
                      <a:r>
                        <a:rPr sz="1000"/>
                        <a:t>~$2–5</a:t>
                      </a:r>
                    </a:p>
                  </a:txBody>
                  <a:tcPr marL="45720" marR="45720" marT="18288" marB="18288" anchor="ctr">
                    <a:solidFill>
                      <a:srgbClr val="E8EEF4"/>
                    </a:solidFill>
                  </a:tcPr>
                </a:tc>
                <a:tc>
                  <a:txBody>
                    <a:bodyPr wrap="square"/>
                    <a:lstStyle/>
                    <a:p>
                      <a:r>
                        <a:rPr sz="1000"/>
                        <a:t>~$0,30–0,60</a:t>
                      </a:r>
                    </a:p>
                  </a:txBody>
                  <a:tcPr marL="45720" marR="45720" marT="18288" marB="18288" anchor="ctr">
                    <a:solidFill>
                      <a:srgbClr val="E8EEF4"/>
                    </a:solidFill>
                  </a:tcPr>
                </a:tc>
              </a:tr>
              <a:tr h="310896">
                <a:tc>
                  <a:txBody>
                    <a:bodyPr wrap="square"/>
                    <a:lstStyle/>
                    <a:p>
                      <a:r>
                        <a:rPr sz="1000"/>
                        <a:t>Kimi-Audio (Replicate)</a:t>
                      </a:r>
                    </a:p>
                  </a:txBody>
                  <a:tcPr marL="45720" marR="45720" marT="18288" marB="18288" anchor="ctr">
                    <a:solidFill>
                      <a:srgbClr val="FFFFFF"/>
                    </a:solidFill>
                  </a:tcPr>
                </a:tc>
                <a:tc>
                  <a:txBody>
                    <a:bodyPr wrap="square"/>
                    <a:lstStyle/>
                    <a:p>
                      <a:r>
                        <a:rPr sz="1000"/>
                        <a:t>$0 (lokal)</a:t>
                      </a:r>
                    </a:p>
                  </a:txBody>
                  <a:tcPr marL="45720" marR="45720" marT="18288" marB="18288" anchor="ctr">
                    <a:solidFill>
                      <a:srgbClr val="FFFFFF"/>
                    </a:solidFill>
                  </a:tcPr>
                </a:tc>
                <a:tc>
                  <a:txBody>
                    <a:bodyPr wrap="square"/>
                    <a:lstStyle/>
                    <a:p>
                      <a:r>
                        <a:rPr sz="1000"/>
                        <a:t>~$2–5</a:t>
                      </a:r>
                    </a:p>
                  </a:txBody>
                  <a:tcPr marL="45720" marR="45720" marT="18288" marB="18288" anchor="ctr">
                    <a:solidFill>
                      <a:srgbClr val="FFFFFF"/>
                    </a:solidFill>
                  </a:tcPr>
                </a:tc>
                <a:tc>
                  <a:txBody>
                    <a:bodyPr wrap="square"/>
                    <a:lstStyle/>
                    <a:p>
                      <a:r>
                        <a:rPr sz="1000"/>
                        <a:t>~$0,30–0,60</a:t>
                      </a:r>
                    </a:p>
                  </a:txBody>
                  <a:tcPr marL="45720" marR="45720" marT="18288" marB="18288" anchor="ctr">
                    <a:solidFill>
                      <a:srgbClr val="FFFFFF"/>
                    </a:solidFill>
                  </a:tcPr>
                </a:tc>
              </a:tr>
              <a:tr h="310896">
                <a:tc>
                  <a:txBody>
                    <a:bodyPr wrap="square"/>
                    <a:lstStyle/>
                    <a:p>
                      <a:r>
                        <a:rPr sz="1000"/>
                        <a:t>Step-Audio 2.5 (StepFun)</a:t>
                      </a:r>
                    </a:p>
                  </a:txBody>
                  <a:tcPr marL="45720" marR="45720" marT="18288" marB="18288" anchor="ctr">
                    <a:solidFill>
                      <a:srgbClr val="E8EEF4"/>
                    </a:solidFill>
                  </a:tcPr>
                </a:tc>
                <a:tc>
                  <a:txBody>
                    <a:bodyPr wrap="square"/>
                    <a:lstStyle/>
                    <a:p>
                      <a:r>
                        <a:rPr sz="1000"/>
                        <a:t>$0 (lokal)</a:t>
                      </a:r>
                    </a:p>
                  </a:txBody>
                  <a:tcPr marL="45720" marR="45720" marT="18288" marB="18288" anchor="ctr">
                    <a:solidFill>
                      <a:srgbClr val="E8EEF4"/>
                    </a:solidFill>
                  </a:tcPr>
                </a:tc>
                <a:tc>
                  <a:txBody>
                    <a:bodyPr wrap="square"/>
                    <a:lstStyle/>
                    <a:p>
                      <a:r>
                        <a:rPr sz="1000"/>
                        <a:t>~$0,12</a:t>
                      </a:r>
                    </a:p>
                  </a:txBody>
                  <a:tcPr marL="45720" marR="45720" marT="18288" marB="18288" anchor="ctr">
                    <a:solidFill>
                      <a:srgbClr val="E8EEF4"/>
                    </a:solidFill>
                  </a:tcPr>
                </a:tc>
                <a:tc>
                  <a:txBody>
                    <a:bodyPr wrap="square"/>
                    <a:lstStyle/>
                    <a:p>
                      <a:r>
                        <a:rPr sz="1000"/>
                        <a:t>~$0,01</a:t>
                      </a:r>
                    </a:p>
                  </a:txBody>
                  <a:tcPr marL="45720" marR="45720" marT="18288" marB="18288" anchor="ctr">
                    <a:solidFill>
                      <a:srgbClr val="E8EEF4"/>
                    </a:solidFill>
                  </a:tcPr>
                </a:tc>
              </a:tr>
              <a:tr h="310896">
                <a:tc>
                  <a:txBody>
                    <a:bodyPr wrap="square"/>
                    <a:lstStyle/>
                    <a:p>
                      <a:r>
                        <a:rPr sz="1000"/>
                        <a:t>GLM-4-Voice (DeepInfra)</a:t>
                      </a:r>
                    </a:p>
                  </a:txBody>
                  <a:tcPr marL="45720" marR="45720" marT="18288" marB="18288" anchor="ctr">
                    <a:solidFill>
                      <a:srgbClr val="FFFFFF"/>
                    </a:solidFill>
                  </a:tcPr>
                </a:tc>
                <a:tc>
                  <a:txBody>
                    <a:bodyPr wrap="square"/>
                    <a:lstStyle/>
                    <a:p>
                      <a:r>
                        <a:rPr sz="1000"/>
                        <a:t>$0 (lokal)</a:t>
                      </a:r>
                    </a:p>
                  </a:txBody>
                  <a:tcPr marL="45720" marR="45720" marT="18288" marB="18288" anchor="ctr">
                    <a:solidFill>
                      <a:srgbClr val="FFFFFF"/>
                    </a:solidFill>
                  </a:tcPr>
                </a:tc>
                <a:tc>
                  <a:txBody>
                    <a:bodyPr wrap="square"/>
                    <a:lstStyle/>
                    <a:p>
                      <a:r>
                        <a:rPr sz="1000"/>
                        <a:t>~$1–3</a:t>
                      </a:r>
                    </a:p>
                  </a:txBody>
                  <a:tcPr marL="45720" marR="45720" marT="18288" marB="18288" anchor="ctr">
                    <a:solidFill>
                      <a:srgbClr val="FFFFFF"/>
                    </a:solidFill>
                  </a:tcPr>
                </a:tc>
                <a:tc>
                  <a:txBody>
                    <a:bodyPr wrap="square"/>
                    <a:lstStyle/>
                    <a:p>
                      <a:r>
                        <a:rPr sz="1000"/>
                        <a:t>~$0,15–0,40</a:t>
                      </a:r>
                    </a:p>
                  </a:txBody>
                  <a:tcPr marL="45720" marR="45720" marT="18288" marB="18288" anchor="ctr">
                    <a:solidFill>
                      <a:srgbClr val="FFFFFF"/>
                    </a:solidFill>
                  </a:tcPr>
                </a:tc>
              </a:tr>
              <a:tr h="310896">
                <a:tc>
                  <a:txBody>
                    <a:bodyPr wrap="square"/>
                    <a:lstStyle/>
                    <a:p>
                      <a:r>
                        <a:rPr sz="1000"/>
                        <a:t>Whisper large-v3</a:t>
                      </a:r>
                    </a:p>
                  </a:txBody>
                  <a:tcPr marL="45720" marR="45720" marT="18288" marB="18288" anchor="ctr">
                    <a:solidFill>
                      <a:srgbClr val="E8EEF4"/>
                    </a:solidFill>
                  </a:tcPr>
                </a:tc>
                <a:tc>
                  <a:txBody>
                    <a:bodyPr wrap="square"/>
                    <a:lstStyle/>
                    <a:p>
                      <a:r>
                        <a:rPr sz="1000"/>
                        <a:t>$0,75</a:t>
                      </a:r>
                    </a:p>
                  </a:txBody>
                  <a:tcPr marL="45720" marR="45720" marT="18288" marB="18288" anchor="ctr">
                    <a:solidFill>
                      <a:srgbClr val="E8EEF4"/>
                    </a:solidFill>
                  </a:tcPr>
                </a:tc>
                <a:tc>
                  <a:txBody>
                    <a:bodyPr wrap="square"/>
                    <a:lstStyle/>
                    <a:p>
                      <a:r>
                        <a:rPr sz="1000"/>
                        <a:t>~$2</a:t>
                      </a:r>
                    </a:p>
                  </a:txBody>
                  <a:tcPr marL="45720" marR="45720" marT="18288" marB="18288" anchor="ctr">
                    <a:solidFill>
                      <a:srgbClr val="E8EEF4"/>
                    </a:solidFill>
                  </a:tcPr>
                </a:tc>
                <a:tc>
                  <a:txBody>
                    <a:bodyPr wrap="square"/>
                    <a:lstStyle/>
                    <a:p>
                      <a:r>
                        <a:rPr sz="1000"/>
                        <a:t>~$0,15</a:t>
                      </a:r>
                    </a:p>
                  </a:txBody>
                  <a:tcPr marL="45720" marR="45720" marT="18288" marB="18288" anchor="ctr">
                    <a:solidFill>
                      <a:srgbClr val="E8EEF4"/>
                    </a:solidFill>
                  </a:tcPr>
                </a:tc>
              </a:tr>
              <a:tr h="310896">
                <a:tc>
                  <a:txBody>
                    <a:bodyPr wrap="square"/>
                    <a:lstStyle/>
                    <a:p>
                      <a:r>
                        <a:rPr sz="1000"/>
                        <a:t>Voxtral Small</a:t>
                      </a:r>
                    </a:p>
                  </a:txBody>
                  <a:tcPr marL="45720" marR="45720" marT="18288" marB="18288" anchor="ctr">
                    <a:solidFill>
                      <a:srgbClr val="FFFFFF"/>
                    </a:solidFill>
                  </a:tcPr>
                </a:tc>
                <a:tc>
                  <a:txBody>
                    <a:bodyPr wrap="square"/>
                    <a:lstStyle/>
                    <a:p>
                      <a:r>
                        <a:rPr sz="1000"/>
                        <a:t>$1,05</a:t>
                      </a:r>
                    </a:p>
                  </a:txBody>
                  <a:tcPr marL="45720" marR="45720" marT="18288" marB="18288" anchor="ctr">
                    <a:solidFill>
                      <a:srgbClr val="FFFFFF"/>
                    </a:solidFill>
                  </a:tcPr>
                </a:tc>
                <a:tc>
                  <a:txBody>
                    <a:bodyPr wrap="square"/>
                    <a:lstStyle/>
                    <a:p>
                      <a:r>
                        <a:rPr sz="1000"/>
                        <a:t>~$0,50–1</a:t>
                      </a:r>
                    </a:p>
                  </a:txBody>
                  <a:tcPr marL="45720" marR="45720" marT="18288" marB="18288" anchor="ctr">
                    <a:solidFill>
                      <a:srgbClr val="FFFFFF"/>
                    </a:solidFill>
                  </a:tcPr>
                </a:tc>
                <a:tc>
                  <a:txBody>
                    <a:bodyPr wrap="square"/>
                    <a:lstStyle/>
                    <a:p>
                      <a:r>
                        <a:rPr sz="1000"/>
                        <a:t>~$0,05–0,10</a:t>
                      </a:r>
                    </a:p>
                  </a:txBody>
                  <a:tcPr marL="45720" marR="45720" marT="18288" marB="18288" anchor="ctr">
                    <a:solidFill>
                      <a:srgbClr val="FFFFFF"/>
                    </a:solidFill>
                  </a:tcPr>
                </a:tc>
              </a:tr>
              <a:tr h="310896">
                <a:tc>
                  <a:txBody>
                    <a:bodyPr wrap="square"/>
                    <a:lstStyle/>
                    <a:p>
                      <a:r>
                        <a:rPr sz="1000"/>
                        <a:t>Scribe v2</a:t>
                      </a:r>
                    </a:p>
                  </a:txBody>
                  <a:tcPr marL="45720" marR="45720" marT="18288" marB="18288" anchor="ctr">
                    <a:solidFill>
                      <a:srgbClr val="E8EEF4"/>
                    </a:solidFill>
                  </a:tcPr>
                </a:tc>
                <a:tc>
                  <a:txBody>
                    <a:bodyPr wrap="square"/>
                    <a:lstStyle/>
                    <a:p>
                      <a:r>
                        <a:rPr sz="1000"/>
                        <a:t>$1,82</a:t>
                      </a:r>
                    </a:p>
                  </a:txBody>
                  <a:tcPr marL="45720" marR="45720" marT="18288" marB="18288" anchor="ctr">
                    <a:solidFill>
                      <a:srgbClr val="E8EEF4"/>
                    </a:solidFill>
                  </a:tcPr>
                </a:tc>
                <a:tc>
                  <a:txBody>
                    <a:bodyPr wrap="square"/>
                    <a:lstStyle/>
                    <a:p>
                      <a:r>
                        <a:rPr sz="1000"/>
                        <a:t>~$1,20</a:t>
                      </a:r>
                    </a:p>
                  </a:txBody>
                  <a:tcPr marL="45720" marR="45720" marT="18288" marB="18288" anchor="ctr">
                    <a:solidFill>
                      <a:srgbClr val="E8EEF4"/>
                    </a:solidFill>
                  </a:tcPr>
                </a:tc>
                <a:tc>
                  <a:txBody>
                    <a:bodyPr wrap="square"/>
                    <a:lstStyle/>
                    <a:p>
                      <a:r>
                        <a:rPr sz="1000"/>
                        <a:t>~$0,10</a:t>
                      </a:r>
                    </a:p>
                  </a:txBody>
                  <a:tcPr marL="45720" marR="45720" marT="18288" marB="18288" anchor="ctr">
                    <a:solidFill>
                      <a:srgbClr val="E8EEF4"/>
                    </a:solidFill>
                  </a:tcPr>
                </a:tc>
              </a:tr>
              <a:tr h="310896">
                <a:tc>
                  <a:txBody>
                    <a:bodyPr wrap="square"/>
                    <a:lstStyle/>
                    <a:p>
                      <a:r>
                        <a:rPr sz="1000"/>
                        <a:t>FireRedASR2S (lokal)</a:t>
                      </a:r>
                    </a:p>
                  </a:txBody>
                  <a:tcPr marL="45720" marR="45720" marT="18288" marB="18288" anchor="ctr">
                    <a:solidFill>
                      <a:srgbClr val="FFFFFF"/>
                    </a:solidFill>
                  </a:tcPr>
                </a:tc>
                <a:tc>
                  <a:txBody>
                    <a:bodyPr wrap="square"/>
                    <a:lstStyle/>
                    <a:p>
                      <a:r>
                        <a:rPr sz="1000"/>
                        <a:t>$0</a:t>
                      </a:r>
                    </a:p>
                  </a:txBody>
                  <a:tcPr marL="45720" marR="45720" marT="18288" marB="18288" anchor="ctr">
                    <a:solidFill>
                      <a:srgbClr val="FFFFFF"/>
                    </a:solidFill>
                  </a:tcPr>
                </a:tc>
                <a:tc>
                  <a:txBody>
                    <a:bodyPr wrap="square"/>
                    <a:lstStyle/>
                    <a:p>
                      <a:r>
                        <a:rPr sz="1000"/>
                        <a:t>$0 (eigene GPU)</a:t>
                      </a:r>
                    </a:p>
                  </a:txBody>
                  <a:tcPr marL="45720" marR="45720" marT="18288" marB="18288" anchor="ctr">
                    <a:solidFill>
                      <a:srgbClr val="FFFFFF"/>
                    </a:solidFill>
                  </a:tcPr>
                </a:tc>
                <a:tc>
                  <a:txBody>
                    <a:bodyPr wrap="square"/>
                    <a:lstStyle/>
                    <a:p>
                      <a:r>
                        <a:rPr sz="1000"/>
                        <a:t>$0</a:t>
                      </a:r>
                    </a:p>
                  </a:txBody>
                  <a:tcPr marL="45720" marR="45720" marT="18288" marB="18288" anchor="ctr">
                    <a:solidFill>
                      <a:srgbClr val="FFFFFF"/>
                    </a:solidFill>
                  </a:tcPr>
                </a:tc>
              </a:tr>
              <a:tr h="310896">
                <a:tc>
                  <a:txBody>
                    <a:bodyPr wrap="square"/>
                    <a:lstStyle/>
                    <a:p>
                      <a:r>
                        <a:rPr sz="1000"/>
                        <a:t>Claude (RQ1, Text)</a:t>
                      </a:r>
                    </a:p>
                  </a:txBody>
                  <a:tcPr marL="45720" marR="45720" marT="18288" marB="18288" anchor="ctr">
                    <a:solidFill>
                      <a:srgbClr val="E8EEF4"/>
                    </a:solidFill>
                  </a:tcPr>
                </a:tc>
                <a:tc>
                  <a:txBody>
                    <a:bodyPr wrap="square"/>
                    <a:lstStyle/>
                    <a:p>
                      <a:r>
                        <a:rPr sz="1000"/>
                        <a:t>$0,79</a:t>
                      </a:r>
                    </a:p>
                  </a:txBody>
                  <a:tcPr marL="45720" marR="45720" marT="18288" marB="18288" anchor="ctr">
                    <a:solidFill>
                      <a:srgbClr val="E8EEF4"/>
                    </a:solidFill>
                  </a:tcPr>
                </a:tc>
                <a:tc>
                  <a:txBody>
                    <a:bodyPr wrap="square"/>
                    <a:lstStyle/>
                    <a:p>
                      <a:r>
                        <a:rPr sz="1000"/>
                        <a:t>$0,79 ✓</a:t>
                      </a:r>
                    </a:p>
                  </a:txBody>
                  <a:tcPr marL="45720" marR="45720" marT="18288" marB="18288" anchor="ctr">
                    <a:solidFill>
                      <a:srgbClr val="E8EEF4"/>
                    </a:solidFill>
                  </a:tcPr>
                </a:tc>
                <a:tc>
                  <a:txBody>
                    <a:bodyPr wrap="square"/>
                    <a:lstStyle/>
                    <a:p>
                      <a:r>
                        <a:rPr sz="1000"/>
                        <a:t>$0,79</a:t>
                      </a:r>
                    </a:p>
                  </a:txBody>
                  <a:tcPr marL="45720" marR="45720" marT="18288" marB="18288" anchor="ctr">
                    <a:solidFill>
                      <a:srgbClr val="E8EEF4"/>
                    </a:solidFill>
                  </a:tcPr>
                </a:tc>
              </a:tr>
              <a:tr h="310896">
                <a:tc>
                  <a:txBody>
                    <a:bodyPr wrap="square"/>
                    <a:lstStyle/>
                    <a:p>
                      <a:r>
                        <a:rPr sz="1000"/>
                        <a:t>DeepSeek V4 (RQ1, Text)</a:t>
                      </a:r>
                    </a:p>
                  </a:txBody>
                  <a:tcPr marL="45720" marR="45720" marT="18288" marB="18288" anchor="ctr">
                    <a:solidFill>
                      <a:srgbClr val="FFFFFF"/>
                    </a:solidFill>
                  </a:tcPr>
                </a:tc>
                <a:tc>
                  <a:txBody>
                    <a:bodyPr wrap="square"/>
                    <a:lstStyle/>
                    <a:p>
                      <a:r>
                        <a:rPr sz="1000"/>
                        <a:t>$0,10</a:t>
                      </a:r>
                    </a:p>
                  </a:txBody>
                  <a:tcPr marL="45720" marR="45720" marT="18288" marB="18288" anchor="ctr">
                    <a:solidFill>
                      <a:srgbClr val="FFFFFF"/>
                    </a:solidFill>
                  </a:tcPr>
                </a:tc>
                <a:tc>
                  <a:txBody>
                    <a:bodyPr wrap="square"/>
                    <a:lstStyle/>
                    <a:p>
                      <a:r>
                        <a:rPr sz="1000"/>
                        <a:t>$0,10 ✓</a:t>
                      </a:r>
                    </a:p>
                  </a:txBody>
                  <a:tcPr marL="45720" marR="45720" marT="18288" marB="18288" anchor="ctr">
                    <a:solidFill>
                      <a:srgbClr val="FFFFFF"/>
                    </a:solidFill>
                  </a:tcPr>
                </a:tc>
                <a:tc>
                  <a:txBody>
                    <a:bodyPr wrap="square"/>
                    <a:lstStyle/>
                    <a:p>
                      <a:r>
                        <a:rPr sz="1000"/>
                        <a:t>$0,10</a:t>
                      </a:r>
                    </a:p>
                  </a:txBody>
                  <a:tcPr marL="45720" marR="45720" marT="18288" marB="18288" anchor="ctr">
                    <a:solidFill>
                      <a:srgbClr val="FFFFFF"/>
                    </a:solidFill>
                  </a:tcPr>
                </a:tc>
              </a:tr>
              <a:tr h="310896">
                <a:tc>
                  <a:txBody>
                    <a:bodyPr wrap="square"/>
                    <a:lstStyle/>
                    <a:p>
                      <a:r>
                        <a:rPr sz="1000"/>
                        <a:t>GESAMT</a:t>
                      </a:r>
                    </a:p>
                  </a:txBody>
                  <a:tcPr marL="45720" marR="45720" marT="18288" marB="18288" anchor="ctr">
                    <a:solidFill>
                      <a:srgbClr val="E8EEF4"/>
                    </a:solidFill>
                  </a:tcPr>
                </a:tc>
                <a:tc>
                  <a:txBody>
                    <a:bodyPr wrap="square"/>
                    <a:lstStyle/>
                    <a:p>
                      <a:r>
                        <a:rPr sz="1000"/>
                        <a:t>~$24</a:t>
                      </a:r>
                    </a:p>
                  </a:txBody>
                  <a:tcPr marL="45720" marR="45720" marT="18288" marB="18288" anchor="ctr">
                    <a:solidFill>
                      <a:srgbClr val="E8EEF4"/>
                    </a:solidFill>
                  </a:tcPr>
                </a:tc>
                <a:tc>
                  <a:txBody>
                    <a:bodyPr wrap="square"/>
                    <a:lstStyle/>
                    <a:p>
                      <a:r>
                        <a:rPr sz="1000"/>
                        <a:t>~$25–44</a:t>
                      </a:r>
                    </a:p>
                  </a:txBody>
                  <a:tcPr marL="45720" marR="45720" marT="18288" marB="18288" anchor="ctr">
                    <a:solidFill>
                      <a:srgbClr val="E8EEF4"/>
                    </a:solidFill>
                  </a:tcPr>
                </a:tc>
                <a:tc>
                  <a:txBody>
                    <a:bodyPr wrap="square"/>
                    <a:lstStyle/>
                    <a:p>
                      <a:r>
                        <a:rPr sz="1000"/>
                        <a:t>~$4–7</a:t>
                      </a:r>
                    </a:p>
                  </a:txBody>
                  <a:tcPr marL="45720" marR="45720" marT="18288" marB="18288" anchor="ctr">
                    <a:solidFill>
                      <a:srgbClr val="E8EEF4"/>
                    </a:solidFill>
                  </a:tcPr>
                </a:tc>
              </a:tr>
            </a:tbl>
          </a:graphicData>
        </a:graphic>
      </p:graphicFrame>
      <p:sp>
        <p:nvSpPr>
          <p:cNvPr id="5" name="TextBox 4"/>
          <p:cNvSpPr txBox="1"/>
          <p:nvPr/>
        </p:nvSpPr>
        <p:spPr>
          <a:xfrm>
            <a:off x="411480" y="5879592"/>
            <a:ext cx="11368735" cy="676656"/>
          </a:xfrm>
          <a:prstGeom prst="rect">
            <a:avLst/>
          </a:prstGeom>
          <a:noFill/>
        </p:spPr>
        <p:txBody>
          <a:bodyPr wrap="square">
            <a:spAutoFit/>
          </a:bodyPr>
          <a:lstStyle/>
          <a:p>
            <a:pPr>
              <a:spcAft>
                <a:spcPts val="300"/>
              </a:spcAft>
            </a:pPr>
            <a:r>
              <a:rPr i="1" sz="1200">
                <a:solidFill>
                  <a:srgbClr val="444444"/>
                </a:solidFill>
              </a:rPr>
              <a:t>„Budget-Grenze: 50 €. Auch ohne Sub-Sampling machbar. Mit Sub-Sampling: ~5 € Gesamt."</a:t>
            </a:r>
          </a:p>
          <a:p>
            <a:pPr>
              <a:spcAft>
                <a:spcPts val="300"/>
              </a:spcAft>
            </a:pPr>
            <a:r>
              <a:rPr sz="1300"/>
              <a:t>•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Strategie: günstig anfangen, teuer nur bei Bedarf</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847088"/>
          </a:xfrm>
          <a:prstGeom prst="rect">
            <a:avLst/>
          </a:prstGeom>
          <a:noFill/>
        </p:spPr>
        <p:txBody>
          <a:bodyPr wrap="square">
            <a:spAutoFit/>
          </a:bodyPr>
          <a:lstStyle/>
          <a:p>
            <a:pPr>
              <a:spcAft>
                <a:spcPts val="300"/>
              </a:spcAft>
            </a:pPr>
            <a:r>
              <a:rPr sz="1300"/>
              <a:t>•  Phase 1 — Pilot (400 Samples): Pipeline testen mit den billigsten Modellen (Step-Audio: $0,01; Whisper: $0,15; Voxtral: $0,05) → &lt; $1</a:t>
            </a:r>
          </a:p>
          <a:p>
            <a:pPr>
              <a:spcAft>
                <a:spcPts val="300"/>
              </a:spcAft>
            </a:pPr>
            <a:r>
              <a:rPr sz="1300"/>
              <a:t>•  Phase 2 — Günstige APIs auf vollem Corpus: Step-Audio, Whisper, Voxtral, Scribe, GLM, Qwen-Omni auf allen 9.840 Samples → ~$7–12</a:t>
            </a:r>
          </a:p>
          <a:p>
            <a:pPr>
              <a:spcAft>
                <a:spcPts val="300"/>
              </a:spcAft>
            </a:pPr>
            <a:r>
              <a:rPr sz="1300"/>
              <a:t>•  Phase 3 — Mittlere APIs: Gemini, Grok, Kimi-Audio auf allen/meisten Samples → +$5–15</a:t>
            </a:r>
          </a:p>
          <a:p>
            <a:pPr>
              <a:spcAft>
                <a:spcPts val="300"/>
              </a:spcAft>
            </a:pPr>
            <a:r>
              <a:rPr sz="1300"/>
              <a:t>•  Phase 4 — Premium-APIs: GPT-5.5 auf stratifizierter Teilstichprobe (700 Samples) → +$1–2</a:t>
            </a:r>
          </a:p>
          <a:p>
            <a:pPr>
              <a:spcAft>
                <a:spcPts val="300"/>
              </a:spcAft>
            </a:pPr>
            <a:r>
              <a:rPr sz="1300"/>
              <a:t>•  Phase 5 — Text-only (RQ1): Claude + DeepSeek → +$0,89</a:t>
            </a:r>
          </a:p>
          <a:p>
            <a:pPr>
              <a:spcAft>
                <a:spcPts val="300"/>
              </a:spcAft>
            </a:pPr>
            <a:r>
              <a:rPr sz="1300"/>
              <a:t>•  FireRedASR2S: Lokal auf eigener GPU oder weglassen (durch Qwen3-ASR ersetzbar)</a:t>
            </a:r>
          </a:p>
        </p:txBody>
      </p:sp>
      <p:sp>
        <p:nvSpPr>
          <p:cNvPr id="5" name="TextBox 4"/>
          <p:cNvSpPr txBox="1"/>
          <p:nvPr/>
        </p:nvSpPr>
        <p:spPr>
          <a:xfrm>
            <a:off x="411480" y="3017520"/>
            <a:ext cx="11368735" cy="676656"/>
          </a:xfrm>
          <a:prstGeom prst="rect">
            <a:avLst/>
          </a:prstGeom>
          <a:noFill/>
        </p:spPr>
        <p:txBody>
          <a:bodyPr wrap="square">
            <a:spAutoFit/>
          </a:bodyPr>
          <a:lstStyle/>
          <a:p>
            <a:pPr>
              <a:spcAft>
                <a:spcPts val="300"/>
              </a:spcAft>
            </a:pPr>
            <a:r>
              <a:rPr i="1" sz="1200">
                <a:solidFill>
                  <a:srgbClr val="444444"/>
                </a:solidFill>
              </a:rPr>
              <a:t>„Realistisches Gesamtbudget: 15–30 €. Sub-Sampling nur bei GPT-5.5 nötig — Rest passt auf vollem Corpus ins Budget."</a:t>
            </a:r>
          </a:p>
          <a:p>
            <a:pPr>
              <a:spcAft>
                <a:spcPts val="300"/>
              </a:spcAft>
            </a:pPr>
            <a:r>
              <a:rPr sz="1300"/>
              <a:t>•  ---</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Vor dem ersten Euro: 3 Dinge prüfen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65760" y="1078992"/>
          <a:ext cx="11460174" cy="1554480"/>
        </p:xfrm>
        <a:graphic>
          <a:graphicData uri="http://schemas.openxmlformats.org/drawingml/2006/table">
            <a:tbl>
              <a:tblPr firstRow="1" bandRow="1">
                <a:tableStyleId>{5C22544A-7EE6-4342-B048-85BDC9FD1C3A}</a:tableStyleId>
              </a:tblPr>
              <a:tblGrid>
                <a:gridCol w="3820058"/>
                <a:gridCol w="3820058"/>
                <a:gridCol w="3820058"/>
              </a:tblGrid>
              <a:tr h="310896">
                <a:tc>
                  <a:txBody>
                    <a:bodyPr wrap="square"/>
                    <a:lstStyle/>
                    <a:p>
                      <a:r>
                        <a:rPr sz="1000" b="1">
                          <a:solidFill>
                            <a:srgbClr val="FFFFFF"/>
                          </a:solidFill>
                        </a:rPr>
                        <a:t>Zu prüfen</a:t>
                      </a:r>
                    </a:p>
                  </a:txBody>
                  <a:tcPr marL="45720" marR="45720" marT="18288" marB="18288" anchor="ctr">
                    <a:solidFill>
                      <a:srgbClr val="1F3A5F"/>
                    </a:solidFill>
                  </a:tcPr>
                </a:tc>
                <a:tc>
                  <a:txBody>
                    <a:bodyPr wrap="square"/>
                    <a:lstStyle/>
                    <a:p>
                      <a:r>
                        <a:rPr sz="1000" b="1">
                          <a:solidFill>
                            <a:srgbClr val="FFFFFF"/>
                          </a:solidFill>
                        </a:rPr>
                        <a:t>Status</a:t>
                      </a:r>
                    </a:p>
                  </a:txBody>
                  <a:tcPr marL="45720" marR="45720" marT="18288" marB="18288" anchor="ctr">
                    <a:solidFill>
                      <a:srgbClr val="1F3A5F"/>
                    </a:solidFill>
                  </a:tcPr>
                </a:tc>
                <a:tc>
                  <a:txBody>
                    <a:bodyPr wrap="square"/>
                    <a:lstStyle/>
                    <a:p>
                      <a:r>
                        <a:rPr sz="1000" b="1">
                          <a:solidFill>
                            <a:srgbClr val="FFFFFF"/>
                          </a:solidFill>
                        </a:rPr>
                        <a:t>Aktion</a:t>
                      </a:r>
                    </a:p>
                  </a:txBody>
                  <a:tcPr marL="45720" marR="45720" marT="18288" marB="18288" anchor="ctr">
                    <a:solidFill>
                      <a:srgbClr val="1F3A5F"/>
                    </a:solidFill>
                  </a:tcPr>
                </a:tc>
              </a:tr>
              <a:tr h="310896">
                <a:tc>
                  <a:txBody>
                    <a:bodyPr wrap="square"/>
                    <a:lstStyle/>
                    <a:p>
                      <a:r>
                        <a:rPr sz="1000"/>
                        <a:t>Grok 4.3 Audio-API</a:t>
                      </a:r>
                    </a:p>
                  </a:txBody>
                  <a:tcPr marL="45720" marR="45720" marT="18288" marB="18288" anchor="ctr">
                    <a:solidFill>
                      <a:srgbClr val="FFFFFF"/>
                    </a:solidFill>
                  </a:tcPr>
                </a:tc>
                <a:tc>
                  <a:txBody>
                    <a:bodyPr wrap="square"/>
                    <a:lstStyle/>
                    <a:p>
                      <a:r>
                        <a:rPr sz="1000"/>
                        <a:t>✅ Existiert (STT batch $0,10/Std)</a:t>
                      </a:r>
                    </a:p>
                  </a:txBody>
                  <a:tcPr marL="45720" marR="45720" marT="18288" marB="18288" anchor="ctr">
                    <a:solidFill>
                      <a:srgbClr val="FFFFFF"/>
                    </a:solidFill>
                  </a:tcPr>
                </a:tc>
                <a:tc>
                  <a:txBody>
                    <a:bodyPr wrap="square"/>
                    <a:lstStyle/>
                    <a:p>
                      <a:r>
                        <a:rPr sz="1000"/>
                        <a:t>1 Test-Call zur Bestätigung</a:t>
                      </a:r>
                    </a:p>
                  </a:txBody>
                  <a:tcPr marL="45720" marR="45720" marT="18288" marB="18288" anchor="ctr">
                    <a:solidFill>
                      <a:srgbClr val="FFFFFF"/>
                    </a:solidFill>
                  </a:tcPr>
                </a:tc>
              </a:tr>
              <a:tr h="310896">
                <a:tc>
                  <a:txBody>
                    <a:bodyPr wrap="square"/>
                    <a:lstStyle/>
                    <a:p>
                      <a:r>
                        <a:rPr sz="1000"/>
                        <a:t>DeepSeek V4 Audio?</a:t>
                      </a:r>
                    </a:p>
                  </a:txBody>
                  <a:tcPr marL="45720" marR="45720" marT="18288" marB="18288" anchor="ctr">
                    <a:solidFill>
                      <a:srgbClr val="E8EEF4"/>
                    </a:solidFill>
                  </a:tcPr>
                </a:tc>
                <a:tc>
                  <a:txBody>
                    <a:bodyPr wrap="square"/>
                    <a:lstStyle/>
                    <a:p>
                      <a:r>
                        <a:rPr sz="1000"/>
                        <a:t>✅ Gelöst: kein Audio → nur RQ1</a:t>
                      </a:r>
                    </a:p>
                  </a:txBody>
                  <a:tcPr marL="45720" marR="45720" marT="18288" marB="18288" anchor="ctr">
                    <a:solidFill>
                      <a:srgbClr val="E8EEF4"/>
                    </a:solidFill>
                  </a:tcPr>
                </a:tc>
                <a:tc>
                  <a:txBody>
                    <a:bodyPr wrap="square"/>
                    <a:lstStyle/>
                    <a:p>
                      <a:r>
                        <a:rPr sz="1000"/>
                        <a:t>Erledigt</a:t>
                      </a:r>
                    </a:p>
                  </a:txBody>
                  <a:tcPr marL="45720" marR="45720" marT="18288" marB="18288" anchor="ctr">
                    <a:solidFill>
                      <a:srgbClr val="E8EEF4"/>
                    </a:solidFill>
                  </a:tcPr>
                </a:tc>
              </a:tr>
              <a:tr h="310896">
                <a:tc>
                  <a:txBody>
                    <a:bodyPr wrap="square"/>
                    <a:lstStyle/>
                    <a:p>
                      <a:r>
                        <a:rPr sz="1000"/>
                        <a:t>API-Zugang aus DE</a:t>
                      </a:r>
                    </a:p>
                  </a:txBody>
                  <a:tcPr marL="45720" marR="45720" marT="18288" marB="18288" anchor="ctr">
                    <a:solidFill>
                      <a:srgbClr val="FFFFFF"/>
                    </a:solidFill>
                  </a:tcPr>
                </a:tc>
                <a:tc>
                  <a:txBody>
                    <a:bodyPr wrap="square"/>
                    <a:lstStyle/>
                    <a:p>
                      <a:r>
                        <a:rPr sz="1000"/>
                        <a:t>⚠️ Replicate, StepFun, DeepInfra testen</a:t>
                      </a:r>
                    </a:p>
                  </a:txBody>
                  <a:tcPr marL="45720" marR="45720" marT="18288" marB="18288" anchor="ctr">
                    <a:solidFill>
                      <a:srgbClr val="FFFFFF"/>
                    </a:solidFill>
                  </a:tcPr>
                </a:tc>
                <a:tc>
                  <a:txBody>
                    <a:bodyPr wrap="square"/>
                    <a:lstStyle/>
                    <a:p>
                      <a:r>
                        <a:rPr sz="1000"/>
                        <a:t>Je 1 Test-Call vor Einplanung</a:t>
                      </a:r>
                    </a:p>
                  </a:txBody>
                  <a:tcPr marL="45720" marR="45720" marT="18288" marB="18288" anchor="ctr">
                    <a:solidFill>
                      <a:srgbClr val="FFFFFF"/>
                    </a:solidFill>
                  </a:tcPr>
                </a:tc>
              </a:tr>
              <a:tr h="310896">
                <a:tc>
                  <a:txBody>
                    <a:bodyPr wrap="square"/>
                    <a:lstStyle/>
                    <a:p>
                      <a:r>
                        <a:rPr sz="1000"/>
                        <a:t>FireRedASR2S lokal</a:t>
                      </a:r>
                    </a:p>
                  </a:txBody>
                  <a:tcPr marL="45720" marR="45720" marT="18288" marB="18288" anchor="ctr">
                    <a:solidFill>
                      <a:srgbClr val="E8EEF4"/>
                    </a:solidFill>
                  </a:tcPr>
                </a:tc>
                <a:tc>
                  <a:txBody>
                    <a:bodyPr wrap="square"/>
                    <a:lstStyle/>
                    <a:p>
                      <a:r>
                        <a:rPr sz="1000"/>
                        <a:t>⚠️ Einziges Modell ohne API</a:t>
                      </a:r>
                    </a:p>
                  </a:txBody>
                  <a:tcPr marL="45720" marR="45720" marT="18288" marB="18288" anchor="ctr">
                    <a:solidFill>
                      <a:srgbClr val="E8EEF4"/>
                    </a:solidFill>
                  </a:tcPr>
                </a:tc>
                <a:tc>
                  <a:txBody>
                    <a:bodyPr wrap="square"/>
                    <a:lstStyle/>
                    <a:p>
                      <a:r>
                        <a:rPr sz="1000"/>
                        <a:t>GPU mit ausreichend VRAM prüfen; alternativ Qwen3-ASR als Ersatz</a:t>
                      </a:r>
                    </a:p>
                  </a:txBody>
                  <a:tcPr marL="45720" marR="45720" marT="18288" marB="18288" anchor="ctr">
                    <a:solidFill>
                      <a:srgbClr val="E8EEF4"/>
                    </a:solidFill>
                  </a:tcPr>
                </a:tc>
              </a:tr>
            </a:tbl>
          </a:graphicData>
        </a:graphic>
      </p:graphicFrame>
      <p:sp>
        <p:nvSpPr>
          <p:cNvPr id="5" name="TextBox 4"/>
          <p:cNvSpPr txBox="1"/>
          <p:nvPr/>
        </p:nvSpPr>
        <p:spPr>
          <a:xfrm>
            <a:off x="411480" y="2770632"/>
            <a:ext cx="11368735" cy="5029200"/>
          </a:xfrm>
          <a:prstGeom prst="rect">
            <a:avLst/>
          </a:prstGeom>
          <a:noFill/>
        </p:spPr>
        <p:txBody>
          <a:bodyPr wrap="square">
            <a:spAutoFit/>
          </a:bodyPr>
          <a:lstStyle/>
          <a:p>
            <a:pPr>
              <a:spcAft>
                <a:spcPts val="300"/>
              </a:spcAft>
            </a:pPr>
            <a:r>
              <a:rPr sz="1300"/>
              <a:t>•  ---</a:t>
            </a:r>
          </a:p>
          <a:p>
            <a:pPr>
              <a:spcAft>
                <a:spcPts val="300"/>
              </a:spcAft>
            </a:pPr>
            <a:r>
              <a:rPr sz="1300"/>
              <a:t>•  Folien X1–X6 sind die vortragbaren Folien; Teil 0 ist deine interne Prüf-Checkliste mit allen Quellen.</a:t>
            </a:r>
          </a:p>
          <a:p>
            <a:pPr>
              <a:spcAft>
                <a:spcPts val="300"/>
              </a:spcAft>
            </a:pPr>
            <a:r>
              <a:rPr sz="1300"/>
              <a:t>•  Wichtigste Botschaft an Tim: Die Modellauswahl ist methodisch stark (drei Märkte, klare Kategorien). Die Kostenschätzung des DeepSeek-Plans war in einzelnen Punkten ungenau, aber nach Verifizierung bleiben die Gesamtkosten unter 50 € — auch ohne Sub-Sampling. Sub-Sampling nur bei GPT-5.5 nötig.</a:t>
            </a:r>
          </a:p>
          <a:p>
            <a:pPr>
              <a:spcAft>
                <a:spcPts val="300"/>
              </a:spcAft>
            </a:pPr>
            <a:r>
              <a:rPr sz="1300"/>
              <a:t>•  Verifizierte Fakten (Q&amp;A-fest):</a:t>
            </a:r>
          </a:p>
          <a:p>
            <a:pPr lvl="1">
              <a:spcAft>
                <a:spcPts val="300"/>
              </a:spcAft>
            </a:pPr>
            <a:r>
              <a:rPr sz="1300"/>
              <a:t>–  Alle Preise per WebSearch am 28.06.2026 gegen offizielle Quellen verifiziert</a:t>
            </a:r>
          </a:p>
          <a:p>
            <a:pPr lvl="1">
              <a:spcAft>
                <a:spcPts val="300"/>
              </a:spcAft>
            </a:pPr>
            <a:r>
              <a:rPr sz="1300"/>
              <a:t>–  Claude Opus 4.8 = $5/$25, Sonnet 4.6 = $3/$15 — offiziell bestätigt</a:t>
            </a:r>
          </a:p>
          <a:p>
            <a:pPr lvl="1">
              <a:spcAft>
                <a:spcPts val="300"/>
              </a:spcAft>
            </a:pPr>
            <a:r>
              <a:rPr sz="1300"/>
              <a:t>–  DeepSeek V4 = kein Audio — offiziell bestätigt</a:t>
            </a:r>
          </a:p>
          <a:p>
            <a:pPr lvl="1">
              <a:spcAft>
                <a:spcPts val="300"/>
              </a:spcAft>
            </a:pPr>
            <a:r>
              <a:rPr sz="1300"/>
              <a:t>–  Grok 4.3 (nicht 4.2) = $1,25/$2,50 — verifiziert, deutlich günstiger als geschätzt</a:t>
            </a:r>
          </a:p>
          <a:p>
            <a:pPr lvl="1">
              <a:spcAft>
                <a:spcPts val="300"/>
              </a:spcAft>
            </a:pPr>
            <a:r>
              <a:rPr sz="1300"/>
              <a:t>–  Step-Audio 2.5 ASR = $0,022/Std — verifiziert, extrem günstig</a:t>
            </a:r>
          </a:p>
          <a:p>
            <a:pPr lvl="1">
              <a:spcAft>
                <a:spcPts val="300"/>
              </a:spcAft>
            </a:pPr>
            <a:r>
              <a:rPr sz="1300"/>
              <a:t>–  11 von 12 Audio-Modellen haben API-Zugang (inkl. Drittanbieter wie Replicate, DeepInfra)</a:t>
            </a:r>
          </a:p>
          <a:p>
            <a:pPr lvl="1">
              <a:spcAft>
                <a:spcPts val="300"/>
              </a:spcAft>
            </a:pPr>
            <a:r>
              <a:rPr sz="1300"/>
              <a:t>–  Nur FireRedASR2S hat keine API</a:t>
            </a:r>
          </a:p>
          <a:p>
            <a:pPr>
              <a:spcAft>
                <a:spcPts val="300"/>
              </a:spcAft>
            </a:pPr>
            <a:r>
              <a:rPr sz="1300"/>
              <a:t>•  Änderung gegenüber Erstversion:</a:t>
            </a:r>
          </a:p>
          <a:p>
            <a:pPr lvl="1">
              <a:spcAft>
                <a:spcPts val="300"/>
              </a:spcAft>
            </a:pPr>
            <a:r>
              <a:rPr sz="1300"/>
              <a:t>–  Folie X3 (API-Verfügbarkeit) ist neu — ersetzt den früheren „GPU-Kosten"-Abschnitt</a:t>
            </a:r>
          </a:p>
          <a:p>
            <a:pPr lvl="1">
              <a:spcAft>
                <a:spcPts val="300"/>
              </a:spcAft>
            </a:pPr>
            <a:r>
              <a:rPr sz="1300"/>
              <a:t>–  Folie X4 enthält jetzt verifizierte statt geschätzte Preise</a:t>
            </a:r>
          </a:p>
          <a:p>
            <a:pPr lvl="1">
              <a:spcAft>
                <a:spcPts val="300"/>
              </a:spcAft>
            </a:pPr>
            <a:r>
              <a:rPr sz="1300"/>
              <a:t>–  Folie X5 wurde zur Budget-Strategie mit Phasen umgebaut</a:t>
            </a:r>
          </a:p>
          <a:p>
            <a:pPr lvl="1">
              <a:spcAft>
                <a:spcPts val="300"/>
              </a:spcAft>
            </a:pPr>
            <a:r>
              <a:rPr sz="1300"/>
              <a:t>–  Folie X6 reduziert offene Punkte von 4 auf 3 (DeepSeek gelöst)</a:t>
            </a:r>
          </a:p>
          <a:p>
            <a:pPr>
              <a:spcAft>
                <a:spcPts val="300"/>
              </a:spcAft>
            </a:pPr>
            <a:r>
              <a:rPr sz="1300"/>
              <a:t>•  Kürzungsoption: X3+X4 zu einer Folie „API-Zugang &amp; Kosten" zusammenziehen → 5 statt 6 Folien.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728655" cy="1371600"/>
          </a:xfrm>
          <a:prstGeom prst="rect">
            <a:avLst/>
          </a:prstGeom>
          <a:noFill/>
        </p:spPr>
        <p:txBody>
          <a:bodyPr wrap="square">
            <a:spAutoFit/>
          </a:bodyPr>
          <a:lstStyle/>
          <a:p>
            <a:r>
              <a:rPr sz="3400" b="1">
                <a:solidFill>
                  <a:srgbClr val="FFFFFF"/>
                </a:solidFill>
              </a:rPr>
              <a:t>Experiment-Methodik</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5 Forschungsfragen — 3 Bewertungsachsen statt nur CER</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1193292"/>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RQ   FRAGE                                          EINGABE → AUSGABE         STATUS</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RQ1  Wie gut wandeln Modelle Text/Hanzi → Pinyin+Ton?  Text → Pinyin           Pflicht</a:t>
            </a:r>
          </a:p>
          <a:p>
            <a:pPr>
              <a:lnSpc>
                <a:spcPct val="100000"/>
              </a:lnSpc>
              <a:spcAft>
                <a:spcPts val="0"/>
              </a:spcAft>
            </a:pPr>
            <a:r>
              <a:rPr sz="900">
                <a:solidFill>
                  <a:srgbClr val="223344"/>
                </a:solidFill>
                <a:latin typeface="Consolas"/>
              </a:rPr>
              <a:t>RQ2  Wie gut transkribieren LLMs native Sprache?     ★ Audio (native) → Pinyin  Pflicht-Kern</a:t>
            </a:r>
          </a:p>
          <a:p>
            <a:pPr>
              <a:lnSpc>
                <a:spcPct val="100000"/>
              </a:lnSpc>
              <a:spcAft>
                <a:spcPts val="0"/>
              </a:spcAft>
            </a:pPr>
            <a:r>
              <a:rPr sz="900">
                <a:solidFill>
                  <a:srgbClr val="223344"/>
                </a:solidFill>
                <a:latin typeface="Consolas"/>
              </a:rPr>
              <a:t>RQ3  Wie gut transkribieren LLMs L2-Sprache?         ★ Audio (L2) → Pinyin      Pflicht-Kern</a:t>
            </a:r>
          </a:p>
          <a:p>
            <a:pPr>
              <a:lnSpc>
                <a:spcPct val="100000"/>
              </a:lnSpc>
              <a:spcAft>
                <a:spcPts val="0"/>
              </a:spcAft>
            </a:pPr>
            <a:r>
              <a:rPr sz="900">
                <a:solidFill>
                  <a:srgbClr val="223344"/>
                </a:solidFill>
                <a:latin typeface="Consolas"/>
              </a:rPr>
              <a:t>RQ4  LLM vs. ASR vs. Spezialmodell?                    Vergleich               Pflicht</a:t>
            </a:r>
          </a:p>
          <a:p>
            <a:pPr>
              <a:lnSpc>
                <a:spcPct val="100000"/>
              </a:lnSpc>
              <a:spcAft>
                <a:spcPts val="0"/>
              </a:spcAft>
            </a:pPr>
            <a:r>
              <a:rPr sz="900">
                <a:solidFill>
                  <a:srgbClr val="223344"/>
                </a:solidFill>
                <a:latin typeface="Consolas"/>
              </a:rPr>
              <a:t>RQ5  Welche Fehlerstruktur? (Töne, Phoneme)             Analyse                Pflicht</a:t>
            </a:r>
          </a:p>
        </p:txBody>
      </p:sp>
      <p:sp>
        <p:nvSpPr>
          <p:cNvPr id="5" name="TextBox 4"/>
          <p:cNvSpPr txBox="1"/>
          <p:nvPr/>
        </p:nvSpPr>
        <p:spPr>
          <a:xfrm>
            <a:off x="411480" y="2363724"/>
            <a:ext cx="11368735" cy="1495044"/>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METHODISCHER KERN (= Beitrag der Arbeit)</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3 entkoppelte Bewertungsachsen statt nur CER: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TER   Tone Error Rate       → Tonebene (Zou 2025)          ║</a:t>
            </a:r>
          </a:p>
          <a:p>
            <a:pPr>
              <a:lnSpc>
                <a:spcPct val="100000"/>
              </a:lnSpc>
              <a:spcAft>
                <a:spcPts val="0"/>
              </a:spcAft>
            </a:pPr>
            <a:r>
              <a:rPr sz="900">
                <a:solidFill>
                  <a:srgbClr val="223344"/>
                </a:solidFill>
                <a:latin typeface="Consolas"/>
              </a:rPr>
              <a:t>║  PFER  Phone Feature Error   → artikulatorisch gewichtet     ║</a:t>
            </a:r>
          </a:p>
          <a:p>
            <a:pPr>
              <a:lnSpc>
                <a:spcPct val="100000"/>
              </a:lnSpc>
              <a:spcAft>
                <a:spcPts val="0"/>
              </a:spcAft>
            </a:pPr>
            <a:r>
              <a:rPr sz="900">
                <a:solidFill>
                  <a:srgbClr val="223344"/>
                </a:solidFill>
                <a:latin typeface="Consolas"/>
              </a:rPr>
              <a:t>║        Rate                    (PanPhon, 21 Features)        ║</a:t>
            </a:r>
          </a:p>
          <a:p>
            <a:pPr>
              <a:lnSpc>
                <a:spcPct val="100000"/>
              </a:lnSpc>
              <a:spcAft>
                <a:spcPts val="0"/>
              </a:spcAft>
            </a:pPr>
            <a:r>
              <a:rPr sz="900">
                <a:solidFill>
                  <a:srgbClr val="223344"/>
                </a:solidFill>
                <a:latin typeface="Consolas"/>
              </a:rPr>
              <a:t>║  CER   Character Error Rate  → nur für Literaturvergleich   ║</a:t>
            </a:r>
          </a:p>
          <a:p>
            <a:pPr>
              <a:lnSpc>
                <a:spcPct val="100000"/>
              </a:lnSpc>
              <a:spcAft>
                <a:spcPts val="0"/>
              </a:spcAft>
            </a:pPr>
            <a:r>
              <a:rPr sz="900">
                <a:solidFill>
                  <a:srgbClr val="223344"/>
                </a:solidFill>
                <a:latin typeface="Consolas"/>
              </a:rPr>
              <a:t>╚═══════════════════════════════════════════════════════════════╝</a:t>
            </a:r>
          </a:p>
        </p:txBody>
      </p:sp>
      <p:sp>
        <p:nvSpPr>
          <p:cNvPr id="6" name="TextBox 5"/>
          <p:cNvSpPr txBox="1"/>
          <p:nvPr/>
        </p:nvSpPr>
        <p:spPr>
          <a:xfrm>
            <a:off x="411480" y="3950208"/>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Die Experimente — 5 Pflicht + 2 Kür</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4059936"/>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PFLICHT (E1–E5)</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E1  Text/Hanzi → Pinyin+Ton       alle 14 Modelle                    ║</a:t>
            </a:r>
          </a:p>
          <a:p>
            <a:pPr>
              <a:lnSpc>
                <a:spcPct val="100000"/>
              </a:lnSpc>
              <a:spcAft>
                <a:spcPts val="0"/>
              </a:spcAft>
            </a:pPr>
            <a:r>
              <a:rPr sz="900">
                <a:solidFill>
                  <a:srgbClr val="223344"/>
                </a:solidFill>
                <a:latin typeface="Consolas"/>
              </a:rPr>
              <a:t>║      Baseline: g2pW (99,08 %)      Daten: Tone-Perfect-Labels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E2  Audio NATIVE → Pinyin+Ton  ★  11 audio-fähige Modelle            ║</a:t>
            </a:r>
          </a:p>
          <a:p>
            <a:pPr>
              <a:lnSpc>
                <a:spcPct val="100000"/>
              </a:lnSpc>
              <a:spcAft>
                <a:spcPts val="0"/>
              </a:spcAft>
            </a:pPr>
            <a:r>
              <a:rPr sz="900">
                <a:solidFill>
                  <a:srgbClr val="223344"/>
                </a:solidFill>
                <a:latin typeface="Consolas"/>
              </a:rPr>
              <a:t>║      Daten: Tone Perfect (9.840)    CNN-Obergrenze (~99 %)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E3  Audio L2 → Pinyin+Ton  ★      11 audio-fähige Modelle            ║</a:t>
            </a:r>
          </a:p>
          <a:p>
            <a:pPr>
              <a:lnSpc>
                <a:spcPct val="100000"/>
              </a:lnSpc>
              <a:spcAft>
                <a:spcPts val="0"/>
              </a:spcAft>
            </a:pPr>
            <a:r>
              <a:rPr sz="900">
                <a:solidFill>
                  <a:srgbClr val="223344"/>
                </a:solidFill>
                <a:latin typeface="Consolas"/>
              </a:rPr>
              <a:t>║      Daten: LATIC + OMPAL (~4.350)  perzeptive Ground Truth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E4  Vergleich LLM/ASR/CNN         3-Wege auf denselben Daten         ║</a:t>
            </a:r>
          </a:p>
          <a:p>
            <a:pPr>
              <a:lnSpc>
                <a:spcPct val="100000"/>
              </a:lnSpc>
              <a:spcAft>
                <a:spcPts val="0"/>
              </a:spcAft>
            </a:pPr>
            <a:r>
              <a:rPr sz="900">
                <a:solidFill>
                  <a:srgbClr val="223344"/>
                </a:solidFill>
                <a:latin typeface="Consolas"/>
              </a:rPr>
              <a:t>║      + CER auf AISHELL-1            (Literaturanschluss)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E5  Fehlerstruktur                 Konfusionsmatrizen, TER/Ton,       ║</a:t>
            </a:r>
          </a:p>
          <a:p>
            <a:pPr>
              <a:lnSpc>
                <a:spcPct val="100000"/>
              </a:lnSpc>
              <a:spcAft>
                <a:spcPts val="0"/>
              </a:spcAft>
            </a:pPr>
            <a:r>
              <a:rPr sz="900">
                <a:solidFill>
                  <a:srgbClr val="223344"/>
                </a:solidFill>
                <a:latin typeface="Consolas"/>
              </a:rPr>
              <a:t>║      T2↔T3, Retroflexe              PFER nach Initial/Final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KÜR (E6–E7)</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E6  Format-Pilot: 6 Formate × 400 Samples × 3 Modelle = 7.200 Calls  │</a:t>
            </a:r>
          </a:p>
          <a:p>
            <a:pPr>
              <a:lnSpc>
                <a:spcPct val="100000"/>
              </a:lnSpc>
              <a:spcAft>
                <a:spcPts val="0"/>
              </a:spcAft>
            </a:pPr>
            <a:r>
              <a:rPr sz="900">
                <a:solidFill>
                  <a:srgbClr val="223344"/>
                </a:solidFill>
                <a:latin typeface="Consolas"/>
              </a:rPr>
              <a:t>│      Hypothese: Pinyin+Ton# &gt; IPA bei LLMs (Chirkova-Umkehr)   &lt; 10 $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E7  Eigener L2-Korpus: 8–12 deutsche Lerner, ~800–2.000 Aufnahmen     │</a:t>
            </a:r>
          </a:p>
          <a:p>
            <a:pPr>
              <a:lnSpc>
                <a:spcPct val="100000"/>
              </a:lnSpc>
              <a:spcAft>
                <a:spcPts val="0"/>
              </a:spcAft>
            </a:pPr>
            <a:r>
              <a:rPr sz="900">
                <a:solidFill>
                  <a:srgbClr val="223344"/>
                </a:solidFill>
                <a:latin typeface="Consolas"/>
              </a:rPr>
              <a:t>│      Höchster Neuheitswert — kein dt. L2-Mandarin-Korpus existiert     │</a:t>
            </a:r>
          </a:p>
          <a:p>
            <a:pPr>
              <a:lnSpc>
                <a:spcPct val="100000"/>
              </a:lnSpc>
              <a:spcAft>
                <a:spcPts val="0"/>
              </a:spcAft>
            </a:pPr>
            <a:r>
              <a:rPr sz="900">
                <a:solidFill>
                  <a:srgbClr val="223344"/>
                </a:solidFill>
                <a:latin typeface="Consolas"/>
              </a:rPr>
              <a:t>└──────────────────────────────────────────────────────────────────────────┘</a:t>
            </a:r>
          </a:p>
        </p:txBody>
      </p:sp>
      <p:sp>
        <p:nvSpPr>
          <p:cNvPr id="5" name="TextBox 4"/>
          <p:cNvSpPr txBox="1"/>
          <p:nvPr/>
        </p:nvSpPr>
        <p:spPr>
          <a:xfrm>
            <a:off x="411480" y="5230368"/>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Modellauswahl — 3 Märkte × 3 Systemtypen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909060"/>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GRUPPE 1 — Multimodal (Audio → Pinyin direkt) — der Kern          7 Modelle</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GPT-5.5          │ OpenAI    │ 🇺🇸 USA│ teuerste → Sub-Sampling (700)    │</a:t>
            </a:r>
          </a:p>
          <a:p>
            <a:pPr>
              <a:lnSpc>
                <a:spcPct val="100000"/>
              </a:lnSpc>
              <a:spcAft>
                <a:spcPts val="0"/>
              </a:spcAft>
            </a:pPr>
            <a:r>
              <a:rPr sz="900">
                <a:solidFill>
                  <a:srgbClr val="223344"/>
                </a:solidFill>
                <a:latin typeface="Consolas"/>
              </a:rPr>
              <a:t>│ Gemini 3.1 Pro   │ Google    │ 🇺🇸 USA│                                  │</a:t>
            </a:r>
          </a:p>
          <a:p>
            <a:pPr>
              <a:lnSpc>
                <a:spcPct val="100000"/>
              </a:lnSpc>
              <a:spcAft>
                <a:spcPts val="0"/>
              </a:spcAft>
            </a:pPr>
            <a:r>
              <a:rPr sz="900">
                <a:solidFill>
                  <a:srgbClr val="223344"/>
                </a:solidFill>
                <a:latin typeface="Consolas"/>
              </a:rPr>
              <a:t>│ Grok 4.3         │ xAI       │ 🇺🇸 USA│                                  │</a:t>
            </a:r>
          </a:p>
          <a:p>
            <a:pPr>
              <a:lnSpc>
                <a:spcPct val="100000"/>
              </a:lnSpc>
              <a:spcAft>
                <a:spcPts val="0"/>
              </a:spcAft>
            </a:pPr>
            <a:r>
              <a:rPr sz="900">
                <a:solidFill>
                  <a:srgbClr val="223344"/>
                </a:solidFill>
                <a:latin typeface="Consolas"/>
              </a:rPr>
              <a:t>│ Qwen3.5-Omni     │ Alibaba   │ 🇨🇳 CN │ Alibaba Cloud API                │</a:t>
            </a:r>
          </a:p>
          <a:p>
            <a:pPr>
              <a:lnSpc>
                <a:spcPct val="100000"/>
              </a:lnSpc>
              <a:spcAft>
                <a:spcPts val="0"/>
              </a:spcAft>
            </a:pPr>
            <a:r>
              <a:rPr sz="900">
                <a:solidFill>
                  <a:srgbClr val="223344"/>
                </a:solidFill>
                <a:latin typeface="Consolas"/>
              </a:rPr>
              <a:t>│ Kimi-Audio       │ Moonshot  │ 🇨🇳 CN │ Replicate                        │</a:t>
            </a:r>
          </a:p>
          <a:p>
            <a:pPr>
              <a:lnSpc>
                <a:spcPct val="100000"/>
              </a:lnSpc>
              <a:spcAft>
                <a:spcPts val="0"/>
              </a:spcAft>
            </a:pPr>
            <a:r>
              <a:rPr sz="900">
                <a:solidFill>
                  <a:srgbClr val="223344"/>
                </a:solidFill>
                <a:latin typeface="Consolas"/>
              </a:rPr>
              <a:t>│ GLM-4-Voice      │ Zhipu     │ 🇨🇳 CN │ DeepInfra                        │</a:t>
            </a:r>
          </a:p>
          <a:p>
            <a:pPr>
              <a:lnSpc>
                <a:spcPct val="100000"/>
              </a:lnSpc>
              <a:spcAft>
                <a:spcPts val="0"/>
              </a:spcAft>
            </a:pPr>
            <a:r>
              <a:rPr sz="900">
                <a:solidFill>
                  <a:srgbClr val="223344"/>
                </a:solidFill>
                <a:latin typeface="Consolas"/>
              </a:rPr>
              <a:t>│ Step-Audio 2.5   │ StepFun   │ 🇨🇳 CN │ günstigste ($0,022/Std)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GRUPPE 2 — Reine ASR (→ Hanzi, G2P nötig) = Baseline               4 Modelle</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Whisper large-v3 │ OpenAI    │ 🇺🇸 USA│ Standard-Baseline                │</a:t>
            </a:r>
          </a:p>
          <a:p>
            <a:pPr>
              <a:lnSpc>
                <a:spcPct val="100000"/>
              </a:lnSpc>
              <a:spcAft>
                <a:spcPts val="0"/>
              </a:spcAft>
            </a:pPr>
            <a:r>
              <a:rPr sz="900">
                <a:solidFill>
                  <a:srgbClr val="223344"/>
                </a:solidFill>
                <a:latin typeface="Consolas"/>
              </a:rPr>
              <a:t>│ Scribe v2        │ ElevenLabs│ 🇺🇸 USA│ ASR-Vergleich                    │</a:t>
            </a:r>
          </a:p>
          <a:p>
            <a:pPr>
              <a:lnSpc>
                <a:spcPct val="100000"/>
              </a:lnSpc>
              <a:spcAft>
                <a:spcPts val="0"/>
              </a:spcAft>
            </a:pPr>
            <a:r>
              <a:rPr sz="900">
                <a:solidFill>
                  <a:srgbClr val="223344"/>
                </a:solidFill>
                <a:latin typeface="Consolas"/>
              </a:rPr>
              <a:t>│ Voxtral 2        │ Mistral   │ 🇪🇺 EU │ EU-Vertreter                     │</a:t>
            </a:r>
          </a:p>
          <a:p>
            <a:pPr>
              <a:lnSpc>
                <a:spcPct val="100000"/>
              </a:lnSpc>
              <a:spcAft>
                <a:spcPts val="0"/>
              </a:spcAft>
            </a:pPr>
            <a:r>
              <a:rPr sz="900">
                <a:solidFill>
                  <a:srgbClr val="223344"/>
                </a:solidFill>
                <a:latin typeface="Consolas"/>
              </a:rPr>
              <a:t>│ FireRedASR2S     │ Xiaohongshu│🇨🇳 CN │ nur lokal (optional)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GRUPPE 3 — Text-only (nur RQ1)                                     3 Modelle</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Claude Opus 4.8  │ Anthropic │ 🇺🇸 USA│ kein Audio-Input                 │</a:t>
            </a:r>
          </a:p>
          <a:p>
            <a:pPr>
              <a:lnSpc>
                <a:spcPct val="100000"/>
              </a:lnSpc>
              <a:spcAft>
                <a:spcPts val="0"/>
              </a:spcAft>
            </a:pPr>
            <a:r>
              <a:rPr sz="900">
                <a:solidFill>
                  <a:srgbClr val="223344"/>
                </a:solidFill>
                <a:latin typeface="Consolas"/>
              </a:rPr>
              <a:t>│ Claude Sonnet 4.6│ Anthropic │ 🇺🇸 USA│ kein Audio-Input                 │</a:t>
            </a:r>
          </a:p>
          <a:p>
            <a:pPr>
              <a:lnSpc>
                <a:spcPct val="100000"/>
              </a:lnSpc>
              <a:spcAft>
                <a:spcPts val="0"/>
              </a:spcAft>
            </a:pPr>
            <a:r>
              <a:rPr sz="900">
                <a:solidFill>
                  <a:srgbClr val="223344"/>
                </a:solidFill>
                <a:latin typeface="Consolas"/>
              </a:rPr>
              <a:t>│ DeepSeek V4      │ DeepSeek  │ 🇨🇳 CN │ kein Audio-Input                 │</a:t>
            </a:r>
          </a:p>
          <a:p>
            <a:pPr>
              <a:lnSpc>
                <a:spcPct val="100000"/>
              </a:lnSpc>
              <a:spcAft>
                <a:spcPts val="0"/>
              </a:spcAft>
            </a:pPr>
            <a:r>
              <a:rPr sz="900">
                <a:solidFill>
                  <a:srgbClr val="223344"/>
                </a:solidFill>
                <a:latin typeface="Consolas"/>
              </a:rPr>
              <a:t>└──────────────────┴───────────┴────────┴──────────────────────────────────┘</a:t>
            </a:r>
          </a:p>
        </p:txBody>
      </p:sp>
      <p:sp>
        <p:nvSpPr>
          <p:cNvPr id="5" name="TextBox 4"/>
          <p:cNvSpPr txBox="1"/>
          <p:nvPr/>
        </p:nvSpPr>
        <p:spPr>
          <a:xfrm>
            <a:off x="411480" y="5079492"/>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Welche Daten? — Pflicht-Korpora + Kür-Korpus</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4059936"/>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PFLICHT-KORPORA (bestehend, sofort verfügbar)</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Tone Perfect 🔑   RQ2   410 Silben × 4 Töne × 6 Sprecher = 9.840    ║</a:t>
            </a:r>
          </a:p>
          <a:p>
            <a:pPr>
              <a:lnSpc>
                <a:spcPct val="100000"/>
              </a:lnSpc>
              <a:spcAft>
                <a:spcPts val="0"/>
              </a:spcAft>
            </a:pPr>
            <a:r>
              <a:rPr sz="900">
                <a:solidFill>
                  <a:srgbClr val="223344"/>
                </a:solidFill>
                <a:latin typeface="Consolas"/>
              </a:rPr>
              <a:t>║                          CC-BY 4.0, Open Access                        ║</a:t>
            </a:r>
          </a:p>
          <a:p>
            <a:pPr>
              <a:lnSpc>
                <a:spcPct val="100000"/>
              </a:lnSpc>
              <a:spcAft>
                <a:spcPts val="0"/>
              </a:spcAft>
            </a:pPr>
            <a:r>
              <a:rPr sz="900">
                <a:solidFill>
                  <a:srgbClr val="223344"/>
                </a:solidFill>
                <a:latin typeface="Consolas"/>
              </a:rPr>
              <a:t>║                          → VOLL für günstige Modelle                   ║</a:t>
            </a:r>
          </a:p>
          <a:p>
            <a:pPr>
              <a:lnSpc>
                <a:spcPct val="100000"/>
              </a:lnSpc>
              <a:spcAft>
                <a:spcPts val="0"/>
              </a:spcAft>
            </a:pPr>
            <a:r>
              <a:rPr sz="900">
                <a:solidFill>
                  <a:srgbClr val="223344"/>
                </a:solidFill>
                <a:latin typeface="Consolas"/>
              </a:rPr>
              <a:t>║                          → 700er-Sub-Sample (stratifiziert) für GPT-5.5║</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LATIC 🔑          RQ3   4 L2-Sprecher, 2.579 Wörter                  ║</a:t>
            </a:r>
          </a:p>
          <a:p>
            <a:pPr>
              <a:lnSpc>
                <a:spcPct val="100000"/>
              </a:lnSpc>
              <a:spcAft>
                <a:spcPts val="0"/>
              </a:spcAft>
            </a:pPr>
            <a:r>
              <a:rPr sz="900">
                <a:solidFill>
                  <a:srgbClr val="223344"/>
                </a:solidFill>
                <a:latin typeface="Consolas"/>
              </a:rPr>
              <a:t>║                          IEEE DataPort, öffentlich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OMPAL 🔑          RQ3   46 L2-Sprecher (Frz. L1), 1.768 Sätze       ║</a:t>
            </a:r>
          </a:p>
          <a:p>
            <a:pPr>
              <a:lnSpc>
                <a:spcPct val="100000"/>
              </a:lnSpc>
              <a:spcAft>
                <a:spcPts val="0"/>
              </a:spcAft>
            </a:pPr>
            <a:r>
              <a:rPr sz="900">
                <a:solidFill>
                  <a:srgbClr val="223344"/>
                </a:solidFill>
                <a:latin typeface="Consolas"/>
              </a:rPr>
              <a:t>║                          Open-Source (Interspeech 2025)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AISHELL-1         RQ4   170h, 400 native Sprecher                    ║</a:t>
            </a:r>
          </a:p>
          <a:p>
            <a:pPr>
              <a:lnSpc>
                <a:spcPct val="100000"/>
              </a:lnSpc>
              <a:spcAft>
                <a:spcPts val="0"/>
              </a:spcAft>
            </a:pPr>
            <a:r>
              <a:rPr sz="900">
                <a:solidFill>
                  <a:srgbClr val="223344"/>
                </a:solidFill>
                <a:latin typeface="Consolas"/>
              </a:rPr>
              <a:t>║                          → nur CER-Teilmenge (Literaturanschluss)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KÜR-KORPUS (eigene Erhebung)</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8–12 deutsche L2-Lerner, A2–B2, ~80–100 Items, ~800–2.000 Aufnahmen  │</a:t>
            </a:r>
          </a:p>
          <a:p>
            <a:pPr>
              <a:lnSpc>
                <a:spcPct val="100000"/>
              </a:lnSpc>
              <a:spcAft>
                <a:spcPts val="0"/>
              </a:spcAft>
            </a:pPr>
            <a:r>
              <a:rPr sz="900">
                <a:solidFill>
                  <a:srgbClr val="223344"/>
                </a:solidFill>
                <a:latin typeface="Consolas"/>
              </a:rPr>
              <a:t>│  → kein dt. L2-Mandarin-Korpus existiert öffentlich = echter Beitrag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WARUM NICHT die großen Korpora (AISHELL 170h, KeSpeech 1.542h)?</a:t>
            </a:r>
          </a:p>
          <a:p>
            <a:pPr>
              <a:lnSpc>
                <a:spcPct val="100000"/>
              </a:lnSpc>
              <a:spcAft>
                <a:spcPts val="0"/>
              </a:spcAft>
            </a:pPr>
            <a:r>
              <a:rPr sz="900">
                <a:solidFill>
                  <a:srgbClr val="223344"/>
                </a:solidFill>
                <a:latin typeface="Consolas"/>
              </a:rPr>
              <a:t>→ Kein Ton-Ground-Truth! Man kann CER rechnen, aber keine TER.</a:t>
            </a:r>
          </a:p>
          <a:p>
            <a:pPr>
              <a:lnSpc>
                <a:spcPct val="100000"/>
              </a:lnSpc>
              <a:spcAft>
                <a:spcPts val="0"/>
              </a:spcAft>
            </a:pPr>
            <a:r>
              <a:rPr sz="900">
                <a:solidFill>
                  <a:srgbClr val="223344"/>
                </a:solidFill>
                <a:latin typeface="Consolas"/>
              </a:rPr>
              <a:t>→ Für Tonevaluation zählt Label-Qualität, nicht Stundenzahl.</a:t>
            </a:r>
          </a:p>
        </p:txBody>
      </p:sp>
      <p:sp>
        <p:nvSpPr>
          <p:cNvPr id="5" name="TextBox 4"/>
          <p:cNvSpPr txBox="1"/>
          <p:nvPr/>
        </p:nvSpPr>
        <p:spPr>
          <a:xfrm>
            <a:off x="411480" y="5230368"/>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API-Kosten — Pflicht-Kern für 15–30 €</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305556"/>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SZENARIO                                    KOSTEN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Pflicht-Kern                                ~15–30 €    ← Ziel║</a:t>
            </a:r>
          </a:p>
          <a:p>
            <a:pPr>
              <a:lnSpc>
                <a:spcPct val="100000"/>
              </a:lnSpc>
              <a:spcAft>
                <a:spcPts val="0"/>
              </a:spcAft>
            </a:pPr>
            <a:r>
              <a:rPr sz="900">
                <a:solidFill>
                  <a:srgbClr val="223344"/>
                </a:solidFill>
                <a:latin typeface="Consolas"/>
              </a:rPr>
              <a:t>║  (günstige voll + GPT-5.5 sub-sample + text)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Alle Modelle, alle 9.840 Samples             ~25–44 $         ║</a:t>
            </a:r>
          </a:p>
          <a:p>
            <a:pPr>
              <a:lnSpc>
                <a:spcPct val="100000"/>
              </a:lnSpc>
              <a:spcAft>
                <a:spcPts val="0"/>
              </a:spcAft>
            </a:pPr>
            <a:r>
              <a:rPr sz="900">
                <a:solidFill>
                  <a:srgbClr val="223344"/>
                </a:solidFill>
                <a:latin typeface="Consolas"/>
              </a:rPr>
              <a:t>║  (ohne Sub-Sampling)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Minimal (700 überall)                         ~4–7 $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Format-Pilot (Kür)                            &lt; 10 $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Teuerste:   GPT-5.5      $5/$30 pro 1M Token + Audio → Sub-Sampling</a:t>
            </a:r>
          </a:p>
          <a:p>
            <a:pPr>
              <a:lnSpc>
                <a:spcPct val="100000"/>
              </a:lnSpc>
              <a:spcAft>
                <a:spcPts val="0"/>
              </a:spcAft>
            </a:pPr>
            <a:r>
              <a:rPr sz="900">
                <a:solidFill>
                  <a:srgbClr val="223344"/>
                </a:solidFill>
                <a:latin typeface="Consolas"/>
              </a:rPr>
              <a:t>  Günstigste: Step-Audio   $0,022/Std</a:t>
            </a:r>
          </a:p>
          <a:p>
            <a:pPr>
              <a:lnSpc>
                <a:spcPct val="100000"/>
              </a:lnSpc>
              <a:spcAft>
                <a:spcPts val="0"/>
              </a:spcAft>
            </a:pPr>
            <a:r>
              <a:rPr sz="900">
                <a:solidFill>
                  <a:srgbClr val="223344"/>
                </a:solidFill>
                <a:latin typeface="Consolas"/>
              </a:rPr>
              <a:t>              Voxtral      ~$0,001/Aufruf</a:t>
            </a:r>
          </a:p>
          <a:p>
            <a:pPr>
              <a:lnSpc>
                <a:spcPct val="100000"/>
              </a:lnSpc>
              <a:spcAft>
                <a:spcPts val="0"/>
              </a:spcAft>
            </a:pPr>
            <a:r>
              <a:rPr sz="900">
                <a:solidFill>
                  <a:srgbClr val="223344"/>
                </a:solidFill>
                <a:latin typeface="Consolas"/>
              </a:rPr>
              <a:t>              Whisper       $0,006/Min</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Kein Cloud-GPU nötig  (11/12 Audio-Modelle per API)</a:t>
            </a:r>
          </a:p>
          <a:p>
            <a:pPr>
              <a:lnSpc>
                <a:spcPct val="100000"/>
              </a:lnSpc>
              <a:spcAft>
                <a:spcPts val="0"/>
              </a:spcAft>
            </a:pPr>
            <a:r>
              <a:rPr sz="900">
                <a:solidFill>
                  <a:srgbClr val="223344"/>
                </a:solidFill>
                <a:latin typeface="Consolas"/>
              </a:rPr>
              <a:t>  Annotationskosten      nur für Kür-Korpus, separat (~150–500 €)</a:t>
            </a:r>
          </a:p>
        </p:txBody>
      </p:sp>
      <p:sp>
        <p:nvSpPr>
          <p:cNvPr id="5" name="TextBox 4"/>
          <p:cNvSpPr txBox="1"/>
          <p:nvPr/>
        </p:nvSpPr>
        <p:spPr>
          <a:xfrm>
            <a:off x="411480" y="4475988"/>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Phasenstrategie — günstig → teuer → Kür</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4663440"/>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Phase   Inhalt                          Modelle              Kosten    Status</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P0      Setup &amp; API-Checks              —                      ~0      Pflicht</a:t>
            </a:r>
          </a:p>
          <a:p>
            <a:pPr>
              <a:lnSpc>
                <a:spcPct val="100000"/>
              </a:lnSpc>
              <a:spcAft>
                <a:spcPts val="0"/>
              </a:spcAft>
            </a:pPr>
            <a:r>
              <a:rPr sz="900">
                <a:solidFill>
                  <a:srgbClr val="223344"/>
                </a:solidFill>
                <a:latin typeface="Consolas"/>
              </a:rPr>
              <a:t>        Replicate/StepFun/DeepInfra</a:t>
            </a:r>
          </a:p>
          <a:p>
            <a:pPr>
              <a:lnSpc>
                <a:spcPct val="100000"/>
              </a:lnSpc>
              <a:spcAft>
                <a:spcPts val="0"/>
              </a:spcAft>
            </a:pPr>
            <a:r>
              <a:rPr sz="900">
                <a:solidFill>
                  <a:srgbClr val="223344"/>
                </a:solidFill>
                <a:latin typeface="Consolas"/>
              </a:rPr>
              <a:t>        aus DE testen; Prompt-Templates</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P1      Pipeline-Pilot                  billigste 2–3        &lt; 1 $    Pflicht</a:t>
            </a:r>
          </a:p>
          <a:p>
            <a:pPr>
              <a:lnSpc>
                <a:spcPct val="100000"/>
              </a:lnSpc>
              <a:spcAft>
                <a:spcPts val="0"/>
              </a:spcAft>
            </a:pPr>
            <a:r>
              <a:rPr sz="900">
                <a:solidFill>
                  <a:srgbClr val="223344"/>
                </a:solidFill>
                <a:latin typeface="Consolas"/>
              </a:rPr>
              <a:t>        400+200 Samples; Eval testen</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P2      Günstige APIs, voller Korpus    Step-Audio, Whisper   7–12 $  Pflicht</a:t>
            </a:r>
          </a:p>
          <a:p>
            <a:pPr>
              <a:lnSpc>
                <a:spcPct val="100000"/>
              </a:lnSpc>
              <a:spcAft>
                <a:spcPts val="0"/>
              </a:spcAft>
            </a:pPr>
            <a:r>
              <a:rPr sz="900">
                <a:solidFill>
                  <a:srgbClr val="223344"/>
                </a:solidFill>
                <a:latin typeface="Consolas"/>
              </a:rPr>
              <a:t>        E2 + E3                         Voxtral, Scribe,</a:t>
            </a:r>
          </a:p>
          <a:p>
            <a:pPr>
              <a:lnSpc>
                <a:spcPct val="100000"/>
              </a:lnSpc>
              <a:spcAft>
                <a:spcPts val="0"/>
              </a:spcAft>
            </a:pPr>
            <a:r>
              <a:rPr sz="900">
                <a:solidFill>
                  <a:srgbClr val="223344"/>
                </a:solidFill>
                <a:latin typeface="Consolas"/>
              </a:rPr>
              <a:t>                                        GLM, Qwen-Omni</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P3      Mittlere APIs                   Gemini, Grok,        +5–15 $  Pflicht</a:t>
            </a:r>
          </a:p>
          <a:p>
            <a:pPr>
              <a:lnSpc>
                <a:spcPct val="100000"/>
              </a:lnSpc>
              <a:spcAft>
                <a:spcPts val="0"/>
              </a:spcAft>
            </a:pPr>
            <a:r>
              <a:rPr sz="900">
                <a:solidFill>
                  <a:srgbClr val="223344"/>
                </a:solidFill>
                <a:latin typeface="Consolas"/>
              </a:rPr>
              <a:t>        E2 + E3                         Kimi-Audio</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P4      Premium (Sub-Sample)            GPT-5.5              +1–2 $   Pflicht</a:t>
            </a:r>
          </a:p>
          <a:p>
            <a:pPr>
              <a:lnSpc>
                <a:spcPct val="100000"/>
              </a:lnSpc>
              <a:spcAft>
                <a:spcPts val="0"/>
              </a:spcAft>
            </a:pPr>
            <a:r>
              <a:rPr sz="900">
                <a:solidFill>
                  <a:srgbClr val="223344"/>
                </a:solidFill>
                <a:latin typeface="Consolas"/>
              </a:rPr>
              <a:t>        E2 + E3 auf 700er-Sample</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P5      Text-only (RQ1)                 Claude, DeepSeek     +0,9 $   Pflicht</a:t>
            </a:r>
          </a:p>
          <a:p>
            <a:pPr>
              <a:lnSpc>
                <a:spcPct val="100000"/>
              </a:lnSpc>
              <a:spcAft>
                <a:spcPts val="0"/>
              </a:spcAft>
            </a:pPr>
            <a:r>
              <a:rPr sz="900">
                <a:solidFill>
                  <a:srgbClr val="223344"/>
                </a:solidFill>
                <a:latin typeface="Consolas"/>
              </a:rPr>
              <a:t>        E1</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P6      Auswertung                      —                      0      Pflicht</a:t>
            </a:r>
          </a:p>
          <a:p>
            <a:pPr>
              <a:lnSpc>
                <a:spcPct val="100000"/>
              </a:lnSpc>
              <a:spcAft>
                <a:spcPts val="0"/>
              </a:spcAft>
            </a:pPr>
            <a:r>
              <a:rPr sz="900">
                <a:solidFill>
                  <a:srgbClr val="223344"/>
                </a:solidFill>
                <a:latin typeface="Consolas"/>
              </a:rPr>
              <a:t>        TER/PFER/CER, Konfusionsmatrizen</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P7      Kür                             —                   +10 $ +   Kür</a:t>
            </a:r>
          </a:p>
          <a:p>
            <a:pPr>
              <a:lnSpc>
                <a:spcPct val="100000"/>
              </a:lnSpc>
              <a:spcAft>
                <a:spcPts val="0"/>
              </a:spcAft>
            </a:pPr>
            <a:r>
              <a:rPr sz="900">
                <a:solidFill>
                  <a:srgbClr val="223344"/>
                </a:solidFill>
                <a:latin typeface="Consolas"/>
              </a:rPr>
              <a:t>        Format-Pilot (E6) und/oder                          Annotation</a:t>
            </a:r>
          </a:p>
          <a:p>
            <a:pPr>
              <a:lnSpc>
                <a:spcPct val="100000"/>
              </a:lnSpc>
              <a:spcAft>
                <a:spcPts val="0"/>
              </a:spcAft>
            </a:pPr>
            <a:r>
              <a:rPr sz="900">
                <a:solidFill>
                  <a:srgbClr val="223344"/>
                </a:solidFill>
                <a:latin typeface="Consolas"/>
              </a:rPr>
              <a:t>        eigener L2-Korpus (E7)</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Pflicht gesamt: ~15–30 €</a:t>
            </a:r>
          </a:p>
        </p:txBody>
      </p:sp>
      <p:sp>
        <p:nvSpPr>
          <p:cNvPr id="5" name="TextBox 4"/>
          <p:cNvSpPr txBox="1"/>
          <p:nvPr/>
        </p:nvSpPr>
        <p:spPr>
          <a:xfrm>
            <a:off x="411480" y="5833872"/>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Was MUSS rein, was KANN rein?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607308"/>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PFLICHT                                  ║</a:t>
            </a:r>
          </a:p>
          <a:p>
            <a:pPr>
              <a:lnSpc>
                <a:spcPct val="100000"/>
              </a:lnSpc>
              <a:spcAft>
                <a:spcPts val="0"/>
              </a:spcAft>
            </a:pPr>
            <a:r>
              <a:rPr sz="900">
                <a:solidFill>
                  <a:srgbClr val="223344"/>
                </a:solidFill>
                <a:latin typeface="Consolas"/>
              </a:rPr>
              <a:t>║  E1  Text→Pinyin          alle 14 Modelle, g2pW-Baseline       ║</a:t>
            </a:r>
          </a:p>
          <a:p>
            <a:pPr>
              <a:lnSpc>
                <a:spcPct val="100000"/>
              </a:lnSpc>
              <a:spcAft>
                <a:spcPts val="0"/>
              </a:spcAft>
            </a:pPr>
            <a:r>
              <a:rPr sz="900">
                <a:solidFill>
                  <a:srgbClr val="223344"/>
                </a:solidFill>
                <a:latin typeface="Consolas"/>
              </a:rPr>
              <a:t>║  E2  Audio native          11 Modelle, Tone Perfect (voll)     ║</a:t>
            </a:r>
          </a:p>
          <a:p>
            <a:pPr>
              <a:lnSpc>
                <a:spcPct val="100000"/>
              </a:lnSpc>
              <a:spcAft>
                <a:spcPts val="0"/>
              </a:spcAft>
            </a:pPr>
            <a:r>
              <a:rPr sz="900">
                <a:solidFill>
                  <a:srgbClr val="223344"/>
                </a:solidFill>
                <a:latin typeface="Consolas"/>
              </a:rPr>
              <a:t>║  E3  Audio L2              11 Modelle, LATIC + OMPAL           ║</a:t>
            </a:r>
          </a:p>
          <a:p>
            <a:pPr>
              <a:lnSpc>
                <a:spcPct val="100000"/>
              </a:lnSpc>
              <a:spcAft>
                <a:spcPts val="0"/>
              </a:spcAft>
            </a:pPr>
            <a:r>
              <a:rPr sz="900">
                <a:solidFill>
                  <a:srgbClr val="223344"/>
                </a:solidFill>
                <a:latin typeface="Consolas"/>
              </a:rPr>
              <a:t>║  E4  Vergleich             LLM / ASR / CNN + CER (AISHELL)     ║</a:t>
            </a:r>
          </a:p>
          <a:p>
            <a:pPr>
              <a:lnSpc>
                <a:spcPct val="100000"/>
              </a:lnSpc>
              <a:spcAft>
                <a:spcPts val="0"/>
              </a:spcAft>
            </a:pPr>
            <a:r>
              <a:rPr sz="900">
                <a:solidFill>
                  <a:srgbClr val="223344"/>
                </a:solidFill>
                <a:latin typeface="Consolas"/>
              </a:rPr>
              <a:t>║  E5  Fehlerstruktur        TER, PFER, Konfusionsmatrizen       ║</a:t>
            </a:r>
          </a:p>
          <a:p>
            <a:pPr>
              <a:lnSpc>
                <a:spcPct val="100000"/>
              </a:lnSpc>
              <a:spcAft>
                <a:spcPts val="0"/>
              </a:spcAft>
            </a:pPr>
            <a:r>
              <a:rPr sz="900">
                <a:solidFill>
                  <a:srgbClr val="223344"/>
                </a:solidFill>
                <a:latin typeface="Consolas"/>
              </a:rPr>
              <a:t>║  Phasen P0–P6              ~15–30 €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Erst wenn Pflicht-Kern steht:</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KÜR                                    │</a:t>
            </a:r>
          </a:p>
          <a:p>
            <a:pPr>
              <a:lnSpc>
                <a:spcPct val="100000"/>
              </a:lnSpc>
              <a:spcAft>
                <a:spcPts val="0"/>
              </a:spcAft>
            </a:pPr>
            <a:r>
              <a:rPr sz="900">
                <a:solidFill>
                  <a:srgbClr val="223344"/>
                </a:solidFill>
                <a:latin typeface="Consolas"/>
              </a:rPr>
              <a:t>│  ① Eigener L2-Korpus (E7)  → höchster Neuheitswert             │</a:t>
            </a:r>
          </a:p>
          <a:p>
            <a:pPr>
              <a:lnSpc>
                <a:spcPct val="100000"/>
              </a:lnSpc>
              <a:spcAft>
                <a:spcPts val="0"/>
              </a:spcAft>
            </a:pPr>
            <a:r>
              <a:rPr sz="900">
                <a:solidFill>
                  <a:srgbClr val="223344"/>
                </a:solidFill>
                <a:latin typeface="Consolas"/>
              </a:rPr>
              <a:t>│  ② Format-Pilot (E6)      → methodische Verstärkung, &lt; 10 $   │</a:t>
            </a:r>
          </a:p>
          <a:p>
            <a:pPr>
              <a:lnSpc>
                <a:spcPct val="100000"/>
              </a:lnSpc>
              <a:spcAft>
                <a:spcPts val="0"/>
              </a:spcAft>
            </a:pPr>
            <a:r>
              <a:rPr sz="900">
                <a:solidFill>
                  <a:srgbClr val="223344"/>
                </a:solidFill>
                <a:latin typeface="Consolas"/>
              </a:rPr>
              <a:t>│  ③ iCALL/SingaKids        → mehr L2-Daten                      │</a:t>
            </a:r>
          </a:p>
          <a:p>
            <a:pPr>
              <a:lnSpc>
                <a:spcPct val="100000"/>
              </a:lnSpc>
              <a:spcAft>
                <a:spcPts val="0"/>
              </a:spcAft>
            </a:pPr>
            <a:r>
              <a:rPr sz="900">
                <a:solidFill>
                  <a:srgbClr val="223344"/>
                </a:solidFill>
                <a:latin typeface="Consolas"/>
              </a:rPr>
              <a:t>│  ④ FireRedASR2S lokal      → vollständige ASR-Baseline          │</a:t>
            </a:r>
          </a:p>
          <a:p>
            <a:pPr>
              <a:lnSpc>
                <a:spcPct val="100000"/>
              </a:lnSpc>
              <a:spcAft>
                <a:spcPts val="0"/>
              </a:spcAft>
            </a:pPr>
            <a:r>
              <a:rPr sz="900">
                <a:solidFill>
                  <a:srgbClr val="223344"/>
                </a:solidFill>
                <a:latin typeface="Consolas"/>
              </a:rPr>
              <a:t>│  ⑤ GPT-5.5 voller Lauf     → statt Sub-Sample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Entscheidungsregel: Erst wenn der gesamte Pflicht-Kern</a:t>
            </a:r>
          </a:p>
          <a:p>
            <a:pPr>
              <a:lnSpc>
                <a:spcPct val="100000"/>
              </a:lnSpc>
              <a:spcAft>
                <a:spcPts val="0"/>
              </a:spcAft>
            </a:pPr>
            <a:r>
              <a:rPr sz="900">
                <a:solidFill>
                  <a:srgbClr val="223344"/>
                </a:solidFill>
                <a:latin typeface="Consolas"/>
              </a:rPr>
              <a:t>(inkl. sauberer Auswertung) steht, wird Kür angefasst.</a:t>
            </a:r>
          </a:p>
        </p:txBody>
      </p:sp>
      <p:sp>
        <p:nvSpPr>
          <p:cNvPr id="5" name="TextBox 4"/>
          <p:cNvSpPr txBox="1"/>
          <p:nvPr/>
        </p:nvSpPr>
        <p:spPr>
          <a:xfrm>
            <a:off x="411480" y="4777740"/>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Kür — Eigener L2-Korpus: 8–12 deutsche Lerner</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758184"/>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WARUM?</a:t>
            </a:r>
          </a:p>
          <a:p>
            <a:pPr>
              <a:lnSpc>
                <a:spcPct val="100000"/>
              </a:lnSpc>
              <a:spcAft>
                <a:spcPts val="0"/>
              </a:spcAft>
            </a:pPr>
            <a:r>
              <a:rPr sz="900">
                <a:solidFill>
                  <a:srgbClr val="223344"/>
                </a:solidFill>
                <a:latin typeface="Consolas"/>
              </a:rPr>
              <a:t>  • Öffentliche L2-Korpora: LATIC = 4 Sprecher, OMPAL = nur Frz. L1</a:t>
            </a:r>
          </a:p>
          <a:p>
            <a:pPr>
              <a:lnSpc>
                <a:spcPct val="100000"/>
              </a:lnSpc>
              <a:spcAft>
                <a:spcPts val="0"/>
              </a:spcAft>
            </a:pPr>
            <a:r>
              <a:rPr sz="900">
                <a:solidFill>
                  <a:srgbClr val="223344"/>
                </a:solidFill>
                <a:latin typeface="Consolas"/>
              </a:rPr>
              <a:t>  • Kein dt. L2-Mandarin-Korpus existiert → eigene L1-Gruppe = Beitrag</a:t>
            </a:r>
          </a:p>
          <a:p>
            <a:pPr>
              <a:lnSpc>
                <a:spcPct val="100000"/>
              </a:lnSpc>
              <a:spcAft>
                <a:spcPts val="0"/>
              </a:spcAft>
            </a:pPr>
            <a:r>
              <a:rPr sz="900">
                <a:solidFill>
                  <a:srgbClr val="223344"/>
                </a:solidFill>
                <a:latin typeface="Consolas"/>
              </a:rPr>
              <a:t>  • Passt zum geplanten Vokabeltrainer (deutschsprachige Zielgruppe)</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DESIGN</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Sprecher       │ 8–12 deutsche L2-Lerner                     │</a:t>
            </a:r>
          </a:p>
          <a:p>
            <a:pPr>
              <a:lnSpc>
                <a:spcPct val="100000"/>
              </a:lnSpc>
              <a:spcAft>
                <a:spcPts val="0"/>
              </a:spcAft>
            </a:pPr>
            <a:r>
              <a:rPr sz="900">
                <a:solidFill>
                  <a:srgbClr val="223344"/>
                </a:solidFill>
                <a:latin typeface="Consolas"/>
              </a:rPr>
              <a:t>│ Niveau         │ A2–B2 (gestaffelt)                          │</a:t>
            </a:r>
          </a:p>
          <a:p>
            <a:pPr>
              <a:lnSpc>
                <a:spcPct val="100000"/>
              </a:lnSpc>
              <a:spcAft>
                <a:spcPts val="0"/>
              </a:spcAft>
            </a:pPr>
            <a:r>
              <a:rPr sz="900">
                <a:solidFill>
                  <a:srgbClr val="223344"/>
                </a:solidFill>
                <a:latin typeface="Consolas"/>
              </a:rPr>
              <a:t>│ Items          │ ~80–100 Zielsilben (Tonpaare, Retroflexe)   │</a:t>
            </a:r>
          </a:p>
          <a:p>
            <a:pPr>
              <a:lnSpc>
                <a:spcPct val="100000"/>
              </a:lnSpc>
              <a:spcAft>
                <a:spcPts val="0"/>
              </a:spcAft>
            </a:pPr>
            <a:r>
              <a:rPr sz="900">
                <a:solidFill>
                  <a:srgbClr val="223344"/>
                </a:solidFill>
                <a:latin typeface="Consolas"/>
              </a:rPr>
              <a:t>│ Wiederholungen │ 1–2× pro Item                               │</a:t>
            </a:r>
          </a:p>
          <a:p>
            <a:pPr>
              <a:lnSpc>
                <a:spcPct val="100000"/>
              </a:lnSpc>
              <a:spcAft>
                <a:spcPts val="0"/>
              </a:spcAft>
            </a:pPr>
            <a:r>
              <a:rPr sz="900">
                <a:solidFill>
                  <a:srgbClr val="223344"/>
                </a:solidFill>
                <a:latin typeface="Consolas"/>
              </a:rPr>
              <a:t>│ Gesamt         │ ~800–2.000 Aufnahmen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ERHEBUNG</a:t>
            </a:r>
          </a:p>
          <a:p>
            <a:pPr>
              <a:lnSpc>
                <a:spcPct val="100000"/>
              </a:lnSpc>
              <a:spcAft>
                <a:spcPts val="0"/>
              </a:spcAft>
            </a:pPr>
            <a:r>
              <a:rPr sz="900">
                <a:solidFill>
                  <a:srgbClr val="223344"/>
                </a:solidFill>
                <a:latin typeface="Consolas"/>
              </a:rPr>
              <a:t>  1. Rekrutierung: IU-Netzwerk, Mandarin-Sprachkurse</a:t>
            </a:r>
          </a:p>
          <a:p>
            <a:pPr>
              <a:lnSpc>
                <a:spcPct val="100000"/>
              </a:lnSpc>
              <a:spcAft>
                <a:spcPts val="0"/>
              </a:spcAft>
            </a:pPr>
            <a:r>
              <a:rPr sz="900">
                <a:solidFill>
                  <a:srgbClr val="223344"/>
                </a:solidFill>
                <a:latin typeface="Consolas"/>
              </a:rPr>
              <a:t>  2. Stimulus: Hanzi + Referenz-Pinyin (Vergleichbarkeit mit Tone Perfect)</a:t>
            </a:r>
          </a:p>
          <a:p>
            <a:pPr>
              <a:lnSpc>
                <a:spcPct val="100000"/>
              </a:lnSpc>
              <a:spcAft>
                <a:spcPts val="0"/>
              </a:spcAft>
            </a:pPr>
            <a:r>
              <a:rPr sz="900">
                <a:solidFill>
                  <a:srgbClr val="223344"/>
                </a:solidFill>
                <a:latin typeface="Consolas"/>
              </a:rPr>
              <a:t>  3. Aufnahme: ruhiger Raum, Headset, WAV 16 kHz mono, Einzelaufnahme</a:t>
            </a:r>
          </a:p>
          <a:p>
            <a:pPr>
              <a:lnSpc>
                <a:spcPct val="100000"/>
              </a:lnSpc>
              <a:spcAft>
                <a:spcPts val="0"/>
              </a:spcAft>
            </a:pPr>
            <a:r>
              <a:rPr sz="900">
                <a:solidFill>
                  <a:srgbClr val="223344"/>
                </a:solidFill>
                <a:latin typeface="Consolas"/>
              </a:rPr>
              <a:t>  4. Ethik/DSGVO: Einwilligung, Pseudonymisierung, Löschkonzept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PROCESSING</a:t>
            </a:r>
          </a:p>
          <a:p>
            <a:pPr>
              <a:lnSpc>
                <a:spcPct val="100000"/>
              </a:lnSpc>
              <a:spcAft>
                <a:spcPts val="0"/>
              </a:spcAft>
            </a:pPr>
            <a:r>
              <a:rPr sz="900">
                <a:solidFill>
                  <a:srgbClr val="223344"/>
                </a:solidFill>
                <a:latin typeface="Consolas"/>
              </a:rPr>
              <a:t>  1. Normalisierung (Lautstärke, Sampling-Rate, Stille trimmen)</a:t>
            </a:r>
          </a:p>
          <a:p>
            <a:pPr>
              <a:lnSpc>
                <a:spcPct val="100000"/>
              </a:lnSpc>
              <a:spcAft>
                <a:spcPts val="0"/>
              </a:spcAft>
            </a:pPr>
            <a:r>
              <a:rPr sz="900">
                <a:solidFill>
                  <a:srgbClr val="223344"/>
                </a:solidFill>
                <a:latin typeface="Consolas"/>
              </a:rPr>
              <a:t>  2. Segmentierung (1 Datei/Item; MFA mit L2-Nachkontrolle)</a:t>
            </a:r>
          </a:p>
          <a:p>
            <a:pPr>
              <a:lnSpc>
                <a:spcPct val="100000"/>
              </a:lnSpc>
              <a:spcAft>
                <a:spcPts val="0"/>
              </a:spcAft>
            </a:pPr>
            <a:r>
              <a:rPr sz="900">
                <a:solidFill>
                  <a:srgbClr val="223344"/>
                </a:solidFill>
                <a:latin typeface="Consolas"/>
              </a:rPr>
              <a:t>  3. Benennung: sprecherID_item_wiederholung.wav + Metadaten-CSV</a:t>
            </a:r>
          </a:p>
        </p:txBody>
      </p:sp>
      <p:sp>
        <p:nvSpPr>
          <p:cNvPr id="5" name="TextBox 4"/>
          <p:cNvSpPr txBox="1"/>
          <p:nvPr/>
        </p:nvSpPr>
        <p:spPr>
          <a:xfrm>
            <a:off x="411480" y="4928616"/>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Kür — Annotationsworkflow: perzeptiv, halbautomatisch</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758184"/>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KERNPRINZIP: Annotiert wird was GEHÖRT wurde, nicht die Soll-Aussprache.</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SCHEMA (pro Aufnahme)</a:t>
            </a:r>
          </a:p>
          <a:p>
            <a:pPr>
              <a:lnSpc>
                <a:spcPct val="100000"/>
              </a:lnSpc>
              <a:spcAft>
                <a:spcPts val="0"/>
              </a:spcAft>
            </a:pPr>
            <a:r>
              <a:rPr sz="900">
                <a:solidFill>
                  <a:srgbClr val="223344"/>
                </a:solidFill>
                <a:latin typeface="Consolas"/>
              </a:rPr>
              <a:t>  Initial (gehörter Konsonant) + Final (gehörter Reim) + Ton (1–5)</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WORKFLOW</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1  CNN-Vorlabel     Tonklassifikator (~99 % native, Vorschlag für L2)│</a:t>
            </a:r>
          </a:p>
          <a:p>
            <a:pPr>
              <a:lnSpc>
                <a:spcPct val="100000"/>
              </a:lnSpc>
              <a:spcAft>
                <a:spcPts val="0"/>
              </a:spcAft>
            </a:pPr>
            <a:r>
              <a:rPr sz="900">
                <a:solidFill>
                  <a:srgbClr val="223344"/>
                </a:solidFill>
                <a:latin typeface="Consolas"/>
              </a:rPr>
              <a:t>│     + g2pW           kanonische Referenz                              │</a:t>
            </a:r>
          </a:p>
          <a:p>
            <a:pPr>
              <a:lnSpc>
                <a:spcPct val="100000"/>
              </a:lnSpc>
              <a:spcAft>
                <a:spcPts val="0"/>
              </a:spcAft>
            </a:pPr>
            <a:r>
              <a:rPr sz="900">
                <a:solidFill>
                  <a:srgbClr val="223344"/>
                </a:solidFill>
                <a:latin typeface="Consolas"/>
              </a:rPr>
              <a:t>│     + SpeechSuper    2. Maschinen-Meinung (optional)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2  2 Muttersprachler annotieren unabhängig was sie HÖREN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3  Cohen's κ        Ziel: κ &gt; 0,85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4  Konflikt?  → 3. Annotator ODER Praat-F0 als Schiedsrichter       │</a:t>
            </a:r>
          </a:p>
          <a:p>
            <a:pPr>
              <a:lnSpc>
                <a:spcPct val="100000"/>
              </a:lnSpc>
              <a:spcAft>
                <a:spcPts val="0"/>
              </a:spcAft>
            </a:pPr>
            <a:r>
              <a:rPr sz="900">
                <a:solidFill>
                  <a:srgbClr val="223344"/>
                </a:solidFill>
                <a:latin typeface="Consolas"/>
              </a:rPr>
              <a:t>│                              ↓                                        │</a:t>
            </a:r>
          </a:p>
          <a:p>
            <a:pPr>
              <a:lnSpc>
                <a:spcPct val="100000"/>
              </a:lnSpc>
              <a:spcAft>
                <a:spcPts val="0"/>
              </a:spcAft>
            </a:pPr>
            <a:r>
              <a:rPr sz="900">
                <a:solidFill>
                  <a:srgbClr val="223344"/>
                </a:solidFill>
                <a:latin typeface="Consolas"/>
              </a:rPr>
              <a:t>│  5  Stichproben-Audit: ≥ 15–20 % doppelt prüfen                      │</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AUFWAND</a:t>
            </a:r>
          </a:p>
          <a:p>
            <a:pPr>
              <a:lnSpc>
                <a:spcPct val="100000"/>
              </a:lnSpc>
              <a:spcAft>
                <a:spcPts val="0"/>
              </a:spcAft>
            </a:pPr>
            <a:r>
              <a:rPr sz="900">
                <a:solidFill>
                  <a:srgbClr val="223344"/>
                </a:solidFill>
                <a:latin typeface="Consolas"/>
              </a:rPr>
              <a:t>  ~1.000–2.000 Items × 2 Annotatoren = 2.000–4.000 Labels</a:t>
            </a:r>
          </a:p>
          <a:p>
            <a:pPr>
              <a:lnSpc>
                <a:spcPct val="100000"/>
              </a:lnSpc>
              <a:spcAft>
                <a:spcPts val="0"/>
              </a:spcAft>
            </a:pPr>
            <a:r>
              <a:rPr sz="900">
                <a:solidFill>
                  <a:srgbClr val="223344"/>
                </a:solidFill>
                <a:latin typeface="Consolas"/>
              </a:rPr>
              <a:t>  ~20–40 Annotator-Stunden → ~150–500 € (separates Budget)</a:t>
            </a:r>
          </a:p>
          <a:p>
            <a:pPr>
              <a:lnSpc>
                <a:spcPct val="100000"/>
              </a:lnSpc>
              <a:spcAft>
                <a:spcPts val="0"/>
              </a:spcAft>
            </a:pPr>
            <a:r>
              <a:rPr sz="900">
                <a:solidFill>
                  <a:srgbClr val="223344"/>
                </a:solidFill>
                <a:latin typeface="Consolas"/>
              </a:rPr>
              <a:t>  Dauer: ~1 Woche bei paralleler Arbeit</a:t>
            </a:r>
          </a:p>
        </p:txBody>
      </p:sp>
      <p:sp>
        <p:nvSpPr>
          <p:cNvPr id="5" name="TextBox 4"/>
          <p:cNvSpPr txBox="1"/>
          <p:nvPr/>
        </p:nvSpPr>
        <p:spPr>
          <a:xfrm>
            <a:off x="411480" y="4928616"/>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6 Metriken — Ton, Phonem, Zeichen</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4059936"/>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METRIK              MISST                  BERECHNUNG                   RQ</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Syllable Accuracy   Silbe (Init.+Final)    Exact Match                RQ2/3</a:t>
            </a:r>
          </a:p>
          <a:p>
            <a:pPr>
              <a:lnSpc>
                <a:spcPct val="100000"/>
              </a:lnSpc>
              <a:spcAft>
                <a:spcPts val="0"/>
              </a:spcAft>
            </a:pPr>
            <a:r>
              <a:rPr sz="900">
                <a:solidFill>
                  <a:srgbClr val="223344"/>
                </a:solidFill>
                <a:latin typeface="Consolas"/>
              </a:rPr>
              <a:t>                    korrekt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Tone Accuracy       Ton korrekt            1 − Tonfehlerrate      ★ RQ2/3/5</a:t>
            </a:r>
          </a:p>
          <a:p>
            <a:pPr>
              <a:lnSpc>
                <a:spcPct val="100000"/>
              </a:lnSpc>
              <a:spcAft>
                <a:spcPts val="0"/>
              </a:spcAft>
            </a:pPr>
            <a:r>
              <a:rPr sz="900">
                <a:solidFill>
                  <a:srgbClr val="223344"/>
                </a:solidFill>
                <a:latin typeface="Consolas"/>
              </a:rPr>
              <a:t>/ TER               (1–4 + neutral 5)                              Kernbeitrag</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Combined Accuracy   Silbe UND Ton korrekt  beide korrekt            RQ2/3</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PFER                artikulatorisch        pinyin-to-ipa          ★ RQ5</a:t>
            </a:r>
          </a:p>
          <a:p>
            <a:pPr>
              <a:lnSpc>
                <a:spcPct val="100000"/>
              </a:lnSpc>
              <a:spcAft>
                <a:spcPts val="0"/>
              </a:spcAft>
            </a:pPr>
            <a:r>
              <a:rPr sz="900">
                <a:solidFill>
                  <a:srgbClr val="223344"/>
                </a:solidFill>
                <a:latin typeface="Consolas"/>
              </a:rPr>
              <a:t>                    gewichtete Distanz     → PanPhon (21 Features) Kernbeitrag</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CER                 Zeichenfehlerrate      Levenshtein auf Hanzi    RQ4</a:t>
            </a:r>
          </a:p>
          <a:p>
            <a:pPr>
              <a:lnSpc>
                <a:spcPct val="100000"/>
              </a:lnSpc>
              <a:spcAft>
                <a:spcPts val="0"/>
              </a:spcAft>
            </a:pPr>
            <a:r>
              <a:rPr sz="900">
                <a:solidFill>
                  <a:srgbClr val="223344"/>
                </a:solidFill>
                <a:latin typeface="Consolas"/>
              </a:rPr>
              <a:t>                                                                  Lit.-anschluss</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Tone Confusion      welcher Ton            Häufigkeitsmatrix        RQ5</a:t>
            </a:r>
          </a:p>
          <a:p>
            <a:pPr>
              <a:lnSpc>
                <a:spcPct val="100000"/>
              </a:lnSpc>
              <a:spcAft>
                <a:spcPts val="0"/>
              </a:spcAft>
            </a:pPr>
            <a:r>
              <a:rPr sz="900">
                <a:solidFill>
                  <a:srgbClr val="223344"/>
                </a:solidFill>
                <a:latin typeface="Consolas"/>
              </a:rPr>
              <a:t>Matrix              → welcher Ton</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TOOLING</a:t>
            </a:r>
          </a:p>
          <a:p>
            <a:pPr>
              <a:lnSpc>
                <a:spcPct val="100000"/>
              </a:lnSpc>
              <a:spcAft>
                <a:spcPts val="0"/>
              </a:spcAft>
            </a:pPr>
            <a:r>
              <a:rPr sz="900">
                <a:solidFill>
                  <a:srgbClr val="223344"/>
                </a:solidFill>
                <a:latin typeface="Consolas"/>
              </a:rPr>
              <a:t>  g2pW             Baseline + kanonische Referenz</a:t>
            </a:r>
          </a:p>
          <a:p>
            <a:pPr>
              <a:lnSpc>
                <a:spcPct val="100000"/>
              </a:lnSpc>
              <a:spcAft>
                <a:spcPts val="0"/>
              </a:spcAft>
            </a:pPr>
            <a:r>
              <a:rPr sz="900">
                <a:solidFill>
                  <a:srgbClr val="223344"/>
                </a:solidFill>
                <a:latin typeface="Consolas"/>
              </a:rPr>
              <a:t>  pinyin-to-ipa    Konvertierung für PFER</a:t>
            </a:r>
          </a:p>
          <a:p>
            <a:pPr>
              <a:lnSpc>
                <a:spcPct val="100000"/>
              </a:lnSpc>
              <a:spcAft>
                <a:spcPts val="0"/>
              </a:spcAft>
            </a:pPr>
            <a:r>
              <a:rPr sz="900">
                <a:solidFill>
                  <a:srgbClr val="223344"/>
                </a:solidFill>
                <a:latin typeface="Consolas"/>
              </a:rPr>
              <a:t>  PanPhon          21 artikulatorische Features</a:t>
            </a:r>
          </a:p>
          <a:p>
            <a:pPr>
              <a:lnSpc>
                <a:spcPct val="100000"/>
              </a:lnSpc>
              <a:spcAft>
                <a:spcPts val="0"/>
              </a:spcAft>
            </a:pPr>
            <a:r>
              <a:rPr sz="900">
                <a:solidFill>
                  <a:srgbClr val="223344"/>
                </a:solidFill>
                <a:latin typeface="Consolas"/>
              </a:rPr>
              <a:t>  CNN-Klassifik.   native Obergrenze</a:t>
            </a:r>
          </a:p>
          <a:p>
            <a:pPr>
              <a:lnSpc>
                <a:spcPct val="100000"/>
              </a:lnSpc>
              <a:spcAft>
                <a:spcPts val="0"/>
              </a:spcAft>
            </a:pPr>
            <a:r>
              <a:rPr sz="900">
                <a:solidFill>
                  <a:srgbClr val="223344"/>
                </a:solidFill>
                <a:latin typeface="Consolas"/>
              </a:rPr>
              <a:t>  Praat/Parselm.   F0-Schiedsrichter bei L2</a:t>
            </a:r>
          </a:p>
        </p:txBody>
      </p:sp>
      <p:sp>
        <p:nvSpPr>
          <p:cNvPr id="5" name="TextBox 4"/>
          <p:cNvSpPr txBox="1"/>
          <p:nvPr/>
        </p:nvSpPr>
        <p:spPr>
          <a:xfrm>
            <a:off x="411480" y="5230368"/>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Zeitplan — 8 Wochen Pflicht + 4 Wochen Puffer/Kür</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4361688"/>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WOCHE   PHASE    INHALT</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1      P0      Korpora beschaffen (Tone Perfect, LATIC, OMPAL)</a:t>
            </a:r>
          </a:p>
          <a:p>
            <a:pPr>
              <a:lnSpc>
                <a:spcPct val="100000"/>
              </a:lnSpc>
              <a:spcAft>
                <a:spcPts val="0"/>
              </a:spcAft>
            </a:pPr>
            <a:r>
              <a:rPr sz="900">
                <a:solidFill>
                  <a:srgbClr val="223344"/>
                </a:solidFill>
                <a:latin typeface="Consolas"/>
              </a:rPr>
              <a:t>                 API-Zugänge testen · Prompt-Templates</a:t>
            </a:r>
          </a:p>
          <a:p>
            <a:pPr>
              <a:lnSpc>
                <a:spcPct val="100000"/>
              </a:lnSpc>
              <a:spcAft>
                <a:spcPts val="0"/>
              </a:spcAft>
            </a:pPr>
            <a:r>
              <a:rPr sz="900">
                <a:solidFill>
                  <a:srgbClr val="223344"/>
                </a:solidFill>
                <a:latin typeface="Consolas"/>
              </a:rPr>
              <a:t>                 Eval-Skripte (TER/PFER/CER)</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2      P1      Pipeline-Pilot (400+200 Samples)</a:t>
            </a:r>
          </a:p>
          <a:p>
            <a:pPr>
              <a:lnSpc>
                <a:spcPct val="100000"/>
              </a:lnSpc>
              <a:spcAft>
                <a:spcPts val="0"/>
              </a:spcAft>
            </a:pPr>
            <a:r>
              <a:rPr sz="900">
                <a:solidFill>
                  <a:srgbClr val="223344"/>
                </a:solidFill>
                <a:latin typeface="Consolas"/>
              </a:rPr>
              <a:t>                 Bugs fixen · Output-Parsing robust</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3–4    P2+P3   Günstige &amp; mittlere APIs, voller Korpus</a:t>
            </a:r>
          </a:p>
          <a:p>
            <a:pPr>
              <a:lnSpc>
                <a:spcPct val="100000"/>
              </a:lnSpc>
              <a:spcAft>
                <a:spcPts val="0"/>
              </a:spcAft>
            </a:pPr>
            <a:r>
              <a:rPr sz="900">
                <a:solidFill>
                  <a:srgbClr val="223344"/>
                </a:solidFill>
                <a:latin typeface="Consolas"/>
              </a:rPr>
              <a:t>                 E2 + E3</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5      P4+P5   GPT-5.5 Sub-Sample + Text-only (RQ1)</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6–7    P6      Auswertung — TER/PFER/CER</a:t>
            </a:r>
          </a:p>
          <a:p>
            <a:pPr>
              <a:lnSpc>
                <a:spcPct val="100000"/>
              </a:lnSpc>
              <a:spcAft>
                <a:spcPts val="0"/>
              </a:spcAft>
            </a:pPr>
            <a:r>
              <a:rPr sz="900">
                <a:solidFill>
                  <a:srgbClr val="223344"/>
                </a:solidFill>
                <a:latin typeface="Consolas"/>
              </a:rPr>
              <a:t>                 Konfusionsmatrizen · Vergleichstabellen</a:t>
            </a:r>
          </a:p>
          <a:p>
            <a:pPr>
              <a:lnSpc>
                <a:spcPct val="100000"/>
              </a:lnSpc>
              <a:spcAft>
                <a:spcPts val="0"/>
              </a:spcAft>
            </a:pPr>
            <a:r>
              <a:rPr sz="900">
                <a:solidFill>
                  <a:srgbClr val="223344"/>
                </a:solidFill>
                <a:latin typeface="Consolas"/>
              </a:rPr>
              <a:t>                 E4 + E5</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8              Ergebnisse verschriftlichen · Plots</a:t>
            </a:r>
          </a:p>
          <a:p>
            <a:pPr>
              <a:lnSpc>
                <a:spcPct val="100000"/>
              </a:lnSpc>
              <a:spcAft>
                <a:spcPts val="0"/>
              </a:spcAft>
            </a:pPr>
            <a:r>
              <a:rPr sz="900">
                <a:solidFill>
                  <a:srgbClr val="223344"/>
                </a:solidFill>
                <a:latin typeface="Consolas"/>
              </a:rPr>
              <a:t>                 Limitationen</a:t>
            </a:r>
          </a:p>
          <a:p>
            <a:pPr>
              <a:lnSpc>
                <a:spcPct val="100000"/>
              </a:lnSpc>
              <a:spcAft>
                <a:spcPts val="0"/>
              </a:spcAft>
            </a:pPr>
            <a:r>
              <a:rPr sz="900">
                <a:solidFill>
                  <a:srgbClr val="223344"/>
                </a:solidFill>
                <a:latin typeface="Consolas"/>
              </a:rPr>
              <a:t/>
            </a:r>
          </a:p>
          <a:p>
            <a:pPr>
              <a:lnSpc>
                <a:spcPct val="100000"/>
              </a:lnSpc>
              <a:spcAft>
                <a:spcPts val="0"/>
              </a:spcAft>
            </a:pPr>
            <a:r>
              <a:rPr sz="900">
                <a:solidFill>
                  <a:srgbClr val="223344"/>
                </a:solidFill>
                <a:latin typeface="Consolas"/>
              </a:rPr>
              <a:t>  9–12   P7      PUFFER + KÜR</a:t>
            </a:r>
          </a:p>
          <a:p>
            <a:pPr>
              <a:lnSpc>
                <a:spcPct val="100000"/>
              </a:lnSpc>
              <a:spcAft>
                <a:spcPts val="0"/>
              </a:spcAft>
            </a:pPr>
            <a:r>
              <a:rPr sz="900">
                <a:solidFill>
                  <a:srgbClr val="223344"/>
                </a:solidFill>
                <a:latin typeface="Consolas"/>
              </a:rPr>
              <a:t>                 ① eigener L2-Korpus</a:t>
            </a:r>
          </a:p>
          <a:p>
            <a:pPr>
              <a:lnSpc>
                <a:spcPct val="100000"/>
              </a:lnSpc>
              <a:spcAft>
                <a:spcPts val="0"/>
              </a:spcAft>
            </a:pPr>
            <a:r>
              <a:rPr sz="900">
                <a:solidFill>
                  <a:srgbClr val="223344"/>
                </a:solidFill>
                <a:latin typeface="Consolas"/>
              </a:rPr>
              <a:t>                 ② Format-Pilot</a:t>
            </a:r>
          </a:p>
          <a:p>
            <a:pPr>
              <a:lnSpc>
                <a:spcPct val="100000"/>
              </a:lnSpc>
              <a:spcAft>
                <a:spcPts val="0"/>
              </a:spcAft>
            </a:pPr>
            <a:r>
              <a:rPr sz="900">
                <a:solidFill>
                  <a:srgbClr val="223344"/>
                </a:solidFill>
                <a:latin typeface="Consolas"/>
              </a:rPr>
              <a:t>                 ③ iCALL-Kontakt</a:t>
            </a:r>
          </a:p>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  Pflicht (Wo 1–8)</a:t>
            </a:r>
          </a:p>
          <a:p>
            <a:pPr>
              <a:lnSpc>
                <a:spcPct val="100000"/>
              </a:lnSpc>
              <a:spcAft>
                <a:spcPts val="0"/>
              </a:spcAft>
            </a:pPr>
            <a:r>
              <a:rPr sz="900">
                <a:solidFill>
                  <a:srgbClr val="223344"/>
                </a:solidFill>
                <a:latin typeface="Consolas"/>
              </a:rPr>
              <a:t>                                      ░░░░░░░░░░░░  Kür (Wo 9–12)</a:t>
            </a:r>
          </a:p>
        </p:txBody>
      </p:sp>
      <p:sp>
        <p:nvSpPr>
          <p:cNvPr id="5" name="TextBox 4"/>
          <p:cNvSpPr txBox="1"/>
          <p:nvPr/>
        </p:nvSpPr>
        <p:spPr>
          <a:xfrm>
            <a:off x="411480" y="5532120"/>
            <a:ext cx="11368735" cy="384048"/>
          </a:xfrm>
          <a:prstGeom prst="rect">
            <a:avLst/>
          </a:prstGeom>
          <a:noFill/>
        </p:spPr>
        <p:txBody>
          <a:bodyPr wrap="square">
            <a:spAutoFit/>
          </a:bodyPr>
          <a:lstStyle/>
          <a:p>
            <a:pPr>
              <a:spcAft>
                <a:spcPts val="300"/>
              </a:spcAft>
            </a:pPr>
            <a:r>
              <a:rPr sz="1300"/>
              <a:t>•  ---</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11460175" cy="777240"/>
          </a:xfrm>
          <a:prstGeom prst="rect">
            <a:avLst/>
          </a:prstGeom>
          <a:noFill/>
        </p:spPr>
        <p:txBody>
          <a:bodyPr wrap="square">
            <a:spAutoFit/>
          </a:bodyPr>
          <a:lstStyle/>
          <a:p>
            <a:r>
              <a:rPr sz="2200" b="1">
                <a:solidFill>
                  <a:srgbClr val="1F3A5F"/>
                </a:solidFill>
              </a:rPr>
              <a:t>Methodik auf einen Blick</a:t>
            </a:r>
          </a:p>
        </p:txBody>
      </p:sp>
      <p:sp>
        <p:nvSpPr>
          <p:cNvPr id="3" name="Rectangle 2"/>
          <p:cNvSpPr/>
          <p:nvPr/>
        </p:nvSpPr>
        <p:spPr>
          <a:xfrm>
            <a:off x="365760" y="932688"/>
            <a:ext cx="11460175" cy="25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78992"/>
            <a:ext cx="11368735" cy="3305556"/>
          </a:xfrm>
          <a:prstGeom prst="rect">
            <a:avLst/>
          </a:prstGeom>
          <a:solidFill>
            <a:srgbClr val="F4F6F8"/>
          </a:solidFill>
        </p:spPr>
        <p:txBody>
          <a:bodyPr wrap="none">
            <a:spAutoFit/>
          </a:bodyPr>
          <a:lstStyle/>
          <a:p>
            <a:pPr>
              <a:lnSpc>
                <a:spcPct val="100000"/>
              </a:lnSpc>
              <a:spcAft>
                <a:spcPts val="0"/>
              </a:spcAft>
            </a:pPr>
            <a:r>
              <a:rPr sz="900">
                <a:solidFill>
                  <a:srgbClr val="223344"/>
                </a:solidFill>
                <a:latin typeface="Consolas"/>
              </a:rPr>
              <a:t>╔══════════════════════════════════════════════════════════════════════════╗</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EXPERIMENTE   E1 Text→Pinyin · E2 Audio-native · E3 Audio-L2         ║</a:t>
            </a:r>
          </a:p>
          <a:p>
            <a:pPr>
              <a:lnSpc>
                <a:spcPct val="100000"/>
              </a:lnSpc>
              <a:spcAft>
                <a:spcPts val="0"/>
              </a:spcAft>
            </a:pPr>
            <a:r>
              <a:rPr sz="900">
                <a:solidFill>
                  <a:srgbClr val="223344"/>
                </a:solidFill>
                <a:latin typeface="Consolas"/>
              </a:rPr>
              <a:t>║                E4 Vergleich (LLM/ASR/CNN) · E5 Fehlerstruktur          ║</a:t>
            </a:r>
          </a:p>
          <a:p>
            <a:pPr>
              <a:lnSpc>
                <a:spcPct val="100000"/>
              </a:lnSpc>
              <a:spcAft>
                <a:spcPts val="0"/>
              </a:spcAft>
            </a:pPr>
            <a:r>
              <a:rPr sz="900">
                <a:solidFill>
                  <a:srgbClr val="223344"/>
                </a:solidFill>
                <a:latin typeface="Consolas"/>
              </a:rPr>
              <a:t>║                [Kür] E6 Format-Pilot · E7 eigener L2-Korpus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MODELLE       14 = 7 multimodal + 4 ASR-Baseline + 3 text-only       ║</a:t>
            </a:r>
          </a:p>
          <a:p>
            <a:pPr>
              <a:lnSpc>
                <a:spcPct val="100000"/>
              </a:lnSpc>
              <a:spcAft>
                <a:spcPts val="0"/>
              </a:spcAft>
            </a:pPr>
            <a:r>
              <a:rPr sz="900">
                <a:solidFill>
                  <a:srgbClr val="223344"/>
                </a:solidFill>
                <a:latin typeface="Consolas"/>
              </a:rPr>
              <a:t>║                3 Märkte: USA / China / EU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KORPORA       Pflicht: Tone Perfect (9.840) + LATIC+OMPAL (~4.350)   ║</a:t>
            </a:r>
          </a:p>
          <a:p>
            <a:pPr>
              <a:lnSpc>
                <a:spcPct val="100000"/>
              </a:lnSpc>
              <a:spcAft>
                <a:spcPts val="0"/>
              </a:spcAft>
            </a:pPr>
            <a:r>
              <a:rPr sz="900">
                <a:solidFill>
                  <a:srgbClr val="223344"/>
                </a:solidFill>
                <a:latin typeface="Consolas"/>
              </a:rPr>
              <a:t>║                Vergleich: AISHELL-1 (CER)                              ║</a:t>
            </a:r>
          </a:p>
          <a:p>
            <a:pPr>
              <a:lnSpc>
                <a:spcPct val="100000"/>
              </a:lnSpc>
              <a:spcAft>
                <a:spcPts val="0"/>
              </a:spcAft>
            </a:pPr>
            <a:r>
              <a:rPr sz="900">
                <a:solidFill>
                  <a:srgbClr val="223344"/>
                </a:solidFill>
                <a:latin typeface="Consolas"/>
              </a:rPr>
              <a:t>║                Kür: eigener dt. L2-Korpus (~8–12 Sprecher)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METRIKEN      TER + PFER (Kernbeitrag) + CER (Literaturanschluss)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KOSTEN        Pflicht 15–30 € · alles &lt; 50 €                         ║</a:t>
            </a:r>
          </a:p>
          <a:p>
            <a:pPr>
              <a:lnSpc>
                <a:spcPct val="100000"/>
              </a:lnSpc>
              <a:spcAft>
                <a:spcPts val="0"/>
              </a:spcAft>
            </a:pPr>
            <a:r>
              <a:rPr sz="900">
                <a:solidFill>
                  <a:srgbClr val="223344"/>
                </a:solidFill>
                <a:latin typeface="Consolas"/>
              </a:rPr>
              <a:t>║                Annotation nur für Kür (~150–500 €)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  ZEIT          ~8 Wochen Pflicht + 4 Wochen Puffer/Kür                 ║</a:t>
            </a:r>
          </a:p>
          <a:p>
            <a:pPr>
              <a:lnSpc>
                <a:spcPct val="100000"/>
              </a:lnSpc>
              <a:spcAft>
                <a:spcPts val="0"/>
              </a:spcAft>
            </a:pPr>
            <a:r>
              <a:rPr sz="900">
                <a:solidFill>
                  <a:srgbClr val="223344"/>
                </a:solidFill>
                <a:latin typeface="Consolas"/>
              </a:rPr>
              <a:t>║                                                                        ║</a:t>
            </a:r>
          </a:p>
          <a:p>
            <a:pPr>
              <a:lnSpc>
                <a:spcPct val="100000"/>
              </a:lnSpc>
              <a:spcAft>
                <a:spcPts val="0"/>
              </a:spcAft>
            </a:pPr>
            <a:r>
              <a:rPr sz="900">
                <a:solidFill>
                  <a:srgbClr val="223344"/>
                </a:solidFill>
                <a:latin typeface="Consolas"/>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